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627" r:id="rId35"/>
    <p:sldId id="628" r:id="rId36"/>
    <p:sldId id="629" r:id="rId34"/>
    <p:sldId id="630" r:id="rId33"/>
    <p:sldId id="631" r:id="rId31"/>
    <p:sldId id="632" r:id="rId30"/>
    <p:sldId id="633" r:id="rId29"/>
    <p:sldId id="634" r:id="rId28"/>
    <p:sldId id="635" r:id="rId27"/>
    <p:sldId id="636" r:id="rId20"/>
    <p:sldId id="637" r:id="rId18"/>
    <p:sldId id="638" r:id="rId17"/>
    <p:sldId id="639" r:id="rId16"/>
    <p:sldId id="640" r:id="rId14"/>
    <p:sldId id="641" r:id="rId13"/>
    <p:sldId id="642" r:id="rId12"/>
    <p:sldId id="643" r:id="rId11"/>
    <p:sldId id="644" r:id="rId10"/>
    <p:sldId id="645" r:id="rId8"/>
    <p:sldId id="646" r:id="rId7"/>
    <p:sldId id="647" r:id="rId6"/>
    <p:sldId id="648" r:id="rId5"/>
    <p:sldId id="649" r:id="rId57"/>
    <p:sldId id="650" r:id="rId4"/>
    <p:sldId id="651" r:id="rId3"/>
    <p:sldId id="652"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4.xml"/><Relationship Id="rId3" Type="http://schemas.openxmlformats.org/officeDocument/2006/relationships/slide" Target="slides/slide53.xml"/><Relationship Id="rId4" Type="http://schemas.openxmlformats.org/officeDocument/2006/relationships/slide" Target="slides/slide52.xml"/><Relationship Id="rId5" Type="http://schemas.openxmlformats.org/officeDocument/2006/relationships/slide" Target="slides/slide50.xml"/><Relationship Id="rId6" Type="http://schemas.openxmlformats.org/officeDocument/2006/relationships/slide" Target="slides/slide49.xml"/><Relationship Id="rId7" Type="http://schemas.openxmlformats.org/officeDocument/2006/relationships/slide" Target="slides/slide48.xml"/><Relationship Id="rId8" Type="http://schemas.openxmlformats.org/officeDocument/2006/relationships/slide" Target="slides/slide47.xml"/><Relationship Id="rId10" Type="http://schemas.openxmlformats.org/officeDocument/2006/relationships/slide" Target="slides/slide46.xml"/><Relationship Id="rId11" Type="http://schemas.openxmlformats.org/officeDocument/2006/relationships/slide" Target="slides/slide45.xml"/><Relationship Id="rId12" Type="http://schemas.openxmlformats.org/officeDocument/2006/relationships/slide" Target="slides/slide44.xml"/><Relationship Id="rId13" Type="http://schemas.openxmlformats.org/officeDocument/2006/relationships/slide" Target="slides/slide43.xml"/><Relationship Id="rId14" Type="http://schemas.openxmlformats.org/officeDocument/2006/relationships/slide" Target="slides/slide42.xml"/><Relationship Id="rId16" Type="http://schemas.openxmlformats.org/officeDocument/2006/relationships/slide" Target="slides/slide41.xml"/><Relationship Id="rId17" Type="http://schemas.openxmlformats.org/officeDocument/2006/relationships/slide" Target="slides/slide40.xml"/><Relationship Id="rId18" Type="http://schemas.openxmlformats.org/officeDocument/2006/relationships/slide" Target="slides/slide39.xml"/><Relationship Id="rId20" Type="http://schemas.openxmlformats.org/officeDocument/2006/relationships/slide" Target="slides/slide38.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37.xml"/><Relationship Id="rId28" Type="http://schemas.openxmlformats.org/officeDocument/2006/relationships/slide" Target="slides/slide36.xml"/><Relationship Id="rId29" Type="http://schemas.openxmlformats.org/officeDocument/2006/relationships/slide" Target="slides/slide35.xml"/><Relationship Id="rId30" Type="http://schemas.openxmlformats.org/officeDocument/2006/relationships/slide" Target="slides/slide34.xml"/><Relationship Id="rId31" Type="http://schemas.openxmlformats.org/officeDocument/2006/relationships/slide" Target="slides/slide33.xml"/><Relationship Id="rId33" Type="http://schemas.openxmlformats.org/officeDocument/2006/relationships/slide" Target="slides/slide32.xml"/><Relationship Id="rId34" Type="http://schemas.openxmlformats.org/officeDocument/2006/relationships/slide" Target="slides/slide31.xml"/><Relationship Id="rId35" Type="http://schemas.openxmlformats.org/officeDocument/2006/relationships/slide" Target="slides/slide29.xml"/><Relationship Id="rId36" Type="http://schemas.openxmlformats.org/officeDocument/2006/relationships/slide" Target="slides/slide30.xml"/><Relationship Id="rId57"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synthetic voices, computer-generated (Chatterbox TTS cloned from Kokoro-82M reference clips). No recordings of real people. The names and the story are invented.</a:t>
            </a:r>
          </a:p>
          <a:p>
            <a:r>
              <a:t>Course materials: © 2026 the authors, licensed under CC BY-NC-SA 4.0 (https://creativecommons.org/licenses/by-nc-sa/4.0/).</a:t>
            </a:r>
          </a:p>
          <a:p>
            <a:r>
              <a:t>Lesson plan: Picture Credits. Picture list: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 Ask one learner: "How long have you lived in this city?" and wait for an answer (for or since).</a:t>
            </a:r>
          </a:p>
          <a:p>
            <a:r>
              <a:t>Remind learners: homework, about 15–20 minutes. Bring it next week.</a:t>
            </a:r>
          </a:p>
          <a:p>
            <a:r>
              <a:t>Lesson plan: At a glance: Objectives; Step 7.</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 7:25–7:30 · Exit Ticket + Homework · 5 min · NEVER SKIP.</a:t>
            </a:r>
          </a:p>
          <a:p>
            <a:r>
              <a:t>Exit ticket (3 min): learners open the Exit Ticket page and answer in 3 sentences with a reason: How long have you lived in this city (or worked at your job)? Example on the board: I've lived in this city for four years. I moved here in 2022. I moved here because my sister lives here. With 5 or fewer, a learner can say it to you first and then write it.</a:t>
            </a:r>
          </a:p>
          <a:p>
            <a:r>
              <a:t>Collect the pages. After class, sort them into ✓ / almost / not yet. Start next week with 2 corrections on the board (no names).</a:t>
            </a:r>
          </a:p>
          <a:p>
            <a:r>
              <a:t>Homework (2 min): open the Homework page. Do item 1 together (she / work / at the hotel / ___ / March → She's worked at the hotel since March.). Say: "About 15–20 minutes. Finish your Read &amp; Write writing at home."</a:t>
            </a:r>
          </a:p>
          <a:p>
            <a:r>
              <a:t>Homework items: 1 write the sentence with for or since • 2 finish the writing from Read &amp; Write C and check it with the list in D • 3 ask a family member or a friend 3 questions with How long have you…? • 4 review: used to, use to, or didn't use to.</a:t>
            </a:r>
          </a:p>
          <a:p>
            <a:r>
              <a:t>Lesson plan: Step 7; Exit Ticket page; Homework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(6 min): At the Leasing Office (pairs). A is the agent and asks the questions on the role card. B is the applicant and answers (invented answers are fine). A fills in the application form. Then switch. Each click shows the next step.</a:t>
            </a:r>
          </a:p>
          <a:p>
            <a:r>
              <a:t>Role card questions: What's your current address? • How long have you lived there? • What's your previous address? • How long did you live there? • Who's your employer? • What's your position? • What's your start date? • Who's your reference? • Will you have a roommate? Useful: Can you spell that, please? • Is that with an e or an i? • Sorry, how long?</a:t>
            </a:r>
          </a:p>
          <a:p>
            <a:r>
              <a:t>Spelling and numbers: the agent asks Can you spell that? Encourage learners to say street numbers in pairs: 418 = "four eighteen." A real rental application often asks for 3–5 years of addresses and a reference who is not family. Learners can write N/A (not applicable) when a line doesn't fit them.</a:t>
            </a:r>
          </a:p>
          <a:p>
            <a:r>
              <a:t>5 or fewer: pairs or one group of 3. Every answer needs a reason; every partner asks a follow-up. Walk around and listen. Note 2 good sentences to praise and 1 common error for next week.</a:t>
            </a:r>
          </a:p>
          <a:p>
            <a:r>
              <a:t>If behind: round 1 only.</a:t>
            </a:r>
          </a:p>
          <a:p>
            <a:r>
              <a:t>Lesson plan: Step 5; Talk Time: At the Leasing Office;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7:00–7:15 · Talk Time: Timeline Interviews + At the Leasing Office · 15 min.</a:t>
            </a:r>
          </a:p>
          <a:p>
            <a:r>
              <a:t>Model it first (1 min): ask one learner, "How long have you lived in this city?" When they answer, ask, "Where did you live before? How long did you live there?" Write the answers on the board on a timeline. Say: "Still true → have lived. Finished → lived."</a:t>
            </a:r>
          </a:p>
          <a:p>
            <a:r>
              <a:t>Round 1 (7 min): Timeline Interviews (pairs). Learners mark 4 points on their own timeline on the first Talk Time page (moved to this city, started a job or class, a hobby, a phone or car). Then they interview a partner: How long have you…? Since when? and write 3 sentences about the partner. Each click shows the next step.</a:t>
            </a:r>
          </a:p>
          <a:p>
            <a:r>
              <a:t>15 learners: pairs for both rounds; rotate once between rounds. 7–8 learners: pairs for both rounds; one rotation between rounds. 5 or fewer: one group for round 1 (each person interviews the person on their left).</a:t>
            </a:r>
          </a:p>
          <a:p>
            <a:r>
              <a:t>Learners choose what to share. Always ask about this city or this job, never this country. Never ask about income, rent, or immigration papers. Invented addresses and answers are fine in every activity.</a:t>
            </a:r>
          </a:p>
          <a:p>
            <a:r>
              <a:t>Lesson plan: Step 5; Talk Time: Timeline Interviews;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check (last 3 min of Step 4). Pairs.</a:t>
            </a:r>
          </a:p>
          <a:p>
            <a:r>
              <a:t>Use the time cards. A picks a card and says it (March). B makes a sentence with for or since: I've lived here since March. Switch. 15 learners: swap partners once. 5 or fewer: you join one pair.</a:t>
            </a:r>
          </a:p>
          <a:p>
            <a:r>
              <a:t>If behind: skip the pair check. Talk Time practices it.</a:t>
            </a:r>
          </a:p>
          <a:p>
            <a:r>
              <a:t>Break · 6:45–7:00 · 15 min. Write on the board: How long have you lived / worked…? → I've… for (two years). / I've… since (2020).</a:t>
            </a:r>
          </a:p>
          <a:p>
            <a:r>
              <a:t>Lesson plan: Step 4: Pair check; Break.</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Read the table together: "Don't say… Say…". Read a line from Don't say. Ask: "What's the right way?" Learners try first. Then click to show the right form. Each click shows one line, in order 1 to 5.</a:t>
            </a:r>
          </a:p>
          <a:p>
            <a:r>
              <a:t>Learners can read the contrast tip on their Grammar page on their own; it is optional. You never need to read, translate, or explain it.</a:t>
            </a:r>
          </a:p>
          <a:p>
            <a:r>
              <a:t>Lesson plan: Grammar: Common mistakes;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correct words. Pairs check.</a:t>
            </a:r>
          </a:p>
          <a:p>
            <a:r>
              <a:t>Click to circle each answer (one click per item, 1 to 6): 1 have you lived, 2 worked, 3 's had, 4 did you move, 5 moved, 6 since.</a:t>
            </a:r>
          </a:p>
          <a:p>
            <a:r>
              <a:t>Lesson plan: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6): 1 since, 2 for, 3 since, 4 for, 5 since, 6 for.</a:t>
            </a:r>
          </a:p>
          <a:p>
            <a:r>
              <a:t>Lesson plan: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which one? Each click shows one row.</a:t>
            </a:r>
          </a:p>
          <a:p>
            <a:r>
              <a:t>Questions and answers (2 min): Q: Can I say I live here since 2020? A: No. Use the present perfect: I've lived here since 2020. • Q: For or since with March? A: March is a starting point: since March. Three months is a length: for three months. • Q: I've worked or I worked at the bakery? A: Do you work there now? Yes → I've worked there for two years. No → I worked there for two years.</a:t>
            </a:r>
          </a:p>
          <a:p>
            <a:r>
              <a:t>Check questions: "I live here since 2020. Right or wrong?" (wrong: I've lived here since 2020.) • "since three years or for three years?" (for) • "I worked at a bakery for two years. Do I work there now?" (no).</a:t>
            </a:r>
          </a:p>
          <a:p>
            <a:r>
              <a:t>Lesson plan: Step 4; Grammar Box 4; Questions and answers.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sort the time words. for + a length of time; since + a starting point. Each click shows the since side of one row.</a:t>
            </a:r>
          </a:p>
          <a:p>
            <a:r>
              <a:t>Use the time cards (2020, March, six months, Monday, ten years, a long time, I was 18, three weeks): hold up a card; the class says for or since.</a:t>
            </a:r>
          </a:p>
          <a:p>
            <a:r>
              <a:t>Lesson plan: Step 4; Grammar Box 3; Materials: time cards.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still true or finished? I've worked at the hotel since 2022 (still true) vs. I worked at a bakery for two years (finished). Each click shows the answer side of one row.</a:t>
            </a:r>
          </a:p>
          <a:p>
            <a:r>
              <a:t>Rule of thumb (read it aloud): still true now → have / has + past participle (I've lived here since 2020). finished → simple past (I lived there for three years). for + a length of time; since + a starting point.</a:t>
            </a:r>
          </a:p>
          <a:p>
            <a:r>
              <a:t>Lesson plan: Step 4; Grammar Box 2; Rule of thumb.</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20). Whole class, then pairs. Show the Grammar page. The left side is the question. The right side is the answer.</a:t>
            </a:r>
          </a:p>
          <a:p>
            <a:r>
              <a:t>Show it (2 min): draw a timeline: "2020 ———————→ now." Say: "I moved here in 2020. I still live here. I've lived here since 2020. That's six years. I've lived here for six years." Point to 2020 (since) and the whole line (for).</a:t>
            </a:r>
          </a:p>
          <a:p>
            <a:r>
              <a:t>Box 1: read across: How long have you lived here? → I've lived here for two years / since 2024. Each click shows the answer side of one row.</a:t>
            </a:r>
          </a:p>
          <a:p>
            <a:r>
              <a:t>Lesson plan: Step 4; Grammar Box 1; Teacher notes: The timeline.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"Hear it, say it" (3 min). Point to the script lines. wanna = want to: "I want to fill out an application." gonna = going to: "My mother is going to live with me." You can say want to and going to.</a:t>
            </a:r>
          </a:p>
          <a:p>
            <a:r>
              <a:t>Then practice the weak, short for (it sounds like "fer"): for two years • for three years, and link the words: How long have you lived here? The class repeats the two lines twice.</a:t>
            </a:r>
          </a:p>
          <a:p>
            <a:r>
              <a:t>Everyday English: people often say gonna (going to) and wanna (want to). Learners will hear them often. They are fine in casual talk; in writing, at a job interview, or in a formal email, use going to and want to. The listening uses the full forms.</a:t>
            </a:r>
          </a:p>
          <a:p>
            <a:r>
              <a:t>Lesson plan: Step 3: "Hear it, say it"; Listening page: Hear it, say it; Teacher notes.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6): 1 for, 2 for, 3 Since, 4 for, 5 since, 6 for.</a:t>
            </a:r>
          </a:p>
          <a:p>
            <a:r>
              <a:t>If behind: do Task C together on the board, reading the lines yourself.</a:t>
            </a:r>
          </a:p>
          <a:p>
            <a:r>
              <a:t>Lesson plan: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circle each answer (one click per item, 1 to 6): 1 two years • 2 Lake Road • 3 Green Valley Clinic • 4 medical assistant • 5 March 15, 2022 • 6 no.</a:t>
            </a:r>
          </a:p>
          <a:p>
            <a:r>
              <a:t>Lesson plan: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(the main idea). Pairs compare. Check together.</a:t>
            </a:r>
          </a:p>
          <a:p>
            <a:r>
              <a:t>Click to circle the answer: b (an apartment).</a:t>
            </a:r>
          </a:p>
          <a:p>
            <a:r>
              <a:t>Then read Tasks B and C together (1 min) so learners know what to listen for.</a:t>
            </a:r>
          </a:p>
          <a:p>
            <a:r>
              <a:t>Lesson plan: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6:15–6:30 · Listening + "Hear it, say it" · 15 min (slides 8 to 12). Individuals, then pairs check.</a:t>
            </a:r>
          </a:p>
          <a:p>
            <a:r>
              <a:t>Before you listen (2 min). Say: "Marisol is at a leasing office. She wants to rent an apartment. Mr. Chen helps her with the application. Listen: what is she applying for?"</a:t>
            </a:r>
          </a:p>
          <a:p>
            <a:r>
              <a:t>There are three voices: a Narrator, Marisol, and Mr. Chen. Each click highlights the next voice.</a:t>
            </a:r>
          </a:p>
          <a:p>
            <a:r>
              <a:t>The audio (L4_L2_listening.mp3, about 1:55) plays the conversation once. Press play again for play 2. A third play is fine if the class needs it.</a:t>
            </a:r>
          </a:p>
          <a:p>
            <a:r>
              <a:t>No speaker? Read the script with a volunteer at a natural, friendly speed, two times. The script says going to and want to. People often say gonna and wanna; learners only need to recognize those words.</a:t>
            </a:r>
          </a:p>
          <a:p>
            <a:r>
              <a:t>Audio: synthetic voices, computer-generated (Chatterbox TTS cloned from Kokoro-82M reference clips). No recordings of real people. The names and the story are invented.</a:t>
            </a:r>
          </a:p>
          <a:p>
            <a:r>
              <a:t>Lesson plan: Step 3; Listening script; Listening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"Is your employer a company or a person?" (a company, usually) • 2. "Can your mother be your reference?" (no, usually not) • 3. "Is 2020 a length or a starting point?" (a starting point → since)</a:t>
            </a:r>
          </a:p>
          <a:p>
            <a:r>
              <a:t>Lesson plan: Step 2: Check meaning.</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a:t>
            </a:r>
          </a:p>
          <a:p>
            <a:r>
              <a:t>Show the hard words: end date (point to a second date on the board); reference (a person who knows you at work; not family). Show for as a length (from one date to another) and since as a starting point (one date).</a:t>
            </a:r>
          </a:p>
          <a:p>
            <a:r>
              <a:t>Partner game (2 min): A points to a picture and asks a question: "employer: Who's your employer?" B answers: "I work for City Hospital." Switch. 15 learners: finish with a quick team round (3 teams; you say a clue, the first team with the word gets a point). 7–8: 2 teams. 5 or fewer: one team against the clock.</a:t>
            </a:r>
          </a:p>
          <a:p>
            <a:r>
              <a:t>My Words: "Write any word you want in your language on the My Words page. It's your personal list. It's optional." Learners do it at home.</a:t>
            </a:r>
          </a:p>
          <a:p>
            <a:r>
              <a:t>If behind: teach the ★ words only.</a:t>
            </a:r>
          </a:p>
          <a:p>
            <a:r>
              <a:t>Lesson plan: Step 2; New Words page; Partner game; My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6:08–6:15 · New Words · 7 min (this slide and the next). Whole class, then pairs.</a:t>
            </a:r>
          </a:p>
          <a:p>
            <a:r>
              <a:t>Point to each picture and say the word. Learners repeat once. ★ = the most important words. Each click shows the next word.</a:t>
            </a:r>
          </a:p>
          <a:p>
            <a:r>
              <a:t>Show the hard words: current address (now) vs. previous address (before); employer (the company) vs. position (your job title); start date (point to a date on the board).</a:t>
            </a:r>
          </a:p>
          <a:p>
            <a:r>
              <a:t>If behind: teach the ★ words only.</a:t>
            </a:r>
          </a:p>
          <a:p>
            <a:r>
              <a:t>Lesson plan: Step 2; Key vocabulary; New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in 3 sentences. A asks one follow-up question (follow-ups on the right). Then switch. Pairs write the partner's name and one thing the partner has done.</a:t>
            </a:r>
          </a:p>
          <a:p>
            <a:r>
              <a:t>Homework Check (3 min, last click): pairs compare Homework item 1 (sentences with have / has + a past participle) and read one answer from item 3 to each other. Then they fill in the box on the Opening Talk page. Walk around. Write 2 common errors on the board (often I have seen it last year (→ I saw it last year) and a missing participle (I've never eat → eaten)) and correct them together. Also put up 2 corrections from last week's exit tickets.</a:t>
            </a:r>
          </a:p>
          <a:p>
            <a:r>
              <a:t>Lesson plan: Step 1; Opening Talk page: cards, follow-ups; Homework check.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6:00–6:08 · Opening Talk + Homework Check · 8 min. Pairs (7 pairs + 1 trio with 15 learners; 3–4 pairs with 7–8).</a:t>
            </a:r>
          </a:p>
          <a:p>
            <a:r>
              <a:t>Before class, write on the board: How long have you…? and Have you ever…?</a:t>
            </a:r>
          </a:p>
          <a:p>
            <a:r>
              <a:t>Model with one learner: you ask, "Have you ever tried a new food?" The learner answers. Then you ask, "When did you try it? How was it?" Help them say 3 sentences: the experience, when, and how it was. (Click to show the follow-up.)</a:t>
            </a:r>
          </a:p>
          <a:p>
            <a:r>
              <a:t>Opening Talk (5 min): learners open the Opening Talk page. A asks a card question; B answers in 3 sentences (the answer, a reason, a detail); A asks one follow-up. Switch after each card. The cards are on the next slide.</a:t>
            </a:r>
          </a:p>
          <a:p>
            <a:r>
              <a:t>If behind: one card only.</a:t>
            </a:r>
          </a:p>
          <a:p>
            <a:r>
              <a:t>Lesson plan: Step 1; Opening Talk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a:t>
            </a:r>
          </a:p>
          <a:p>
            <a:r>
              <a:t>Point to the title and read it: "How long have you lived here?" Say: "Tonight we talk about housing and job applications: addresses, how long, jobs, and references."</a:t>
            </a:r>
          </a:p>
          <a:p>
            <a:r>
              <a:t>Read the three lines under "Today you will". Give one quick example of each: "How long have you lived here?" • "I've lived here for two years. / since 2024." • "Current address: four eighteen Elm Street."</a:t>
            </a:r>
          </a:p>
          <a:p>
            <a:r>
              <a:t>Learners choose what to share. Always ask about this city or this job, never this country. Never ask about income, rent, or immigration papers. Invented addresses and answers are fine in every activity.</a:t>
            </a:r>
          </a:p>
          <a:p>
            <a:r>
              <a:t>Lesson plan: Topic; At a glance: Objectives;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Goal 1: How long have you lived here? Goal 2: I've lived here for two years. / since 2024. Goal 3: I've worked at the hotel since 2022 (still true). / I worked at a bakery for two years (finished).</a:t>
            </a:r>
          </a:p>
          <a:p>
            <a:r>
              <a:t>Goal 4: the application in the listening, Talk Time, and Read &amp; Write. Goal 5: the writing in Read &amp; Write.</a:t>
            </a:r>
          </a:p>
          <a:p>
            <a:r>
              <a:t>Lesson plan: At a glance: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7:15–7:25 · Read &amp; Write: A rental application + sentences about you · 10 min. Pairs read, then individual writing.</a:t>
            </a:r>
          </a:p>
          <a:p>
            <a:r>
              <a:t>Read (4 min): learners read the rental application on the Read &amp; Write page and answer the questions. Say: "Read fast first. Then find the answers." Pairs answer questions 1–5 together.</a:t>
            </a:r>
          </a:p>
          <a:p>
            <a:r>
              <a:t>Check (1 min): click to show each answer (one click per question, 1 to 5): 1 Since August 2023. • 2 For four years (2019–2023). • 3 City Bus Company. • 4 Ana Ruiz, his supervisor. • 5 He needs a bigger apartment for his family.</a:t>
            </a:r>
          </a:p>
          <a:p>
            <a:r>
              <a:t>Write (5 min): learners write 5–8 sentences about how long they (or an invented person) have done three things, with for and since and one used to. Show the example. Invented details are fine. Learners start in class and finish at home (Homework item 2).</a:t>
            </a:r>
          </a:p>
          <a:p>
            <a:r>
              <a:t>If behind: questions 1–5 only; the writing becomes homework.</a:t>
            </a:r>
          </a:p>
          <a:p>
            <a:r>
              <a:t>Lesson plan: Step 6; Read &amp; Write page; Answer key.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3.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4.png"/><Relationship Id="rId4"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13.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 Id="rId12" Type="http://schemas.openxmlformats.org/officeDocument/2006/relationships/image" Target="../media/image18.png"/><Relationship Id="rId13" Type="http://schemas.openxmlformats.org/officeDocument/2006/relationships/image" Target="../media/image19.png"/><Relationship Id="rId14"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23.png"/><Relationship Id="rId12" Type="http://schemas.openxmlformats.org/officeDocument/2006/relationships/image" Target="../media/image14.png"/><Relationship Id="rId13" Type="http://schemas.openxmlformats.org/officeDocument/2006/relationships/image" Target="../media/image24.png"/><Relationship Id="rId14"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17.png"/><Relationship Id="rId6" Type="http://schemas.openxmlformats.org/officeDocument/2006/relationships/image" Target="../media/image21.png"/><Relationship Id="rId7" Type="http://schemas.openxmlformats.org/officeDocument/2006/relationships/image" Target="../media/image23.png"/><Relationship Id="rId8" Type="http://schemas.openxmlformats.org/officeDocument/2006/relationships/notesSlide" Target="../notesSlides/notes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4.png"/><Relationship Id="rId4" Type="http://schemas.openxmlformats.org/officeDocument/2006/relationships/notesSlide" Target="../notesSlides/notesSlide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2.png"/><Relationship Id="rId4" Type="http://schemas.openxmlformats.org/officeDocument/2006/relationships/notesSlide" Target="../notesSlides/notesSlide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6.png"/><Relationship Id="rId4" Type="http://schemas.openxmlformats.org/officeDocument/2006/relationships/notesSlide" Target="../notesSlides/notesSlide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3.png"/><Relationship Id="rId4" Type="http://schemas.openxmlformats.org/officeDocument/2006/relationships/notesSlide" Target="../notesSlides/notesSlide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9.png"/><Relationship Id="rId4" Type="http://schemas.openxmlformats.org/officeDocument/2006/relationships/notesSlide" Target="../notesSlides/notesSlide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5.png"/><Relationship Id="rId4" Type="http://schemas.openxmlformats.org/officeDocument/2006/relationships/notesSlide" Target="../notesSlides/notesSlide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0.png"/><Relationship Id="rId4" Type="http://schemas.openxmlformats.org/officeDocument/2006/relationships/notesSlide" Target="../notesSlides/notesSlide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9.png"/><Relationship Id="rId4" Type="http://schemas.openxmlformats.org/officeDocument/2006/relationships/notesSlide" Target="../notesSlides/notesSlide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3.png"/><Relationship Id="rId4" Type="http://schemas.openxmlformats.org/officeDocument/2006/relationships/notesSlide" Target="../notesSlides/notes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5.png"/><Relationship Id="rId4" Type="http://schemas.openxmlformats.org/officeDocument/2006/relationships/notesSlide" Target="../notesSlides/notesSlide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8.png"/><Relationship Id="rId4" Type="http://schemas.openxmlformats.org/officeDocument/2006/relationships/notesSlide" Target="../notesSlides/notesSlide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29.xml><?xml version="1.0" encoding="utf-8"?>
<p:sld xmlns:a="http://schemas.openxmlformats.org/drawingml/2006/main" xmlns:p="http://schemas.openxmlformats.org/presentationml/2006/main" xmlns:r="http://schemas.openxmlformats.org/officeDocument/2006/relationships">
  <p:cSld name="L4: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Application: a clipboard and a pen [sign: APPLICATION]">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2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How Long Have You Lived Here?</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and answer How long…?</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Use for and since</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Fill in an application</a:t>
            </a:r>
            <a:endParaRPr lang="en-US" sz="220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name="L4: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five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Every goal is a good goal.</a:t>
            </a:r>
            <a:endParaRPr lang="en-US" sz="2000" dirty="0" b="1"/>
          </a:p>
        </p:txBody>
      </p:sp>
      <p:sp>
        <p:nvSpPr>
          <p:cNvPr id="31" name="R1 shadow"/>
          <p:cNvSpPr/>
          <p:nvPr/>
        </p:nvSpPr>
        <p:spPr>
          <a:xfrm>
            <a:off x="544982" y="2093062"/>
            <a:ext cx="6227064" cy="678668"/>
          </a:xfrm>
          <a:prstGeom prst="round1Rect">
            <a:avLst>
              <a:gd name="adj" fmla="val 23087"/>
            </a:avLst>
          </a:prstGeom>
          <a:solidFill>
            <a:srgbClr val="8FAFE3"/>
          </a:solidFill>
          <a:ln/>
        </p:spPr>
        <p:txBody>
          <a:bodyPr/>
          <a:p/>
        </p:txBody>
      </p:sp>
      <p:sp>
        <p:nvSpPr>
          <p:cNvPr id="32" name="R1 card"/>
          <p:cNvSpPr/>
          <p:nvPr/>
        </p:nvSpPr>
        <p:spPr>
          <a:xfrm>
            <a:off x="1583741" y="2035454"/>
            <a:ext cx="5130698" cy="678668"/>
          </a:xfrm>
          <a:prstGeom prst="round1Rect">
            <a:avLst>
              <a:gd name="adj" fmla="val 23087"/>
            </a:avLst>
          </a:prstGeom>
          <a:solidFill>
            <a:srgbClr val="FFFFFF"/>
          </a:solidFill>
          <a:ln/>
        </p:spPr>
        <p:txBody>
          <a:bodyPr/>
          <a:p/>
        </p:txBody>
      </p:sp>
      <p:sp>
        <p:nvSpPr>
          <p:cNvPr id="33" name="R1 chip"/>
          <p:cNvSpPr/>
          <p:nvPr/>
        </p:nvSpPr>
        <p:spPr>
          <a:xfrm>
            <a:off x="544982" y="2035454"/>
            <a:ext cx="1039673" cy="678668"/>
          </a:xfrm>
          <a:prstGeom prst="rect">
            <a:avLst/>
          </a:prstGeom>
          <a:solidFill>
            <a:srgbClr val="B9D2F7"/>
          </a:solidFill>
          <a:ln/>
        </p:spPr>
        <p:txBody>
          <a:bodyPr/>
          <a:p/>
        </p:txBody>
      </p:sp>
      <p:sp>
        <p:nvSpPr>
          <p:cNvPr id="34" name="R1 num"/>
          <p:cNvSpPr/>
          <p:nvPr/>
        </p:nvSpPr>
        <p:spPr>
          <a:xfrm>
            <a:off x="686714" y="2051548"/>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035454"/>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ask </a:t>
            </a:r>
            <a:r>
              <a:rPr lang="en-US" sz="1500" dirty="0" b="1">
                <a:solidFill>
                  <a:srgbClr val="5B3FC4"/>
                </a:solidFill>
                <a:latin typeface="Lexend Deca" pitchFamily="34" charset="0"/>
                <a:ea typeface="Lexend Deca" pitchFamily="34" charset="-122"/>
                <a:cs typeface="Lexend Deca" pitchFamily="34" charset="-120"/>
              </a:rPr>
              <a:t>How long have you lived / worked…?</a:t>
            </a:r>
            <a:endParaRPr lang="en-US" sz="1500" dirty="0"/>
          </a:p>
        </p:txBody>
      </p:sp>
      <p:sp>
        <p:nvSpPr>
          <p:cNvPr id="36" name="R1 dot"/>
          <p:cNvSpPr/>
          <p:nvPr/>
        </p:nvSpPr>
        <p:spPr>
          <a:xfrm rot="10800000">
            <a:off x="6361481" y="2168957"/>
            <a:ext cx="88697" cy="76810"/>
          </a:xfrm>
          <a:prstGeom prst="triangle">
            <a:avLst/>
          </a:prstGeom>
          <a:solidFill>
            <a:srgbClr val="8FAFE3"/>
          </a:solidFill>
          <a:ln/>
        </p:spPr>
        <p:txBody>
          <a:bodyPr/>
          <a:p/>
        </p:txBody>
      </p:sp>
      <p:sp>
        <p:nvSpPr>
          <p:cNvPr id="37" name="R2 card"/>
          <p:cNvSpPr/>
          <p:nvPr/>
        </p:nvSpPr>
        <p:spPr>
          <a:xfrm>
            <a:off x="1583741" y="2822936"/>
            <a:ext cx="5130698" cy="678668"/>
          </a:xfrm>
          <a:prstGeom prst="round1Rect">
            <a:avLst>
              <a:gd name="adj" fmla="val 23087"/>
            </a:avLst>
          </a:prstGeom>
          <a:solidFill>
            <a:srgbClr val="FFFFFF"/>
          </a:solidFill>
          <a:ln/>
        </p:spPr>
        <p:txBody>
          <a:bodyPr/>
          <a:p/>
        </p:txBody>
      </p:sp>
      <p:sp>
        <p:nvSpPr>
          <p:cNvPr id="38" name="R2 chip"/>
          <p:cNvSpPr/>
          <p:nvPr/>
        </p:nvSpPr>
        <p:spPr>
          <a:xfrm>
            <a:off x="544982" y="2822936"/>
            <a:ext cx="1039673" cy="678668"/>
          </a:xfrm>
          <a:prstGeom prst="rect">
            <a:avLst/>
          </a:prstGeom>
          <a:solidFill>
            <a:srgbClr val="B9D2F7"/>
          </a:solidFill>
          <a:ln/>
        </p:spPr>
        <p:txBody>
          <a:bodyPr/>
          <a:p/>
        </p:txBody>
      </p:sp>
      <p:sp>
        <p:nvSpPr>
          <p:cNvPr id="39" name="R2 num"/>
          <p:cNvSpPr/>
          <p:nvPr/>
        </p:nvSpPr>
        <p:spPr>
          <a:xfrm>
            <a:off x="686714" y="2839029"/>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2822936"/>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answer with </a:t>
            </a:r>
            <a:r>
              <a:rPr lang="en-US" sz="1500" dirty="0" b="1">
                <a:solidFill>
                  <a:srgbClr val="5B3FC4"/>
                </a:solidFill>
                <a:latin typeface="Lexend Deca" pitchFamily="34" charset="0"/>
                <a:ea typeface="Lexend Deca" pitchFamily="34" charset="-122"/>
                <a:cs typeface="Lexend Deca" pitchFamily="34" charset="-120"/>
              </a:rPr>
              <a:t>for</a:t>
            </a:r>
            <a:r>
              <a:rPr lang="en-US" sz="1500" dirty="0">
                <a:solidFill>
                  <a:srgbClr val="1B2236"/>
                </a:solidFill>
                <a:latin typeface="Lexend Deca" pitchFamily="34" charset="0"/>
                <a:ea typeface="Lexend Deca" pitchFamily="34" charset="-122"/>
                <a:cs typeface="Lexend Deca" pitchFamily="34" charset="-120"/>
              </a:rPr>
              <a:t> + a length of time and </a:t>
            </a:r>
            <a:r>
              <a:rPr lang="en-US" sz="1500" dirty="0" b="1">
                <a:solidFill>
                  <a:srgbClr val="5B3FC4"/>
                </a:solidFill>
                <a:latin typeface="Lexend Deca" pitchFamily="34" charset="0"/>
                <a:ea typeface="Lexend Deca" pitchFamily="34" charset="-122"/>
                <a:cs typeface="Lexend Deca" pitchFamily="34" charset="-120"/>
              </a:rPr>
              <a:t>since</a:t>
            </a:r>
            <a:r>
              <a:rPr lang="en-US" sz="1500" dirty="0">
                <a:solidFill>
                  <a:srgbClr val="1B2236"/>
                </a:solidFill>
                <a:latin typeface="Lexend Deca" pitchFamily="34" charset="0"/>
                <a:ea typeface="Lexend Deca" pitchFamily="34" charset="-122"/>
                <a:cs typeface="Lexend Deca" pitchFamily="34" charset="-120"/>
              </a:rPr>
              <a:t> + a starting point.</a:t>
            </a:r>
            <a:endParaRPr lang="en-US" sz="1500" dirty="0"/>
          </a:p>
        </p:txBody>
      </p:sp>
      <p:sp>
        <p:nvSpPr>
          <p:cNvPr id="41" name="R2 dot"/>
          <p:cNvSpPr/>
          <p:nvPr/>
        </p:nvSpPr>
        <p:spPr>
          <a:xfrm rot="10800000">
            <a:off x="6361481" y="2956438"/>
            <a:ext cx="88697" cy="76810"/>
          </a:xfrm>
          <a:prstGeom prst="triangle">
            <a:avLst/>
          </a:prstGeom>
          <a:solidFill>
            <a:srgbClr val="8FAFE3"/>
          </a:solidFill>
          <a:ln/>
        </p:spPr>
        <p:txBody>
          <a:bodyPr/>
          <a:p/>
        </p:txBody>
      </p:sp>
      <p:sp>
        <p:nvSpPr>
          <p:cNvPr id="42" name="R3 card"/>
          <p:cNvSpPr/>
          <p:nvPr/>
        </p:nvSpPr>
        <p:spPr>
          <a:xfrm>
            <a:off x="1583741" y="3610417"/>
            <a:ext cx="5130698" cy="678668"/>
          </a:xfrm>
          <a:prstGeom prst="round1Rect">
            <a:avLst>
              <a:gd name="adj" fmla="val 23087"/>
            </a:avLst>
          </a:prstGeom>
          <a:solidFill>
            <a:srgbClr val="FFFFFF"/>
          </a:solidFill>
          <a:ln/>
        </p:spPr>
        <p:txBody>
          <a:bodyPr/>
          <a:p/>
        </p:txBody>
      </p:sp>
      <p:sp>
        <p:nvSpPr>
          <p:cNvPr id="43" name="R3 chip"/>
          <p:cNvSpPr/>
          <p:nvPr/>
        </p:nvSpPr>
        <p:spPr>
          <a:xfrm>
            <a:off x="544982" y="3610417"/>
            <a:ext cx="1039673" cy="678668"/>
          </a:xfrm>
          <a:prstGeom prst="rect">
            <a:avLst/>
          </a:prstGeom>
          <a:solidFill>
            <a:srgbClr val="B9D2F7"/>
          </a:solidFill>
          <a:ln/>
        </p:spPr>
        <p:txBody>
          <a:bodyPr/>
          <a:p/>
        </p:txBody>
      </p:sp>
      <p:sp>
        <p:nvSpPr>
          <p:cNvPr id="44" name="R3 num"/>
          <p:cNvSpPr/>
          <p:nvPr/>
        </p:nvSpPr>
        <p:spPr>
          <a:xfrm>
            <a:off x="686714" y="3626510"/>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610417"/>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choose the present perfect (still true) or the simple past (finished).</a:t>
            </a:r>
            <a:endParaRPr lang="en-US" sz="1500" dirty="0"/>
          </a:p>
        </p:txBody>
      </p:sp>
      <p:sp>
        <p:nvSpPr>
          <p:cNvPr id="46" name="R3 dot"/>
          <p:cNvSpPr/>
          <p:nvPr/>
        </p:nvSpPr>
        <p:spPr>
          <a:xfrm rot="10800000">
            <a:off x="6361481" y="3743919"/>
            <a:ext cx="88697" cy="76810"/>
          </a:xfrm>
          <a:prstGeom prst="triangle">
            <a:avLst/>
          </a:prstGeom>
          <a:solidFill>
            <a:srgbClr val="8FAFE3"/>
          </a:solidFill>
          <a:ln/>
        </p:spPr>
        <p:txBody>
          <a:bodyPr/>
          <a:p/>
        </p:txBody>
      </p:sp>
      <p:sp>
        <p:nvSpPr>
          <p:cNvPr id="47" name="R4 card"/>
          <p:cNvSpPr/>
          <p:nvPr/>
        </p:nvSpPr>
        <p:spPr>
          <a:xfrm>
            <a:off x="1583741" y="4397898"/>
            <a:ext cx="5130698" cy="678668"/>
          </a:xfrm>
          <a:prstGeom prst="round1Rect">
            <a:avLst>
              <a:gd name="adj" fmla="val 23087"/>
            </a:avLst>
          </a:prstGeom>
          <a:solidFill>
            <a:srgbClr val="FFFFFF"/>
          </a:solidFill>
          <a:ln/>
        </p:spPr>
        <p:txBody>
          <a:bodyPr/>
          <a:p/>
        </p:txBody>
      </p:sp>
      <p:sp>
        <p:nvSpPr>
          <p:cNvPr id="48" name="R4 chip"/>
          <p:cNvSpPr/>
          <p:nvPr/>
        </p:nvSpPr>
        <p:spPr>
          <a:xfrm>
            <a:off x="544982" y="4397898"/>
            <a:ext cx="1039673" cy="678668"/>
          </a:xfrm>
          <a:prstGeom prst="rect">
            <a:avLst/>
          </a:prstGeom>
          <a:solidFill>
            <a:srgbClr val="B9D2F7"/>
          </a:solidFill>
          <a:ln/>
        </p:spPr>
        <p:txBody>
          <a:bodyPr/>
          <a:p/>
        </p:txBody>
      </p:sp>
      <p:sp>
        <p:nvSpPr>
          <p:cNvPr id="49" name="R4 num"/>
          <p:cNvSpPr/>
          <p:nvPr/>
        </p:nvSpPr>
        <p:spPr>
          <a:xfrm>
            <a:off x="686714" y="4413992"/>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397898"/>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give an address, an employer, a position, and a start date on an application.</a:t>
            </a:r>
            <a:endParaRPr lang="en-US" sz="1500" dirty="0"/>
          </a:p>
        </p:txBody>
      </p:sp>
      <p:sp>
        <p:nvSpPr>
          <p:cNvPr id="51" name="R4 dot"/>
          <p:cNvSpPr/>
          <p:nvPr/>
        </p:nvSpPr>
        <p:spPr>
          <a:xfrm rot="10800000">
            <a:off x="6361481" y="4531401"/>
            <a:ext cx="88697" cy="76810"/>
          </a:xfrm>
          <a:prstGeom prst="triangle">
            <a:avLst/>
          </a:prstGeom>
          <a:solidFill>
            <a:srgbClr val="8FAFE3"/>
          </a:solidFill>
          <a:ln/>
        </p:spPr>
        <p:txBody>
          <a:bodyPr/>
          <a:p/>
        </p:txBody>
      </p:sp>
      <p:sp>
        <p:nvSpPr>
          <p:cNvPr id="52" name="R5 card"/>
          <p:cNvSpPr/>
          <p:nvPr/>
        </p:nvSpPr>
        <p:spPr>
          <a:xfrm>
            <a:off x="1583741" y="5185380"/>
            <a:ext cx="5130698" cy="678668"/>
          </a:xfrm>
          <a:prstGeom prst="round1Rect">
            <a:avLst>
              <a:gd name="adj" fmla="val 23087"/>
            </a:avLst>
          </a:prstGeom>
          <a:solidFill>
            <a:srgbClr val="FFFFFF"/>
          </a:solidFill>
          <a:ln/>
        </p:spPr>
        <p:txBody>
          <a:bodyPr/>
          <a:p/>
        </p:txBody>
      </p:sp>
      <p:sp>
        <p:nvSpPr>
          <p:cNvPr id="53" name="R5 chip"/>
          <p:cNvSpPr/>
          <p:nvPr/>
        </p:nvSpPr>
        <p:spPr>
          <a:xfrm>
            <a:off x="544982" y="5185380"/>
            <a:ext cx="1039673" cy="678668"/>
          </a:xfrm>
          <a:prstGeom prst="rect">
            <a:avLst/>
          </a:prstGeom>
          <a:solidFill>
            <a:srgbClr val="B9D2F7"/>
          </a:solidFill>
          <a:ln/>
        </p:spPr>
        <p:txBody>
          <a:bodyPr/>
          <a:p/>
        </p:txBody>
      </p:sp>
      <p:sp>
        <p:nvSpPr>
          <p:cNvPr id="54" name="R5 num"/>
          <p:cNvSpPr/>
          <p:nvPr/>
        </p:nvSpPr>
        <p:spPr>
          <a:xfrm>
            <a:off x="686714" y="5201473"/>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185380"/>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write 5–8 sentences about how long I have done three things, with one </a:t>
            </a:r>
            <a:r>
              <a:rPr lang="en-US" sz="1500" dirty="0" b="1">
                <a:solidFill>
                  <a:srgbClr val="5B3FC4"/>
                </a:solidFill>
                <a:latin typeface="Lexend Deca" pitchFamily="34" charset="0"/>
                <a:ea typeface="Lexend Deca" pitchFamily="34" charset="-122"/>
                <a:cs typeface="Lexend Deca" pitchFamily="34" charset="-120"/>
              </a:rPr>
              <a:t>used to</a:t>
            </a:r>
            <a:r>
              <a:rPr lang="en-US" sz="1500" dirty="0">
                <a:solidFill>
                  <a:srgbClr val="1B2236"/>
                </a:solidFill>
                <a:latin typeface="Lexend Deca" pitchFamily="34" charset="0"/>
                <a:ea typeface="Lexend Deca" pitchFamily="34" charset="-122"/>
                <a:cs typeface="Lexend Deca" pitchFamily="34" charset="-120"/>
              </a:rPr>
              <a:t>.</a:t>
            </a:r>
            <a:endParaRPr lang="en-US" sz="1500" dirty="0"/>
          </a:p>
        </p:txBody>
      </p:sp>
      <p:sp>
        <p:nvSpPr>
          <p:cNvPr id="56" name="R5 dot"/>
          <p:cNvSpPr/>
          <p:nvPr/>
        </p:nvSpPr>
        <p:spPr>
          <a:xfrm rot="10800000">
            <a:off x="6361481" y="5318882"/>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4: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Roommate: two people and a house"/>
          <p:cNvPicPr>
            <a:picLocks noChangeAspect="1"/>
          </p:cNvPicPr>
          <p:nvPr/>
        </p:nvPicPr>
        <p:blipFill>
          <a:blip r:embed="rId3"/>
          <a:stretch>
            <a:fillRect/>
          </a:stretch>
        </p:blipFill>
        <p:spPr>
          <a:xfrm>
            <a:off x="6800393" y="2104034"/>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Have you ever tried a new food?</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in 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When did you try it? How was it?</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4: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B answers in 3 sentences: the answer, a reason, and a detail.</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When did you…? How was it? Why?</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Have you ever tried a new food? What was it?</a:t>
            </a:r>
            <a:endParaRPr lang="en-US" sz="18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Have you ever seen the ocean? Where?</a:t>
            </a:r>
            <a:endParaRPr lang="en-US" sz="18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have you never done, but you want to try?</a:t>
            </a:r>
            <a:endParaRPr lang="en-US" sz="18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Have you ever won a prize?</a:t>
            </a:r>
            <a:endParaRPr lang="en-US" sz="20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Homework check: Lesson 1, items 1 and 3.</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Application: a clipboard and a pen [sign: APPLICATION]"/>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application</a:t>
            </a:r>
            <a:endParaRPr lang="en-US" sz="2000" dirty="0" b="1"/>
          </a:p>
        </p:txBody>
      </p:sp>
      <p:pic>
        <p:nvPicPr>
          <p:cNvPr id="19" name="Word picture 2" descr="Current address: a house [sign: NOW: 418 Elm St.]"/>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current address</a:t>
            </a:r>
            <a:endParaRPr lang="en-US" sz="2000" dirty="0" b="1"/>
          </a:p>
        </p:txBody>
      </p:sp>
      <p:pic>
        <p:nvPicPr>
          <p:cNvPr id="21" name="Word picture 3" descr="Previous address: houses [sign: BEFORE: 9 Lake Rd.]"/>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previous address</a:t>
            </a:r>
            <a:endParaRPr lang="en-US" sz="1800" dirty="0" b="1"/>
          </a:p>
        </p:txBody>
      </p:sp>
      <p:pic>
        <p:nvPicPr>
          <p:cNvPr id="23" name="Word picture 4" descr="Employer: an office building and a boss [sign: EMPLOYER]"/>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employer</a:t>
            </a:r>
            <a:endParaRPr lang="en-US" sz="2000" dirty="0" b="1"/>
          </a:p>
        </p:txBody>
      </p:sp>
      <p:pic>
        <p:nvPicPr>
          <p:cNvPr id="25" name="Word picture 5" descr="Position (job title): a mechanic [sign: MECHANIC]"/>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position (job title)</a:t>
            </a:r>
            <a:endParaRPr lang="en-US" sz="1800" dirty="0" b="1"/>
          </a:p>
        </p:txBody>
      </p:sp>
      <p:pic>
        <p:nvPicPr>
          <p:cNvPr id="27" name="Word picture 6" descr="Start date: a calendar and an arrow [sign: START: 03/15/2022]"/>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start date</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Fill out the form!</a:t>
            </a:r>
            <a:endParaRPr lang="en-US" sz="2200" dirty="0" b="1"/>
          </a:p>
        </p:txBody>
      </p:sp>
      <p:pic>
        <p:nvPicPr>
          <p:cNvPr id="17" name="Word picture 1" descr="End date: a calendar and a stop sign [sign: END: 05/30/2024]"/>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end date</a:t>
            </a:r>
            <a:endParaRPr lang="en-US" sz="2000" dirty="0" b="1"/>
          </a:p>
        </p:txBody>
      </p:sp>
      <p:pic>
        <p:nvPicPr>
          <p:cNvPr id="19" name="Word picture 2" descr="Reference (a person): a supervisor and a phone [sign: REFERENCE]"/>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reference (a person)</a:t>
            </a:r>
            <a:endParaRPr lang="en-US" sz="1800" dirty="0" b="1"/>
          </a:p>
        </p:txBody>
      </p:sp>
      <p:pic>
        <p:nvPicPr>
          <p:cNvPr id="21" name="Word picture 3" descr="For (two years): an hourglass [sign: FOR 2 YEARS]"/>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for (two years)</a:t>
            </a:r>
            <a:endParaRPr lang="en-US" sz="2000" dirty="0" b="1"/>
          </a:p>
        </p:txBody>
      </p:sp>
      <p:pic>
        <p:nvPicPr>
          <p:cNvPr id="23" name="Word picture 4" descr="Since (2020): a calendar [sign: SINCE 2020]"/>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since (2020)</a:t>
            </a:r>
            <a:endParaRPr lang="en-US" sz="2000" dirty="0" b="1"/>
          </a:p>
        </p:txBody>
      </p:sp>
      <p:pic>
        <p:nvPicPr>
          <p:cNvPr id="25" name="Word picture 5" descr="Roommate: two people and a house"/>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roommate</a:t>
            </a:r>
            <a:endParaRPr lang="en-US" sz="2000" dirty="0" b="1"/>
          </a:p>
        </p:txBody>
      </p:sp>
      <p:pic>
        <p:nvPicPr>
          <p:cNvPr id="27" name="Word picture 6" descr="Lease: a document and a key [sign: LEASE: 1 YEAR]"/>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lease</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4: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Is your employer a company or a person?</a:t>
            </a:r>
            <a:endParaRPr lang="en-US" sz="1600" dirty="0" b="1"/>
          </a:p>
        </p:txBody>
      </p:sp>
      <p:pic>
        <p:nvPicPr>
          <p:cNvPr id="101" name="R1 pic" descr="Employer: an office building and a boss [sign: EMPLOYER]"/>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Can your mother be your reference?</a:t>
            </a:r>
            <a:endParaRPr lang="en-US" sz="1600" dirty="0" b="1"/>
          </a:p>
        </p:txBody>
      </p:sp>
      <p:pic>
        <p:nvPicPr>
          <p:cNvPr id="102" name="R2 pic" descr="Reference (a person): a supervisor and a phone [sign: REFERENCE]"/>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Is 2020 a length or a starting point?</a:t>
            </a:r>
            <a:endParaRPr lang="en-US" sz="1600" dirty="0" b="1"/>
          </a:p>
        </p:txBody>
      </p:sp>
      <p:pic>
        <p:nvPicPr>
          <p:cNvPr id="103" name="R3 pic" descr="Since (2020): a calendar [sign: SINCE 2020]"/>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a company, usually</a:t>
            </a:r>
            <a:endParaRPr lang="en-US" sz="18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no, usually not</a:t>
            </a:r>
            <a:endParaRPr lang="en-US" sz="18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a starting point → since</a:t>
            </a:r>
            <a:endParaRPr lang="en-US" sz="16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4: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Marisol is at a leasing office. She wants to rent an apartment. Mr. Chen helps her with the application.</a:t>
            </a:r>
            <a:endParaRPr lang="en-US" sz="17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Lease: a document and a key [sign: LEASE: 1 YEAR]"/>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Narrator</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Marisol</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Mr. Chen</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is Marisol applying for?</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Play 2: Tasks B and C.</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1:55. It plays once.</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A</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What is Marisol applying for?</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a:t>
            </a:r>
            <a:endParaRPr lang="en-US" sz="2000" dirty="0"/>
          </a:p>
        </p:txBody>
      </p:sp>
      <p:sp>
        <p:nvSpPr>
          <p:cNvPr id="8" name="R1 stmt"/>
          <p:cNvSpPr/>
          <p:nvPr/>
        </p:nvSpPr>
        <p:spPr>
          <a:xfrm>
            <a:off x="502920" y="3108960"/>
            <a:ext cx="278892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Marisol:</a:t>
            </a:r>
            <a:endParaRPr lang="en-US" sz="2000" dirty="0"/>
          </a:p>
        </p:txBody>
      </p:sp>
      <p:sp>
        <p:nvSpPr>
          <p:cNvPr id="9" name="R1 opt1"/>
          <p:cNvSpPr/>
          <p:nvPr/>
        </p:nvSpPr>
        <p:spPr>
          <a:xfrm>
            <a:off x="3474720" y="3108960"/>
            <a:ext cx="237744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a. a job at a clinic</a:t>
            </a:r>
            <a:endParaRPr lang="en-US" sz="1700" dirty="0" b="1"/>
          </a:p>
        </p:txBody>
      </p:sp>
      <p:sp>
        <p:nvSpPr>
          <p:cNvPr id="10" name="R1 opt2"/>
          <p:cNvSpPr/>
          <p:nvPr/>
        </p:nvSpPr>
        <p:spPr>
          <a:xfrm>
            <a:off x="6035040" y="3108960"/>
            <a:ext cx="237744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b. an apartment</a:t>
            </a:r>
            <a:endParaRPr lang="en-US" sz="1700" dirty="0" b="1"/>
          </a:p>
        </p:txBody>
      </p:sp>
      <p:sp>
        <p:nvSpPr>
          <p:cNvPr id="11" name="R1 opt3"/>
          <p:cNvSpPr/>
          <p:nvPr/>
        </p:nvSpPr>
        <p:spPr>
          <a:xfrm>
            <a:off x="8595360" y="3108960"/>
            <a:ext cx="237744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c. a class at a bakery</a:t>
            </a:r>
            <a:endParaRPr lang="en-US" sz="1700" dirty="0" b="1"/>
          </a:p>
        </p:txBody>
      </p:sp>
      <p:sp>
        <p:nvSpPr>
          <p:cNvPr id="12" name="R1 circle"/>
          <p:cNvSpPr/>
          <p:nvPr/>
        </p:nvSpPr>
        <p:spPr>
          <a:xfrm>
            <a:off x="5907024" y="3054096"/>
            <a:ext cx="263347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again. Complete Marisol's application.</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answers.</a:t>
            </a:r>
            <a:endParaRPr lang="en-US" sz="2000" dirty="0"/>
          </a:p>
        </p:txBody>
      </p:sp>
      <p:sp>
        <p:nvSpPr>
          <p:cNvPr id="8" name="R1 stmt"/>
          <p:cNvSpPr/>
          <p:nvPr/>
        </p:nvSpPr>
        <p:spPr>
          <a:xfrm>
            <a:off x="502920" y="3108960"/>
            <a:ext cx="4443984"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1. How long at the current address:</a:t>
            </a:r>
            <a:endParaRPr lang="en-US" sz="1700" dirty="0"/>
          </a:p>
        </p:txBody>
      </p:sp>
      <p:sp>
        <p:nvSpPr>
          <p:cNvPr id="9" name="R1 opt1"/>
          <p:cNvSpPr/>
          <p:nvPr/>
        </p:nvSpPr>
        <p:spPr>
          <a:xfrm>
            <a:off x="5129784" y="310896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two years</a:t>
            </a:r>
            <a:endParaRPr lang="en-US" sz="1400" dirty="0" b="1"/>
          </a:p>
        </p:txBody>
      </p:sp>
      <p:sp>
        <p:nvSpPr>
          <p:cNvPr id="10" name="R1 opt2"/>
          <p:cNvSpPr/>
          <p:nvPr/>
        </p:nvSpPr>
        <p:spPr>
          <a:xfrm>
            <a:off x="7114032" y="310896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three years</a:t>
            </a:r>
            <a:endParaRPr lang="en-US" sz="1400" dirty="0" b="1"/>
          </a:p>
        </p:txBody>
      </p:sp>
      <p:sp>
        <p:nvSpPr>
          <p:cNvPr id="11" name="R1 opt3"/>
          <p:cNvSpPr/>
          <p:nvPr/>
        </p:nvSpPr>
        <p:spPr>
          <a:xfrm>
            <a:off x="9098280" y="310896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since 2022</a:t>
            </a:r>
            <a:endParaRPr lang="en-US" sz="1400" dirty="0" b="1"/>
          </a:p>
        </p:txBody>
      </p:sp>
      <p:sp>
        <p:nvSpPr>
          <p:cNvPr id="12" name="R1 circle"/>
          <p:cNvSpPr/>
          <p:nvPr/>
        </p:nvSpPr>
        <p:spPr>
          <a:xfrm>
            <a:off x="5001768" y="3054096"/>
            <a:ext cx="21305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3" name="R2 stmt"/>
          <p:cNvSpPr/>
          <p:nvPr/>
        </p:nvSpPr>
        <p:spPr>
          <a:xfrm>
            <a:off x="502920" y="3657600"/>
            <a:ext cx="4443984"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2. Previous address:</a:t>
            </a:r>
            <a:endParaRPr lang="en-US" sz="1700" dirty="0"/>
          </a:p>
        </p:txBody>
      </p:sp>
      <p:sp>
        <p:nvSpPr>
          <p:cNvPr id="14" name="R2 opt1"/>
          <p:cNvSpPr/>
          <p:nvPr/>
        </p:nvSpPr>
        <p:spPr>
          <a:xfrm>
            <a:off x="5129784" y="365760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Elm Street</a:t>
            </a:r>
            <a:endParaRPr lang="en-US" sz="1400" dirty="0" b="1"/>
          </a:p>
        </p:txBody>
      </p:sp>
      <p:sp>
        <p:nvSpPr>
          <p:cNvPr id="15" name="R2 opt2"/>
          <p:cNvSpPr/>
          <p:nvPr/>
        </p:nvSpPr>
        <p:spPr>
          <a:xfrm>
            <a:off x="7114032" y="365760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Lake Road</a:t>
            </a:r>
            <a:endParaRPr lang="en-US" sz="1400" dirty="0" b="1"/>
          </a:p>
        </p:txBody>
      </p:sp>
      <p:sp>
        <p:nvSpPr>
          <p:cNvPr id="16" name="R2 opt3"/>
          <p:cNvSpPr/>
          <p:nvPr/>
        </p:nvSpPr>
        <p:spPr>
          <a:xfrm>
            <a:off x="9098280" y="365760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Parkview</a:t>
            </a:r>
            <a:endParaRPr lang="en-US" sz="1400" dirty="0" b="1"/>
          </a:p>
        </p:txBody>
      </p:sp>
      <p:sp>
        <p:nvSpPr>
          <p:cNvPr id="17" name="R2 circle"/>
          <p:cNvSpPr/>
          <p:nvPr/>
        </p:nvSpPr>
        <p:spPr>
          <a:xfrm>
            <a:off x="6986016" y="3602736"/>
            <a:ext cx="21305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8" name="R3 stmt"/>
          <p:cNvSpPr/>
          <p:nvPr/>
        </p:nvSpPr>
        <p:spPr>
          <a:xfrm>
            <a:off x="502920" y="4206240"/>
            <a:ext cx="4443984"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3. Employer:</a:t>
            </a:r>
            <a:endParaRPr lang="en-US" sz="1700" dirty="0"/>
          </a:p>
        </p:txBody>
      </p:sp>
      <p:sp>
        <p:nvSpPr>
          <p:cNvPr id="19" name="R3 opt1"/>
          <p:cNvSpPr/>
          <p:nvPr/>
        </p:nvSpPr>
        <p:spPr>
          <a:xfrm>
            <a:off x="5129784" y="420624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a bakery</a:t>
            </a:r>
            <a:endParaRPr lang="en-US" sz="1400" dirty="0" b="1"/>
          </a:p>
        </p:txBody>
      </p:sp>
      <p:sp>
        <p:nvSpPr>
          <p:cNvPr id="20" name="R3 opt2"/>
          <p:cNvSpPr/>
          <p:nvPr/>
        </p:nvSpPr>
        <p:spPr>
          <a:xfrm>
            <a:off x="7114032" y="420624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Green Valley Clinic</a:t>
            </a:r>
            <a:endParaRPr lang="en-US" sz="1400" dirty="0" b="1"/>
          </a:p>
        </p:txBody>
      </p:sp>
      <p:sp>
        <p:nvSpPr>
          <p:cNvPr id="21" name="R3 opt3"/>
          <p:cNvSpPr/>
          <p:nvPr/>
        </p:nvSpPr>
        <p:spPr>
          <a:xfrm>
            <a:off x="9098280" y="420624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Parkview Apartments</a:t>
            </a:r>
            <a:endParaRPr lang="en-US" sz="1400" dirty="0" b="1"/>
          </a:p>
        </p:txBody>
      </p:sp>
      <p:sp>
        <p:nvSpPr>
          <p:cNvPr id="22" name="R3 circle"/>
          <p:cNvSpPr/>
          <p:nvPr/>
        </p:nvSpPr>
        <p:spPr>
          <a:xfrm>
            <a:off x="6986016" y="4151376"/>
            <a:ext cx="21305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R4 stmt"/>
          <p:cNvSpPr/>
          <p:nvPr/>
        </p:nvSpPr>
        <p:spPr>
          <a:xfrm>
            <a:off x="502920" y="4754880"/>
            <a:ext cx="4443984"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4. Position:</a:t>
            </a:r>
            <a:endParaRPr lang="en-US" sz="1700" dirty="0"/>
          </a:p>
        </p:txBody>
      </p:sp>
      <p:sp>
        <p:nvSpPr>
          <p:cNvPr id="24" name="R4 opt1"/>
          <p:cNvSpPr/>
          <p:nvPr/>
        </p:nvSpPr>
        <p:spPr>
          <a:xfrm>
            <a:off x="5129784" y="475488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medical assistant</a:t>
            </a:r>
            <a:endParaRPr lang="en-US" sz="1400" dirty="0" b="1"/>
          </a:p>
        </p:txBody>
      </p:sp>
      <p:sp>
        <p:nvSpPr>
          <p:cNvPr id="25" name="R4 opt2"/>
          <p:cNvSpPr/>
          <p:nvPr/>
        </p:nvSpPr>
        <p:spPr>
          <a:xfrm>
            <a:off x="7114032" y="475488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supervisor</a:t>
            </a:r>
            <a:endParaRPr lang="en-US" sz="1400" dirty="0" b="1"/>
          </a:p>
        </p:txBody>
      </p:sp>
      <p:sp>
        <p:nvSpPr>
          <p:cNvPr id="26" name="R4 opt3"/>
          <p:cNvSpPr/>
          <p:nvPr/>
        </p:nvSpPr>
        <p:spPr>
          <a:xfrm>
            <a:off x="9098280" y="475488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baker</a:t>
            </a:r>
            <a:endParaRPr lang="en-US" sz="1400" dirty="0" b="1"/>
          </a:p>
        </p:txBody>
      </p:sp>
      <p:sp>
        <p:nvSpPr>
          <p:cNvPr id="27" name="R4 circle"/>
          <p:cNvSpPr/>
          <p:nvPr/>
        </p:nvSpPr>
        <p:spPr>
          <a:xfrm>
            <a:off x="5001768" y="4700016"/>
            <a:ext cx="21305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5 stmt"/>
          <p:cNvSpPr/>
          <p:nvPr/>
        </p:nvSpPr>
        <p:spPr>
          <a:xfrm>
            <a:off x="502920" y="5303520"/>
            <a:ext cx="4443984"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5. Start date:</a:t>
            </a:r>
            <a:endParaRPr lang="en-US" sz="1700" dirty="0"/>
          </a:p>
        </p:txBody>
      </p:sp>
      <p:sp>
        <p:nvSpPr>
          <p:cNvPr id="29" name="R5 opt1"/>
          <p:cNvSpPr/>
          <p:nvPr/>
        </p:nvSpPr>
        <p:spPr>
          <a:xfrm>
            <a:off x="5129784" y="530352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March 5, 2022</a:t>
            </a:r>
            <a:endParaRPr lang="en-US" sz="1400" dirty="0" b="1"/>
          </a:p>
        </p:txBody>
      </p:sp>
      <p:sp>
        <p:nvSpPr>
          <p:cNvPr id="30" name="R5 opt2"/>
          <p:cNvSpPr/>
          <p:nvPr/>
        </p:nvSpPr>
        <p:spPr>
          <a:xfrm>
            <a:off x="7114032" y="530352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March 15, 2022</a:t>
            </a:r>
            <a:endParaRPr lang="en-US" sz="1400" dirty="0" b="1"/>
          </a:p>
        </p:txBody>
      </p:sp>
      <p:sp>
        <p:nvSpPr>
          <p:cNvPr id="31" name="R5 opt3"/>
          <p:cNvSpPr/>
          <p:nvPr/>
        </p:nvSpPr>
        <p:spPr>
          <a:xfrm>
            <a:off x="9098280" y="530352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June 1, 2022</a:t>
            </a:r>
            <a:endParaRPr lang="en-US" sz="1400" dirty="0" b="1"/>
          </a:p>
        </p:txBody>
      </p:sp>
      <p:sp>
        <p:nvSpPr>
          <p:cNvPr id="32" name="R5 circle"/>
          <p:cNvSpPr/>
          <p:nvPr/>
        </p:nvSpPr>
        <p:spPr>
          <a:xfrm>
            <a:off x="6986016" y="5248656"/>
            <a:ext cx="21305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3" name="R6 stmt"/>
          <p:cNvSpPr/>
          <p:nvPr/>
        </p:nvSpPr>
        <p:spPr>
          <a:xfrm>
            <a:off x="502920" y="5852160"/>
            <a:ext cx="6428232"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6. Roommate:</a:t>
            </a:r>
            <a:endParaRPr lang="en-US" sz="1700" dirty="0"/>
          </a:p>
        </p:txBody>
      </p:sp>
      <p:sp>
        <p:nvSpPr>
          <p:cNvPr id="34" name="R6 opt1"/>
          <p:cNvSpPr/>
          <p:nvPr/>
        </p:nvSpPr>
        <p:spPr>
          <a:xfrm>
            <a:off x="7114032" y="585216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yes</a:t>
            </a:r>
            <a:endParaRPr lang="en-US" sz="1400" dirty="0" b="1"/>
          </a:p>
        </p:txBody>
      </p:sp>
      <p:sp>
        <p:nvSpPr>
          <p:cNvPr id="35" name="R6 opt2"/>
          <p:cNvSpPr/>
          <p:nvPr/>
        </p:nvSpPr>
        <p:spPr>
          <a:xfrm>
            <a:off x="9098280" y="585216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no</a:t>
            </a:r>
            <a:endParaRPr lang="en-US" sz="1400" dirty="0" b="1"/>
          </a:p>
        </p:txBody>
      </p:sp>
      <p:sp>
        <p:nvSpPr>
          <p:cNvPr id="36" name="R6 circle"/>
          <p:cNvSpPr/>
          <p:nvPr/>
        </p:nvSpPr>
        <p:spPr>
          <a:xfrm>
            <a:off x="8970264" y="5797296"/>
            <a:ext cx="21305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for or since.</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Words: </a:t>
            </a:r>
            <a:r>
              <a:rPr lang="en-US" sz="2000" dirty="0" b="1">
                <a:solidFill>
                  <a:srgbClr val="5B3FC4"/>
                </a:solidFill>
                <a:latin typeface="Lexend Deca" pitchFamily="34" charset="0"/>
                <a:ea typeface="Lexend Deca" pitchFamily="34" charset="-122"/>
                <a:cs typeface="Lexend Deca" pitchFamily="34" charset="-120"/>
              </a:rPr>
              <a:t>for, since</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compare your answers.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I've lived there ____ two years.</a:t>
            </a:r>
            <a:endParaRPr lang="en-US" sz="1800" dirty="0"/>
          </a:p>
        </p:txBody>
      </p:sp>
      <p:sp>
        <p:nvSpPr>
          <p:cNvPr id="35" name="R1 ans"/>
          <p:cNvSpPr/>
          <p:nvPr/>
        </p:nvSpPr>
        <p:spPr>
          <a:xfrm>
            <a:off x="6382512" y="2222144"/>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for</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lived there ____ three years.</a:t>
            </a:r>
            <a:endParaRPr lang="en-US" sz="1800" dirty="0"/>
          </a:p>
        </p:txBody>
      </p:sp>
      <p:sp>
        <p:nvSpPr>
          <p:cNvPr id="40" name="R2 ans"/>
          <p:cNvSpPr/>
          <p:nvPr/>
        </p:nvSpPr>
        <p:spPr>
          <a:xfrm>
            <a:off x="6382512" y="2950312"/>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for</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____ March 2022.</a:t>
            </a:r>
            <a:endParaRPr lang="en-US" sz="1800" dirty="0"/>
          </a:p>
        </p:txBody>
      </p:sp>
      <p:sp>
        <p:nvSpPr>
          <p:cNvPr id="45" name="R3 ans"/>
          <p:cNvSpPr/>
          <p:nvPr/>
        </p:nvSpPr>
        <p:spPr>
          <a:xfrm>
            <a:off x="6382512" y="3678479"/>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Since</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Before that, I worked at a bakery ____ two years.</a:t>
            </a:r>
            <a:endParaRPr lang="en-US" sz="1800" dirty="0"/>
          </a:p>
        </p:txBody>
      </p:sp>
      <p:sp>
        <p:nvSpPr>
          <p:cNvPr id="50" name="R4 ans"/>
          <p:cNvSpPr/>
          <p:nvPr/>
        </p:nvSpPr>
        <p:spPr>
          <a:xfrm>
            <a:off x="6382512" y="4406646"/>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for</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She's known me ____ I started.</a:t>
            </a:r>
            <a:endParaRPr lang="en-US" sz="1800" dirty="0"/>
          </a:p>
        </p:txBody>
      </p:sp>
      <p:sp>
        <p:nvSpPr>
          <p:cNvPr id="55" name="R5 ans"/>
          <p:cNvSpPr/>
          <p:nvPr/>
        </p:nvSpPr>
        <p:spPr>
          <a:xfrm>
            <a:off x="6382512" y="5134813"/>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since</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lease is ____ one year.</a:t>
            </a:r>
            <a:endParaRPr lang="en-US" sz="1800" dirty="0"/>
          </a:p>
        </p:txBody>
      </p:sp>
      <p:sp>
        <p:nvSpPr>
          <p:cNvPr id="60" name="R6 ans"/>
          <p:cNvSpPr/>
          <p:nvPr/>
        </p:nvSpPr>
        <p:spPr>
          <a:xfrm>
            <a:off x="6382512" y="5862980"/>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for</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name="L4: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Hear it: wanna = want to, gonna = going to</a:t>
            </a:r>
            <a:endParaRPr lang="en-US" sz="18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Say it: a short for ("fer")</a:t>
            </a:r>
            <a:endParaRPr lang="en-US" sz="18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Hear It,</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gonna</a:t>
            </a:r>
            <a:r>
              <a:rPr lang="en-US" sz="2000" dirty="0">
                <a:solidFill>
                  <a:srgbClr val="1B2236"/>
                </a:solidFill>
                <a:latin typeface="Lexend Deca" pitchFamily="34" charset="0"/>
                <a:ea typeface="Lexend Deca" pitchFamily="34" charset="-122"/>
                <a:cs typeface="Lexend Deca" pitchFamily="34" charset="-120"/>
              </a:rPr>
              <a:t> = going to, </a:t>
            </a:r>
            <a:r>
              <a:rPr lang="en-US" sz="2000" dirty="0" b="1">
                <a:solidFill>
                  <a:srgbClr val="5B3FC4"/>
                </a:solidFill>
                <a:latin typeface="Lexend Deca" pitchFamily="34" charset="0"/>
                <a:ea typeface="Lexend Deca" pitchFamily="34" charset="-122"/>
                <a:cs typeface="Lexend Deca" pitchFamily="34" charset="-120"/>
              </a:rPr>
              <a:t>wanna</a:t>
            </a:r>
            <a:r>
              <a:rPr lang="en-US" sz="2000" dirty="0">
                <a:solidFill>
                  <a:srgbClr val="1B2236"/>
                </a:solidFill>
                <a:latin typeface="Lexend Deca" pitchFamily="34" charset="0"/>
                <a:ea typeface="Lexend Deca" pitchFamily="34" charset="-122"/>
                <a:cs typeface="Lexend Deca" pitchFamily="34" charset="-120"/>
              </a:rPr>
              <a:t> = want to: fine in everyday talk.</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You can say </a:t>
            </a:r>
            <a:r>
              <a:rPr lang="en-US" sz="2000" dirty="0" b="1">
                <a:solidFill>
                  <a:srgbClr val="5B3FC4"/>
                </a:solidFill>
                <a:latin typeface="Lexend Deca" pitchFamily="34" charset="0"/>
                <a:ea typeface="Lexend Deca" pitchFamily="34" charset="-122"/>
                <a:cs typeface="Lexend Deca" pitchFamily="34" charset="-120"/>
              </a:rPr>
              <a:t>want to</a:t>
            </a:r>
            <a:r>
              <a:rPr lang="en-US" sz="2000" dirty="0" b="0">
                <a:solidFill>
                  <a:srgbClr val="1B2236"/>
                </a:solidFill>
                <a:latin typeface="Lexend Deca" pitchFamily="34" charset="0"/>
                <a:ea typeface="Lexend Deca" pitchFamily="34" charset="-122"/>
                <a:cs typeface="Lexend Deca" pitchFamily="34" charset="-120"/>
              </a:rPr>
              <a:t> and </a:t>
            </a:r>
            <a:r>
              <a:rPr lang="en-US" sz="2000" dirty="0" b="1">
                <a:solidFill>
                  <a:srgbClr val="5B3FC4"/>
                </a:solidFill>
                <a:latin typeface="Lexend Deca" pitchFamily="34" charset="0"/>
                <a:ea typeface="Lexend Deca" pitchFamily="34" charset="-122"/>
                <a:cs typeface="Lexend Deca" pitchFamily="34" charset="-120"/>
              </a:rPr>
              <a:t>going to</a:t>
            </a:r>
            <a:r>
              <a:rPr lang="en-US" sz="2000" dirty="0" b="0">
                <a:solidFill>
                  <a:srgbClr val="1B2236"/>
                </a:solidFill>
                <a:latin typeface="Lexend Deca" pitchFamily="34" charset="0"/>
                <a:ea typeface="Lexend Deca" pitchFamily="34" charset="-122"/>
                <a:cs typeface="Lexend Deca" pitchFamily="34" charset="-120"/>
              </a:rPr>
              <a:t>.</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each line </a:t>
            </a:r>
            <a:r>
              <a:rPr lang="en-US" sz="2000" dirty="0" b="1">
                <a:solidFill>
                  <a:srgbClr val="5B3FC4"/>
                </a:solidFill>
                <a:latin typeface="Lexend Deca" pitchFamily="34" charset="0"/>
                <a:ea typeface="Lexend Deca" pitchFamily="34" charset="-122"/>
                <a:cs typeface="Lexend Deca" pitchFamily="34" charset="-120"/>
              </a:rPr>
              <a:t>two times.</a:t>
            </a:r>
            <a:endParaRPr lang="en-US" sz="2000" dirty="0" b="0"/>
          </a:p>
        </p:txBody>
      </p:sp>
      <p:sp>
        <p:nvSpPr>
          <p:cNvPr id="31" name="S1 card"/>
          <p:cNvSpPr/>
          <p:nvPr/>
        </p:nvSpPr>
        <p:spPr>
          <a:xfrm>
            <a:off x="548640" y="2715768"/>
            <a:ext cx="6766560" cy="602590"/>
          </a:xfrm>
          <a:prstGeom prst="round1Rect">
            <a:avLst>
              <a:gd name="adj" fmla="val 23087"/>
            </a:avLst>
          </a:prstGeom>
          <a:solidFill>
            <a:srgbClr val="FFFFFF"/>
          </a:solidFill>
          <a:ln/>
        </p:spPr>
        <p:txBody>
          <a:bodyPr/>
          <a:p/>
        </p:txBody>
      </p:sp>
      <p:sp>
        <p:nvSpPr>
          <p:cNvPr id="32" name="S1 text"/>
          <p:cNvSpPr/>
          <p:nvPr/>
        </p:nvSpPr>
        <p:spPr>
          <a:xfrm>
            <a:off x="777240" y="271576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5B3FC4"/>
                </a:solidFill>
                <a:latin typeface="Lexend Deca" pitchFamily="34" charset="0"/>
                <a:ea typeface="Lexend Deca" pitchFamily="34" charset="-122"/>
                <a:cs typeface="Lexend Deca" pitchFamily="34" charset="-120"/>
              </a:rPr>
              <a:t>want to</a:t>
            </a:r>
            <a:r>
              <a:rPr lang="en-US" sz="1800" dirty="0" b="1">
                <a:solidFill>
                  <a:srgbClr val="1B2236"/>
                </a:solidFill>
                <a:latin typeface="Lexend Deca" pitchFamily="34" charset="0"/>
                <a:ea typeface="Lexend Deca" pitchFamily="34" charset="-122"/>
                <a:cs typeface="Lexend Deca" pitchFamily="34" charset="-120"/>
              </a:rPr>
              <a:t> fill out an application.</a:t>
            </a:r>
            <a:endParaRPr lang="en-US" sz="1800" dirty="0" b="1"/>
          </a:p>
        </p:txBody>
      </p:sp>
      <p:sp>
        <p:nvSpPr>
          <p:cNvPr id="33" name="S2 card"/>
          <p:cNvSpPr/>
          <p:nvPr/>
        </p:nvSpPr>
        <p:spPr>
          <a:xfrm>
            <a:off x="548640" y="3427171"/>
            <a:ext cx="6766560" cy="602590"/>
          </a:xfrm>
          <a:prstGeom prst="round1Rect">
            <a:avLst>
              <a:gd name="adj" fmla="val 23087"/>
            </a:avLst>
          </a:prstGeom>
          <a:solidFill>
            <a:srgbClr val="FFFFFF"/>
          </a:solidFill>
          <a:ln/>
        </p:spPr>
        <p:txBody>
          <a:bodyPr/>
          <a:p/>
        </p:txBody>
      </p:sp>
      <p:sp>
        <p:nvSpPr>
          <p:cNvPr id="34" name="S2 text"/>
          <p:cNvSpPr/>
          <p:nvPr/>
        </p:nvSpPr>
        <p:spPr>
          <a:xfrm>
            <a:off x="777240" y="3427171"/>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My mother is </a:t>
            </a:r>
            <a:r>
              <a:rPr lang="en-US" sz="1800" dirty="0" b="1">
                <a:solidFill>
                  <a:srgbClr val="5B3FC4"/>
                </a:solidFill>
                <a:latin typeface="Lexend Deca" pitchFamily="34" charset="0"/>
                <a:ea typeface="Lexend Deca" pitchFamily="34" charset="-122"/>
                <a:cs typeface="Lexend Deca" pitchFamily="34" charset="-120"/>
              </a:rPr>
              <a:t>going to</a:t>
            </a:r>
            <a:r>
              <a:rPr lang="en-US" sz="1800" dirty="0" b="1">
                <a:solidFill>
                  <a:srgbClr val="1B2236"/>
                </a:solidFill>
                <a:latin typeface="Lexend Deca" pitchFamily="34" charset="0"/>
                <a:ea typeface="Lexend Deca" pitchFamily="34" charset="-122"/>
                <a:cs typeface="Lexend Deca" pitchFamily="34" charset="-120"/>
              </a:rPr>
              <a:t> live with me.</a:t>
            </a:r>
            <a:endParaRPr lang="en-US" sz="1800" dirty="0" b="1"/>
          </a:p>
        </p:txBody>
      </p:sp>
      <p:sp>
        <p:nvSpPr>
          <p:cNvPr id="35" name="S3 card"/>
          <p:cNvSpPr/>
          <p:nvPr/>
        </p:nvSpPr>
        <p:spPr>
          <a:xfrm>
            <a:off x="548640" y="4138574"/>
            <a:ext cx="6766560" cy="602590"/>
          </a:xfrm>
          <a:prstGeom prst="round1Rect">
            <a:avLst>
              <a:gd name="adj" fmla="val 23087"/>
            </a:avLst>
          </a:prstGeom>
          <a:solidFill>
            <a:srgbClr val="FFFFFF"/>
          </a:solidFill>
          <a:ln/>
        </p:spPr>
        <p:txBody>
          <a:bodyPr/>
          <a:p/>
        </p:txBody>
      </p:sp>
      <p:sp>
        <p:nvSpPr>
          <p:cNvPr id="36" name="S3 text"/>
          <p:cNvSpPr/>
          <p:nvPr/>
        </p:nvSpPr>
        <p:spPr>
          <a:xfrm>
            <a:off x="777240" y="4138574"/>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I've lived there </a:t>
            </a:r>
            <a:r>
              <a:rPr lang="en-US" sz="1800" dirty="0" b="1">
                <a:solidFill>
                  <a:srgbClr val="5B3FC4"/>
                </a:solidFill>
                <a:latin typeface="Lexend Deca" pitchFamily="34" charset="0"/>
                <a:ea typeface="Lexend Deca" pitchFamily="34" charset="-122"/>
                <a:cs typeface="Lexend Deca" pitchFamily="34" charset="-120"/>
              </a:rPr>
              <a:t>for</a:t>
            </a:r>
            <a:r>
              <a:rPr lang="en-US" sz="1800" dirty="0" b="1">
                <a:solidFill>
                  <a:srgbClr val="1B2236"/>
                </a:solidFill>
                <a:latin typeface="Lexend Deca" pitchFamily="34" charset="0"/>
                <a:ea typeface="Lexend Deca" pitchFamily="34" charset="-122"/>
                <a:cs typeface="Lexend Deca" pitchFamily="34" charset="-120"/>
              </a:rPr>
              <a:t> two years.</a:t>
            </a:r>
            <a:endParaRPr lang="en-US" sz="1800" dirty="0" b="1"/>
          </a:p>
        </p:txBody>
      </p:sp>
      <p:sp>
        <p:nvSpPr>
          <p:cNvPr id="37" name="S4 card"/>
          <p:cNvSpPr/>
          <p:nvPr/>
        </p:nvSpPr>
        <p:spPr>
          <a:xfrm>
            <a:off x="548640" y="4849978"/>
            <a:ext cx="6766560" cy="602590"/>
          </a:xfrm>
          <a:prstGeom prst="round1Rect">
            <a:avLst>
              <a:gd name="adj" fmla="val 23087"/>
            </a:avLst>
          </a:prstGeom>
          <a:solidFill>
            <a:srgbClr val="FFFFFF"/>
          </a:solidFill>
          <a:ln/>
        </p:spPr>
        <p:txBody>
          <a:bodyPr/>
          <a:p/>
        </p:txBody>
      </p:sp>
      <p:sp>
        <p:nvSpPr>
          <p:cNvPr id="38" name="S4 text"/>
          <p:cNvSpPr/>
          <p:nvPr/>
        </p:nvSpPr>
        <p:spPr>
          <a:xfrm>
            <a:off x="777240" y="484997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How long have you lived here?</a:t>
            </a:r>
            <a:endParaRPr lang="en-US" sz="1800" dirty="0" b="1"/>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For (two years): an hourglass [sign: FOR 2 YEARS]"/>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spcAft>
                <a:spcPts val="400"/>
              </a:spcAft>
              <a:buNone/>
            </a:pPr>
            <a:r>
              <a:rPr lang="en-US" sz="2100" dirty="0" b="1">
                <a:solidFill>
                  <a:srgbClr val="1B2236"/>
                </a:solidFill>
                <a:latin typeface="Lexend Deca" pitchFamily="34" charset="0"/>
                <a:ea typeface="Lexend Deca" pitchFamily="34" charset="-122"/>
                <a:cs typeface="Lexend Deca" pitchFamily="34" charset="-120"/>
              </a:rPr>
              <a:t>How long…? with for and since</a:t>
            </a:r>
            <a:endParaRPr lang="en-US" sz="2100" dirty="0" b="1"/>
          </a:p>
        </p:txBody>
      </p:sp>
      <p:sp>
        <p:nvSpPr>
          <p:cNvPr id="8" name="Q head"/>
          <p:cNvSpPr/>
          <p:nvPr/>
        </p:nvSpPr>
        <p:spPr>
          <a:xfrm>
            <a:off x="5166360" y="182880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955280" y="1828800"/>
            <a:ext cx="39776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74320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How long have</a:t>
            </a:r>
            <a:r>
              <a:rPr lang="en-US" sz="1800" dirty="0" b="1">
                <a:solidFill>
                  <a:srgbClr val="1B2236"/>
                </a:solidFill>
                <a:latin typeface="Lexend Deca" pitchFamily="34" charset="0"/>
                <a:ea typeface="Lexend Deca" pitchFamily="34" charset="-122"/>
                <a:cs typeface="Lexend Deca" pitchFamily="34" charset="-120"/>
              </a:rPr>
              <a:t> you lived here?</a:t>
            </a:r>
            <a:endParaRPr lang="en-US" sz="1800" dirty="0" b="1"/>
          </a:p>
        </p:txBody>
      </p:sp>
      <p:sp>
        <p:nvSpPr>
          <p:cNvPr id="19" name="Answer bg 1"/>
          <p:cNvSpPr/>
          <p:nvPr/>
        </p:nvSpPr>
        <p:spPr>
          <a:xfrm>
            <a:off x="7955280" y="2286000"/>
            <a:ext cx="397764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955280" y="2286000"/>
            <a:ext cx="397764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a:t>
            </a:r>
            <a:r>
              <a:rPr lang="en-US" sz="1800" dirty="0" b="1">
                <a:solidFill>
                  <a:srgbClr val="1B2236"/>
                </a:solidFill>
                <a:latin typeface="Lexend Deca" pitchFamily="34" charset="0"/>
                <a:ea typeface="Lexend Deca" pitchFamily="34" charset="-122"/>
                <a:cs typeface="Lexend Deca" pitchFamily="34" charset="-120"/>
              </a:rPr>
              <a:t>'ve lived</a:t>
            </a:r>
            <a:r>
              <a:rPr lang="en-US" sz="1800" dirty="0" b="1">
                <a:solidFill>
                  <a:srgbClr val="1B2236"/>
                </a:solidFill>
                <a:latin typeface="Lexend Deca" pitchFamily="34" charset="0"/>
                <a:ea typeface="Lexend Deca" pitchFamily="34" charset="-122"/>
                <a:cs typeface="Lexend Deca" pitchFamily="34" charset="-120"/>
              </a:rPr>
              <a:t> here </a:t>
            </a:r>
            <a:r>
              <a:rPr lang="en-US" sz="1800" dirty="0" b="1">
                <a:solidFill>
                  <a:srgbClr val="1B2236"/>
                </a:solidFill>
                <a:latin typeface="Lexend Deca" pitchFamily="34" charset="0"/>
                <a:ea typeface="Lexend Deca" pitchFamily="34" charset="-122"/>
                <a:cs typeface="Lexend Deca" pitchFamily="34" charset="-120"/>
              </a:rPr>
              <a:t>for</a:t>
            </a:r>
            <a:r>
              <a:rPr lang="en-US" sz="1800" dirty="0" b="1">
                <a:solidFill>
                  <a:srgbClr val="1B2236"/>
                </a:solidFill>
                <a:latin typeface="Lexend Deca" pitchFamily="34" charset="0"/>
                <a:ea typeface="Lexend Deca" pitchFamily="34" charset="-122"/>
                <a:cs typeface="Lexend Deca" pitchFamily="34" charset="-120"/>
              </a:rPr>
              <a:t> two years.</a:t>
            </a:r>
            <a:endParaRPr lang="en-US" sz="1800" dirty="0" b="1"/>
          </a:p>
          <a:p>
            <a:pPr algn="l" indent="0" marL="0">
              <a:buNone/>
            </a:pPr>
            <a:r>
              <a:rPr lang="en-US" sz="1800" dirty="0" b="1">
                <a:solidFill>
                  <a:srgbClr val="1B2236"/>
                </a:solidFill>
                <a:latin typeface="Lexend Deca" pitchFamily="34" charset="0"/>
                <a:ea typeface="Lexend Deca" pitchFamily="34" charset="-122"/>
                <a:cs typeface="Lexend Deca" pitchFamily="34" charset="-120"/>
              </a:rPr>
              <a:t>I</a:t>
            </a:r>
            <a:r>
              <a:rPr lang="en-US" sz="1800" dirty="0" b="1">
                <a:solidFill>
                  <a:srgbClr val="1B2236"/>
                </a:solidFill>
                <a:latin typeface="Lexend Deca" pitchFamily="34" charset="0"/>
                <a:ea typeface="Lexend Deca" pitchFamily="34" charset="-122"/>
                <a:cs typeface="Lexend Deca" pitchFamily="34" charset="-120"/>
              </a:rPr>
              <a:t>'ve lived</a:t>
            </a:r>
            <a:r>
              <a:rPr lang="en-US" sz="1800" dirty="0" b="1">
                <a:solidFill>
                  <a:srgbClr val="1B2236"/>
                </a:solidFill>
                <a:latin typeface="Lexend Deca" pitchFamily="34" charset="0"/>
                <a:ea typeface="Lexend Deca" pitchFamily="34" charset="-122"/>
                <a:cs typeface="Lexend Deca" pitchFamily="34" charset="-120"/>
              </a:rPr>
              <a:t> here </a:t>
            </a:r>
            <a:r>
              <a:rPr lang="en-US" sz="1800" dirty="0" b="1">
                <a:solidFill>
                  <a:srgbClr val="1B2236"/>
                </a:solidFill>
                <a:latin typeface="Lexend Deca" pitchFamily="34" charset="0"/>
                <a:ea typeface="Lexend Deca" pitchFamily="34" charset="-122"/>
                <a:cs typeface="Lexend Deca" pitchFamily="34" charset="-120"/>
              </a:rPr>
              <a:t>since</a:t>
            </a:r>
            <a:r>
              <a:rPr lang="en-US" sz="1800" dirty="0" b="1">
                <a:solidFill>
                  <a:srgbClr val="1B2236"/>
                </a:solidFill>
                <a:latin typeface="Lexend Deca" pitchFamily="34" charset="0"/>
                <a:ea typeface="Lexend Deca" pitchFamily="34" charset="-122"/>
                <a:cs typeface="Lexend Deca" pitchFamily="34" charset="-120"/>
              </a:rPr>
              <a:t> 2024.</a:t>
            </a:r>
            <a:endParaRPr lang="en-US" sz="1800" dirty="0" b="1"/>
          </a:p>
        </p:txBody>
      </p:sp>
      <p:sp>
        <p:nvSpPr>
          <p:cNvPr id="21" name="Question 2"/>
          <p:cNvSpPr/>
          <p:nvPr/>
        </p:nvSpPr>
        <p:spPr>
          <a:xfrm>
            <a:off x="5138928" y="3383280"/>
            <a:ext cx="274320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How long has</a:t>
            </a:r>
            <a:r>
              <a:rPr lang="en-US" sz="1800" dirty="0" b="1">
                <a:solidFill>
                  <a:srgbClr val="1B2236"/>
                </a:solidFill>
                <a:latin typeface="Lexend Deca" pitchFamily="34" charset="0"/>
                <a:ea typeface="Lexend Deca" pitchFamily="34" charset="-122"/>
                <a:cs typeface="Lexend Deca" pitchFamily="34" charset="-120"/>
              </a:rPr>
              <a:t> she worked at the clinic?</a:t>
            </a:r>
            <a:endParaRPr lang="en-US" sz="1800" dirty="0" b="1"/>
          </a:p>
        </p:txBody>
      </p:sp>
      <p:sp>
        <p:nvSpPr>
          <p:cNvPr id="22" name="Answer bg 2"/>
          <p:cNvSpPr/>
          <p:nvPr/>
        </p:nvSpPr>
        <p:spPr>
          <a:xfrm>
            <a:off x="7955280" y="3383280"/>
            <a:ext cx="397764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955280" y="3383280"/>
            <a:ext cx="397764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She</a:t>
            </a:r>
            <a:r>
              <a:rPr lang="en-US" sz="1800" dirty="0" b="1">
                <a:solidFill>
                  <a:srgbClr val="1B2236"/>
                </a:solidFill>
                <a:latin typeface="Lexend Deca" pitchFamily="34" charset="0"/>
                <a:ea typeface="Lexend Deca" pitchFamily="34" charset="-122"/>
                <a:cs typeface="Lexend Deca" pitchFamily="34" charset="-120"/>
              </a:rPr>
              <a:t>'s worked</a:t>
            </a:r>
            <a:r>
              <a:rPr lang="en-US" sz="1800" dirty="0" b="1">
                <a:solidFill>
                  <a:srgbClr val="1B2236"/>
                </a:solidFill>
                <a:latin typeface="Lexend Deca" pitchFamily="34" charset="0"/>
                <a:ea typeface="Lexend Deca" pitchFamily="34" charset="-122"/>
                <a:cs typeface="Lexend Deca" pitchFamily="34" charset="-120"/>
              </a:rPr>
              <a:t> there </a:t>
            </a:r>
            <a:r>
              <a:rPr lang="en-US" sz="1800" dirty="0" b="1">
                <a:solidFill>
                  <a:srgbClr val="1B2236"/>
                </a:solidFill>
                <a:latin typeface="Lexend Deca" pitchFamily="34" charset="0"/>
                <a:ea typeface="Lexend Deca" pitchFamily="34" charset="-122"/>
                <a:cs typeface="Lexend Deca" pitchFamily="34" charset="-120"/>
              </a:rPr>
              <a:t>since</a:t>
            </a:r>
            <a:r>
              <a:rPr lang="en-US" sz="1800" dirty="0" b="1">
                <a:solidFill>
                  <a:srgbClr val="1B2236"/>
                </a:solidFill>
                <a:latin typeface="Lexend Deca" pitchFamily="34" charset="0"/>
                <a:ea typeface="Lexend Deca" pitchFamily="34" charset="-122"/>
                <a:cs typeface="Lexend Deca" pitchFamily="34" charset="-120"/>
              </a:rPr>
              <a:t> March.</a:t>
            </a:r>
            <a:endParaRPr lang="en-US" sz="1800" dirty="0" b="1"/>
          </a:p>
        </p:txBody>
      </p:sp>
      <p:sp>
        <p:nvSpPr>
          <p:cNvPr id="24" name="Question 3"/>
          <p:cNvSpPr/>
          <p:nvPr/>
        </p:nvSpPr>
        <p:spPr>
          <a:xfrm>
            <a:off x="5138928" y="4480560"/>
            <a:ext cx="274320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How long has</a:t>
            </a:r>
            <a:r>
              <a:rPr lang="en-US" sz="1800" dirty="0" b="1">
                <a:solidFill>
                  <a:srgbClr val="1B2236"/>
                </a:solidFill>
                <a:latin typeface="Lexend Deca" pitchFamily="34" charset="0"/>
                <a:ea typeface="Lexend Deca" pitchFamily="34" charset="-122"/>
                <a:cs typeface="Lexend Deca" pitchFamily="34" charset="-120"/>
              </a:rPr>
              <a:t> he known his supervisor?</a:t>
            </a:r>
            <a:endParaRPr lang="en-US" sz="1800" dirty="0" b="1"/>
          </a:p>
        </p:txBody>
      </p:sp>
      <p:sp>
        <p:nvSpPr>
          <p:cNvPr id="25" name="Answer bg 3"/>
          <p:cNvSpPr/>
          <p:nvPr/>
        </p:nvSpPr>
        <p:spPr>
          <a:xfrm>
            <a:off x="7955280" y="4480560"/>
            <a:ext cx="397764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955280" y="4480560"/>
            <a:ext cx="397764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He</a:t>
            </a:r>
            <a:r>
              <a:rPr lang="en-US" sz="1800" dirty="0" b="1">
                <a:solidFill>
                  <a:srgbClr val="1B2236"/>
                </a:solidFill>
                <a:latin typeface="Lexend Deca" pitchFamily="34" charset="0"/>
                <a:ea typeface="Lexend Deca" pitchFamily="34" charset="-122"/>
                <a:cs typeface="Lexend Deca" pitchFamily="34" charset="-120"/>
              </a:rPr>
              <a:t>'s known</a:t>
            </a:r>
            <a:r>
              <a:rPr lang="en-US" sz="1800" dirty="0" b="1">
                <a:solidFill>
                  <a:srgbClr val="1B2236"/>
                </a:solidFill>
                <a:latin typeface="Lexend Deca" pitchFamily="34" charset="0"/>
                <a:ea typeface="Lexend Deca" pitchFamily="34" charset="-122"/>
                <a:cs typeface="Lexend Deca" pitchFamily="34" charset="-120"/>
              </a:rPr>
              <a:t> her </a:t>
            </a:r>
            <a:r>
              <a:rPr lang="en-US" sz="1800" dirty="0" b="1">
                <a:solidFill>
                  <a:srgbClr val="1B2236"/>
                </a:solidFill>
                <a:latin typeface="Lexend Deca" pitchFamily="34" charset="0"/>
                <a:ea typeface="Lexend Deca" pitchFamily="34" charset="-122"/>
                <a:cs typeface="Lexend Deca" pitchFamily="34" charset="-120"/>
              </a:rPr>
              <a:t>since</a:t>
            </a:r>
            <a:r>
              <a:rPr lang="en-US" sz="1800" dirty="0" b="1">
                <a:solidFill>
                  <a:srgbClr val="1B2236"/>
                </a:solidFill>
                <a:latin typeface="Lexend Deca" pitchFamily="34" charset="0"/>
                <a:ea typeface="Lexend Deca" pitchFamily="34" charset="-122"/>
                <a:cs typeface="Lexend Deca" pitchFamily="34" charset="-120"/>
              </a:rPr>
              <a:t> he started.</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Previous address: houses [sign: BEFORE: 9 Lake Rd.]"/>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2</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still true or finished?</a:t>
            </a:r>
            <a:endParaRPr lang="en-US" sz="2400" dirty="0" b="1"/>
          </a:p>
        </p:txBody>
      </p:sp>
      <p:sp>
        <p:nvSpPr>
          <p:cNvPr id="8" name="Q head"/>
          <p:cNvSpPr/>
          <p:nvPr/>
        </p:nvSpPr>
        <p:spPr>
          <a:xfrm>
            <a:off x="5166360" y="182880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955280" y="1828800"/>
            <a:ext cx="39776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74320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How long have</a:t>
            </a:r>
            <a:r>
              <a:rPr lang="en-US" sz="1700" dirty="0" b="1">
                <a:solidFill>
                  <a:srgbClr val="1B2236"/>
                </a:solidFill>
                <a:latin typeface="Lexend Deca" pitchFamily="34" charset="0"/>
                <a:ea typeface="Lexend Deca" pitchFamily="34" charset="-122"/>
                <a:cs typeface="Lexend Deca" pitchFamily="34" charset="-120"/>
              </a:rPr>
              <a:t> you worked at the hotel?</a:t>
            </a:r>
            <a:endParaRPr lang="en-US" sz="1700" dirty="0" b="1"/>
          </a:p>
        </p:txBody>
      </p:sp>
      <p:sp>
        <p:nvSpPr>
          <p:cNvPr id="19" name="Answer bg 1"/>
          <p:cNvSpPr/>
          <p:nvPr/>
        </p:nvSpPr>
        <p:spPr>
          <a:xfrm>
            <a:off x="7955280" y="2286000"/>
            <a:ext cx="3977640" cy="8869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955280" y="2286000"/>
            <a:ext cx="397764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a:t>
            </a:r>
            <a:r>
              <a:rPr lang="en-US" sz="1700" dirty="0" b="1">
                <a:solidFill>
                  <a:srgbClr val="1B2236"/>
                </a:solidFill>
                <a:latin typeface="Lexend Deca" pitchFamily="34" charset="0"/>
                <a:ea typeface="Lexend Deca" pitchFamily="34" charset="-122"/>
                <a:cs typeface="Lexend Deca" pitchFamily="34" charset="-120"/>
              </a:rPr>
              <a:t>'ve worked</a:t>
            </a:r>
            <a:r>
              <a:rPr lang="en-US" sz="1700" dirty="0" b="1">
                <a:solidFill>
                  <a:srgbClr val="1B2236"/>
                </a:solidFill>
                <a:latin typeface="Lexend Deca" pitchFamily="34" charset="0"/>
                <a:ea typeface="Lexend Deca" pitchFamily="34" charset="-122"/>
                <a:cs typeface="Lexend Deca" pitchFamily="34" charset="-120"/>
              </a:rPr>
              <a:t> there </a:t>
            </a:r>
            <a:r>
              <a:rPr lang="en-US" sz="1700" dirty="0" b="1">
                <a:solidFill>
                  <a:srgbClr val="1B2236"/>
                </a:solidFill>
                <a:latin typeface="Lexend Deca" pitchFamily="34" charset="0"/>
                <a:ea typeface="Lexend Deca" pitchFamily="34" charset="-122"/>
                <a:cs typeface="Lexend Deca" pitchFamily="34" charset="-120"/>
              </a:rPr>
              <a:t>since</a:t>
            </a:r>
            <a:r>
              <a:rPr lang="en-US" sz="1700" dirty="0" b="1">
                <a:solidFill>
                  <a:srgbClr val="1B2236"/>
                </a:solidFill>
                <a:latin typeface="Lexend Deca" pitchFamily="34" charset="0"/>
                <a:ea typeface="Lexend Deca" pitchFamily="34" charset="-122"/>
                <a:cs typeface="Lexend Deca" pitchFamily="34" charset="-120"/>
              </a:rPr>
              <a:t> 2022. (still true)</a:t>
            </a:r>
            <a:endParaRPr lang="en-US" sz="1700" dirty="0" b="1"/>
          </a:p>
        </p:txBody>
      </p:sp>
      <p:sp>
        <p:nvSpPr>
          <p:cNvPr id="21" name="Question 2"/>
          <p:cNvSpPr/>
          <p:nvPr/>
        </p:nvSpPr>
        <p:spPr>
          <a:xfrm>
            <a:off x="5138928" y="3246120"/>
            <a:ext cx="274320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How long did</a:t>
            </a:r>
            <a:r>
              <a:rPr lang="en-US" sz="1700" dirty="0" b="1">
                <a:solidFill>
                  <a:srgbClr val="1B2236"/>
                </a:solidFill>
                <a:latin typeface="Lexend Deca" pitchFamily="34" charset="0"/>
                <a:ea typeface="Lexend Deca" pitchFamily="34" charset="-122"/>
                <a:cs typeface="Lexend Deca" pitchFamily="34" charset="-120"/>
              </a:rPr>
              <a:t> you work at the bakery?</a:t>
            </a:r>
            <a:endParaRPr lang="en-US" sz="1700" dirty="0" b="1"/>
          </a:p>
        </p:txBody>
      </p:sp>
      <p:sp>
        <p:nvSpPr>
          <p:cNvPr id="22" name="Answer bg 2"/>
          <p:cNvSpPr/>
          <p:nvPr/>
        </p:nvSpPr>
        <p:spPr>
          <a:xfrm>
            <a:off x="7955280" y="3246120"/>
            <a:ext cx="3977640" cy="8869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955280" y="3246120"/>
            <a:ext cx="397764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a:t>
            </a:r>
            <a:r>
              <a:rPr lang="en-US" sz="1700" dirty="0" b="1">
                <a:solidFill>
                  <a:srgbClr val="1B2236"/>
                </a:solidFill>
                <a:latin typeface="Lexend Deca" pitchFamily="34" charset="0"/>
                <a:ea typeface="Lexend Deca" pitchFamily="34" charset="-122"/>
                <a:cs typeface="Lexend Deca" pitchFamily="34" charset="-120"/>
              </a:rPr>
              <a:t>worked</a:t>
            </a:r>
            <a:r>
              <a:rPr lang="en-US" sz="1700" dirty="0" b="1">
                <a:solidFill>
                  <a:srgbClr val="1B2236"/>
                </a:solidFill>
                <a:latin typeface="Lexend Deca" pitchFamily="34" charset="0"/>
                <a:ea typeface="Lexend Deca" pitchFamily="34" charset="-122"/>
                <a:cs typeface="Lexend Deca" pitchFamily="34" charset="-120"/>
              </a:rPr>
              <a:t> there </a:t>
            </a:r>
            <a:r>
              <a:rPr lang="en-US" sz="1700" dirty="0" b="1">
                <a:solidFill>
                  <a:srgbClr val="1B2236"/>
                </a:solidFill>
                <a:latin typeface="Lexend Deca" pitchFamily="34" charset="0"/>
                <a:ea typeface="Lexend Deca" pitchFamily="34" charset="-122"/>
                <a:cs typeface="Lexend Deca" pitchFamily="34" charset="-120"/>
              </a:rPr>
              <a:t>for</a:t>
            </a:r>
            <a:r>
              <a:rPr lang="en-US" sz="1700" dirty="0" b="1">
                <a:solidFill>
                  <a:srgbClr val="1B2236"/>
                </a:solidFill>
                <a:latin typeface="Lexend Deca" pitchFamily="34" charset="0"/>
                <a:ea typeface="Lexend Deca" pitchFamily="34" charset="-122"/>
                <a:cs typeface="Lexend Deca" pitchFamily="34" charset="-120"/>
              </a:rPr>
              <a:t> two years. (finished)</a:t>
            </a:r>
            <a:endParaRPr lang="en-US" sz="1700" dirty="0" b="1"/>
          </a:p>
        </p:txBody>
      </p:sp>
      <p:sp>
        <p:nvSpPr>
          <p:cNvPr id="24" name="Question 3"/>
          <p:cNvSpPr/>
          <p:nvPr/>
        </p:nvSpPr>
        <p:spPr>
          <a:xfrm>
            <a:off x="5138928" y="4206240"/>
            <a:ext cx="274320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When did</a:t>
            </a:r>
            <a:r>
              <a:rPr lang="en-US" sz="1700" dirty="0" b="1">
                <a:solidFill>
                  <a:srgbClr val="1B2236"/>
                </a:solidFill>
                <a:latin typeface="Lexend Deca" pitchFamily="34" charset="0"/>
                <a:ea typeface="Lexend Deca" pitchFamily="34" charset="-122"/>
                <a:cs typeface="Lexend Deca" pitchFamily="34" charset="-120"/>
              </a:rPr>
              <a:t> you move here?</a:t>
            </a:r>
            <a:endParaRPr lang="en-US" sz="1700" dirty="0" b="1"/>
          </a:p>
        </p:txBody>
      </p:sp>
      <p:sp>
        <p:nvSpPr>
          <p:cNvPr id="25" name="Answer bg 3"/>
          <p:cNvSpPr/>
          <p:nvPr/>
        </p:nvSpPr>
        <p:spPr>
          <a:xfrm>
            <a:off x="7955280" y="4206240"/>
            <a:ext cx="3977640" cy="8869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955280" y="4206240"/>
            <a:ext cx="397764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a:t>
            </a:r>
            <a:r>
              <a:rPr lang="en-US" sz="1700" dirty="0" b="1">
                <a:solidFill>
                  <a:srgbClr val="1B2236"/>
                </a:solidFill>
                <a:latin typeface="Lexend Deca" pitchFamily="34" charset="0"/>
                <a:ea typeface="Lexend Deca" pitchFamily="34" charset="-122"/>
                <a:cs typeface="Lexend Deca" pitchFamily="34" charset="-120"/>
              </a:rPr>
              <a:t>moved</a:t>
            </a:r>
            <a:r>
              <a:rPr lang="en-US" sz="1700" dirty="0" b="1">
                <a:solidFill>
                  <a:srgbClr val="1B2236"/>
                </a:solidFill>
                <a:latin typeface="Lexend Deca" pitchFamily="34" charset="0"/>
                <a:ea typeface="Lexend Deca" pitchFamily="34" charset="-122"/>
                <a:cs typeface="Lexend Deca" pitchFamily="34" charset="-120"/>
              </a:rPr>
              <a:t> here in 2021. / five years ago.</a:t>
            </a:r>
            <a:endParaRPr lang="en-US" sz="1700" dirty="0" b="1"/>
          </a:p>
        </p:txBody>
      </p:sp>
      <p:sp>
        <p:nvSpPr>
          <p:cNvPr id="27" name="Question 4"/>
          <p:cNvSpPr/>
          <p:nvPr/>
        </p:nvSpPr>
        <p:spPr>
          <a:xfrm>
            <a:off x="5138928" y="5166360"/>
            <a:ext cx="274320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Did</a:t>
            </a:r>
            <a:r>
              <a:rPr lang="en-US" sz="1700" dirty="0" b="1">
                <a:solidFill>
                  <a:srgbClr val="1B2236"/>
                </a:solidFill>
                <a:latin typeface="Lexend Deca" pitchFamily="34" charset="0"/>
                <a:ea typeface="Lexend Deca" pitchFamily="34" charset="-122"/>
                <a:cs typeface="Lexend Deca" pitchFamily="34" charset="-120"/>
              </a:rPr>
              <a:t> you use to live with family?</a:t>
            </a:r>
            <a:endParaRPr lang="en-US" sz="1700" dirty="0" b="1"/>
          </a:p>
        </p:txBody>
      </p:sp>
      <p:sp>
        <p:nvSpPr>
          <p:cNvPr id="28" name="Answer bg 4"/>
          <p:cNvSpPr/>
          <p:nvPr/>
        </p:nvSpPr>
        <p:spPr>
          <a:xfrm>
            <a:off x="7955280" y="5166360"/>
            <a:ext cx="3977640" cy="8869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955280" y="5166360"/>
            <a:ext cx="397764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Yes. I </a:t>
            </a:r>
            <a:r>
              <a:rPr lang="en-US" sz="1700" dirty="0" b="1">
                <a:solidFill>
                  <a:srgbClr val="1B2236"/>
                </a:solidFill>
                <a:latin typeface="Lexend Deca" pitchFamily="34" charset="0"/>
                <a:ea typeface="Lexend Deca" pitchFamily="34" charset="-122"/>
                <a:cs typeface="Lexend Deca" pitchFamily="34" charset="-120"/>
              </a:rPr>
              <a:t>used to</a:t>
            </a:r>
            <a:r>
              <a:rPr lang="en-US" sz="1700" dirty="0" b="1">
                <a:solidFill>
                  <a:srgbClr val="1B2236"/>
                </a:solidFill>
                <a:latin typeface="Lexend Deca" pitchFamily="34" charset="0"/>
                <a:ea typeface="Lexend Deca" pitchFamily="34" charset="-122"/>
                <a:cs typeface="Lexend Deca" pitchFamily="34" charset="-120"/>
              </a:rPr>
              <a:t> live with my cousins. Now I live with my mother.</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Since (2020): a calendar [sign: SINCE 2020]"/>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800" dirty="0" b="1">
                <a:solidFill>
                  <a:srgbClr val="1B2236"/>
                </a:solidFill>
                <a:latin typeface="Lexend Deca" pitchFamily="34" charset="0"/>
                <a:ea typeface="Lexend Deca" pitchFamily="34" charset="-122"/>
                <a:cs typeface="Lexend Deca" pitchFamily="34" charset="-120"/>
              </a:rPr>
              <a:t>for or since?</a:t>
            </a:r>
            <a:endParaRPr lang="en-US" sz="2800" dirty="0" b="1"/>
          </a:p>
        </p:txBody>
      </p:sp>
      <p:sp>
        <p:nvSpPr>
          <p:cNvPr id="8" name="Q head"/>
          <p:cNvSpPr/>
          <p:nvPr/>
        </p:nvSpPr>
        <p:spPr>
          <a:xfrm>
            <a:off x="5166360" y="1828800"/>
            <a:ext cx="3291840" cy="457200"/>
          </a:xfrm>
          <a:prstGeom prst="rect">
            <a:avLst/>
          </a:prstGeom>
          <a:noFill/>
          <a:ln/>
        </p:spPr>
        <p:txBody>
          <a:bodyPr wrap="square" rtlCol="0" anchor="ctr"/>
          <a:lstStyle/>
          <a:p>
            <a:pPr algn="l" indent="0" marL="0">
              <a:buNone/>
            </a:pPr>
            <a:r>
              <a:rPr lang="en-US" sz="1600" dirty="0" b="1">
                <a:solidFill>
                  <a:srgbClr val="5B3FC4"/>
                </a:solidFill>
                <a:latin typeface="Lexend Deca" pitchFamily="34" charset="0"/>
                <a:ea typeface="Lexend Deca" pitchFamily="34" charset="-122"/>
                <a:cs typeface="Lexend Deca" pitchFamily="34" charset="-120"/>
              </a:rPr>
              <a:t>FOR + A LENGTH OF TIME</a:t>
            </a:r>
            <a:endParaRPr lang="en-US" sz="1600" dirty="0" b="1"/>
          </a:p>
        </p:txBody>
      </p:sp>
      <p:sp>
        <p:nvSpPr>
          <p:cNvPr id="11" name="A head"/>
          <p:cNvSpPr/>
          <p:nvPr/>
        </p:nvSpPr>
        <p:spPr>
          <a:xfrm>
            <a:off x="8503920" y="1828800"/>
            <a:ext cx="3429000" cy="457200"/>
          </a:xfrm>
          <a:prstGeom prst="rect">
            <a:avLst/>
          </a:prstGeom>
          <a:noFill/>
          <a:ln/>
        </p:spPr>
        <p:txBody>
          <a:bodyPr wrap="square" rtlCol="0" anchor="ctr"/>
          <a:lstStyle/>
          <a:p>
            <a:pPr algn="l" indent="0" marL="0">
              <a:buNone/>
            </a:pPr>
            <a:r>
              <a:rPr lang="en-US" sz="1600" dirty="0" b="1">
                <a:solidFill>
                  <a:srgbClr val="5B3FC4"/>
                </a:solidFill>
                <a:latin typeface="Lexend Deca" pitchFamily="34" charset="0"/>
                <a:ea typeface="Lexend Deca" pitchFamily="34" charset="-122"/>
                <a:cs typeface="Lexend Deca" pitchFamily="34" charset="-120"/>
              </a:rPr>
              <a:t>SINCE + A STARTING POINT</a:t>
            </a:r>
            <a:endParaRPr lang="en-US" sz="1600" dirty="0" b="1"/>
          </a:p>
        </p:txBody>
      </p:sp>
      <p:sp>
        <p:nvSpPr>
          <p:cNvPr id="18" name="Question 1"/>
          <p:cNvSpPr/>
          <p:nvPr/>
        </p:nvSpPr>
        <p:spPr>
          <a:xfrm>
            <a:off x="5138928" y="2286000"/>
            <a:ext cx="3291840" cy="74980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for two years • for six months</a:t>
            </a:r>
            <a:endParaRPr lang="en-US" sz="1900" dirty="0" b="1"/>
          </a:p>
        </p:txBody>
      </p:sp>
      <p:sp>
        <p:nvSpPr>
          <p:cNvPr id="19" name="Answer bg 1"/>
          <p:cNvSpPr/>
          <p:nvPr/>
        </p:nvSpPr>
        <p:spPr>
          <a:xfrm>
            <a:off x="8503920" y="2286000"/>
            <a:ext cx="3429000" cy="7498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8503920" y="2286000"/>
            <a:ext cx="3429000" cy="74980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since 2020 • since March</a:t>
            </a:r>
            <a:endParaRPr lang="en-US" sz="1900" dirty="0" b="1"/>
          </a:p>
        </p:txBody>
      </p:sp>
      <p:sp>
        <p:nvSpPr>
          <p:cNvPr id="21" name="Question 2"/>
          <p:cNvSpPr/>
          <p:nvPr/>
        </p:nvSpPr>
        <p:spPr>
          <a:xfrm>
            <a:off x="5138928" y="3108960"/>
            <a:ext cx="3291840" cy="74980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for ten days • for a week</a:t>
            </a:r>
            <a:endParaRPr lang="en-US" sz="1900" dirty="0" b="1"/>
          </a:p>
        </p:txBody>
      </p:sp>
      <p:sp>
        <p:nvSpPr>
          <p:cNvPr id="22" name="Answer bg 2"/>
          <p:cNvSpPr/>
          <p:nvPr/>
        </p:nvSpPr>
        <p:spPr>
          <a:xfrm>
            <a:off x="8503920" y="3108960"/>
            <a:ext cx="3429000" cy="7498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8503920" y="3108960"/>
            <a:ext cx="3429000" cy="74980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since Monday • since last summer</a:t>
            </a:r>
            <a:endParaRPr lang="en-US" sz="1900" dirty="0" b="1"/>
          </a:p>
        </p:txBody>
      </p:sp>
      <p:sp>
        <p:nvSpPr>
          <p:cNvPr id="24" name="Question 3"/>
          <p:cNvSpPr/>
          <p:nvPr/>
        </p:nvSpPr>
        <p:spPr>
          <a:xfrm>
            <a:off x="5138928" y="3931920"/>
            <a:ext cx="3291840" cy="74980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for a long time • for 20 minutes</a:t>
            </a:r>
            <a:endParaRPr lang="en-US" sz="1900" dirty="0" b="1"/>
          </a:p>
        </p:txBody>
      </p:sp>
      <p:sp>
        <p:nvSpPr>
          <p:cNvPr id="25" name="Answer bg 3"/>
          <p:cNvSpPr/>
          <p:nvPr/>
        </p:nvSpPr>
        <p:spPr>
          <a:xfrm>
            <a:off x="8503920" y="3931920"/>
            <a:ext cx="3429000" cy="7498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8503920" y="3931920"/>
            <a:ext cx="3429000" cy="74980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since I was 18 • since I started</a:t>
            </a:r>
            <a:endParaRPr lang="en-US" sz="19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Start date: a calendar and an arrow [sign: START: 03/15/2022]"/>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spcAft>
                <a:spcPts val="400"/>
              </a:spcAft>
              <a:buNone/>
            </a:pPr>
            <a:r>
              <a:rPr lang="en-US" sz="2800" dirty="0" b="1">
                <a:solidFill>
                  <a:srgbClr val="1B2236"/>
                </a:solidFill>
                <a:latin typeface="Lexend Deca" pitchFamily="34" charset="0"/>
                <a:ea typeface="Lexend Deca" pitchFamily="34" charset="-122"/>
                <a:cs typeface="Lexend Deca" pitchFamily="34" charset="-120"/>
              </a:rPr>
              <a:t>Which one?</a:t>
            </a:r>
            <a:endParaRPr lang="en-US" sz="2800" dirty="0" b="1"/>
          </a:p>
        </p:txBody>
      </p:sp>
      <p:sp>
        <p:nvSpPr>
          <p:cNvPr id="8" name="Q head"/>
          <p:cNvSpPr/>
          <p:nvPr/>
        </p:nvSpPr>
        <p:spPr>
          <a:xfrm>
            <a:off x="5166360" y="1828800"/>
            <a:ext cx="23774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FORM</a:t>
            </a:r>
            <a:endParaRPr lang="en-US" sz="2000" dirty="0" b="1"/>
          </a:p>
        </p:txBody>
      </p:sp>
      <p:sp>
        <p:nvSpPr>
          <p:cNvPr id="11" name="A head"/>
          <p:cNvSpPr/>
          <p:nvPr/>
        </p:nvSpPr>
        <p:spPr>
          <a:xfrm>
            <a:off x="7589520" y="1828800"/>
            <a:ext cx="43434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WHEN?  ·  EXAMPLE</a:t>
            </a:r>
            <a:endParaRPr lang="en-US" sz="2000" dirty="0" b="1"/>
          </a:p>
        </p:txBody>
      </p:sp>
      <p:sp>
        <p:nvSpPr>
          <p:cNvPr id="18" name="Question 1"/>
          <p:cNvSpPr/>
          <p:nvPr/>
        </p:nvSpPr>
        <p:spPr>
          <a:xfrm>
            <a:off x="5138928" y="2286000"/>
            <a:ext cx="237744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have / has</a:t>
            </a:r>
            <a:r>
              <a:rPr lang="en-US" sz="1800" dirty="0" b="1">
                <a:solidFill>
                  <a:srgbClr val="1B2236"/>
                </a:solidFill>
                <a:latin typeface="Lexend Deca" pitchFamily="34" charset="0"/>
                <a:ea typeface="Lexend Deca" pitchFamily="34" charset="-122"/>
                <a:cs typeface="Lexend Deca" pitchFamily="34" charset="-120"/>
              </a:rPr>
              <a:t> + past participle</a:t>
            </a:r>
            <a:endParaRPr lang="en-US" sz="1800" dirty="0" b="1"/>
          </a:p>
        </p:txBody>
      </p:sp>
      <p:sp>
        <p:nvSpPr>
          <p:cNvPr id="19" name="Answer bg 1"/>
          <p:cNvSpPr/>
          <p:nvPr/>
        </p:nvSpPr>
        <p:spPr>
          <a:xfrm>
            <a:off x="7589520" y="2286000"/>
            <a:ext cx="434340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589520" y="2286000"/>
            <a:ext cx="4343400" cy="11155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it started in the past and it is </a:t>
            </a:r>
            <a:r>
              <a:rPr lang="en-US" sz="1700" dirty="0" b="1">
                <a:solidFill>
                  <a:srgbClr val="1B2236"/>
                </a:solidFill>
                <a:latin typeface="Lexend Deca" pitchFamily="34" charset="0"/>
                <a:ea typeface="Lexend Deca" pitchFamily="34" charset="-122"/>
                <a:cs typeface="Lexend Deca" pitchFamily="34" charset="-120"/>
              </a:rPr>
              <a:t>still true now</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I've worked at the clinic since 2022.</a:t>
            </a:r>
            <a:endParaRPr lang="en-US" sz="1700" dirty="0" b="1"/>
          </a:p>
        </p:txBody>
      </p:sp>
      <p:sp>
        <p:nvSpPr>
          <p:cNvPr id="21" name="Question 2"/>
          <p:cNvSpPr/>
          <p:nvPr/>
        </p:nvSpPr>
        <p:spPr>
          <a:xfrm>
            <a:off x="5138928" y="3474720"/>
            <a:ext cx="237744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simple past</a:t>
            </a:r>
            <a:endParaRPr lang="en-US" sz="1800" dirty="0" b="1"/>
          </a:p>
        </p:txBody>
      </p:sp>
      <p:sp>
        <p:nvSpPr>
          <p:cNvPr id="22" name="Answer bg 2"/>
          <p:cNvSpPr/>
          <p:nvPr/>
        </p:nvSpPr>
        <p:spPr>
          <a:xfrm>
            <a:off x="7589520" y="3474720"/>
            <a:ext cx="434340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589520" y="3474720"/>
            <a:ext cx="4343400" cy="11155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it is </a:t>
            </a:r>
            <a:r>
              <a:rPr lang="en-US" sz="1700" dirty="0" b="1">
                <a:solidFill>
                  <a:srgbClr val="1B2236"/>
                </a:solidFill>
                <a:latin typeface="Lexend Deca" pitchFamily="34" charset="0"/>
                <a:ea typeface="Lexend Deca" pitchFamily="34" charset="-122"/>
                <a:cs typeface="Lexend Deca" pitchFamily="34" charset="-120"/>
              </a:rPr>
              <a:t>finished</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 worked at a bakery for two years.</a:t>
            </a:r>
            <a:endParaRPr lang="en-US" sz="1700" dirty="0" b="1"/>
          </a:p>
        </p:txBody>
      </p:sp>
      <p:sp>
        <p:nvSpPr>
          <p:cNvPr id="24" name="Question 3"/>
          <p:cNvSpPr/>
          <p:nvPr/>
        </p:nvSpPr>
        <p:spPr>
          <a:xfrm>
            <a:off x="5138928" y="4663440"/>
            <a:ext cx="237744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simple past + </a:t>
            </a:r>
            <a:r>
              <a:rPr lang="en-US" sz="1800" dirty="0" b="1">
                <a:solidFill>
                  <a:srgbClr val="5B3FC4"/>
                </a:solidFill>
                <a:latin typeface="Lexend Deca" pitchFamily="34" charset="0"/>
                <a:ea typeface="Lexend Deca" pitchFamily="34" charset="-122"/>
                <a:cs typeface="Lexend Deca" pitchFamily="34" charset="-120"/>
              </a:rPr>
              <a:t>in / ago</a:t>
            </a:r>
            <a:endParaRPr lang="en-US" sz="1800" dirty="0" b="1"/>
          </a:p>
        </p:txBody>
      </p:sp>
      <p:sp>
        <p:nvSpPr>
          <p:cNvPr id="25" name="Answer bg 3"/>
          <p:cNvSpPr/>
          <p:nvPr/>
        </p:nvSpPr>
        <p:spPr>
          <a:xfrm>
            <a:off x="7589520" y="4663440"/>
            <a:ext cx="434340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589520" y="4663440"/>
            <a:ext cx="4343400" cy="11155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when</a:t>
            </a:r>
            <a:r>
              <a:rPr lang="en-US" sz="1700" dirty="0" b="1">
                <a:solidFill>
                  <a:srgbClr val="1B2236"/>
                </a:solidFill>
                <a:latin typeface="Lexend Deca" pitchFamily="34" charset="0"/>
                <a:ea typeface="Lexend Deca" pitchFamily="34" charset="-122"/>
                <a:cs typeface="Lexend Deca" pitchFamily="34" charset="-120"/>
              </a:rPr>
              <a:t> it started</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 moved here in 2021. / five years ago.</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for or since.</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Words: </a:t>
            </a:r>
            <a:r>
              <a:rPr lang="en-US" sz="2000" dirty="0" b="1">
                <a:solidFill>
                  <a:srgbClr val="5B3FC4"/>
                </a:solidFill>
                <a:latin typeface="Lexend Deca" pitchFamily="34" charset="0"/>
                <a:ea typeface="Lexend Deca" pitchFamily="34" charset="-122"/>
                <a:cs typeface="Lexend Deca" pitchFamily="34" charset="-120"/>
              </a:rPr>
              <a:t>for, since</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I've lived in this city ____ 2021.</a:t>
            </a:r>
            <a:endParaRPr lang="en-US" sz="1800" dirty="0"/>
          </a:p>
        </p:txBody>
      </p:sp>
      <p:sp>
        <p:nvSpPr>
          <p:cNvPr id="35" name="R1 ans"/>
          <p:cNvSpPr/>
          <p:nvPr/>
        </p:nvSpPr>
        <p:spPr>
          <a:xfrm>
            <a:off x="6382512" y="2222144"/>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since</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She's worked at the clinic ____ six months.</a:t>
            </a:r>
            <a:endParaRPr lang="en-US" sz="1800" dirty="0"/>
          </a:p>
        </p:txBody>
      </p:sp>
      <p:sp>
        <p:nvSpPr>
          <p:cNvPr id="40" name="R2 ans"/>
          <p:cNvSpPr/>
          <p:nvPr/>
        </p:nvSpPr>
        <p:spPr>
          <a:xfrm>
            <a:off x="6382512" y="2950312"/>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for</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We've had our car ____ January.</a:t>
            </a:r>
            <a:endParaRPr lang="en-US" sz="1800" dirty="0"/>
          </a:p>
        </p:txBody>
      </p:sp>
      <p:sp>
        <p:nvSpPr>
          <p:cNvPr id="45" name="R3 ans"/>
          <p:cNvSpPr/>
          <p:nvPr/>
        </p:nvSpPr>
        <p:spPr>
          <a:xfrm>
            <a:off x="6382512" y="3678479"/>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since</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He's been a cook ____ ten years.</a:t>
            </a:r>
            <a:endParaRPr lang="en-US" sz="1800" dirty="0"/>
          </a:p>
        </p:txBody>
      </p:sp>
      <p:sp>
        <p:nvSpPr>
          <p:cNvPr id="50" name="R4 ans"/>
          <p:cNvSpPr/>
          <p:nvPr/>
        </p:nvSpPr>
        <p:spPr>
          <a:xfrm>
            <a:off x="6382512" y="4406646"/>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for</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They've known each other ____ they were kids.</a:t>
            </a:r>
            <a:endParaRPr lang="en-US" sz="1800" dirty="0"/>
          </a:p>
        </p:txBody>
      </p:sp>
      <p:sp>
        <p:nvSpPr>
          <p:cNvPr id="55" name="R5 ans"/>
          <p:cNvSpPr/>
          <p:nvPr/>
        </p:nvSpPr>
        <p:spPr>
          <a:xfrm>
            <a:off x="6382512" y="5134813"/>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since</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I've studied English ____ a long time.</a:t>
            </a:r>
            <a:endParaRPr lang="en-US" sz="1800" dirty="0"/>
          </a:p>
        </p:txBody>
      </p:sp>
      <p:sp>
        <p:nvSpPr>
          <p:cNvPr id="60" name="R6 ans"/>
          <p:cNvSpPr/>
          <p:nvPr/>
        </p:nvSpPr>
        <p:spPr>
          <a:xfrm>
            <a:off x="6382512" y="5862980"/>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for</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Practice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correct words.</a:t>
            </a:r>
            <a:endParaRPr lang="en-US" sz="2000" dirty="0"/>
          </a:p>
        </p:txBody>
      </p:sp>
      <p:sp>
        <p:nvSpPr>
          <p:cNvPr id="8" name="R1 stmt"/>
          <p:cNvSpPr/>
          <p:nvPr/>
        </p:nvSpPr>
        <p:spPr>
          <a:xfrm>
            <a:off x="502920" y="310896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1. How long ____ here?</a:t>
            </a:r>
            <a:endParaRPr lang="en-US" sz="1700" dirty="0"/>
          </a:p>
        </p:txBody>
      </p:sp>
      <p:sp>
        <p:nvSpPr>
          <p:cNvPr id="9" name="R1 opt1"/>
          <p:cNvSpPr/>
          <p:nvPr/>
        </p:nvSpPr>
        <p:spPr>
          <a:xfrm>
            <a:off x="7086600" y="31089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have you lived</a:t>
            </a:r>
            <a:endParaRPr lang="en-US" sz="1600" dirty="0" b="1"/>
          </a:p>
        </p:txBody>
      </p:sp>
      <p:sp>
        <p:nvSpPr>
          <p:cNvPr id="10" name="R1 opt2"/>
          <p:cNvSpPr/>
          <p:nvPr/>
        </p:nvSpPr>
        <p:spPr>
          <a:xfrm>
            <a:off x="9144000" y="31089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do you live</a:t>
            </a:r>
            <a:endParaRPr lang="en-US" sz="1600" dirty="0" b="1"/>
          </a:p>
        </p:txBody>
      </p:sp>
      <p:sp>
        <p:nvSpPr>
          <p:cNvPr id="11" name="R1 circle"/>
          <p:cNvSpPr/>
          <p:nvPr/>
        </p:nvSpPr>
        <p:spPr>
          <a:xfrm>
            <a:off x="6958584" y="305409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2. I ____ at a bakery for two years. Then I changed jobs.</a:t>
            </a:r>
            <a:endParaRPr lang="en-US" sz="1700" dirty="0"/>
          </a:p>
        </p:txBody>
      </p:sp>
      <p:sp>
        <p:nvSpPr>
          <p:cNvPr id="13" name="R2 opt1"/>
          <p:cNvSpPr/>
          <p:nvPr/>
        </p:nvSpPr>
        <p:spPr>
          <a:xfrm>
            <a:off x="7086600" y="365760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worked</a:t>
            </a:r>
            <a:endParaRPr lang="en-US" sz="1600" dirty="0" b="1"/>
          </a:p>
        </p:txBody>
      </p:sp>
      <p:sp>
        <p:nvSpPr>
          <p:cNvPr id="14" name="R2 opt2"/>
          <p:cNvSpPr/>
          <p:nvPr/>
        </p:nvSpPr>
        <p:spPr>
          <a:xfrm>
            <a:off x="9144000" y="365760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've worked</a:t>
            </a:r>
            <a:endParaRPr lang="en-US" sz="1600" dirty="0" b="1"/>
          </a:p>
        </p:txBody>
      </p:sp>
      <p:sp>
        <p:nvSpPr>
          <p:cNvPr id="15" name="R2 circle"/>
          <p:cNvSpPr/>
          <p:nvPr/>
        </p:nvSpPr>
        <p:spPr>
          <a:xfrm>
            <a:off x="6958584" y="360273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3. She ____ her car since 2022.</a:t>
            </a:r>
            <a:endParaRPr lang="en-US" sz="1700" dirty="0"/>
          </a:p>
        </p:txBody>
      </p:sp>
      <p:sp>
        <p:nvSpPr>
          <p:cNvPr id="17" name="R3 opt1"/>
          <p:cNvSpPr/>
          <p:nvPr/>
        </p:nvSpPr>
        <p:spPr>
          <a:xfrm>
            <a:off x="7086600" y="420624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's had</a:t>
            </a:r>
            <a:endParaRPr lang="en-US" sz="1600" dirty="0" b="1"/>
          </a:p>
        </p:txBody>
      </p:sp>
      <p:sp>
        <p:nvSpPr>
          <p:cNvPr id="18" name="R3 opt2"/>
          <p:cNvSpPr/>
          <p:nvPr/>
        </p:nvSpPr>
        <p:spPr>
          <a:xfrm>
            <a:off x="9144000" y="420624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has</a:t>
            </a:r>
            <a:endParaRPr lang="en-US" sz="1600" dirty="0" b="1"/>
          </a:p>
        </p:txBody>
      </p:sp>
      <p:sp>
        <p:nvSpPr>
          <p:cNvPr id="19" name="R3 circle"/>
          <p:cNvSpPr/>
          <p:nvPr/>
        </p:nvSpPr>
        <p:spPr>
          <a:xfrm>
            <a:off x="6958584" y="415137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4. When ____ here?</a:t>
            </a:r>
            <a:endParaRPr lang="en-US" sz="1700" dirty="0"/>
          </a:p>
        </p:txBody>
      </p:sp>
      <p:sp>
        <p:nvSpPr>
          <p:cNvPr id="21" name="R4 opt1"/>
          <p:cNvSpPr/>
          <p:nvPr/>
        </p:nvSpPr>
        <p:spPr>
          <a:xfrm>
            <a:off x="7086600" y="475488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did you move</a:t>
            </a:r>
            <a:endParaRPr lang="en-US" sz="1600" dirty="0" b="1"/>
          </a:p>
        </p:txBody>
      </p:sp>
      <p:sp>
        <p:nvSpPr>
          <p:cNvPr id="22" name="R4 opt2"/>
          <p:cNvSpPr/>
          <p:nvPr/>
        </p:nvSpPr>
        <p:spPr>
          <a:xfrm>
            <a:off x="9144000" y="475488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have you moved</a:t>
            </a:r>
            <a:endParaRPr lang="en-US" sz="1600" dirty="0" b="1"/>
          </a:p>
        </p:txBody>
      </p:sp>
      <p:sp>
        <p:nvSpPr>
          <p:cNvPr id="23" name="R4 circle"/>
          <p:cNvSpPr/>
          <p:nvPr/>
        </p:nvSpPr>
        <p:spPr>
          <a:xfrm>
            <a:off x="6958584" y="470001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5. I ____ here three years ago.</a:t>
            </a:r>
            <a:endParaRPr lang="en-US" sz="1700" dirty="0"/>
          </a:p>
        </p:txBody>
      </p:sp>
      <p:sp>
        <p:nvSpPr>
          <p:cNvPr id="25" name="R5 opt1"/>
          <p:cNvSpPr/>
          <p:nvPr/>
        </p:nvSpPr>
        <p:spPr>
          <a:xfrm>
            <a:off x="7086600" y="530352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moved</a:t>
            </a:r>
            <a:endParaRPr lang="en-US" sz="1600" dirty="0" b="1"/>
          </a:p>
        </p:txBody>
      </p:sp>
      <p:sp>
        <p:nvSpPr>
          <p:cNvPr id="26" name="R5 opt2"/>
          <p:cNvSpPr/>
          <p:nvPr/>
        </p:nvSpPr>
        <p:spPr>
          <a:xfrm>
            <a:off x="9144000" y="530352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've moved</a:t>
            </a:r>
            <a:endParaRPr lang="en-US" sz="1600" dirty="0" b="1"/>
          </a:p>
        </p:txBody>
      </p:sp>
      <p:sp>
        <p:nvSpPr>
          <p:cNvPr id="27" name="R5 circle"/>
          <p:cNvSpPr/>
          <p:nvPr/>
        </p:nvSpPr>
        <p:spPr>
          <a:xfrm>
            <a:off x="6958584" y="524865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6. He's lived here ____ last summer.</a:t>
            </a:r>
            <a:endParaRPr lang="en-US" sz="1700" dirty="0"/>
          </a:p>
        </p:txBody>
      </p:sp>
      <p:sp>
        <p:nvSpPr>
          <p:cNvPr id="29" name="R6 opt1"/>
          <p:cNvSpPr/>
          <p:nvPr/>
        </p:nvSpPr>
        <p:spPr>
          <a:xfrm>
            <a:off x="7086600" y="58521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since</a:t>
            </a:r>
            <a:endParaRPr lang="en-US" sz="1600" dirty="0" b="1"/>
          </a:p>
        </p:txBody>
      </p:sp>
      <p:sp>
        <p:nvSpPr>
          <p:cNvPr id="30" name="R6 opt2"/>
          <p:cNvSpPr/>
          <p:nvPr/>
        </p:nvSpPr>
        <p:spPr>
          <a:xfrm>
            <a:off x="9144000" y="58521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for</a:t>
            </a:r>
            <a:endParaRPr lang="en-US" sz="1600" dirty="0" b="1"/>
          </a:p>
        </p:txBody>
      </p:sp>
      <p:sp>
        <p:nvSpPr>
          <p:cNvPr id="31" name="R6 circle"/>
          <p:cNvSpPr/>
          <p:nvPr/>
        </p:nvSpPr>
        <p:spPr>
          <a:xfrm>
            <a:off x="6958584" y="579729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name="L4: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Current address: a house [sign: NOW: 418 Elm St.]"/>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live here since 2020.</a:t>
            </a:r>
            <a:endParaRPr lang="en-US" sz="1700" dirty="0"/>
          </a:p>
        </p:txBody>
      </p:sp>
      <p:sp>
        <p:nvSpPr>
          <p:cNvPr id="25" name="Good 1"/>
          <p:cNvSpPr/>
          <p:nvPr/>
        </p:nvSpPr>
        <p:spPr>
          <a:xfrm>
            <a:off x="4800600" y="2468880"/>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a:t>
            </a:r>
            <a:r>
              <a:rPr lang="en-US" sz="1700" dirty="0" b="1">
                <a:solidFill>
                  <a:srgbClr val="1B2236"/>
                </a:solidFill>
                <a:latin typeface="Lexend Deca" pitchFamily="34" charset="0"/>
                <a:ea typeface="Lexend Deca" pitchFamily="34" charset="-122"/>
                <a:cs typeface="Lexend Deca" pitchFamily="34" charset="-120"/>
              </a:rPr>
              <a:t>'ve lived</a:t>
            </a:r>
            <a:r>
              <a:rPr lang="en-US" sz="1700" dirty="0" b="1">
                <a:solidFill>
                  <a:srgbClr val="1B2236"/>
                </a:solidFill>
                <a:latin typeface="Lexend Deca" pitchFamily="34" charset="0"/>
                <a:ea typeface="Lexend Deca" pitchFamily="34" charset="-122"/>
                <a:cs typeface="Lexend Deca" pitchFamily="34" charset="-120"/>
              </a:rPr>
              <a:t> here since 2020.</a:t>
            </a:r>
            <a:endParaRPr lang="en-US" sz="1700" dirty="0" b="1"/>
          </a:p>
        </p:txBody>
      </p:sp>
      <p:sp>
        <p:nvSpPr>
          <p:cNvPr id="26" name="Bad 2"/>
          <p:cNvSpPr/>
          <p:nvPr/>
        </p:nvSpPr>
        <p:spPr>
          <a:xfrm>
            <a:off x="914400" y="3035808"/>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I've lived here since three years.</a:t>
            </a:r>
            <a:endParaRPr lang="en-US" sz="1700" dirty="0"/>
          </a:p>
        </p:txBody>
      </p:sp>
      <p:sp>
        <p:nvSpPr>
          <p:cNvPr id="27" name="Good 2"/>
          <p:cNvSpPr/>
          <p:nvPr/>
        </p:nvSpPr>
        <p:spPr>
          <a:xfrm>
            <a:off x="4800600" y="3035808"/>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I've lived here </a:t>
            </a:r>
            <a:r>
              <a:rPr lang="en-US" sz="1700" dirty="0" b="1">
                <a:solidFill>
                  <a:srgbClr val="1B2236"/>
                </a:solidFill>
                <a:latin typeface="Lexend Deca" pitchFamily="34" charset="0"/>
                <a:ea typeface="Lexend Deca" pitchFamily="34" charset="-122"/>
                <a:cs typeface="Lexend Deca" pitchFamily="34" charset="-120"/>
              </a:rPr>
              <a:t>for</a:t>
            </a:r>
            <a:r>
              <a:rPr lang="en-US" sz="1700" dirty="0" b="1">
                <a:solidFill>
                  <a:srgbClr val="1B2236"/>
                </a:solidFill>
                <a:latin typeface="Lexend Deca" pitchFamily="34" charset="0"/>
                <a:ea typeface="Lexend Deca" pitchFamily="34" charset="-122"/>
                <a:cs typeface="Lexend Deca" pitchFamily="34" charset="-120"/>
              </a:rPr>
              <a:t> three years.</a:t>
            </a:r>
            <a:endParaRPr lang="en-US" sz="1700" dirty="0" b="1"/>
          </a:p>
        </p:txBody>
      </p:sp>
      <p:sp>
        <p:nvSpPr>
          <p:cNvPr id="28" name="Bad 3"/>
          <p:cNvSpPr/>
          <p:nvPr/>
        </p:nvSpPr>
        <p:spPr>
          <a:xfrm>
            <a:off x="914400" y="3877056"/>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I've moved here in 2021.</a:t>
            </a:r>
            <a:endParaRPr lang="en-US" sz="1700" dirty="0"/>
          </a:p>
        </p:txBody>
      </p:sp>
      <p:sp>
        <p:nvSpPr>
          <p:cNvPr id="29" name="Good 3"/>
          <p:cNvSpPr/>
          <p:nvPr/>
        </p:nvSpPr>
        <p:spPr>
          <a:xfrm>
            <a:off x="4800600" y="3877056"/>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a:t>
            </a:r>
            <a:r>
              <a:rPr lang="en-US" sz="1700" dirty="0" b="1">
                <a:solidFill>
                  <a:srgbClr val="1B2236"/>
                </a:solidFill>
                <a:latin typeface="Lexend Deca" pitchFamily="34" charset="0"/>
                <a:ea typeface="Lexend Deca" pitchFamily="34" charset="-122"/>
                <a:cs typeface="Lexend Deca" pitchFamily="34" charset="-120"/>
              </a:rPr>
              <a:t>moved</a:t>
            </a:r>
            <a:r>
              <a:rPr lang="en-US" sz="1700" dirty="0" b="1">
                <a:solidFill>
                  <a:srgbClr val="1B2236"/>
                </a:solidFill>
                <a:latin typeface="Lexend Deca" pitchFamily="34" charset="0"/>
                <a:ea typeface="Lexend Deca" pitchFamily="34" charset="-122"/>
                <a:cs typeface="Lexend Deca" pitchFamily="34" charset="-120"/>
              </a:rPr>
              <a:t> here in 2021.</a:t>
            </a:r>
            <a:endParaRPr lang="en-US" sz="1700" dirty="0" b="1"/>
          </a:p>
        </p:txBody>
      </p:sp>
      <p:sp>
        <p:nvSpPr>
          <p:cNvPr id="30" name="Bad 4"/>
          <p:cNvSpPr/>
          <p:nvPr/>
        </p:nvSpPr>
        <p:spPr>
          <a:xfrm>
            <a:off x="914400" y="4443984"/>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How long you have worked there?</a:t>
            </a:r>
            <a:endParaRPr lang="en-US" sz="1700" dirty="0"/>
          </a:p>
        </p:txBody>
      </p:sp>
      <p:sp>
        <p:nvSpPr>
          <p:cNvPr id="31" name="Good 4"/>
          <p:cNvSpPr/>
          <p:nvPr/>
        </p:nvSpPr>
        <p:spPr>
          <a:xfrm>
            <a:off x="4800600" y="4443984"/>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How long </a:t>
            </a:r>
            <a:r>
              <a:rPr lang="en-US" sz="1700" dirty="0" b="1">
                <a:solidFill>
                  <a:srgbClr val="1B2236"/>
                </a:solidFill>
                <a:latin typeface="Lexend Deca" pitchFamily="34" charset="0"/>
                <a:ea typeface="Lexend Deca" pitchFamily="34" charset="-122"/>
                <a:cs typeface="Lexend Deca" pitchFamily="34" charset="-120"/>
              </a:rPr>
              <a:t>have you</a:t>
            </a:r>
            <a:r>
              <a:rPr lang="en-US" sz="1700" dirty="0" b="1">
                <a:solidFill>
                  <a:srgbClr val="1B2236"/>
                </a:solidFill>
                <a:latin typeface="Lexend Deca" pitchFamily="34" charset="0"/>
                <a:ea typeface="Lexend Deca" pitchFamily="34" charset="-122"/>
                <a:cs typeface="Lexend Deca" pitchFamily="34" charset="-120"/>
              </a:rPr>
              <a:t> worked there?</a:t>
            </a:r>
            <a:endParaRPr lang="en-US" sz="1700" dirty="0" b="1"/>
          </a:p>
        </p:txBody>
      </p:sp>
      <p:sp>
        <p:nvSpPr>
          <p:cNvPr id="32" name="Bad 5"/>
          <p:cNvSpPr/>
          <p:nvPr/>
        </p:nvSpPr>
        <p:spPr>
          <a:xfrm>
            <a:off x="914400" y="5285232"/>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am here for two years. (still true)</a:t>
            </a:r>
            <a:endParaRPr lang="en-US" sz="1700" dirty="0"/>
          </a:p>
        </p:txBody>
      </p:sp>
      <p:sp>
        <p:nvSpPr>
          <p:cNvPr id="33" name="Good 5"/>
          <p:cNvSpPr/>
          <p:nvPr/>
        </p:nvSpPr>
        <p:spPr>
          <a:xfrm>
            <a:off x="4800600" y="5285232"/>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a:t>
            </a:r>
            <a:r>
              <a:rPr lang="en-US" sz="1700" dirty="0" b="1">
                <a:solidFill>
                  <a:srgbClr val="1B2236"/>
                </a:solidFill>
                <a:latin typeface="Lexend Deca" pitchFamily="34" charset="0"/>
                <a:ea typeface="Lexend Deca" pitchFamily="34" charset="-122"/>
                <a:cs typeface="Lexend Deca" pitchFamily="34" charset="-120"/>
              </a:rPr>
              <a:t>'ve been</a:t>
            </a:r>
            <a:r>
              <a:rPr lang="en-US" sz="1700" dirty="0" b="1">
                <a:solidFill>
                  <a:srgbClr val="1B2236"/>
                </a:solidFill>
                <a:latin typeface="Lexend Deca" pitchFamily="34" charset="0"/>
                <a:ea typeface="Lexend Deca" pitchFamily="34" charset="-122"/>
                <a:cs typeface="Lexend Deca" pitchFamily="34" charset="-120"/>
              </a:rPr>
              <a:t> here for two years.</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name="L4:drill">
    <p:bg>
      <p:bgPr>
        <a:solidFill>
          <a:srgbClr val="F1F5FB"/>
        </a:solidFill>
      </p:bgPr>
    </p:bg>
    <p:spTree>
      <p:nvGrpSpPr>
        <p:cNvPr id="1" name=""/>
        <p:cNvGrpSpPr/>
        <p:nvPr/>
      </p:nvGrpSpPr>
      <p:grpSpPr/>
      <p:pic>
        <p:nvPicPr>
          <p:cNvPr id="26" name="pic" descr="End date: a calendar and a stop sign [sign: END: 05/30/2024]"/>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Check</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picks a card and says it.</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makes a sentence with for or since.</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A:</a:t>
            </a:r>
            <a:r>
              <a:rPr lang="en-US" sz="1900" dirty="0" b="0">
                <a:solidFill>
                  <a:srgbClr val="1B2236"/>
                </a:solidFill>
                <a:latin typeface="Lexend Deca" pitchFamily="34" charset="0"/>
                <a:ea typeface="Lexend Deca" pitchFamily="34" charset="-122"/>
                <a:cs typeface="Lexend Deca" pitchFamily="34" charset="-120"/>
              </a:rPr>
              <a:t> March.</a:t>
            </a:r>
            <a:endParaRPr lang="en-US" sz="19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B:</a:t>
            </a:r>
            <a:r>
              <a:rPr lang="en-US" sz="1900" dirty="0" b="0">
                <a:solidFill>
                  <a:srgbClr val="1B2236"/>
                </a:solidFill>
                <a:latin typeface="Lexend Deca" pitchFamily="34" charset="0"/>
                <a:ea typeface="Lexend Deca" pitchFamily="34" charset="-122"/>
                <a:cs typeface="Lexend Deca" pitchFamily="34" charset="-120"/>
              </a:rPr>
              <a:t> I've lived here since March.</a:t>
            </a:r>
            <a:endParaRPr lang="en-US" sz="1900" dirty="0" b="0"/>
          </a:p>
          <a:p>
            <a:pPr algn="l" indent="0" marL="0">
              <a:buNone/>
            </a:pPr>
            <a:r>
              <a:rPr lang="en-US" sz="1900" dirty="0" b="1">
                <a:solidFill>
                  <a:srgbClr val="1B2236"/>
                </a:solidFill>
                <a:latin typeface="Lexend Deca" pitchFamily="34" charset="0"/>
                <a:ea typeface="Lexend Deca" pitchFamily="34" charset="-122"/>
                <a:cs typeface="Lexend Deca" pitchFamily="34" charset="-120"/>
              </a:rPr>
              <a:t>Then switch.</a:t>
            </a:r>
            <a:endParaRPr lang="en-US" sz="19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Use the time cards. Then switch.</a:t>
            </a:r>
            <a:endParaRPr lang="en-US" sz="2000" dirty="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Start date: a calendar and an arrow [sign: START: 03/15/2022]"/>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Timeline Interviews</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Mark 4 points on your timeline.</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Mark 4 points on your timeline.</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When did it start? (in 2021 / three years ago)</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Interview a partner.</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How long have you…? Since when?</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Write 3 sentences about your partner.</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Ana has lived in this city since 2021.</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Application: a clipboard and a pen [sign: APPLICATION]"/>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At the Leasing Office</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A is the agent. B is the applicant.</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asks the questions on the role card.</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What's your current address? How long have you lived there?</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 answers. Invented answers are fine.</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Can you spell that, please?</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fills in the application. Then switch.</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Employer and position • Start date • Reference</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Read the form.</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Answer the questions.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Read &amp;</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Write</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Parkview Apartments: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a rental application.</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answer together.</a:t>
            </a:r>
            <a:endParaRPr lang="en-US" sz="2000" dirty="0" b="1"/>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397557"/>
            <a:ext cx="239572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How long has David lived at his current address?</a:t>
            </a:r>
            <a:endParaRPr lang="en-US" sz="1500" dirty="0"/>
          </a:p>
        </p:txBody>
      </p:sp>
      <p:sp>
        <p:nvSpPr>
          <p:cNvPr id="35" name="R1 ans"/>
          <p:cNvSpPr/>
          <p:nvPr/>
        </p:nvSpPr>
        <p:spPr>
          <a:xfrm>
            <a:off x="4279392" y="2525573"/>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Since August 2023.</a:t>
            </a:r>
            <a:endParaRPr lang="en-US" sz="15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3183941"/>
            <a:ext cx="239572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How long did he live on Hill Street?</a:t>
            </a:r>
            <a:endParaRPr lang="en-US" sz="1500" dirty="0"/>
          </a:p>
        </p:txBody>
      </p:sp>
      <p:sp>
        <p:nvSpPr>
          <p:cNvPr id="40" name="R2 ans"/>
          <p:cNvSpPr/>
          <p:nvPr/>
        </p:nvSpPr>
        <p:spPr>
          <a:xfrm>
            <a:off x="4279392" y="3311957"/>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For four years (2019–2023).</a:t>
            </a:r>
            <a:endParaRPr lang="en-US" sz="15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970325"/>
            <a:ext cx="239572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Who is his employer?</a:t>
            </a:r>
            <a:endParaRPr lang="en-US" sz="1500" dirty="0"/>
          </a:p>
        </p:txBody>
      </p:sp>
      <p:sp>
        <p:nvSpPr>
          <p:cNvPr id="45" name="R3 ans"/>
          <p:cNvSpPr/>
          <p:nvPr/>
        </p:nvSpPr>
        <p:spPr>
          <a:xfrm>
            <a:off x="4279392" y="4098341"/>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City Bus Company.</a:t>
            </a:r>
            <a:endParaRPr lang="en-US" sz="15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756709"/>
            <a:ext cx="239572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Who is his reference?</a:t>
            </a:r>
            <a:endParaRPr lang="en-US" sz="1500" dirty="0"/>
          </a:p>
        </p:txBody>
      </p:sp>
      <p:sp>
        <p:nvSpPr>
          <p:cNvPr id="50" name="R4 ans"/>
          <p:cNvSpPr/>
          <p:nvPr/>
        </p:nvSpPr>
        <p:spPr>
          <a:xfrm>
            <a:off x="4279392" y="4884725"/>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Ana Ruiz, his supervisor.</a:t>
            </a:r>
            <a:endParaRPr lang="en-US" sz="15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543093"/>
            <a:ext cx="239572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Why is he moving?</a:t>
            </a:r>
            <a:endParaRPr lang="en-US" sz="1500" dirty="0"/>
          </a:p>
        </p:txBody>
      </p:sp>
      <p:sp>
        <p:nvSpPr>
          <p:cNvPr id="55" name="R5 ans"/>
          <p:cNvSpPr/>
          <p:nvPr/>
        </p:nvSpPr>
        <p:spPr>
          <a:xfrm>
            <a:off x="4279392" y="5671109"/>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He needs a bigger apartment for his family.</a:t>
            </a:r>
            <a:endParaRPr lang="en-US" sz="15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name="L4: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7:25–7:30</a:t>
            </a:r>
            <a:endParaRPr lang="en-US" sz="4000" dirty="0"/>
          </a:p>
        </p:txBody>
      </p:sp>
      <p:pic>
        <p:nvPicPr>
          <p:cNvPr id="16" name="pic" descr="Current address: a house [sign: NOW: 418 Elm St.]"/>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Answer in 3 sentences:</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How long (for or since).</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When you started (I moved / started… in…).</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Why, with because.</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Give it to me at the door.</a:t>
            </a:r>
            <a:endParaRPr lang="en-US" sz="16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About 15–20 minutes.</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Write the sentence. Use for or since.</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Finish your writing (Read &amp; Write C).</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Ask 3 questions with How long have you…?</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4. Review: used to.</a:t>
            </a:r>
            <a:endParaRPr lang="en-US" sz="1600" dirty="0" b="0"/>
          </a:p>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Bring it next week!</a:t>
            </a:r>
            <a:endParaRPr lang="en-US" sz="1600" dirty="0" b="1"/>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name="L4: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Position (job title): a mechanic [sign: MECHANIC]">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2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and answer How long…?</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Use for and since</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Fill in an application</a:t>
            </a:r>
            <a:endParaRPr lang="en-US" sz="2200" dirty="0"/>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name="L4: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signs and labels were added.</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Marisol, Mr. Chen, David Morales, Ana Ruiz, and Ana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synthetic voices made with Chatterbox TTS (MIT License), cloned from short synthetic reference clips made with Kokoro-82M (Apache License 2.0). No recordings of real people were used. Each file carries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4 Lesson 2: How Long Have You Lived Here?</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