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887" r:id="rId33"/>
    <p:sldId id="888" r:id="rId34"/>
    <p:sldId id="889" r:id="rId35"/>
    <p:sldId id="890" r:id="rId36"/>
    <p:sldId id="891" r:id="rId31"/>
    <p:sldId id="892" r:id="rId30"/>
    <p:sldId id="893" r:id="rId29"/>
    <p:sldId id="894" r:id="rId28"/>
    <p:sldId id="895" r:id="rId27"/>
    <p:sldId id="896" r:id="rId20"/>
    <p:sldId id="897" r:id="rId18"/>
    <p:sldId id="898" r:id="rId17"/>
    <p:sldId id="899" r:id="rId16"/>
    <p:sldId id="900" r:id="rId14"/>
    <p:sldId id="901" r:id="rId13"/>
    <p:sldId id="902" r:id="rId12"/>
    <p:sldId id="903" r:id="rId11"/>
    <p:sldId id="904" r:id="rId10"/>
    <p:sldId id="905" r:id="rId8"/>
    <p:sldId id="906" r:id="rId7"/>
    <p:sldId id="907" r:id="rId6"/>
    <p:sldId id="908" r:id="rId5"/>
    <p:sldId id="909" r:id="rId4"/>
    <p:sldId id="910" r:id="rId3"/>
    <p:sldId id="911" r:id="rId57"/>
    <p:sldId id="912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2.xml"/><Relationship Id="rId3" Type="http://schemas.openxmlformats.org/officeDocument/2006/relationships/slide" Target="slides/slide50.xml"/><Relationship Id="rId4" Type="http://schemas.openxmlformats.org/officeDocument/2006/relationships/slide" Target="slides/slide49.xml"/><Relationship Id="rId5" Type="http://schemas.openxmlformats.org/officeDocument/2006/relationships/slide" Target="slides/slide48.xml"/><Relationship Id="rId6" Type="http://schemas.openxmlformats.org/officeDocument/2006/relationships/slide" Target="slides/slide47.xml"/><Relationship Id="rId7" Type="http://schemas.openxmlformats.org/officeDocument/2006/relationships/slide" Target="slides/slide46.xml"/><Relationship Id="rId8" Type="http://schemas.openxmlformats.org/officeDocument/2006/relationships/slide" Target="slides/slide45.xml"/><Relationship Id="rId10" Type="http://schemas.openxmlformats.org/officeDocument/2006/relationships/slide" Target="slides/slide44.xml"/><Relationship Id="rId11" Type="http://schemas.openxmlformats.org/officeDocument/2006/relationships/slide" Target="slides/slide43.xml"/><Relationship Id="rId12" Type="http://schemas.openxmlformats.org/officeDocument/2006/relationships/slide" Target="slides/slide42.xml"/><Relationship Id="rId13" Type="http://schemas.openxmlformats.org/officeDocument/2006/relationships/slide" Target="slides/slide41.xml"/><Relationship Id="rId14" Type="http://schemas.openxmlformats.org/officeDocument/2006/relationships/slide" Target="slides/slide40.xml"/><Relationship Id="rId16" Type="http://schemas.openxmlformats.org/officeDocument/2006/relationships/slide" Target="slides/slide39.xml"/><Relationship Id="rId17" Type="http://schemas.openxmlformats.org/officeDocument/2006/relationships/slide" Target="slides/slide38.xml"/><Relationship Id="rId18" Type="http://schemas.openxmlformats.org/officeDocument/2006/relationships/slide" Target="slides/slide37.xml"/><Relationship Id="rId20" Type="http://schemas.openxmlformats.org/officeDocument/2006/relationships/slide" Target="slides/slide36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35.xml"/><Relationship Id="rId28" Type="http://schemas.openxmlformats.org/officeDocument/2006/relationships/slide" Target="slides/slide34.xml"/><Relationship Id="rId29" Type="http://schemas.openxmlformats.org/officeDocument/2006/relationships/slide" Target="slides/slide33.xml"/><Relationship Id="rId30" Type="http://schemas.openxmlformats.org/officeDocument/2006/relationships/slide" Target="slides/slide32.xml"/><Relationship Id="rId31" Type="http://schemas.openxmlformats.org/officeDocument/2006/relationships/slide" Target="slides/slide31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57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the listening audio for this lesson (about 1:56) is coming soon. It will use computer-generated voices (Chatterbox TTS cloned from synthetic Kokoro-82M reference clips); no recordings of real people. Until it is ready, read the listening script (in the notes of the Before You Listen slide) with a volunteer.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7 · 7:25–7:30 · Exit Ticket + Homework · 5 min · NEVER SKIP.</a:t>
            </a:r>
          </a:p>
          <a:p>
            <a:r>
              <a:t>Exit ticket (3 min): learners open the Exit Ticket page and answer in 3 sentences with a reason: What is one warning sign of a scam, and what should you do? Example on the board: A caller who asks for gift cards is a warning sign. You should hang up and call the real company. Don't pay, because real companies don't take gift cards. With 5 or fewer, a learner can say it to you first and then write it.</a:t>
            </a:r>
          </a:p>
          <a:p>
            <a:r>
              <a:t>Collect the pages. After class, sort them into ✓ / almost / not yet. Start next week with 2 corrections on the board (no names).</a:t>
            </a:r>
          </a:p>
          <a:p>
            <a:r>
              <a:t>Homework (2 min): open the Homework page. Do item 1 together (item 1: don't trust / a caller / ask for gift cards (who) → Don't trust a caller who asks for gift cards.). Say: "About 15–20 minutes. Finish your Read &amp; Write writing at home."</a:t>
            </a:r>
          </a:p>
          <a:p>
            <a:r>
              <a:t>Homework items: 1. Write the sentence. Use who or that. • 2. Finish your writing from Read &amp; Write C (your message). Read it one more time. Check ✓ the list in D. • 3. Write 3 warning signs of a scam. What should you do? • 4. Review (Lesson 11). Write one word.</a:t>
            </a:r>
          </a:p>
          <a:p>
            <a:r>
              <a:t>Lesson plan: Step 7; Exit Ticket page; Homework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7:15–7:25 · Read &amp; Write: A consumer tips flyer + a sample scam text · 10 min. Pairs read, then individual writing.</a:t>
            </a:r>
          </a:p>
          <a:p>
            <a:r>
              <a:t>Read (4 min): Learners read the invented flyer and the sample text on the Read &amp; Write page and answer the questions. Say: "Read fast first. Then find the answers." Pairs answer questions 1–5 together.</a:t>
            </a:r>
          </a:p>
          <a:p>
            <a:r>
              <a:t>Check (1 min): click to show each answer (one click per question, 1 to 5): 1 No. Most are real. • 2 No, they don't. • 3 Stop. Don't answer or click right away. • 4 The number on your real bill or card. • 5 It asks for your PIN, and it says you must hurry (30 minutes).</a:t>
            </a:r>
          </a:p>
          <a:p>
            <a:r>
              <a:t>Write (5 min): Learners write a message (5–8 sentences) to a family member about a scam text, with that / who and Don't…. Show the example. Learners start in class and finish at home (Homework item 2).</a:t>
            </a:r>
          </a:p>
          <a:p>
            <a:r>
              <a:t>If behind: questions 1–5 only; the writing becomes homework.</a:t>
            </a:r>
          </a:p>
          <a:p>
            <a:r>
              <a:t>Lesson plan: Step 6; Read &amp; Write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 (6 min): Safe Answer (pairs). A is a caller with a pushy (but polite) card. B gives a safe answer. Switch. Each click shows the next step.</a:t>
            </a:r>
          </a:p>
          <a:p>
            <a:r>
              <a:t>15 learners: pairs; then groups of 4 to compare; then pairs. 7–8 learners: pairs; then one group to compare. 5 or fewer: the whole group sorts together; then pairs.</a:t>
            </a:r>
          </a:p>
          <a:p>
            <a:r>
              <a:t>Every answer needs a reason; every partner asks a follow-up. Walk around and listen. Note 2 good sentences to praise and 1 common error for next week.</a:t>
            </a:r>
          </a:p>
          <a:p>
            <a:r>
              <a:t>If behind: round 1 only.</a:t>
            </a:r>
          </a:p>
          <a:p>
            <a:r>
              <a:t>Lesson plan: Step 5; Talk Time: Safe Answer.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5 · 7:00–7:15 · Talk Time: Real or Scam? + Safe Answer · 15 min.</a:t>
            </a:r>
          </a:p>
          <a:p>
            <a:r>
              <a:t>Model it first (1 min): read card 1: "Your package is late. Click this link and pay $2.99 today." Say, "I think it's probably a scam. It's a text that has a strange link, and it asks for money today." Then model a safe answer: a learner reads caller card 1, and you say calmly, "I don't give information on the phone. I'll call the number on my card. Goodbye."</a:t>
            </a:r>
          </a:p>
          <a:p>
            <a:r>
              <a:t>Round 1 (7 min): Real or Scam? (pairs). Pairs sort the 10 invented message cards into probably real and probably a scam and explain with It's a text that… / It's from someone who… Then they compare with another pair. Each click shows the next step.</a:t>
            </a:r>
          </a:p>
          <a:p>
            <a:r>
              <a:t>15 learners: pairs; then groups of 4 to compare; then pairs. 7–8 learners: pairs; then one group to compare. 5 or fewer: the whole group sorts together; then pairs.</a:t>
            </a:r>
          </a:p>
          <a:p>
            <a:r>
              <a:t>Lesson plan: Step 5; Talk Time: Real or Scam?.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 check (last 3 min of Step 4). Pairs.</a:t>
            </a:r>
          </a:p>
          <a:p>
            <a:r>
              <a:t>A points to a picture and asks, "What's a gift card scam?" B answers with who / that: "It's a call that asks you to pay with gift cards." Switch. 15 learners: swap partners once. 5 or fewer: you join one pair.</a:t>
            </a:r>
          </a:p>
          <a:p>
            <a:r>
              <a:t>If behind: skip the pair check. Talk Time practices it.</a:t>
            </a:r>
          </a:p>
          <a:p>
            <a:r>
              <a:t>Break · 6:45–7:00 · 15 min. Write on the board: It's a trick that takes your money. • Don't trust a caller who asks for gift cards. • Stop. Don't pay. Check. Tell someone.</a:t>
            </a:r>
          </a:p>
          <a:p>
            <a:r>
              <a:t>Lesson plan: Step 4: Pair check; Break.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mistakes. Read the table together: "Don't say… Say…". Read a line from Don't say. Ask: "What's the right way?" Learners try first. Then click to show the right form. Each click shows one line, in order 1 to 5.</a:t>
            </a:r>
          </a:p>
          <a:p>
            <a:r>
              <a:t>Learners can read the contrast tip on their Grammar page on their own; it is optional. You never need to read, translate, or explain it.</a:t>
            </a:r>
          </a:p>
          <a:p>
            <a:r>
              <a:t>Lesson plan: Grammar: Common mistakes;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B. Learners circle the correct words. Pairs check.</a:t>
            </a:r>
          </a:p>
          <a:p>
            <a:r>
              <a:t>Click to circle each answer (one click per item, 1 to 6): 1 that, 2 who, 3 who called, 4 that, 5 should, 6 Hang up.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A and B (3 min): learners write, then pairs check. Go over the answers.</a:t>
            </a:r>
          </a:p>
          <a:p>
            <a:r>
              <a:t>Click to show each answer (one click per item, 1 to 6): 1 that, 2 who, 3 that, 4 anyone, 5 something, 6 mustn't.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4: the 4 steps. Each click shows the answer side of one row.</a:t>
            </a:r>
          </a:p>
          <a:p>
            <a:r>
              <a:t>Questions and answers (2 min): Q: who or that? A: who for people, that for things. that is OK for people too: a man who called / a text that came. • Q: a man who he called or a man who called? A: a man who called. Don't add he or it after who / that. • Q: Are all calls and texts scams? A: No. Most calls and texts are real. A few are scams. Stop, check, and ask.</a:t>
            </a:r>
          </a:p>
          <a:p>
            <a:r>
              <a:t>Check questions: "who or that for a text?" (that) • "a man who he called or a man who called?" (a man who called) • "Are most calls scams?" (no, most are real).</a:t>
            </a:r>
          </a:p>
          <a:p>
            <a:r>
              <a:t>Lesson plan: Step 4; Grammar Box 4; Questions and answers.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3: never… anyone, must / should. Each click shows the answer side of one row.</a:t>
            </a:r>
          </a:p>
          <a:p>
            <a:r>
              <a:t>Lesson plan: Step 4; Grammar Box 3.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2: what to do: Hang up on a caller who asks for gift cards. Each click shows the answer side of one row.</a:t>
            </a:r>
          </a:p>
          <a:p>
            <a:r>
              <a:t>Rule of thumb (read it aloud): who for people; that for things (and also people). The who / that part tells you which person or thing. Don't add he / it after it: a man who called (not a man who he called).</a:t>
            </a:r>
          </a:p>
          <a:p>
            <a:r>
              <a:t>Lesson plan: Step 4; Grammar Box 2; Rule of thumb.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 · 6:30–6:45 · Grammar Q&amp;A · 15 min (slides 13 to 20). Whole class, then pairs. Show the Grammar page. The left side is the question. The right side is the answer.</a:t>
            </a:r>
          </a:p>
          <a:p>
            <a:r>
              <a:t>Show it (2 min): hold up your phone and say, "This morning I got a text. The text said I won a prize. → I got a text that said I won a prize." Then: "A man called. The man wanted my PIN. → A man who called wanted my PIN." Write: who = people, that = things (and people). Cross out a man who he called.</a:t>
            </a:r>
          </a:p>
          <a:p>
            <a:r>
              <a:t>Box 1: read across: What's a scam? → It's a trick that takes your money. Each click shows the answer side of one row.</a:t>
            </a:r>
          </a:p>
          <a:p>
            <a:r>
              <a:t>Lesson plan: Step 4; Grammar Box 1.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"Hear it, say it" (3 min): Point to the script line. gonna = going to: "We're going to turn off your power." Then practice the weak that (it sounds like "thut"): a text that asks. Stress the key words: NEVER, GIFT cards. Practice a calm, firm voice: No, thank you. Goodbye. The class repeats the two lines twice.</a:t>
            </a:r>
          </a:p>
          <a:p>
            <a:r>
              <a:t>Reductions: the listening says going to. People often say gonna. Learners only need to recognize it.</a:t>
            </a:r>
          </a:p>
          <a:p>
            <a:r>
              <a:t>Lesson plan: Step 3: "Hear it, say it"; Listening page: Hear it, say it; Teacher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 C (play 2). Click to show each answer (one click per item, 1 to 6): 1 that, 2 who, 3 that, 4 who, 5 that, 6 who.</a:t>
            </a:r>
          </a:p>
          <a:p>
            <a:r>
              <a:t>If behind: do Task C together on the board, reading the lines yourself.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2 → Tasks B and C. Pairs compare. Then show the answers.</a:t>
            </a:r>
          </a:p>
          <a:p>
            <a:r>
              <a:t>Click to circle each answer (one click per item, 1 to 6): 1 today • 2 gift cards • 3 Don't tell anyone. • 4 one hour • 5 hung up • 6 fine.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1 → Task A (the main idea). Pairs compare. Check together.</a:t>
            </a:r>
          </a:p>
          <a:p>
            <a:r>
              <a:t>Click to circle the answer: a (Yes, it was a scam.).</a:t>
            </a:r>
          </a:p>
          <a:p>
            <a:r>
              <a:t>Then read Tasks B and C together (1 min) so learners know what to listen for.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6:15–6:30 · Listening + "Hear it, say it" · 15 min (slides 8 to 12). Individuals, then pairs check.</a:t>
            </a:r>
          </a:p>
          <a:p>
            <a:r>
              <a:t>Before you listen (2 min). Say: "Mrs. Lopez gets a phone call from a man who says he's from the electric company. Later, she talks to her son, Daniel. Listen: was it a scam?"</a:t>
            </a:r>
          </a:p>
          <a:p>
            <a:r>
              <a:t>There are 3 people: Caller, Mrs. Lopez and Daniel. A narrator starts and ends the listening. Each click highlights the next person.</a:t>
            </a:r>
          </a:p>
          <a:p>
            <a:r>
              <a:t>The audio (about 1:56) is coming soon. When it is ready, it plays the conversation once; press play again for play 2. Until then, read the listening script (at the end of these notes) with a volunteer.</a:t>
            </a:r>
          </a:p>
          <a:p>
            <a:r>
              <a:t>No speaker? Read the script with a volunteer at a natural, friendly speed, two times. The script says going to and want to. People often say gonna and wanna; learners only need to recognize those words.</a:t>
            </a:r>
          </a:p>
          <a:p>
            <a:r>
              <a:t>Audio: the listening audio for this lesson (about 1:56) is coming soon. It will use computer-generated voices (Chatterbox TTS cloned from synthetic Kokoro-82M reference clips); no recordings of real people. Until it is ready, read the listening script (in the notes of the Before You Listen slide) with a volunteer. The names and the story are invented.</a:t>
            </a:r>
          </a:p>
          <a:p>
            <a:r>
              <a:t>Lesson plan: Step 3; Listening script;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  <a:p>
            <a:r>
              <a:t>Listening script (the audio is coming soon; until then, read it aloud with a volunteer at a normal, friendly speed):</a:t>
            </a:r>
          </a:p>
          <a:p>
            <a:r>
              <a:t>Narrator: Lesson twelve. Mrs. Lopez gets a phone call. Later, she talks to her son, Daniel.</a:t>
            </a:r>
          </a:p>
          <a:p>
            <a:r>
              <a:t>Caller: Hello, is this Mrs. Lopez? This is Mike from the electric company. Your bill is late. You must pay today, or we're going to turn off your power in one hour.</a:t>
            </a:r>
          </a:p>
          <a:p>
            <a:r>
              <a:t>Mrs. Lopez: What? My bill is late? I paid it last week.</a:t>
            </a:r>
          </a:p>
          <a:p>
            <a:r>
              <a:t>Caller: No, ma'am. You owe two hundred dollars. Go to the store and buy gift cards. Then call me back and read me the numbers.</a:t>
            </a:r>
          </a:p>
          <a:p>
            <a:r>
              <a:t>Mrs. Lopez: Gift cards? That's strange.</a:t>
            </a:r>
          </a:p>
          <a:p>
            <a:r>
              <a:t>Caller: Please hurry. This is your last chance. Don't tell anyone.</a:t>
            </a:r>
          </a:p>
          <a:p>
            <a:r>
              <a:t>Mrs. Lopez: No, thank you. I'm going to call the number that is on my real bill. Goodbye.</a:t>
            </a:r>
          </a:p>
          <a:p>
            <a:r>
              <a:t>Daniel: Hi, Mom. You look worried. What's wrong?</a:t>
            </a:r>
          </a:p>
          <a:p>
            <a:r>
              <a:t>Mrs. Lopez: The man who called me knew my name. He said he was from the electric company. He wanted me to pay with gift cards.</a:t>
            </a:r>
          </a:p>
          <a:p>
            <a:r>
              <a:t>Daniel: Gift cards? That's a warning sign. A company that asks for gift cards is a scam. What did you do?</a:t>
            </a:r>
          </a:p>
          <a:p>
            <a:r>
              <a:t>Mrs. Lopez: I said no, and I hung up.</a:t>
            </a:r>
          </a:p>
          <a:p>
            <a:r>
              <a:t>Daniel: Good! You did the right thing. Scammers are people who want your money. Did you give him any information?</a:t>
            </a:r>
          </a:p>
          <a:p>
            <a:r>
              <a:t>Mrs. Lopez: No. I didn't tell him anything.</a:t>
            </a:r>
          </a:p>
          <a:p>
            <a:r>
              <a:t>Daniel: Great. Let's check your account on the City Power website. OK, here it is. Your account is fine. You don't owe any money.</a:t>
            </a:r>
          </a:p>
          <a:p>
            <a:r>
              <a:t>Mrs. Lopez: Oh, good. I'm glad I didn't pay.</a:t>
            </a:r>
          </a:p>
          <a:p>
            <a:r>
              <a:t>Daniel: Me too. Next time, you can block the number. Be careful with texts that ask for your password, too. And never trust a caller who tells you to hurry.</a:t>
            </a:r>
          </a:p>
          <a:p>
            <a:r>
              <a:t>Mrs. Lopez: You're right. Thanks, Daniel.</a:t>
            </a:r>
          </a:p>
          <a:p>
            <a:r>
              <a:t>Narrator: That's the end of the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Check meaning · 1 min. Whole class.</a:t>
            </a:r>
          </a:p>
          <a:p>
            <a:r>
              <a:t>The answers are hidden. Ask each question and wait for the class to answer. Then click to show the answer. Each click shows one answer, in order: 1, 2, 3.</a:t>
            </a:r>
          </a:p>
          <a:p>
            <a:r>
              <a:t>1. "Is a fake message real or not real?" (not real) • 2. "Do you give your PIN to a caller or to nobody?" (nobody) • 3. "When a call is suspicious, do you hang up or pay?" (hang up)</a:t>
            </a:r>
          </a:p>
          <a:p>
            <a:r>
              <a:t>Lesson plan: Step 2: Check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2, continued. Point to each picture and say the word. Learners repeat once.</a:t>
            </a:r>
          </a:p>
          <a:p>
            <a:r>
              <a:t>Partner game (2 min): A points to a picture and asks, "What's a fake prize?" B answers with who / that: "It's a message that says you won, but you must pay." Switch. 15 learners: finish with a quick team round (3 teams; you say a clue, the first team with the word gets a point). 7–8: 2 teams. 5 or fewer: one team against the clock.</a:t>
            </a:r>
          </a:p>
          <a:p>
            <a:r>
              <a:t>My Words: "Write any word you want in your language on the My Words page. It's your personal list. It's optional." Learners do it at home.</a:t>
            </a:r>
          </a:p>
          <a:p>
            <a:r>
              <a:t>If behind: teach the ★ words only.</a:t>
            </a:r>
          </a:p>
          <a:p>
            <a:r>
              <a:t>Lesson plan: Step 2; New Words page; Partner game; My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6:08–6:15 · New Words · 7 min (this slide and the next). Whole class, then pairs.</a:t>
            </a:r>
          </a:p>
          <a:p>
            <a:r>
              <a:t>Point to each picture and say the word. Learners repeat once. ★ = the most important words. Each click shows the next word.</a:t>
            </a:r>
          </a:p>
          <a:p>
            <a:r>
              <a:t>Show the hard words: scam (a trick that takes your money); warning sign (something that tells you to be careful); suspicious (strange, maybe not true); fake (not real); official (real, from the company); gift card; prize; link (you click it in a text or email); PIN (your secret number); hang up (end the call); block (a number); trust.</a:t>
            </a:r>
          </a:p>
          <a:p>
            <a:r>
              <a:t>If behind: teach the ★ words only.</a:t>
            </a:r>
          </a:p>
          <a:p>
            <a:r>
              <a:t>Lesson plan: Step 2; Key vocabulary;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Point to the title and read it: "Is It a Scam?" Say: "Consumer protection, calm and practical: recognizing common scams by phone, text, and email (a fake prize, a fake bank text, a fake "pay your bill today" call, payment with gift cards) and what to do: stop, don't pay, check with the real company, and tell someone. Learners describe people and messages with who / that. All messages, names, and numbers are invented."</a:t>
            </a:r>
          </a:p>
          <a:p>
            <a:r>
              <a:t>Read the three lines under "Today you will".</a:t>
            </a:r>
          </a:p>
          <a:p>
            <a:r>
              <a:t>Keep it calm and practical: "Most calls and texts are real. A few are scams. Stop, check, and ask." No scary stories.</a:t>
            </a:r>
          </a:p>
          <a:p>
            <a:r>
              <a:t>Lesson plan: Topic; At a glance: Objectives;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6:00–6:08 · Opening Talk + Homework Check · 8 min. Pairs (7 pairs + 1 trio with 15 learners; 3–4 pairs with 7–8).</a:t>
            </a:r>
          </a:p>
          <a:p>
            <a:r>
              <a:t>Before class, write on the board: to + verb (why); enjoy + -ing</a:t>
            </a:r>
          </a:p>
          <a:p>
            <a:r>
              <a:t>Model with one learner: you say, "Where would you like to go on a trip?" The learner answers with to + verb (I'd like to go to Chicago to see the lake.). Then you ask, "What do you enjoy doing there?" Help them say 3 sentences. (Click to show the follow-up.)</a:t>
            </a:r>
          </a:p>
          <a:p>
            <a:r>
              <a:t>Opening Talk (5 min): learners open the Opening Talk page. A asks a card question; B answers in 3 sentences (the answer, a reason, a detail); A asks one follow-up. Switch after each card. The cards are on the next slide.</a:t>
            </a:r>
          </a:p>
          <a:p>
            <a:r>
              <a:t>If behind: one card only.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1, continued. The four cards from the Opening Talk page. Each click shows the next card.</a:t>
            </a:r>
          </a:p>
          <a:p>
            <a:r>
              <a:t>A asks a card question. B answers in 3 sentences. A asks one follow-up question (follow-ups on the right). Then switch.</a:t>
            </a:r>
          </a:p>
          <a:p>
            <a:r>
              <a:t>Homework Check (3 min, last click): Pairs compare Homework item 1 (to / -ing) and read their trip plan (item 3) to each other. Then they fill in the box on the Opening Talk page. Walk around. Write 2 common errors on the board (often for see (→ to see) and enjoy to travel (→ enjoy traveling)) and correct them together. Also put up 2 corrections from last week's exit tickets.</a:t>
            </a:r>
          </a:p>
          <a:p>
            <a:r>
              <a:t>Lesson plan: Step 1; Opening Talk page: cards, follow-ups; Homework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title: "Goodbye! See you next week!" Learners repeat.</a:t>
            </a:r>
          </a:p>
          <a:p>
            <a:r>
              <a:t>Read the three "Now you can" lines.</a:t>
            </a:r>
          </a:p>
          <a:p>
            <a:r>
              <a:t>Lesson plan: At a glance: Objectives; Step 7.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Relationship Id="rId14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23.png"/><Relationship Id="rId13" Type="http://schemas.openxmlformats.org/officeDocument/2006/relationships/image" Target="../media/image24.png"/><Relationship Id="rId14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6" Type="http://schemas.openxmlformats.org/officeDocument/2006/relationships/image" Target="../media/image21.png"/><Relationship Id="rId7" Type="http://schemas.openxmlformats.org/officeDocument/2006/relationships/image" Target="../media/image15.png"/><Relationship Id="rId8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1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1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Scam: a fishing pole and flying mon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12  ·  Level 4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It a Scam?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Describe a person or a message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Name 4 warning signs of a scam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what to do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five things.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 goal is a good goal.</a:t>
            </a:r>
            <a:endParaRPr lang="en-US" sz="20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093062"/>
            <a:ext cx="6227064" cy="678668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035454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035454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051548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035454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describe a person or a message with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/ that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(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caller who asks for gift cards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).</a:t>
            </a:r>
            <a:endParaRPr lang="en-US" sz="15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16895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2822936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2822936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2839029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2822936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name 4 warning signs of a scam.</a:t>
            </a:r>
            <a:endParaRPr lang="en-US" sz="15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295643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610417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610417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626510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610417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what to do with a suspicious call or text (stop, don't pay, check, tell someone).</a:t>
            </a:r>
            <a:endParaRPr lang="en-US" sz="15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743919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397898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397898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413992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397898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give a safe answer on the phone (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don't give information on the phone. Goodbye.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).</a:t>
            </a:r>
            <a:endParaRPr lang="en-US" sz="15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53140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185380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185380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01473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185380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write a message (5–8 sentences) to warn a family member about a scam.</a:t>
            </a:r>
            <a:endParaRPr lang="en-US" sz="15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1888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Warning sign: a warning triang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2104034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a card question.</a:t>
            </a:r>
            <a:endParaRPr lang="en-US" sz="20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would you like to go on a trip?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in 3 sentences.</a:t>
            </a:r>
            <a:endParaRPr lang="en-US" sz="2000" dirty="0" b="1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one follow-up.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Why?</a:t>
            </a:r>
            <a:endParaRPr lang="en-US" sz="2000" dirty="0" b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in 3 sentences: the answer, a reason, and a detail.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Follow-ups:</a:t>
            </a:r>
            <a:endParaRPr lang="en-US" sz="1800" dirty="0" b="1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Why? What do you enjoy doing there?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would you like to go on a trip?</a:t>
            </a:r>
            <a:endParaRPr lang="en-US" sz="18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enjoy doing on the weekend?</a:t>
            </a:r>
            <a:endParaRPr lang="en-US" sz="18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836822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836822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836822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836822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 do people take time off?</a:t>
            </a:r>
            <a:endParaRPr lang="en-US" sz="20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970325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4822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4822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4822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4822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need to pack for a short trip?</a:t>
            </a:r>
            <a:endParaRPr lang="en-US" sz="18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8172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25962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25962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5962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25962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Lesson 11, items 1 and 3.</a:t>
            </a:r>
            <a:endParaRPr lang="en-US" sz="18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9313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Scam: a fishing pole and flying money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scam</a:t>
            </a:r>
            <a:endParaRPr lang="en-US" sz="2000" dirty="0" b="1"/>
          </a:p>
        </p:txBody>
      </p:sp>
      <p:pic>
        <p:nvPicPr>
          <p:cNvPr id="19" name="Word picture 2" descr="Warning sign: a warning triangle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warning sign</a:t>
            </a:r>
            <a:endParaRPr lang="en-US" sz="2000" dirty="0" b="1"/>
          </a:p>
        </p:txBody>
      </p:sp>
      <p:pic>
        <p:nvPicPr>
          <p:cNvPr id="21" name="Word picture 3" descr="Suspicious: a thinking face and a phon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suspicious</a:t>
            </a:r>
            <a:endParaRPr lang="en-US" sz="2000" dirty="0" b="1"/>
          </a:p>
        </p:txBody>
      </p:sp>
      <p:pic>
        <p:nvPicPr>
          <p:cNvPr id="23" name="Word picture 4" descr="Fake: a dollar bill and a red X [sign: FAKE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fake</a:t>
            </a:r>
            <a:endParaRPr lang="en-US" sz="2000" dirty="0" b="1"/>
          </a:p>
        </p:txBody>
      </p:sp>
      <p:pic>
        <p:nvPicPr>
          <p:cNvPr id="25" name="Word picture 5" descr="Official: an official building and a check mark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official</a:t>
            </a:r>
            <a:endParaRPr lang="en-US" sz="2000" dirty="0" b="1"/>
          </a:p>
        </p:txBody>
      </p:sp>
      <p:pic>
        <p:nvPicPr>
          <p:cNvPr id="27" name="Word picture 6" descr="Gift card: a gift and a card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gift card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29184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or that?</a:t>
            </a:r>
            <a:endParaRPr lang="en-US" sz="2200" dirty="0" b="1"/>
          </a:p>
        </p:txBody>
      </p:sp>
      <p:pic>
        <p:nvPicPr>
          <p:cNvPr id="17" name="Word picture 1" descr="Prize: a trophy and a party poppe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prize</a:t>
            </a:r>
            <a:endParaRPr lang="en-US" sz="2000" dirty="0" b="1"/>
          </a:p>
        </p:txBody>
      </p:sp>
      <p:pic>
        <p:nvPicPr>
          <p:cNvPr id="19" name="Word picture 2" descr="Link: a phone and a link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link</a:t>
            </a:r>
            <a:endParaRPr lang="en-US" sz="2000" dirty="0" b="1"/>
          </a:p>
        </p:txBody>
      </p:sp>
      <p:pic>
        <p:nvPicPr>
          <p:cNvPr id="21" name="Word picture 3" descr="PIN: a card and numbers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PIN</a:t>
            </a:r>
            <a:endParaRPr lang="en-US" sz="2000" dirty="0" b="1"/>
          </a:p>
        </p:txBody>
      </p:sp>
      <p:pic>
        <p:nvPicPr>
          <p:cNvPr id="23" name="Word picture 4" descr="Hang up: a phone and a waving hand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hang up</a:t>
            </a:r>
            <a:endParaRPr lang="en-US" sz="2000" dirty="0" b="1"/>
          </a:p>
        </p:txBody>
      </p:sp>
      <p:pic>
        <p:nvPicPr>
          <p:cNvPr id="25" name="Word picture 5" descr="Block (a number): a phone and a no sign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block (a number)</a:t>
            </a:r>
            <a:endParaRPr lang="en-US" sz="1800" dirty="0" b="1"/>
          </a:p>
        </p:txBody>
      </p:sp>
      <p:pic>
        <p:nvPicPr>
          <p:cNvPr id="27" name="Word picture 6" descr="Trust: a handshake and a check mark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trust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 fake message real or not real?</a:t>
            </a:r>
            <a:endParaRPr lang="en-US" sz="1600" dirty="0" b="1"/>
          </a:p>
        </p:txBody>
      </p:sp>
      <p:pic>
        <p:nvPicPr>
          <p:cNvPr id="101" name="R1 pic" descr="Fake: a dollar bill and a red X [sign: FAKE]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give your PIN to a caller or to nobody?</a:t>
            </a:r>
            <a:endParaRPr lang="en-US" sz="1600" dirty="0" b="1"/>
          </a:p>
        </p:txBody>
      </p:sp>
      <p:pic>
        <p:nvPicPr>
          <p:cNvPr id="102" name="R2 pic" descr="PIN: a card and number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a call is suspicious, do you hang up or pay?</a:t>
            </a:r>
            <a:endParaRPr lang="en-US" sz="1600" dirty="0" b="1"/>
          </a:p>
        </p:txBody>
      </p:sp>
      <p:pic>
        <p:nvPicPr>
          <p:cNvPr id="103" name="R3 pic" descr="Suspicious: a thinking face and a phon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not real</a:t>
            </a:r>
            <a:endParaRPr lang="en-US" sz="28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nobody</a:t>
            </a:r>
            <a:endParaRPr lang="en-US" sz="28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hang up</a:t>
            </a:r>
            <a:endParaRPr lang="en-US" sz="2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Mrs. Lopez gets a phone call from a man who says he's from the electric company. Later, she talks to her son, Daniel.</a:t>
            </a:r>
            <a:endParaRPr lang="en-US" sz="16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Gift card: a gift and a car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Caller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Mrs. Lopez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Daniel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it a scam?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2: Tasks B and C.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(about 1:56): coming soon.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Was it a scam?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17830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9" name="R1 opt1"/>
          <p:cNvSpPr/>
          <p:nvPr/>
        </p:nvSpPr>
        <p:spPr>
          <a:xfrm>
            <a:off x="246888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Yes, it was a scam.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534924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No, the bill was really late.</a:t>
            </a:r>
            <a:endParaRPr lang="en-US" sz="1500" dirty="0" b="1"/>
          </a:p>
        </p:txBody>
      </p:sp>
      <p:sp>
        <p:nvSpPr>
          <p:cNvPr id="11" name="R1 opt3"/>
          <p:cNvSpPr/>
          <p:nvPr/>
        </p:nvSpPr>
        <p:spPr>
          <a:xfrm>
            <a:off x="822960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 We don't know.</a:t>
            </a:r>
            <a:endParaRPr lang="en-US" sz="1500" dirty="0" b="1"/>
          </a:p>
        </p:txBody>
      </p:sp>
      <p:sp>
        <p:nvSpPr>
          <p:cNvPr id="12" name="R1 circle"/>
          <p:cNvSpPr/>
          <p:nvPr/>
        </p:nvSpPr>
        <p:spPr>
          <a:xfrm>
            <a:off x="2340864" y="3054096"/>
            <a:ext cx="299923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warning signs did you hear?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answer.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 The caller said she must pay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6629400" y="31089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</a:t>
            </a:r>
            <a:endParaRPr lang="en-US" sz="1400" dirty="0" b="1"/>
          </a:p>
        </p:txBody>
      </p:sp>
      <p:sp>
        <p:nvSpPr>
          <p:cNvPr id="10" name="R1 opt2"/>
          <p:cNvSpPr/>
          <p:nvPr/>
        </p:nvSpPr>
        <p:spPr>
          <a:xfrm>
            <a:off x="8869680" y="31089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next month</a:t>
            </a:r>
            <a:endParaRPr lang="en-US" sz="1400" dirty="0" b="1"/>
          </a:p>
        </p:txBody>
      </p:sp>
      <p:sp>
        <p:nvSpPr>
          <p:cNvPr id="11" name="R1 circle"/>
          <p:cNvSpPr/>
          <p:nvPr/>
        </p:nvSpPr>
        <p:spPr>
          <a:xfrm>
            <a:off x="6501384" y="305409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2. He wanted her to pay with</a:t>
            </a:r>
            <a:endParaRPr lang="en-US" sz="1600" dirty="0"/>
          </a:p>
        </p:txBody>
      </p:sp>
      <p:sp>
        <p:nvSpPr>
          <p:cNvPr id="13" name="R2 opt1"/>
          <p:cNvSpPr/>
          <p:nvPr/>
        </p:nvSpPr>
        <p:spPr>
          <a:xfrm>
            <a:off x="6629400" y="365760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gift cards</a:t>
            </a:r>
            <a:endParaRPr lang="en-US" sz="1400" dirty="0" b="1"/>
          </a:p>
        </p:txBody>
      </p:sp>
      <p:sp>
        <p:nvSpPr>
          <p:cNvPr id="14" name="R2 opt2"/>
          <p:cNvSpPr/>
          <p:nvPr/>
        </p:nvSpPr>
        <p:spPr>
          <a:xfrm>
            <a:off x="8869680" y="365760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check</a:t>
            </a:r>
            <a:endParaRPr lang="en-US" sz="1400" dirty="0" b="1"/>
          </a:p>
        </p:txBody>
      </p:sp>
      <p:sp>
        <p:nvSpPr>
          <p:cNvPr id="15" name="R2 circle"/>
          <p:cNvSpPr/>
          <p:nvPr/>
        </p:nvSpPr>
        <p:spPr>
          <a:xfrm>
            <a:off x="6501384" y="360273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3. He said, " ____"</a:t>
            </a:r>
            <a:endParaRPr lang="en-US" sz="1600" dirty="0"/>
          </a:p>
        </p:txBody>
      </p:sp>
      <p:sp>
        <p:nvSpPr>
          <p:cNvPr id="17" name="R3 opt1"/>
          <p:cNvSpPr/>
          <p:nvPr/>
        </p:nvSpPr>
        <p:spPr>
          <a:xfrm>
            <a:off x="6629400" y="420624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tell anyone.</a:t>
            </a:r>
            <a:endParaRPr lang="en-US" sz="1400" dirty="0" b="1"/>
          </a:p>
        </p:txBody>
      </p:sp>
      <p:sp>
        <p:nvSpPr>
          <p:cNvPr id="18" name="R3 opt2"/>
          <p:cNvSpPr/>
          <p:nvPr/>
        </p:nvSpPr>
        <p:spPr>
          <a:xfrm>
            <a:off x="8869680" y="420624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Call your son.</a:t>
            </a:r>
            <a:endParaRPr lang="en-US" sz="1400" dirty="0" b="1"/>
          </a:p>
        </p:txBody>
      </p:sp>
      <p:sp>
        <p:nvSpPr>
          <p:cNvPr id="19" name="R3 circle"/>
          <p:cNvSpPr/>
          <p:nvPr/>
        </p:nvSpPr>
        <p:spPr>
          <a:xfrm>
            <a:off x="6501384" y="415137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4. He said they would turn off her power in</a:t>
            </a:r>
            <a:endParaRPr lang="en-US" sz="1600" dirty="0"/>
          </a:p>
        </p:txBody>
      </p:sp>
      <p:sp>
        <p:nvSpPr>
          <p:cNvPr id="21" name="R4 opt1"/>
          <p:cNvSpPr/>
          <p:nvPr/>
        </p:nvSpPr>
        <p:spPr>
          <a:xfrm>
            <a:off x="6629400" y="475488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one hour</a:t>
            </a:r>
            <a:endParaRPr lang="en-US" sz="1400" dirty="0" b="1"/>
          </a:p>
        </p:txBody>
      </p:sp>
      <p:sp>
        <p:nvSpPr>
          <p:cNvPr id="22" name="R4 opt2"/>
          <p:cNvSpPr/>
          <p:nvPr/>
        </p:nvSpPr>
        <p:spPr>
          <a:xfrm>
            <a:off x="8869680" y="475488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one week</a:t>
            </a:r>
            <a:endParaRPr lang="en-US" sz="1400" dirty="0" b="1"/>
          </a:p>
        </p:txBody>
      </p:sp>
      <p:sp>
        <p:nvSpPr>
          <p:cNvPr id="23" name="R4 circle"/>
          <p:cNvSpPr/>
          <p:nvPr/>
        </p:nvSpPr>
        <p:spPr>
          <a:xfrm>
            <a:off x="6501384" y="470001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5. Mrs. Lopez</a:t>
            </a:r>
            <a:endParaRPr lang="en-US" sz="1600" dirty="0"/>
          </a:p>
        </p:txBody>
      </p:sp>
      <p:sp>
        <p:nvSpPr>
          <p:cNvPr id="25" name="R5 opt1"/>
          <p:cNvSpPr/>
          <p:nvPr/>
        </p:nvSpPr>
        <p:spPr>
          <a:xfrm>
            <a:off x="6629400" y="530352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hung up</a:t>
            </a:r>
            <a:endParaRPr lang="en-US" sz="1400" dirty="0" b="1"/>
          </a:p>
        </p:txBody>
      </p:sp>
      <p:sp>
        <p:nvSpPr>
          <p:cNvPr id="26" name="R5 opt2"/>
          <p:cNvSpPr/>
          <p:nvPr/>
        </p:nvSpPr>
        <p:spPr>
          <a:xfrm>
            <a:off x="8869680" y="530352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paid $200</a:t>
            </a:r>
            <a:endParaRPr lang="en-US" sz="1400" dirty="0" b="1"/>
          </a:p>
        </p:txBody>
      </p:sp>
      <p:sp>
        <p:nvSpPr>
          <p:cNvPr id="27" name="R5 circle"/>
          <p:cNvSpPr/>
          <p:nvPr/>
        </p:nvSpPr>
        <p:spPr>
          <a:xfrm>
            <a:off x="6501384" y="524865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6. Her real account is</a:t>
            </a:r>
            <a:endParaRPr lang="en-US" sz="1600" dirty="0"/>
          </a:p>
        </p:txBody>
      </p:sp>
      <p:sp>
        <p:nvSpPr>
          <p:cNvPr id="29" name="R6 opt1"/>
          <p:cNvSpPr/>
          <p:nvPr/>
        </p:nvSpPr>
        <p:spPr>
          <a:xfrm>
            <a:off x="6629400" y="58521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fine</a:t>
            </a:r>
            <a:endParaRPr lang="en-US" sz="1400" dirty="0" b="1"/>
          </a:p>
        </p:txBody>
      </p:sp>
      <p:sp>
        <p:nvSpPr>
          <p:cNvPr id="30" name="R6 opt2"/>
          <p:cNvSpPr/>
          <p:nvPr/>
        </p:nvSpPr>
        <p:spPr>
          <a:xfrm>
            <a:off x="8869680" y="58521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late</a:t>
            </a:r>
            <a:endParaRPr lang="en-US" sz="1400" dirty="0" b="1"/>
          </a:p>
        </p:txBody>
      </p:sp>
      <p:sp>
        <p:nvSpPr>
          <p:cNvPr id="31" name="R6 circle"/>
          <p:cNvSpPr/>
          <p:nvPr/>
        </p:nvSpPr>
        <p:spPr>
          <a:xfrm>
            <a:off x="6501384" y="579729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or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or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going to call the number ____ is on my real bill.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6199632" y="2222144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man ____ called me knew my name.</a:t>
            </a:r>
            <a:endParaRPr lang="en-US" sz="1800" dirty="0"/>
          </a:p>
        </p:txBody>
      </p:sp>
      <p:sp>
        <p:nvSpPr>
          <p:cNvPr id="40" name="R2 ans"/>
          <p:cNvSpPr/>
          <p:nvPr/>
        </p:nvSpPr>
        <p:spPr>
          <a:xfrm>
            <a:off x="6199632" y="2950312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company ____ asks for gift cards is a scam.</a:t>
            </a:r>
            <a:endParaRPr lang="en-US" sz="1800" dirty="0"/>
          </a:p>
        </p:txBody>
      </p:sp>
      <p:sp>
        <p:nvSpPr>
          <p:cNvPr id="45" name="R3 ans"/>
          <p:cNvSpPr/>
          <p:nvPr/>
        </p:nvSpPr>
        <p:spPr>
          <a:xfrm>
            <a:off x="6199632" y="3678479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Scammers are people ____ want your money.</a:t>
            </a:r>
            <a:endParaRPr lang="en-US" sz="1800" dirty="0"/>
          </a:p>
        </p:txBody>
      </p:sp>
      <p:sp>
        <p:nvSpPr>
          <p:cNvPr id="50" name="R4 ans"/>
          <p:cNvSpPr/>
          <p:nvPr/>
        </p:nvSpPr>
        <p:spPr>
          <a:xfrm>
            <a:off x="6199632" y="4406646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 careful with texts ____ ask for your password, too.</a:t>
            </a:r>
            <a:endParaRPr lang="en-US" sz="1800" dirty="0"/>
          </a:p>
        </p:txBody>
      </p:sp>
      <p:sp>
        <p:nvSpPr>
          <p:cNvPr id="55" name="R5 ans"/>
          <p:cNvSpPr/>
          <p:nvPr/>
        </p:nvSpPr>
        <p:spPr>
          <a:xfrm>
            <a:off x="6199632" y="5134813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never trust a caller ____ tells you to hurry.</a:t>
            </a:r>
            <a:endParaRPr lang="en-US" sz="1800" dirty="0"/>
          </a:p>
        </p:txBody>
      </p:sp>
      <p:sp>
        <p:nvSpPr>
          <p:cNvPr id="60" name="R6 ans"/>
          <p:cNvSpPr/>
          <p:nvPr/>
        </p:nvSpPr>
        <p:spPr>
          <a:xfrm>
            <a:off x="6199632" y="5862980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it: gonna = going to</a:t>
            </a:r>
            <a:endParaRPr lang="en-US" sz="18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weak that, and the stress</a:t>
            </a:r>
            <a:endParaRPr lang="en-US" sz="18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It,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is a short form. This listening says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 in a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calm, firm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voice.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line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times.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We're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turn off your power.</a:t>
            </a:r>
            <a:endParaRPr lang="en-US" sz="18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427171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427171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text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asks ("thut")</a:t>
            </a:r>
            <a:endParaRPr lang="en-US" sz="18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138574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138574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NEVER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•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GIFT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cards</a:t>
            </a:r>
            <a:endParaRPr lang="en-US" sz="1800" dirty="0" b="1"/>
          </a:p>
        </p:txBody>
      </p:sp>
      <p:sp>
        <p:nvSpPr>
          <p:cNvPr id="37" name="S4 card"/>
          <p:cNvSpPr/>
          <p:nvPr/>
        </p:nvSpPr>
        <p:spPr>
          <a:xfrm>
            <a:off x="548640" y="484997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S4 text"/>
          <p:cNvSpPr/>
          <p:nvPr/>
        </p:nvSpPr>
        <p:spPr>
          <a:xfrm>
            <a:off x="777240" y="484997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thank you. Goodbye.</a:t>
            </a:r>
            <a:endParaRPr lang="en-US" sz="1800" dirty="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Prize: a trophy and a party popp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describing with who / that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scam?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a trick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 takes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your money.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called you?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man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said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he was from the bank.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warning sign?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something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 tells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you to be careful.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Link: a phone and a lin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to do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about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text that wants my PIN?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answer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texts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 ask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for your PIN.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about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caller who wants gift cards?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Hang up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on a caller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asks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for gift cards.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can I trust?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Call the company at the number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 is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on your card.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PIN: a card and number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anyone, something, must, should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WORDS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Never… anyone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Never give your PIN to anyone.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something…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something sounds too good to be true, it probably is.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mustn't / should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mustn't share your password. You should tell someone you trust.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Hang up: a phone and a waving h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 steps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STEP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TO DO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Stop.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answer or click right away.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pay.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Never pay with gift cards.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Check.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Call the number on your real bill or card.</a:t>
            </a:r>
            <a:endParaRPr lang="en-US" sz="1700" dirty="0" b="1"/>
          </a:p>
        </p:txBody>
      </p:sp>
      <p:sp>
        <p:nvSpPr>
          <p:cNvPr id="27" name="Question 4"/>
          <p:cNvSpPr/>
          <p:nvPr/>
        </p:nvSpPr>
        <p:spPr>
          <a:xfrm>
            <a:off x="5138928" y="544068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Tell someone.</a:t>
            </a:r>
            <a:endParaRPr lang="en-US" sz="1700" dirty="0" b="1"/>
          </a:p>
        </p:txBody>
      </p:sp>
      <p:sp>
        <p:nvSpPr>
          <p:cNvPr id="28" name="Answer bg 4"/>
          <p:cNvSpPr/>
          <p:nvPr/>
        </p:nvSpPr>
        <p:spPr>
          <a:xfrm>
            <a:off x="7863840" y="544068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4"/>
          <p:cNvSpPr/>
          <p:nvPr/>
        </p:nvSpPr>
        <p:spPr>
          <a:xfrm>
            <a:off x="7863840" y="544068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to a family member or friend you trust.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word.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word.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your answers.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scam is a trick ____ takes your money.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5925312" y="2222144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trust a caller ____ asks for gift cards.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5925312" y="2950312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 careful with links ____ look strange.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5925312" y="3678479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Never give your PIN to ____.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5925312" y="4406646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anyone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____ sounds too good to be true, it probably is.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5925312" y="5134813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something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____ share your password. (must / mustn't)</a:t>
            </a:r>
            <a:endParaRPr lang="en-US" sz="1600" dirty="0"/>
          </a:p>
        </p:txBody>
      </p:sp>
      <p:sp>
        <p:nvSpPr>
          <p:cNvPr id="60" name="R6 ans"/>
          <p:cNvSpPr/>
          <p:nvPr/>
        </p:nvSpPr>
        <p:spPr>
          <a:xfrm>
            <a:off x="5925312" y="5862980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mustn't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correct words.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 I got a text ____ said I won a prize.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6766560" y="31089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8961120" y="31089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endParaRPr lang="en-US" sz="1500" dirty="0" b="1"/>
          </a:p>
        </p:txBody>
      </p:sp>
      <p:sp>
        <p:nvSpPr>
          <p:cNvPr id="11" name="R1 circle"/>
          <p:cNvSpPr/>
          <p:nvPr/>
        </p:nvSpPr>
        <p:spPr>
          <a:xfrm>
            <a:off x="6638544" y="305409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2. The woman ____ called was from my bank.</a:t>
            </a:r>
            <a:endParaRPr lang="en-US" sz="1600" dirty="0"/>
          </a:p>
        </p:txBody>
      </p:sp>
      <p:sp>
        <p:nvSpPr>
          <p:cNvPr id="13" name="R2 opt1"/>
          <p:cNvSpPr/>
          <p:nvPr/>
        </p:nvSpPr>
        <p:spPr>
          <a:xfrm>
            <a:off x="6766560" y="365760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endParaRPr lang="en-US" sz="1500" dirty="0" b="1"/>
          </a:p>
        </p:txBody>
      </p:sp>
      <p:sp>
        <p:nvSpPr>
          <p:cNvPr id="14" name="R2 opt2"/>
          <p:cNvSpPr/>
          <p:nvPr/>
        </p:nvSpPr>
        <p:spPr>
          <a:xfrm>
            <a:off x="8961120" y="365760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</a:t>
            </a:r>
            <a:endParaRPr lang="en-US" sz="1500" dirty="0" b="1"/>
          </a:p>
        </p:txBody>
      </p:sp>
      <p:sp>
        <p:nvSpPr>
          <p:cNvPr id="15" name="R2 circle"/>
          <p:cNvSpPr/>
          <p:nvPr/>
        </p:nvSpPr>
        <p:spPr>
          <a:xfrm>
            <a:off x="6638544" y="360273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3. A man ____ asked for my PIN.</a:t>
            </a:r>
            <a:endParaRPr lang="en-US" sz="1600" dirty="0"/>
          </a:p>
        </p:txBody>
      </p:sp>
      <p:sp>
        <p:nvSpPr>
          <p:cNvPr id="17" name="R3 opt1"/>
          <p:cNvSpPr/>
          <p:nvPr/>
        </p:nvSpPr>
        <p:spPr>
          <a:xfrm>
            <a:off x="6766560" y="420624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called</a:t>
            </a:r>
            <a:endParaRPr lang="en-US" sz="1500" dirty="0" b="1"/>
          </a:p>
        </p:txBody>
      </p:sp>
      <p:sp>
        <p:nvSpPr>
          <p:cNvPr id="18" name="R3 opt2"/>
          <p:cNvSpPr/>
          <p:nvPr/>
        </p:nvSpPr>
        <p:spPr>
          <a:xfrm>
            <a:off x="8961120" y="420624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he called</a:t>
            </a:r>
            <a:endParaRPr lang="en-US" sz="1500" dirty="0" b="1"/>
          </a:p>
        </p:txBody>
      </p:sp>
      <p:sp>
        <p:nvSpPr>
          <p:cNvPr id="19" name="R3 circle"/>
          <p:cNvSpPr/>
          <p:nvPr/>
        </p:nvSpPr>
        <p:spPr>
          <a:xfrm>
            <a:off x="6638544" y="415137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4. Don't click on links ____ look strange.</a:t>
            </a:r>
            <a:endParaRPr lang="en-US" sz="1600" dirty="0"/>
          </a:p>
        </p:txBody>
      </p:sp>
      <p:sp>
        <p:nvSpPr>
          <p:cNvPr id="21" name="R4 opt1"/>
          <p:cNvSpPr/>
          <p:nvPr/>
        </p:nvSpPr>
        <p:spPr>
          <a:xfrm>
            <a:off x="6766560" y="475488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</a:t>
            </a:r>
            <a:endParaRPr lang="en-US" sz="1500" dirty="0" b="1"/>
          </a:p>
        </p:txBody>
      </p:sp>
      <p:sp>
        <p:nvSpPr>
          <p:cNvPr id="22" name="R4 opt2"/>
          <p:cNvSpPr/>
          <p:nvPr/>
        </p:nvSpPr>
        <p:spPr>
          <a:xfrm>
            <a:off x="8961120" y="475488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endParaRPr lang="en-US" sz="1500" dirty="0" b="1"/>
          </a:p>
        </p:txBody>
      </p:sp>
      <p:sp>
        <p:nvSpPr>
          <p:cNvPr id="23" name="R4 circle"/>
          <p:cNvSpPr/>
          <p:nvPr/>
        </p:nvSpPr>
        <p:spPr>
          <a:xfrm>
            <a:off x="6638544" y="470001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5. You ____ tell someone you trust.</a:t>
            </a:r>
            <a:endParaRPr lang="en-US" sz="1600" dirty="0"/>
          </a:p>
        </p:txBody>
      </p:sp>
      <p:sp>
        <p:nvSpPr>
          <p:cNvPr id="25" name="R5 opt1"/>
          <p:cNvSpPr/>
          <p:nvPr/>
        </p:nvSpPr>
        <p:spPr>
          <a:xfrm>
            <a:off x="6766560" y="530352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</a:t>
            </a:r>
            <a:endParaRPr lang="en-US" sz="1500" dirty="0" b="1"/>
          </a:p>
        </p:txBody>
      </p:sp>
      <p:sp>
        <p:nvSpPr>
          <p:cNvPr id="26" name="R5 opt2"/>
          <p:cNvSpPr/>
          <p:nvPr/>
        </p:nvSpPr>
        <p:spPr>
          <a:xfrm>
            <a:off x="8961120" y="530352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shouldn't</a:t>
            </a:r>
            <a:endParaRPr lang="en-US" sz="1500" dirty="0" b="1"/>
          </a:p>
        </p:txBody>
      </p:sp>
      <p:sp>
        <p:nvSpPr>
          <p:cNvPr id="27" name="R5 circle"/>
          <p:cNvSpPr/>
          <p:nvPr/>
        </p:nvSpPr>
        <p:spPr>
          <a:xfrm>
            <a:off x="6638544" y="524865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6. ____ if the caller is pushy.</a:t>
            </a:r>
            <a:endParaRPr lang="en-US" sz="1600" dirty="0"/>
          </a:p>
        </p:txBody>
      </p:sp>
      <p:sp>
        <p:nvSpPr>
          <p:cNvPr id="29" name="R6 opt1"/>
          <p:cNvSpPr/>
          <p:nvPr/>
        </p:nvSpPr>
        <p:spPr>
          <a:xfrm>
            <a:off x="6766560" y="58521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Hang up</a:t>
            </a:r>
            <a:endParaRPr lang="en-US" sz="1500" dirty="0" b="1"/>
          </a:p>
        </p:txBody>
      </p:sp>
      <p:sp>
        <p:nvSpPr>
          <p:cNvPr id="30" name="R6 opt2"/>
          <p:cNvSpPr/>
          <p:nvPr/>
        </p:nvSpPr>
        <p:spPr>
          <a:xfrm>
            <a:off x="8961120" y="58521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Hang on</a:t>
            </a:r>
            <a:endParaRPr lang="en-US" sz="1500" dirty="0" b="1"/>
          </a:p>
        </p:txBody>
      </p:sp>
      <p:sp>
        <p:nvSpPr>
          <p:cNvPr id="31" name="R6 circle"/>
          <p:cNvSpPr/>
          <p:nvPr/>
        </p:nvSpPr>
        <p:spPr>
          <a:xfrm>
            <a:off x="6638544" y="579729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Block (a number): a phone and a no sig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man who he called</a:t>
            </a:r>
            <a:endParaRPr lang="en-US" sz="17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man who called</a:t>
            </a:r>
            <a:endParaRPr lang="en-US" sz="1700" dirty="0" b="1"/>
          </a:p>
        </p:txBody>
      </p:sp>
      <p:sp>
        <p:nvSpPr>
          <p:cNvPr id="26" name="Bad 2"/>
          <p:cNvSpPr/>
          <p:nvPr/>
        </p:nvSpPr>
        <p:spPr>
          <a:xfrm>
            <a:off x="914400" y="3035808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text who said</a:t>
            </a:r>
            <a:endParaRPr lang="en-US" sz="1700" dirty="0"/>
          </a:p>
        </p:txBody>
      </p:sp>
      <p:sp>
        <p:nvSpPr>
          <p:cNvPr id="27" name="Good 2"/>
          <p:cNvSpPr/>
          <p:nvPr/>
        </p:nvSpPr>
        <p:spPr>
          <a:xfrm>
            <a:off x="4800600" y="3035808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text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said</a:t>
            </a:r>
            <a:endParaRPr lang="en-US" sz="1700" dirty="0" b="1"/>
          </a:p>
        </p:txBody>
      </p:sp>
      <p:sp>
        <p:nvSpPr>
          <p:cNvPr id="28" name="Bad 3"/>
          <p:cNvSpPr/>
          <p:nvPr/>
        </p:nvSpPr>
        <p:spPr>
          <a:xfrm>
            <a:off x="914400" y="3602736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Never give your PIN to nobody.</a:t>
            </a:r>
            <a:endParaRPr lang="en-US" sz="1700" dirty="0"/>
          </a:p>
        </p:txBody>
      </p:sp>
      <p:sp>
        <p:nvSpPr>
          <p:cNvPr id="29" name="Good 3"/>
          <p:cNvSpPr/>
          <p:nvPr/>
        </p:nvSpPr>
        <p:spPr>
          <a:xfrm>
            <a:off x="4800600" y="3602736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Never give your PIN to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anyone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700" dirty="0" b="1"/>
          </a:p>
        </p:txBody>
      </p:sp>
      <p:sp>
        <p:nvSpPr>
          <p:cNvPr id="30" name="Bad 4"/>
          <p:cNvSpPr/>
          <p:nvPr/>
        </p:nvSpPr>
        <p:spPr>
          <a:xfrm>
            <a:off x="914400" y="4169664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trust a caller asks for money.</a:t>
            </a:r>
            <a:endParaRPr lang="en-US" sz="1700" dirty="0"/>
          </a:p>
        </p:txBody>
      </p:sp>
      <p:sp>
        <p:nvSpPr>
          <p:cNvPr id="31" name="Good 4"/>
          <p:cNvSpPr/>
          <p:nvPr/>
        </p:nvSpPr>
        <p:spPr>
          <a:xfrm>
            <a:off x="4800600" y="4169664"/>
            <a:ext cx="539496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trust a caller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asks for money.</a:t>
            </a:r>
            <a:endParaRPr lang="en-US" sz="1700" dirty="0" b="1"/>
          </a:p>
        </p:txBody>
      </p:sp>
      <p:sp>
        <p:nvSpPr>
          <p:cNvPr id="32" name="Bad 5"/>
          <p:cNvSpPr/>
          <p:nvPr/>
        </p:nvSpPr>
        <p:spPr>
          <a:xfrm>
            <a:off x="914400" y="5010912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must to call the bank.</a:t>
            </a:r>
            <a:endParaRPr lang="en-US" sz="1700" dirty="0"/>
          </a:p>
        </p:txBody>
      </p:sp>
      <p:sp>
        <p:nvSpPr>
          <p:cNvPr id="33" name="Good 5"/>
          <p:cNvSpPr/>
          <p:nvPr/>
        </p:nvSpPr>
        <p:spPr>
          <a:xfrm>
            <a:off x="4800600" y="5010912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 call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bank.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Trust: a handshake and a check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Check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with who / that.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What's a gift card scam?</a:t>
            </a:r>
            <a:endParaRPr lang="en-US" sz="19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It's a call that asks you</a:t>
            </a:r>
            <a:endParaRPr lang="en-US" sz="1900" dirty="0" b="0"/>
          </a:p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pay with gift cards.</a:t>
            </a:r>
            <a:endParaRPr lang="en-US" sz="1900" dirty="0" b="1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points to a picture and asks. Then switch.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Warning sign: a warning triang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Real or Scam?</a:t>
            </a:r>
            <a:endParaRPr lang="en-US" sz="30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the 10 messages.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7:00–7:15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the 10 invented messages.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 1 is probably a scam.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Probably real or probably a scam?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a text that has a strange link…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why.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a text that… • It's from someone who…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Hang up: a phone and a waving h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Safe Answer</a:t>
            </a:r>
            <a:endParaRPr lang="en-US" sz="30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a caller card.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7:00–7:15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is the caller: read a card.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Please tell me your PIN.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gives a safe answer.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don't give information on the phone.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thank you. Goodbye.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fast first.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the questions.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&amp;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RIVERSIDE COMMUNITY OFFICE · A flyer + a sample text (invented)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most calls and texts scams?</a:t>
            </a:r>
            <a:endParaRPr lang="en-US" sz="1500" dirty="0"/>
          </a:p>
        </p:txBody>
      </p:sp>
      <p:sp>
        <p:nvSpPr>
          <p:cNvPr id="35" name="R1 ans"/>
          <p:cNvSpPr/>
          <p:nvPr/>
        </p:nvSpPr>
        <p:spPr>
          <a:xfrm>
            <a:off x="4187952" y="2525573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No. Most are real.</a:t>
            </a:r>
            <a:endParaRPr lang="en-US" sz="14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real companies take gift cards for bills?</a:t>
            </a:r>
            <a:endParaRPr lang="en-US" sz="1500" dirty="0"/>
          </a:p>
        </p:txBody>
      </p:sp>
      <p:sp>
        <p:nvSpPr>
          <p:cNvPr id="40" name="R2 ans"/>
          <p:cNvSpPr/>
          <p:nvPr/>
        </p:nvSpPr>
        <p:spPr>
          <a:xfrm>
            <a:off x="4187952" y="3311957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they don't.</a:t>
            </a:r>
            <a:endParaRPr lang="en-US" sz="14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the first step?</a:t>
            </a:r>
            <a:endParaRPr lang="en-US" sz="1500" dirty="0"/>
          </a:p>
        </p:txBody>
      </p:sp>
      <p:sp>
        <p:nvSpPr>
          <p:cNvPr id="45" name="R3 ans"/>
          <p:cNvSpPr/>
          <p:nvPr/>
        </p:nvSpPr>
        <p:spPr>
          <a:xfrm>
            <a:off x="4187952" y="4098341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Stop. Don't answer or click right away.</a:t>
            </a:r>
            <a:endParaRPr lang="en-US" sz="14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number should you call to check?</a:t>
            </a:r>
            <a:endParaRPr lang="en-US" sz="1500" dirty="0"/>
          </a:p>
        </p:txBody>
      </p:sp>
      <p:sp>
        <p:nvSpPr>
          <p:cNvPr id="50" name="R4 ans"/>
          <p:cNvSpPr/>
          <p:nvPr/>
        </p:nvSpPr>
        <p:spPr>
          <a:xfrm>
            <a:off x="4187952" y="4884725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number on your real bill or card.</a:t>
            </a:r>
            <a:endParaRPr lang="en-US" sz="14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are two warning signs in the sample text?</a:t>
            </a:r>
            <a:endParaRPr lang="en-US" sz="1500" dirty="0"/>
          </a:p>
        </p:txBody>
      </p:sp>
      <p:sp>
        <p:nvSpPr>
          <p:cNvPr id="55" name="R5 ans"/>
          <p:cNvSpPr/>
          <p:nvPr/>
        </p:nvSpPr>
        <p:spPr>
          <a:xfrm>
            <a:off x="4187952" y="5671109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asks for your PIN, and it says you must hurry (30 minutes).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7:25–7:30</a:t>
            </a:r>
            <a:endParaRPr lang="en-US" sz="4000" dirty="0"/>
          </a:p>
        </p:txBody>
      </p:sp>
      <p:pic>
        <p:nvPicPr>
          <p:cNvPr id="16" name="pic" descr="Fake: a dollar bill and a red X [sign: FAK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one warning sign of a scam, and what should you do?</a:t>
            </a:r>
            <a:endParaRPr lang="en-US" sz="16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A warning sign, with who or that.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What to do.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A reason, with because.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it to me at the door.</a:t>
            </a:r>
            <a:endParaRPr lang="en-US" sz="16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15–20 minutes.</a:t>
            </a:r>
            <a:endParaRPr lang="en-US" sz="16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Write the sentence.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Finish your writing from Read &amp; Write C (your message).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Write 3 warning signs of a scam.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 (Lesson 11).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600" dirty="0" b="1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Official: an official building and a check mar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12  ·  Level 4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Describe a person or a message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Name 4 warning signs of a scam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what to do</a:t>
            </a:r>
            <a:endParaRPr lang="en-US" sz="2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signs and labels were added.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Mrs. Lopez, Daniel, Mike, and Ana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(coming soon): synthetic voices made with Chatterbox TTS (MIT License), cloned from short synthetic reference clips made with Kokoro-82M (Apache License 2.0). No recordings of real people. Each file will carry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4 Lesson 12: Is It a Scam?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