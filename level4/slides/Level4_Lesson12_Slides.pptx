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887" r:id="rId33"/>
    <p:sldId id="888" r:id="rId34"/>
    <p:sldId id="889" r:id="rId35"/>
    <p:sldId id="890" r:id="rId36"/>
    <p:sldId id="891" r:id="rId31"/>
    <p:sldId id="892" r:id="rId30"/>
    <p:sldId id="893" r:id="rId29"/>
    <p:sldId id="894" r:id="rId28"/>
    <p:sldId id="895" r:id="rId27"/>
    <p:sldId id="896" r:id="rId20"/>
    <p:sldId id="897" r:id="rId18"/>
    <p:sldId id="898" r:id="rId17"/>
    <p:sldId id="899" r:id="rId16"/>
    <p:sldId id="900" r:id="rId14"/>
    <p:sldId id="901" r:id="rId13"/>
    <p:sldId id="902" r:id="rId12"/>
    <p:sldId id="903" r:id="rId11"/>
    <p:sldId id="904" r:id="rId10"/>
    <p:sldId id="905" r:id="rId8"/>
    <p:sldId id="906" r:id="rId7"/>
    <p:sldId id="907" r:id="rId6"/>
    <p:sldId id="908" r:id="rId5"/>
    <p:sldId id="909" r:id="rId4"/>
    <p:sldId id="910" r:id="rId3"/>
    <p:sldId id="911" r:id="rId57"/>
    <p:sldId id="912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52.xml"/><Relationship Id="rId3" Type="http://schemas.openxmlformats.org/officeDocument/2006/relationships/slide" Target="slides/slide50.xml"/><Relationship Id="rId4" Type="http://schemas.openxmlformats.org/officeDocument/2006/relationships/slide" Target="slides/slide49.xml"/><Relationship Id="rId5" Type="http://schemas.openxmlformats.org/officeDocument/2006/relationships/slide" Target="slides/slide48.xml"/><Relationship Id="rId6" Type="http://schemas.openxmlformats.org/officeDocument/2006/relationships/slide" Target="slides/slide47.xml"/><Relationship Id="rId7" Type="http://schemas.openxmlformats.org/officeDocument/2006/relationships/slide" Target="slides/slide46.xml"/><Relationship Id="rId8" Type="http://schemas.openxmlformats.org/officeDocument/2006/relationships/slide" Target="slides/slide45.xml"/><Relationship Id="rId10" Type="http://schemas.openxmlformats.org/officeDocument/2006/relationships/slide" Target="slides/slide44.xml"/><Relationship Id="rId11" Type="http://schemas.openxmlformats.org/officeDocument/2006/relationships/slide" Target="slides/slide43.xml"/><Relationship Id="rId12" Type="http://schemas.openxmlformats.org/officeDocument/2006/relationships/slide" Target="slides/slide42.xml"/><Relationship Id="rId13" Type="http://schemas.openxmlformats.org/officeDocument/2006/relationships/slide" Target="slides/slide41.xml"/><Relationship Id="rId14" Type="http://schemas.openxmlformats.org/officeDocument/2006/relationships/slide" Target="slides/slide40.xml"/><Relationship Id="rId16" Type="http://schemas.openxmlformats.org/officeDocument/2006/relationships/slide" Target="slides/slide39.xml"/><Relationship Id="rId17" Type="http://schemas.openxmlformats.org/officeDocument/2006/relationships/slide" Target="slides/slide38.xml"/><Relationship Id="rId18" Type="http://schemas.openxmlformats.org/officeDocument/2006/relationships/slide" Target="slides/slide37.xml"/><Relationship Id="rId20" Type="http://schemas.openxmlformats.org/officeDocument/2006/relationships/slide" Target="slides/slide36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35.xml"/><Relationship Id="rId28" Type="http://schemas.openxmlformats.org/officeDocument/2006/relationships/slide" Target="slides/slide34.xml"/><Relationship Id="rId29" Type="http://schemas.openxmlformats.org/officeDocument/2006/relationships/slide" Target="slides/slide33.xml"/><Relationship Id="rId30" Type="http://schemas.openxmlformats.org/officeDocument/2006/relationships/slide" Target="slides/slide32.xml"/><Relationship Id="rId31" Type="http://schemas.openxmlformats.org/officeDocument/2006/relationships/slide" Target="slides/slide31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57" Type="http://schemas.openxmlformats.org/officeDocument/2006/relationships/slide" Target="slides/slide5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Credits. You don't need to read this slide in class.</a:t>
            </a:r>
          </a:p>
          <a:p>
            <a:r>
              <a:t>Pictures: Twemoji graphics by Twitter, Inc. and other contributors, CC BY 4.0; the file-by-file list is in images/CREDITS.md.</a:t>
            </a:r>
          </a:p>
          <a:p>
            <a:r>
              <a:t>Audio: synthetic voices, computer-generated (Chatterbox TTS cloned from Kokoro-82M reference clips). No recordings of real people. The names and the story are invented.</a:t>
            </a:r>
          </a:p>
          <a:p>
            <a:r>
              <a:t>Course materials: © 2026 the authors, licensed under CC BY-NC-SA 4.0 (https://creativecommons.org/licenses/by-nc-sa/4.0/).</a:t>
            </a:r>
          </a:p>
          <a:p>
            <a:r>
              <a:t>Lesson plan: Picture Credits. Picture list: images/CREDITS.md.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7 · 7:25–7:30 · Exit Ticket + Homework · 5 min · NEVER SKIP.</a:t>
            </a:r>
          </a:p>
          <a:p>
            <a:r>
              <a:t>Exit ticket (3 min): learners open the Exit Ticket page and answer in 3 sentences with a reason: What is one warning sign of a scam, and what should you do? Example on the board: A caller who asks for gift cards is a warning sign. You should hang up and call the real company. Don't pay, because real companies don't take gift cards. With 5 or fewer, a learner can say it to you first and then write it.</a:t>
            </a:r>
          </a:p>
          <a:p>
            <a:r>
              <a:t>Collect the pages. After class, sort them into ✓ / almost / not yet. Start next week with 2 corrections on the board (no names).</a:t>
            </a:r>
          </a:p>
          <a:p>
            <a:r>
              <a:t>Homework (2 min): open the Homework page. Do item 1 together (item 1: don't trust / a caller / ask for gift cards (who) → Don't trust a caller who asks for gift cards.). Say: "About 15–20 minutes. Finish your Read &amp; Write writing at home."</a:t>
            </a:r>
          </a:p>
          <a:p>
            <a:r>
              <a:t>Homework items: 1. Write the sentence. Use who or that. • 2. Finish your writing from Read &amp; Write C (your message). Read it one more time. Check ✓ the list in D. • 3. Write 3 warning signs of a scam. What should you do? • 4. Review (Lesson 11). Write one word.</a:t>
            </a:r>
          </a:p>
          <a:p>
            <a:r>
              <a:t>Lesson plan: Step 7; Exit Ticket page; Homework page.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6 · 7:15–7:25 · Read &amp; Write: A consumer tips flyer + a sample scam text · 10 min. Pairs read, then individual writing.</a:t>
            </a:r>
          </a:p>
          <a:p>
            <a:r>
              <a:t>Read (4 min): Learners read the invented flyer and the sample text on the Read &amp; Write page and answer the questions. Say: "Read fast first. Then find the answers." Pairs answer questions 1–5 together.</a:t>
            </a:r>
          </a:p>
          <a:p>
            <a:r>
              <a:t>Check (1 min): click to show each answer (one click per question, 1 to 5): 1 No. Most are real. • 2 No, they don't. • 3 Stop. Don't answer or click right away. • 4 The number on your real bill or card. • 5 It asks for your PIN, and it says you must hurry (30 minutes).</a:t>
            </a:r>
          </a:p>
          <a:p>
            <a:r>
              <a:t>Write (5 min): Learners write a message (5–8 sentences) to a family member about a scam text, with that / who and Don't…. Show the example. Learners start in class and finish at home (Homework item 2).</a:t>
            </a:r>
          </a:p>
          <a:p>
            <a:r>
              <a:t>If behind: questions 1–5 only; the writing becomes homework.</a:t>
            </a:r>
          </a:p>
          <a:p>
            <a:r>
              <a:t>Lesson plan: Step 6; Read &amp; Write page;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Round 2 (6 min): Safe Answer (pairs). A is a caller with a pushy (but polite) card. B gives a safe answer. Switch. Each click shows the next step.</a:t>
            </a:r>
          </a:p>
          <a:p>
            <a:r>
              <a:t>15 learners: pairs; then groups of 4 to compare; then pairs. 7–8 learners: pairs; then one group to compare. 5 or fewer: the whole group sorts together; then pairs.</a:t>
            </a:r>
          </a:p>
          <a:p>
            <a:r>
              <a:t>Every answer needs a reason; every partner asks a follow-up. Walk around and listen. Note 2 good sentences to praise and 1 common error for next week.</a:t>
            </a:r>
          </a:p>
          <a:p>
            <a:r>
              <a:t>If behind: round 1 only.</a:t>
            </a:r>
          </a:p>
          <a:p>
            <a:r>
              <a:t>Lesson plan: Step 5; Talk Time: Safe Answer.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5 · 7:00–7:15 · Talk Time: Real or Scam? + Safe Answer · 15 min.</a:t>
            </a:r>
          </a:p>
          <a:p>
            <a:r>
              <a:t>Model it first (1 min): read card 1: "Your package is late. Click this link and pay $2.99 today." Say, "I think it's probably a scam. It's a text that has a strange link, and it asks for money today." Then model a safe answer: a learner reads caller card 1, and you say calmly, "I don't give information on the phone. I'll call the number on my card. Goodbye."</a:t>
            </a:r>
          </a:p>
          <a:p>
            <a:r>
              <a:t>Round 1 (7 min): Real or Scam? (pairs). Pairs sort the 10 invented message cards into probably real and probably a scam and explain with It's a text that… / It's from someone who… Then they compare with another pair. Each click shows the next step.</a:t>
            </a:r>
          </a:p>
          <a:p>
            <a:r>
              <a:t>15 learners: pairs; then groups of 4 to compare; then pairs. 7–8 learners: pairs; then one group to compare. 5 or fewer: the whole group sorts together; then pairs.</a:t>
            </a:r>
          </a:p>
          <a:p>
            <a:r>
              <a:t>Lesson plan: Step 5; Talk Time: Real or Scam?.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Pair check (last 3 min of Step 4). Pairs.</a:t>
            </a:r>
          </a:p>
          <a:p>
            <a:r>
              <a:t>A points to a picture and asks, "What's a gift card scam?" B answers with who / that: "It's a call that asks you to pay with gift cards." Switch. 15 learners: swap partners once. 5 or fewer: you join one pair.</a:t>
            </a:r>
          </a:p>
          <a:p>
            <a:r>
              <a:t>If behind: skip the pair check. Talk Time practices it.</a:t>
            </a:r>
          </a:p>
          <a:p>
            <a:r>
              <a:t>Break · 6:45–7:00 · 15 min. Write on the board: It's a trick that takes your money. • Don't trust a caller who asks for gift cards. • Stop. Don't pay. Check. Tell someone.</a:t>
            </a:r>
          </a:p>
          <a:p>
            <a:r>
              <a:t>Lesson plan: Step 4: Pair check; Break.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Common mistakes. Read the table together: "Don't say… Say…". Read a line from Don't say. Ask: "What's the right way?" Learners try first. Then click to show the right form. Each click shows one line, in order 1 to 5.</a:t>
            </a:r>
          </a:p>
          <a:p>
            <a:r>
              <a:t>Learners can read the contrast tip on their Grammar page on their own; it is optional. You never need to read, translate, or explain it.</a:t>
            </a:r>
          </a:p>
          <a:p>
            <a:r>
              <a:t>Lesson plan: Grammar: Common mistakes; Teacher notes.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Practice B. Learners circle the correct words. Pairs check.</a:t>
            </a:r>
          </a:p>
          <a:p>
            <a:r>
              <a:t>Click to circle each answer (one click per item, 1 to 6): 1 that, 2 who, 3 who called, 4 that, 5 should, 6 Hang up.</a:t>
            </a:r>
          </a:p>
          <a:p>
            <a:r>
              <a:t>Lesson plan: Step 4; Grammar Practice B;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Practice A and B (3 min): learners write, then pairs check. Go over the answers.</a:t>
            </a:r>
          </a:p>
          <a:p>
            <a:r>
              <a:t>Click to show each answer (one click per item, 1 to 6): 1 that, 2 who, 3 that, 4 anyone, 5 something, 6 mustn't.</a:t>
            </a:r>
          </a:p>
          <a:p>
            <a:r>
              <a:t>Lesson plan: Step 4; Grammar Practice A;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Box 4: the 4 steps. Each click shows the answer side of one row.</a:t>
            </a:r>
          </a:p>
          <a:p>
            <a:r>
              <a:t>Questions and answers (2 min): Q: who or that? A: who for people, that for things. that is OK for people too: a man who called / a text that came. • Q: a man who he called or a man who called? A: a man who called. Don't add he or it after who / that. • Q: Are all calls and texts scams? A: No. Most calls and texts are real. A few are scams. Stop, check, and ask.</a:t>
            </a:r>
          </a:p>
          <a:p>
            <a:r>
              <a:t>Check questions: "who or that for a text?" (that) • "a man who he called or a man who called?" (a man who called) • "Are most calls scams?" (no, most are real).</a:t>
            </a:r>
          </a:p>
          <a:p>
            <a:r>
              <a:t>Lesson plan: Step 4; Grammar Box 4; Questions and answers.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Box 3: never… anyone, must / should. Each click shows the answer side of one row.</a:t>
            </a:r>
          </a:p>
          <a:p>
            <a:r>
              <a:t>Lesson plan: Step 4; Grammar Box 3.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Box 2: what to do: Hang up on a caller who asks for gift cards. Each click shows the answer side of one row.</a:t>
            </a:r>
          </a:p>
          <a:p>
            <a:r>
              <a:t>Rule of thumb (read it aloud): who for people; that for things (and also people). The who / that part tells you which person or thing. Don't add he / it after it: a man who called (not a man who he called).</a:t>
            </a:r>
          </a:p>
          <a:p>
            <a:r>
              <a:t>Lesson plan: Step 4; Grammar Box 2; Rule of thumb.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4 · 6:30–6:45 · Grammar Q&amp;A · 15 min (slides 13 to 20). Whole class, then pairs. Show the Grammar page. The left side is the question. The right side is the answer.</a:t>
            </a:r>
          </a:p>
          <a:p>
            <a:r>
              <a:t>Show it (2 min): hold up your phone and say, "This morning I got a text. The text said I won a prize. → I got a text that said I won a prize." Then: "A man called. The man wanted my PIN. → A man who called wanted my PIN." Write: who = people, that = things (and people). Cross out a man who he called.</a:t>
            </a:r>
          </a:p>
          <a:p>
            <a:r>
              <a:t>Box 1: read across: What's a scam? → It's a trick that takes your money. Each click shows the answer side of one row.</a:t>
            </a:r>
          </a:p>
          <a:p>
            <a:r>
              <a:t>Lesson plan: Step 4; Grammar Box 1.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"Hear it, say it" (3 min): Point to the script line. gonna = going to: "We're going to turn off your power." Then practice the weak that (it sounds like "thut"): a text that asks. Stress the key words: NEVER, GIFT cards. Practice a calm, firm voice: No, thank you. Goodbye. The class repeats the two lines twice.</a:t>
            </a:r>
          </a:p>
          <a:p>
            <a:r>
              <a:t>Reductions: the listening says going to. People often say gonna. Learners only need to recognize it.</a:t>
            </a:r>
          </a:p>
          <a:p>
            <a:r>
              <a:t>Lesson plan: Step 3: "Hear it, say it"; Listening page: Hear it, say it; Teacher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Task C (play 2). Click to show each answer (one click per item, 1 to 6): 1 that, 2 who, 3 that, 4 who, 5 that, 6 who.</a:t>
            </a:r>
          </a:p>
          <a:p>
            <a:r>
              <a:t>If behind: do Task C together on the board, reading the lines yourself.</a:t>
            </a:r>
          </a:p>
          <a:p>
            <a:r>
              <a:t>Lesson plan: Step 3; Listening Task C;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Play 2 → Tasks B and C. Pairs compare. Then show the answers.</a:t>
            </a:r>
          </a:p>
          <a:p>
            <a:r>
              <a:t>Click to circle each answer (one click per item, 1 to 6): 1 today • 2 gift cards • 3 Don't tell anyone. • 4 one hour • 5 hung up • 6 fine.</a:t>
            </a:r>
          </a:p>
          <a:p>
            <a:r>
              <a:t>Lesson plan: Step 3; Listening Task B;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Play 1 → Task A (the main idea). Pairs compare. Check together.</a:t>
            </a:r>
          </a:p>
          <a:p>
            <a:r>
              <a:t>Click to circle the answer: a (Yes, it was a scam.).</a:t>
            </a:r>
          </a:p>
          <a:p>
            <a:r>
              <a:t>Then read Tasks B and C together (1 min) so learners know what to listen for.</a:t>
            </a:r>
          </a:p>
          <a:p>
            <a:r>
              <a:t>Lesson plan: Step 3; Listening Task A;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3 · 6:15–6:30 · Listening + "Hear it, say it" · 15 min (slides 8 to 12). Individuals, then pairs check.</a:t>
            </a:r>
          </a:p>
          <a:p>
            <a:r>
              <a:t>Before you listen (2 min). Say: "Mrs. Lopez gets a phone call from a man who says he's from the electric company. Later, she talks to her son, Daniel. Listen: was it a scam?"</a:t>
            </a:r>
          </a:p>
          <a:p>
            <a:r>
              <a:t>There are 3 people: Caller, Mrs. Lopez and Daniel. A narrator starts and ends the listening. Each click highlights the next person.</a:t>
            </a:r>
          </a:p>
          <a:p>
            <a:r>
              <a:t>The audio (L4_L12_listening.mp3, about 2:01) plays the conversation once. Press play again for play 2. A third play is fine if the class needs it.</a:t>
            </a:r>
          </a:p>
          <a:p>
            <a:r>
              <a:t>No speaker? Read the script with a volunteer at a natural, friendly speed, two times. The script says going to and want to. People often say gonna and wanna; learners only need to recognize those words.</a:t>
            </a:r>
          </a:p>
          <a:p>
            <a:r>
              <a:t>Audio: synthetic voices, computer-generated (Chatterbox TTS cloned from Kokoro-82M reference clips). No recordings of real people. The names and the story are invented.</a:t>
            </a:r>
          </a:p>
          <a:p>
            <a:r>
              <a:t>Lesson plan: Step 3; Listening script; Listening page.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2 · Check meaning · 1 min. Whole class.</a:t>
            </a:r>
          </a:p>
          <a:p>
            <a:r>
              <a:t>The answers are hidden. Ask each question and wait for the class to answer. Then click to show the answer. Each click shows one answer, in order: 1, 2, 3.</a:t>
            </a:r>
          </a:p>
          <a:p>
            <a:r>
              <a:t>1. "Is a fake message real or not real?" (not real) • 2. "Do you give your PIN to a caller or to nobody?" (nobody) • 3. "When a call is suspicious, do you hang up or pay?" (hang up)</a:t>
            </a:r>
          </a:p>
          <a:p>
            <a:r>
              <a:t>Lesson plan: Step 2: Check meaning.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2, continued. Point to each picture and say the word. Learners repeat once.</a:t>
            </a:r>
          </a:p>
          <a:p>
            <a:r>
              <a:t>Partner game (2 min): A points to a picture and asks, "What's a fake prize?" B answers with who / that: "It's a message that says you won, but you must pay." Switch. 15 learners: finish with a quick team round (3 teams; you say a clue, the first team with the word gets a point). 7–8: 2 teams. 5 or fewer: one team against the clock.</a:t>
            </a:r>
          </a:p>
          <a:p>
            <a:r>
              <a:t>My Words: "Write any word you want in your language on the My Words page. It's your personal list. It's optional." Learners do it at home.</a:t>
            </a:r>
          </a:p>
          <a:p>
            <a:r>
              <a:t>If behind: teach the ★ words only.</a:t>
            </a:r>
          </a:p>
          <a:p>
            <a:r>
              <a:t>Lesson plan: Step 2; New Words page; Partner game; My Words page.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2 · 6:08–6:15 · New Words · 7 min (this slide and the next). Whole class, then pairs.</a:t>
            </a:r>
          </a:p>
          <a:p>
            <a:r>
              <a:t>Point to each picture and say the word. Learners repeat once. ★ = the most important words. Each click shows the next word.</a:t>
            </a:r>
          </a:p>
          <a:p>
            <a:r>
              <a:t>Show the hard words: scam (a trick that takes your money); warning sign (something that tells you to be careful); suspicious (strange, maybe not true); fake (not real); official (real, from the company); gift card; prize; link (you click it in a text or email); PIN (your secret number); hang up (end the call); block (a number); trust.</a:t>
            </a:r>
          </a:p>
          <a:p>
            <a:r>
              <a:t>If behind: teach the ★ words only.</a:t>
            </a:r>
          </a:p>
          <a:p>
            <a:r>
              <a:t>Lesson plan: Step 2; Key vocabulary; New Words page.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learners as they arrive.</a:t>
            </a:r>
          </a:p>
          <a:p>
            <a:r>
              <a:t>Point to the title and read it: "Is It a Scam?" Say: "Consumer protection, calm and practical: recognizing common scams by phone, text, and email (a fake prize, a fake bank text, a fake "pay your bill today" call, payment with gift cards) and what to do: stop, don't pay, check with the real company, and tell someone. Learners describe people and messages with who / that. All messages, names, and numbers are invented."</a:t>
            </a:r>
          </a:p>
          <a:p>
            <a:r>
              <a:t>Read the three lines under "Today you will".</a:t>
            </a:r>
          </a:p>
          <a:p>
            <a:r>
              <a:t>Keep it calm and practical: "Most calls and texts are real. A few are scams. Stop, check, and ask." No scary stories.</a:t>
            </a:r>
          </a:p>
          <a:p>
            <a:r>
              <a:t>Lesson plan: Topic; At a glance: Objectives; Teacher notes.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each goal slowly. Learners repeat.</a:t>
            </a:r>
          </a:p>
          <a:p>
            <a:r>
              <a:t>Lesson plan: At a glance: Objectives.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1 · 6:00–6:08 · Opening Talk + Homework Check · 8 min. Pairs (7 pairs + 1 trio with 15 learners; 3–4 pairs with 7–8).</a:t>
            </a:r>
          </a:p>
          <a:p>
            <a:r>
              <a:t>Before class, write on the board: to + verb (why); enjoy + -ing</a:t>
            </a:r>
          </a:p>
          <a:p>
            <a:r>
              <a:t>Model with one learner: you say, "Where would you like to go on a trip?" The learner answers with to + verb (I'd like to go to Chicago to see the lake.). Then you ask, "What do you enjoy doing there?" Help them say 3 sentences. (Click to show the follow-up.)</a:t>
            </a:r>
          </a:p>
          <a:p>
            <a:r>
              <a:t>Opening Talk (5 min): learners open the Opening Talk page. A asks a card question; B answers in 3 sentences (the answer, a reason, a detail); A asks one follow-up. Switch after each card. The cards are on the next slide.</a:t>
            </a:r>
          </a:p>
          <a:p>
            <a:r>
              <a:t>If behind: one card only.</a:t>
            </a:r>
          </a:p>
          <a:p>
            <a:r>
              <a:t>Lesson plan: Step 1; Opening Talk page.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1, continued. The four cards from the Opening Talk page. Each click shows the next card.</a:t>
            </a:r>
          </a:p>
          <a:p>
            <a:r>
              <a:t>A asks a card question. B answers in 3 sentences. A asks one follow-up question (follow-ups on the right). Then switch.</a:t>
            </a:r>
          </a:p>
          <a:p>
            <a:r>
              <a:t>Homework Check (3 min, last click): Pairs compare Homework item 1 (to / -ing) and read their trip plan (item 3) to each other. Then they fill in the box on the Opening Talk page. Walk around. Write 2 common errors on the board (often for see (→ to see) and enjoy to travel (→ enjoy traveling)) and correct them together. Also put up 2 corrections from last week's exit tickets.</a:t>
            </a:r>
          </a:p>
          <a:p>
            <a:r>
              <a:t>Lesson plan: Step 1; Opening Talk page: cards, follow-ups; Homework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title: "Goodbye! See you next week!" Learners repeat.</a:t>
            </a:r>
          </a:p>
          <a:p>
            <a:r>
              <a:t>Read the three "Now you can" lines.</a:t>
            </a:r>
          </a:p>
          <a:p>
            <a:r>
              <a:t>Lesson plan: At a glance: Objectives; Step 7.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3.png"/><Relationship Id="rId4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4.png"/><Relationship Id="rId4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Relationship Id="rId11" Type="http://schemas.openxmlformats.org/officeDocument/2006/relationships/image" Target="../media/image16.png"/><Relationship Id="rId12" Type="http://schemas.openxmlformats.org/officeDocument/2006/relationships/image" Target="../media/image17.png"/><Relationship Id="rId13" Type="http://schemas.openxmlformats.org/officeDocument/2006/relationships/image" Target="../media/image18.png"/><Relationship Id="rId14" Type="http://schemas.openxmlformats.org/officeDocument/2006/relationships/notesSlide" Target="../notesSlides/notesSlide2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8" Type="http://schemas.openxmlformats.org/officeDocument/2006/relationships/image" Target="../media/image19.png"/><Relationship Id="rId9" Type="http://schemas.openxmlformats.org/officeDocument/2006/relationships/image" Target="../media/image20.png"/><Relationship Id="rId10" Type="http://schemas.openxmlformats.org/officeDocument/2006/relationships/image" Target="../media/image21.png"/><Relationship Id="rId11" Type="http://schemas.openxmlformats.org/officeDocument/2006/relationships/image" Target="../media/image22.png"/><Relationship Id="rId12" Type="http://schemas.openxmlformats.org/officeDocument/2006/relationships/image" Target="../media/image23.png"/><Relationship Id="rId13" Type="http://schemas.openxmlformats.org/officeDocument/2006/relationships/image" Target="../media/image24.png"/><Relationship Id="rId14" Type="http://schemas.openxmlformats.org/officeDocument/2006/relationships/notesSlide" Target="../notesSlides/notesSlide2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6" Type="http://schemas.openxmlformats.org/officeDocument/2006/relationships/image" Target="../media/image21.png"/><Relationship Id="rId7" Type="http://schemas.openxmlformats.org/officeDocument/2006/relationships/image" Target="../media/image15.png"/><Relationship Id="rId8" Type="http://schemas.openxmlformats.org/officeDocument/2006/relationships/notesSlide" Target="../notesSlides/notesSlide2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8.png"/><Relationship Id="rId4" Type="http://schemas.openxmlformats.org/officeDocument/2006/relationships/notesSlide" Target="../notesSlides/notesSlide2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9.png"/><Relationship Id="rId4" Type="http://schemas.openxmlformats.org/officeDocument/2006/relationships/notesSlide" Target="../notesSlides/notesSlide15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0.png"/><Relationship Id="rId4" Type="http://schemas.openxmlformats.org/officeDocument/2006/relationships/notesSlide" Target="../notesSlides/notesSlide13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1.png"/><Relationship Id="rId4" Type="http://schemas.openxmlformats.org/officeDocument/2006/relationships/notesSlide" Target="../notesSlides/notesSlide1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2.png"/><Relationship Id="rId4" Type="http://schemas.openxmlformats.org/officeDocument/2006/relationships/notesSlide" Target="../notesSlides/notesSlide1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3.png"/><Relationship Id="rId4" Type="http://schemas.openxmlformats.org/officeDocument/2006/relationships/notesSlide" Target="../notesSlides/notesSlide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4.png"/><Relationship Id="rId4" Type="http://schemas.openxmlformats.org/officeDocument/2006/relationships/notesSlide" Target="../notesSlides/notesSlide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4.png"/><Relationship Id="rId4" Type="http://schemas.openxmlformats.org/officeDocument/2006/relationships/notesSlide" Target="../notesSlides/notesSlide5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2.png"/><Relationship Id="rId4" Type="http://schemas.openxmlformats.org/officeDocument/2006/relationships/notesSlide" Target="../notesSlides/notesSlide4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6.png"/><Relationship Id="rId4" Type="http://schemas.openxmlformats.org/officeDocument/2006/relationships/notesSlide" Target="../notesSlides/notesSlide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7.png"/><Relationship Id="rId4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tit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7223760" y="914400"/>
            <a:ext cx="4480560" cy="51206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pic>
        <p:nvPicPr>
          <p:cNvPr id="4" name="pic" descr="Scam: a fishing pole and flying mone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  <p:sp>
        <p:nvSpPr>
          <p:cNvPr id="5" name="lesson"/>
          <p:cNvSpPr/>
          <p:nvPr/>
        </p:nvSpPr>
        <p:spPr>
          <a:xfrm>
            <a:off x="7635240" y="4434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Lesson 12  ·  Level 4</a:t>
            </a:r>
            <a:endParaRPr lang="en-US" sz="2200" b="1" dirty="0"/>
          </a:p>
        </p:txBody>
      </p:sp>
      <p:sp>
        <p:nvSpPr>
          <p:cNvPr id="6" name="Shape 3"/>
          <p:cNvSpPr/>
          <p:nvPr/>
        </p:nvSpPr>
        <p:spPr>
          <a:xfrm>
            <a:off x="661111" y="1146658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85800" y="1097280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868680" y="1325880"/>
            <a:ext cx="5806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It a Scam?</a:t>
            </a:r>
            <a:endParaRPr lang="en-US" sz="4400" b="1" dirty="0"/>
          </a:p>
        </p:txBody>
      </p:sp>
      <p:sp>
        <p:nvSpPr>
          <p:cNvPr id="9" name="lead"/>
          <p:cNvSpPr/>
          <p:nvPr/>
        </p:nvSpPr>
        <p:spPr>
          <a:xfrm>
            <a:off x="777240" y="39776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 you will:</a:t>
            </a:r>
            <a:endParaRPr lang="en-US" sz="2400" b="1" dirty="0"/>
          </a:p>
        </p:txBody>
      </p:sp>
      <p:sp>
        <p:nvSpPr>
          <p:cNvPr id="10" name="bullets"/>
          <p:cNvSpPr/>
          <p:nvPr/>
        </p:nvSpPr>
        <p:spPr>
          <a:xfrm>
            <a:off x="777240" y="448056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Describe a person or a message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Name 4 warning signs of a scam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Say what to do</a:t>
            </a:r>
            <a:endParaRPr lang="en-US" sz="2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goal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Today's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Goals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By the end of class, you can do these five things.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Every goal is a good goal.</a:t>
            </a:r>
            <a:endParaRPr lang="en-US" sz="2000" dirty="0" b="1"/>
          </a:p>
        </p:txBody>
      </p:sp>
      <p:sp>
        <p:nvSpPr>
          <p:cNvPr id="31" name="R1 shadow"/>
          <p:cNvSpPr/>
          <p:nvPr/>
        </p:nvSpPr>
        <p:spPr>
          <a:xfrm>
            <a:off x="544982" y="2093062"/>
            <a:ext cx="6227064" cy="678668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2" name="R1 card"/>
          <p:cNvSpPr/>
          <p:nvPr/>
        </p:nvSpPr>
        <p:spPr>
          <a:xfrm>
            <a:off x="1583741" y="2035454"/>
            <a:ext cx="5130698" cy="678668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" name="R1 chip"/>
          <p:cNvSpPr/>
          <p:nvPr/>
        </p:nvSpPr>
        <p:spPr>
          <a:xfrm>
            <a:off x="544982" y="2035454"/>
            <a:ext cx="1039673" cy="678668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4" name="R1 num"/>
          <p:cNvSpPr/>
          <p:nvPr/>
        </p:nvSpPr>
        <p:spPr>
          <a:xfrm>
            <a:off x="686714" y="2051548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b="1" dirty="0"/>
          </a:p>
        </p:txBody>
      </p:sp>
      <p:sp>
        <p:nvSpPr>
          <p:cNvPr id="35" name="R1 text"/>
          <p:cNvSpPr/>
          <p:nvPr/>
        </p:nvSpPr>
        <p:spPr>
          <a:xfrm>
            <a:off x="1810512" y="2035454"/>
            <a:ext cx="4434840" cy="6786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describe a person or a message with </a:t>
            </a:r>
            <a:r>
              <a:rPr lang="en-US" sz="15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who / that</a:t>
            </a: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(</a:t>
            </a:r>
            <a:r>
              <a:rPr lang="en-US" sz="15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caller who asks for gift cards</a:t>
            </a: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).</a:t>
            </a:r>
            <a:endParaRPr lang="en-US" sz="1500" dirty="0"/>
          </a:p>
        </p:txBody>
      </p:sp>
      <p:sp>
        <p:nvSpPr>
          <p:cNvPr id="36" name="R1 dot"/>
          <p:cNvSpPr/>
          <p:nvPr/>
        </p:nvSpPr>
        <p:spPr>
          <a:xfrm rot="10800000">
            <a:off x="6361481" y="2168957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7" name="R2 card"/>
          <p:cNvSpPr/>
          <p:nvPr/>
        </p:nvSpPr>
        <p:spPr>
          <a:xfrm>
            <a:off x="1583741" y="2822936"/>
            <a:ext cx="5130698" cy="678668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" name="R2 chip"/>
          <p:cNvSpPr/>
          <p:nvPr/>
        </p:nvSpPr>
        <p:spPr>
          <a:xfrm>
            <a:off x="544982" y="2822936"/>
            <a:ext cx="1039673" cy="678668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9" name="R2 num"/>
          <p:cNvSpPr/>
          <p:nvPr/>
        </p:nvSpPr>
        <p:spPr>
          <a:xfrm>
            <a:off x="686714" y="2839029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200" b="1" dirty="0"/>
          </a:p>
        </p:txBody>
      </p:sp>
      <p:sp>
        <p:nvSpPr>
          <p:cNvPr id="40" name="R2 text"/>
          <p:cNvSpPr/>
          <p:nvPr/>
        </p:nvSpPr>
        <p:spPr>
          <a:xfrm>
            <a:off x="1810512" y="2822936"/>
            <a:ext cx="4434840" cy="6786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name 4 warning signs of a scam.</a:t>
            </a:r>
            <a:endParaRPr lang="en-US" sz="1500" dirty="0"/>
          </a:p>
        </p:txBody>
      </p:sp>
      <p:sp>
        <p:nvSpPr>
          <p:cNvPr id="41" name="R2 dot"/>
          <p:cNvSpPr/>
          <p:nvPr/>
        </p:nvSpPr>
        <p:spPr>
          <a:xfrm rot="10800000">
            <a:off x="6361481" y="2956438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2" name="R3 card"/>
          <p:cNvSpPr/>
          <p:nvPr/>
        </p:nvSpPr>
        <p:spPr>
          <a:xfrm>
            <a:off x="1583741" y="3610417"/>
            <a:ext cx="5130698" cy="678668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" name="R3 chip"/>
          <p:cNvSpPr/>
          <p:nvPr/>
        </p:nvSpPr>
        <p:spPr>
          <a:xfrm>
            <a:off x="544982" y="3610417"/>
            <a:ext cx="1039673" cy="678668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4" name="R3 num"/>
          <p:cNvSpPr/>
          <p:nvPr/>
        </p:nvSpPr>
        <p:spPr>
          <a:xfrm>
            <a:off x="686714" y="3626510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200" b="1" dirty="0"/>
          </a:p>
        </p:txBody>
      </p:sp>
      <p:sp>
        <p:nvSpPr>
          <p:cNvPr id="45" name="R3 text"/>
          <p:cNvSpPr/>
          <p:nvPr/>
        </p:nvSpPr>
        <p:spPr>
          <a:xfrm>
            <a:off x="1810512" y="3610417"/>
            <a:ext cx="4434840" cy="6786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say what to do with a suspicious call or text (stop, don't pay, check, tell someone).</a:t>
            </a:r>
            <a:endParaRPr lang="en-US" sz="1500" dirty="0"/>
          </a:p>
        </p:txBody>
      </p:sp>
      <p:sp>
        <p:nvSpPr>
          <p:cNvPr id="46" name="R3 dot"/>
          <p:cNvSpPr/>
          <p:nvPr/>
        </p:nvSpPr>
        <p:spPr>
          <a:xfrm rot="10800000">
            <a:off x="6361481" y="3743919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7" name="R4 card"/>
          <p:cNvSpPr/>
          <p:nvPr/>
        </p:nvSpPr>
        <p:spPr>
          <a:xfrm>
            <a:off x="1583741" y="4397898"/>
            <a:ext cx="5130698" cy="678668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8" name="R4 chip"/>
          <p:cNvSpPr/>
          <p:nvPr/>
        </p:nvSpPr>
        <p:spPr>
          <a:xfrm>
            <a:off x="544982" y="4397898"/>
            <a:ext cx="1039673" cy="678668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9" name="R4 num"/>
          <p:cNvSpPr/>
          <p:nvPr/>
        </p:nvSpPr>
        <p:spPr>
          <a:xfrm>
            <a:off x="686714" y="4413992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04</a:t>
            </a:r>
            <a:endParaRPr lang="en-US" sz="3200" b="1" dirty="0"/>
          </a:p>
        </p:txBody>
      </p:sp>
      <p:sp>
        <p:nvSpPr>
          <p:cNvPr id="50" name="R4 text"/>
          <p:cNvSpPr/>
          <p:nvPr/>
        </p:nvSpPr>
        <p:spPr>
          <a:xfrm>
            <a:off x="1810512" y="4397898"/>
            <a:ext cx="4434840" cy="6786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give a safe answer on the phone (</a:t>
            </a:r>
            <a:r>
              <a:rPr lang="en-US" sz="15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don't give information on the phone. Goodbye.</a:t>
            </a: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).</a:t>
            </a:r>
            <a:endParaRPr lang="en-US" sz="1500" dirty="0"/>
          </a:p>
        </p:txBody>
      </p:sp>
      <p:sp>
        <p:nvSpPr>
          <p:cNvPr id="51" name="R4 dot"/>
          <p:cNvSpPr/>
          <p:nvPr/>
        </p:nvSpPr>
        <p:spPr>
          <a:xfrm rot="10800000">
            <a:off x="6361481" y="4531401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2" name="R5 card"/>
          <p:cNvSpPr/>
          <p:nvPr/>
        </p:nvSpPr>
        <p:spPr>
          <a:xfrm>
            <a:off x="1583741" y="5185380"/>
            <a:ext cx="5130698" cy="678668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3" name="R5 chip"/>
          <p:cNvSpPr/>
          <p:nvPr/>
        </p:nvSpPr>
        <p:spPr>
          <a:xfrm>
            <a:off x="544982" y="5185380"/>
            <a:ext cx="1039673" cy="678668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4" name="R5 num"/>
          <p:cNvSpPr/>
          <p:nvPr/>
        </p:nvSpPr>
        <p:spPr>
          <a:xfrm>
            <a:off x="686714" y="5201473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05</a:t>
            </a:r>
            <a:endParaRPr lang="en-US" sz="3200" b="1" dirty="0"/>
          </a:p>
        </p:txBody>
      </p:sp>
      <p:sp>
        <p:nvSpPr>
          <p:cNvPr id="55" name="R5 text"/>
          <p:cNvSpPr/>
          <p:nvPr/>
        </p:nvSpPr>
        <p:spPr>
          <a:xfrm>
            <a:off x="1810512" y="5185380"/>
            <a:ext cx="4434840" cy="6786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write a message (5–8 sentences) to warn a family member about a scam.</a:t>
            </a:r>
            <a:endParaRPr lang="en-US" sz="1500" dirty="0"/>
          </a:p>
        </p:txBody>
      </p:sp>
      <p:sp>
        <p:nvSpPr>
          <p:cNvPr id="56" name="R5 dot"/>
          <p:cNvSpPr/>
          <p:nvPr/>
        </p:nvSpPr>
        <p:spPr>
          <a:xfrm rot="10800000">
            <a:off x="6361481" y="5318882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warmup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487604" y="1352535"/>
            <a:ext cx="5246827" cy="17830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8465" y="1300277"/>
            <a:ext cx="5246827" cy="1783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flipH="1">
            <a:off x="5503774" y="3276295"/>
            <a:ext cx="6847942" cy="3931006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5" name="pic" descr="Warning sign: a warning triang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393" y="2104034"/>
            <a:ext cx="4754880" cy="3328416"/>
          </a:xfrm>
          <a:prstGeom prst="rect">
            <a:avLst/>
          </a:prstGeom>
        </p:spPr>
      </p:pic>
      <p:sp>
        <p:nvSpPr>
          <p:cNvPr id="7" name="title"/>
          <p:cNvSpPr/>
          <p:nvPr/>
        </p:nvSpPr>
        <p:spPr>
          <a:xfrm>
            <a:off x="548640" y="1764792"/>
            <a:ext cx="5120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</a:t>
            </a:r>
            <a:endParaRPr lang="en-US" sz="4000" dirty="0" b="1"/>
          </a:p>
        </p:txBody>
      </p:sp>
      <p:sp>
        <p:nvSpPr>
          <p:cNvPr id="8" name="kicker"/>
          <p:cNvSpPr/>
          <p:nvPr/>
        </p:nvSpPr>
        <p:spPr>
          <a:xfrm>
            <a:off x="599846" y="137160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  ·  6:00</a:t>
            </a:r>
            <a:endParaRPr lang="en-US" sz="2000" dirty="0" b="1"/>
          </a:p>
        </p:txBody>
      </p:sp>
      <p:sp>
        <p:nvSpPr>
          <p:cNvPr id="9" name="box1"/>
          <p:cNvSpPr/>
          <p:nvPr/>
        </p:nvSpPr>
        <p:spPr>
          <a:xfrm>
            <a:off x="599846" y="338328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asks a card question.</a:t>
            </a:r>
            <a:endParaRPr lang="en-US" sz="2000" dirty="0" b="1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Where would you like to go on a trip?</a:t>
            </a:r>
            <a:endParaRPr lang="en-US" sz="2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 answers in 3 sentences.</a:t>
            </a:r>
            <a:endParaRPr lang="en-US" sz="2000" dirty="0" b="1"/>
          </a:p>
        </p:txBody>
      </p:sp>
      <p:sp>
        <p:nvSpPr>
          <p:cNvPr id="14" name="box2"/>
          <p:cNvSpPr/>
          <p:nvPr/>
        </p:nvSpPr>
        <p:spPr>
          <a:xfrm>
            <a:off x="599846" y="4754880"/>
            <a:ext cx="4846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asks one follow-up.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Why?</a:t>
            </a:r>
            <a:endParaRPr lang="en-US" sz="2000" dirty="0" b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switch.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numlist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Cards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 answers in 3 sentences: the answer, a reason, and a detail.</a:t>
            </a:r>
            <a:endParaRPr lang="en-US" sz="1800" dirty="0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Follow-ups:</a:t>
            </a:r>
            <a:endParaRPr lang="en-US" sz="1800" dirty="0" b="1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Why? What do you enjoy doing there?</a:t>
            </a:r>
            <a:endParaRPr lang="en-US" sz="1800" dirty="0" b="1"/>
          </a:p>
        </p:txBody>
      </p:sp>
      <p:sp>
        <p:nvSpPr>
          <p:cNvPr id="31" name="R1 shadow"/>
          <p:cNvSpPr/>
          <p:nvPr/>
        </p:nvSpPr>
        <p:spPr>
          <a:xfrm>
            <a:off x="544982" y="2471623"/>
            <a:ext cx="6227064" cy="60259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2" name="R1 card"/>
          <p:cNvSpPr/>
          <p:nvPr/>
        </p:nvSpPr>
        <p:spPr>
          <a:xfrm>
            <a:off x="1583741" y="2414016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" name="R1 chip"/>
          <p:cNvSpPr/>
          <p:nvPr/>
        </p:nvSpPr>
        <p:spPr>
          <a:xfrm>
            <a:off x="544982" y="2414016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4" name="R1 num"/>
          <p:cNvSpPr/>
          <p:nvPr/>
        </p:nvSpPr>
        <p:spPr>
          <a:xfrm>
            <a:off x="686714" y="2414016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b="1" dirty="0"/>
          </a:p>
        </p:txBody>
      </p:sp>
      <p:sp>
        <p:nvSpPr>
          <p:cNvPr id="35" name="R1 text"/>
          <p:cNvSpPr/>
          <p:nvPr/>
        </p:nvSpPr>
        <p:spPr>
          <a:xfrm>
            <a:off x="1810512" y="2414016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Where would you like to go on a trip?</a:t>
            </a:r>
            <a:endParaRPr lang="en-US" sz="1800" dirty="0"/>
          </a:p>
        </p:txBody>
      </p:sp>
      <p:sp>
        <p:nvSpPr>
          <p:cNvPr id="36" name="R1 dot"/>
          <p:cNvSpPr/>
          <p:nvPr/>
        </p:nvSpPr>
        <p:spPr>
          <a:xfrm rot="10800000">
            <a:off x="6361481" y="2547518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7" name="R2 card"/>
          <p:cNvSpPr/>
          <p:nvPr/>
        </p:nvSpPr>
        <p:spPr>
          <a:xfrm>
            <a:off x="1583741" y="3125419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" name="R2 chip"/>
          <p:cNvSpPr/>
          <p:nvPr/>
        </p:nvSpPr>
        <p:spPr>
          <a:xfrm>
            <a:off x="544982" y="3125419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9" name="R2 num"/>
          <p:cNvSpPr/>
          <p:nvPr/>
        </p:nvSpPr>
        <p:spPr>
          <a:xfrm>
            <a:off x="686714" y="3125419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200" b="1" dirty="0"/>
          </a:p>
        </p:txBody>
      </p:sp>
      <p:sp>
        <p:nvSpPr>
          <p:cNvPr id="40" name="R2 text"/>
          <p:cNvSpPr/>
          <p:nvPr/>
        </p:nvSpPr>
        <p:spPr>
          <a:xfrm>
            <a:off x="1810512" y="3125419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do you enjoy doing on the weekend?</a:t>
            </a:r>
            <a:endParaRPr lang="en-US" sz="1800" dirty="0"/>
          </a:p>
        </p:txBody>
      </p:sp>
      <p:sp>
        <p:nvSpPr>
          <p:cNvPr id="41" name="R2 dot"/>
          <p:cNvSpPr/>
          <p:nvPr/>
        </p:nvSpPr>
        <p:spPr>
          <a:xfrm rot="10800000">
            <a:off x="6361481" y="3258922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2" name="R3 card"/>
          <p:cNvSpPr/>
          <p:nvPr/>
        </p:nvSpPr>
        <p:spPr>
          <a:xfrm>
            <a:off x="1583741" y="3836822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" name="R3 chip"/>
          <p:cNvSpPr/>
          <p:nvPr/>
        </p:nvSpPr>
        <p:spPr>
          <a:xfrm>
            <a:off x="544982" y="3836822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4" name="R3 num"/>
          <p:cNvSpPr/>
          <p:nvPr/>
        </p:nvSpPr>
        <p:spPr>
          <a:xfrm>
            <a:off x="686714" y="3836822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200" b="1" dirty="0"/>
          </a:p>
        </p:txBody>
      </p:sp>
      <p:sp>
        <p:nvSpPr>
          <p:cNvPr id="45" name="R3 text"/>
          <p:cNvSpPr/>
          <p:nvPr/>
        </p:nvSpPr>
        <p:spPr>
          <a:xfrm>
            <a:off x="1810512" y="3836822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Why do people take time off?</a:t>
            </a:r>
            <a:endParaRPr lang="en-US" sz="2000" dirty="0"/>
          </a:p>
        </p:txBody>
      </p:sp>
      <p:sp>
        <p:nvSpPr>
          <p:cNvPr id="46" name="R3 dot"/>
          <p:cNvSpPr/>
          <p:nvPr/>
        </p:nvSpPr>
        <p:spPr>
          <a:xfrm rot="10800000">
            <a:off x="6361481" y="3970325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7" name="R4 card"/>
          <p:cNvSpPr/>
          <p:nvPr/>
        </p:nvSpPr>
        <p:spPr>
          <a:xfrm>
            <a:off x="1583741" y="4548226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8" name="R4 chip"/>
          <p:cNvSpPr/>
          <p:nvPr/>
        </p:nvSpPr>
        <p:spPr>
          <a:xfrm>
            <a:off x="544982" y="4548226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9" name="R4 num"/>
          <p:cNvSpPr/>
          <p:nvPr/>
        </p:nvSpPr>
        <p:spPr>
          <a:xfrm>
            <a:off x="686714" y="4548226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04</a:t>
            </a:r>
            <a:endParaRPr lang="en-US" sz="3200" b="1" dirty="0"/>
          </a:p>
        </p:txBody>
      </p:sp>
      <p:sp>
        <p:nvSpPr>
          <p:cNvPr id="50" name="R4 text"/>
          <p:cNvSpPr/>
          <p:nvPr/>
        </p:nvSpPr>
        <p:spPr>
          <a:xfrm>
            <a:off x="1810512" y="4548226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do you need to pack for a short trip?</a:t>
            </a:r>
            <a:endParaRPr lang="en-US" sz="1800" dirty="0"/>
          </a:p>
        </p:txBody>
      </p:sp>
      <p:sp>
        <p:nvSpPr>
          <p:cNvPr id="51" name="R4 dot"/>
          <p:cNvSpPr/>
          <p:nvPr/>
        </p:nvSpPr>
        <p:spPr>
          <a:xfrm rot="10800000">
            <a:off x="6361481" y="4681728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2" name="R5 card"/>
          <p:cNvSpPr/>
          <p:nvPr/>
        </p:nvSpPr>
        <p:spPr>
          <a:xfrm>
            <a:off x="1583741" y="5259629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3" name="R5 chip"/>
          <p:cNvSpPr/>
          <p:nvPr/>
        </p:nvSpPr>
        <p:spPr>
          <a:xfrm>
            <a:off x="544982" y="5259629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4" name="R5 num"/>
          <p:cNvSpPr/>
          <p:nvPr/>
        </p:nvSpPr>
        <p:spPr>
          <a:xfrm>
            <a:off x="686714" y="5259629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05</a:t>
            </a:r>
            <a:endParaRPr lang="en-US" sz="3200" b="1" dirty="0"/>
          </a:p>
        </p:txBody>
      </p:sp>
      <p:sp>
        <p:nvSpPr>
          <p:cNvPr id="55" name="R5 text"/>
          <p:cNvSpPr/>
          <p:nvPr/>
        </p:nvSpPr>
        <p:spPr>
          <a:xfrm>
            <a:off x="1810512" y="5259629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 check: Lesson 11, items 1 and 3.</a:t>
            </a:r>
            <a:endParaRPr lang="en-US" sz="1800" dirty="0"/>
          </a:p>
        </p:txBody>
      </p:sp>
      <p:sp>
        <p:nvSpPr>
          <p:cNvPr id="56" name="R5 dot"/>
          <p:cNvSpPr/>
          <p:nvPr/>
        </p:nvSpPr>
        <p:spPr>
          <a:xfrm rot="10800000">
            <a:off x="6361481" y="5393131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word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New Words</a:t>
            </a:r>
            <a:endParaRPr lang="en-US" sz="4900" dirty="0" b="1"/>
          </a:p>
        </p:txBody>
      </p:sp>
      <p:sp>
        <p:nvSpPr>
          <p:cNvPr id="9" name="instr card"/>
          <p:cNvSpPr/>
          <p:nvPr/>
        </p:nvSpPr>
        <p:spPr>
          <a:xfrm>
            <a:off x="1121969" y="587045"/>
            <a:ext cx="355793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" name="instr"/>
          <p:cNvSpPr/>
          <p:nvPr/>
        </p:nvSpPr>
        <p:spPr>
          <a:xfrm>
            <a:off x="1325880" y="6858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Look. Listen.</a:t>
            </a:r>
            <a:endParaRPr lang="en-US" sz="2200" dirty="0" b="1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Repeat.</a:t>
            </a:r>
            <a:endParaRPr lang="en-US" sz="2200" dirty="0" b="1"/>
          </a:p>
        </p:txBody>
      </p:sp>
      <p:pic>
        <p:nvPicPr>
          <p:cNvPr id="17" name="Word picture 1" descr="Scam: a fishing pole and flying money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8410" y="2286000"/>
            <a:ext cx="1920240" cy="1344168"/>
          </a:xfrm>
          <a:prstGeom prst="rect">
            <a:avLst/>
          </a:prstGeom>
        </p:spPr>
      </p:pic>
      <p:sp>
        <p:nvSpPr>
          <p:cNvPr id="18" name="Word label 1"/>
          <p:cNvSpPr/>
          <p:nvPr/>
        </p:nvSpPr>
        <p:spPr>
          <a:xfrm>
            <a:off x="85405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scam</a:t>
            </a:r>
            <a:endParaRPr lang="en-US" sz="2000" dirty="0" b="1"/>
          </a:p>
        </p:txBody>
      </p:sp>
      <p:pic>
        <p:nvPicPr>
          <p:cNvPr id="19" name="Word picture 2" descr="Warning sign: a warning triangl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60290" y="2286000"/>
            <a:ext cx="1920240" cy="1344168"/>
          </a:xfrm>
          <a:prstGeom prst="rect">
            <a:avLst/>
          </a:prstGeom>
        </p:spPr>
      </p:pic>
      <p:sp>
        <p:nvSpPr>
          <p:cNvPr id="20" name="Word label 2"/>
          <p:cNvSpPr/>
          <p:nvPr/>
        </p:nvSpPr>
        <p:spPr>
          <a:xfrm>
            <a:off x="446593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warning sign</a:t>
            </a:r>
            <a:endParaRPr lang="en-US" sz="2000" dirty="0" b="1"/>
          </a:p>
        </p:txBody>
      </p:sp>
      <p:pic>
        <p:nvPicPr>
          <p:cNvPr id="21" name="Word picture 3" descr="Suspicious: a thinking face and a phone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72170" y="2286000"/>
            <a:ext cx="1920240" cy="1344168"/>
          </a:xfrm>
          <a:prstGeom prst="rect">
            <a:avLst/>
          </a:prstGeom>
        </p:spPr>
      </p:pic>
      <p:sp>
        <p:nvSpPr>
          <p:cNvPr id="22" name="Word label 3"/>
          <p:cNvSpPr/>
          <p:nvPr/>
        </p:nvSpPr>
        <p:spPr>
          <a:xfrm>
            <a:off x="807781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suspicious</a:t>
            </a:r>
            <a:endParaRPr lang="en-US" sz="2000" dirty="0" b="1"/>
          </a:p>
        </p:txBody>
      </p:sp>
      <p:pic>
        <p:nvPicPr>
          <p:cNvPr id="23" name="Word picture 4" descr="Fake: a dollar bill and a red X [sign: FAKE]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48410" y="4315968"/>
            <a:ext cx="1920240" cy="1344168"/>
          </a:xfrm>
          <a:prstGeom prst="rect">
            <a:avLst/>
          </a:prstGeom>
        </p:spPr>
      </p:pic>
      <p:sp>
        <p:nvSpPr>
          <p:cNvPr id="24" name="Word label 4"/>
          <p:cNvSpPr/>
          <p:nvPr/>
        </p:nvSpPr>
        <p:spPr>
          <a:xfrm>
            <a:off x="85405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fake</a:t>
            </a:r>
            <a:endParaRPr lang="en-US" sz="2000" dirty="0" b="1"/>
          </a:p>
        </p:txBody>
      </p:sp>
      <p:pic>
        <p:nvPicPr>
          <p:cNvPr id="25" name="Word picture 5" descr="Official: an official building and a check mark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60290" y="4315968"/>
            <a:ext cx="1920240" cy="1344168"/>
          </a:xfrm>
          <a:prstGeom prst="rect">
            <a:avLst/>
          </a:prstGeom>
        </p:spPr>
      </p:pic>
      <p:sp>
        <p:nvSpPr>
          <p:cNvPr id="26" name="Word label 5"/>
          <p:cNvSpPr/>
          <p:nvPr/>
        </p:nvSpPr>
        <p:spPr>
          <a:xfrm>
            <a:off x="446593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official</a:t>
            </a:r>
            <a:endParaRPr lang="en-US" sz="2000" dirty="0" b="1"/>
          </a:p>
        </p:txBody>
      </p:sp>
      <p:pic>
        <p:nvPicPr>
          <p:cNvPr id="27" name="Word picture 6" descr="Gift card: a gift and a card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72170" y="4315968"/>
            <a:ext cx="1920240" cy="1344168"/>
          </a:xfrm>
          <a:prstGeom prst="rect">
            <a:avLst/>
          </a:prstGeom>
        </p:spPr>
      </p:pic>
      <p:sp>
        <p:nvSpPr>
          <p:cNvPr id="28" name="Word label 6"/>
          <p:cNvSpPr/>
          <p:nvPr/>
        </p:nvSpPr>
        <p:spPr>
          <a:xfrm>
            <a:off x="807781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gift card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word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More New Words</a:t>
            </a:r>
            <a:endParaRPr lang="en-US" sz="4900" dirty="0" b="1"/>
          </a:p>
        </p:txBody>
      </p:sp>
      <p:sp>
        <p:nvSpPr>
          <p:cNvPr id="9" name="instr card"/>
          <p:cNvSpPr/>
          <p:nvPr/>
        </p:nvSpPr>
        <p:spPr>
          <a:xfrm>
            <a:off x="1121969" y="587045"/>
            <a:ext cx="329184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" name="instr"/>
          <p:cNvSpPr/>
          <p:nvPr/>
        </p:nvSpPr>
        <p:spPr>
          <a:xfrm>
            <a:off x="1325880" y="68580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Partner game:</a:t>
            </a:r>
            <a:endParaRPr lang="en-US" sz="2200" dirty="0" b="1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Who or that?</a:t>
            </a:r>
            <a:endParaRPr lang="en-US" sz="2200" dirty="0" b="1"/>
          </a:p>
        </p:txBody>
      </p:sp>
      <p:pic>
        <p:nvPicPr>
          <p:cNvPr id="17" name="Word picture 1" descr="Prize: a trophy and a party popper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8410" y="2286000"/>
            <a:ext cx="1920240" cy="1344168"/>
          </a:xfrm>
          <a:prstGeom prst="rect">
            <a:avLst/>
          </a:prstGeom>
        </p:spPr>
      </p:pic>
      <p:sp>
        <p:nvSpPr>
          <p:cNvPr id="18" name="Word label 1"/>
          <p:cNvSpPr/>
          <p:nvPr/>
        </p:nvSpPr>
        <p:spPr>
          <a:xfrm>
            <a:off x="85405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prize</a:t>
            </a:r>
            <a:endParaRPr lang="en-US" sz="2000" dirty="0" b="1"/>
          </a:p>
        </p:txBody>
      </p:sp>
      <p:pic>
        <p:nvPicPr>
          <p:cNvPr id="19" name="Word picture 2" descr="Link: a phone and a link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60290" y="2286000"/>
            <a:ext cx="1920240" cy="1344168"/>
          </a:xfrm>
          <a:prstGeom prst="rect">
            <a:avLst/>
          </a:prstGeom>
        </p:spPr>
      </p:pic>
      <p:sp>
        <p:nvSpPr>
          <p:cNvPr id="20" name="Word label 2"/>
          <p:cNvSpPr/>
          <p:nvPr/>
        </p:nvSpPr>
        <p:spPr>
          <a:xfrm>
            <a:off x="446593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link</a:t>
            </a:r>
            <a:endParaRPr lang="en-US" sz="2000" dirty="0" b="1"/>
          </a:p>
        </p:txBody>
      </p:sp>
      <p:pic>
        <p:nvPicPr>
          <p:cNvPr id="21" name="Word picture 3" descr="PIN: a card and numbers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72170" y="2286000"/>
            <a:ext cx="1920240" cy="1344168"/>
          </a:xfrm>
          <a:prstGeom prst="rect">
            <a:avLst/>
          </a:prstGeom>
        </p:spPr>
      </p:pic>
      <p:sp>
        <p:nvSpPr>
          <p:cNvPr id="22" name="Word label 3"/>
          <p:cNvSpPr/>
          <p:nvPr/>
        </p:nvSpPr>
        <p:spPr>
          <a:xfrm>
            <a:off x="807781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PIN</a:t>
            </a:r>
            <a:endParaRPr lang="en-US" sz="2000" dirty="0" b="1"/>
          </a:p>
        </p:txBody>
      </p:sp>
      <p:pic>
        <p:nvPicPr>
          <p:cNvPr id="23" name="Word picture 4" descr="Hang up: a phone and a waving hand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48410" y="4315968"/>
            <a:ext cx="1920240" cy="1344168"/>
          </a:xfrm>
          <a:prstGeom prst="rect">
            <a:avLst/>
          </a:prstGeom>
        </p:spPr>
      </p:pic>
      <p:sp>
        <p:nvSpPr>
          <p:cNvPr id="24" name="Word label 4"/>
          <p:cNvSpPr/>
          <p:nvPr/>
        </p:nvSpPr>
        <p:spPr>
          <a:xfrm>
            <a:off x="85405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hang up</a:t>
            </a:r>
            <a:endParaRPr lang="en-US" sz="2000" dirty="0" b="1"/>
          </a:p>
        </p:txBody>
      </p:sp>
      <p:pic>
        <p:nvPicPr>
          <p:cNvPr id="25" name="Word picture 5" descr="Block (a number): a phone and a no sign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60290" y="4315968"/>
            <a:ext cx="1920240" cy="1344168"/>
          </a:xfrm>
          <a:prstGeom prst="rect">
            <a:avLst/>
          </a:prstGeom>
        </p:spPr>
      </p:pic>
      <p:sp>
        <p:nvSpPr>
          <p:cNvPr id="26" name="Word label 5"/>
          <p:cNvSpPr/>
          <p:nvPr/>
        </p:nvSpPr>
        <p:spPr>
          <a:xfrm>
            <a:off x="446593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block (a number)</a:t>
            </a:r>
            <a:endParaRPr lang="en-US" sz="1800" dirty="0" b="1"/>
          </a:p>
        </p:txBody>
      </p:sp>
      <p:pic>
        <p:nvPicPr>
          <p:cNvPr id="27" name="Word picture 6" descr="Trust: a handshake and a check mark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72170" y="4315968"/>
            <a:ext cx="1920240" cy="1344168"/>
          </a:xfrm>
          <a:prstGeom prst="rect">
            <a:avLst/>
          </a:prstGeom>
        </p:spPr>
      </p:pic>
      <p:sp>
        <p:nvSpPr>
          <p:cNvPr id="28" name="Word label 6"/>
          <p:cNvSpPr/>
          <p:nvPr/>
        </p:nvSpPr>
        <p:spPr>
          <a:xfrm>
            <a:off x="807781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trust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check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685800" y="50292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the Meaning</a:t>
            </a:r>
            <a:endParaRPr lang="en-US" sz="4300" dirty="0" b="1"/>
          </a:p>
        </p:txBody>
      </p:sp>
      <p:sp>
        <p:nvSpPr>
          <p:cNvPr id="3" name="sub"/>
          <p:cNvSpPr/>
          <p:nvPr/>
        </p:nvSpPr>
        <p:spPr>
          <a:xfrm>
            <a:off x="685800" y="15544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 at the picture. Answer the question.</a:t>
            </a:r>
            <a:endParaRPr lang="en-US" sz="2400" dirty="0"/>
          </a:p>
        </p:txBody>
      </p:sp>
      <p:sp>
        <p:nvSpPr>
          <p:cNvPr id="4" name="R1 shadow"/>
          <p:cNvSpPr/>
          <p:nvPr/>
        </p:nvSpPr>
        <p:spPr>
          <a:xfrm>
            <a:off x="7589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R1 card"/>
          <p:cNvSpPr/>
          <p:nvPr/>
        </p:nvSpPr>
        <p:spPr>
          <a:xfrm>
            <a:off x="6858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6" name="R1 circle"/>
          <p:cNvSpPr/>
          <p:nvPr/>
        </p:nvSpPr>
        <p:spPr>
          <a:xfrm>
            <a:off x="9601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7" name="R1 num"/>
          <p:cNvSpPr/>
          <p:nvPr/>
        </p:nvSpPr>
        <p:spPr>
          <a:xfrm>
            <a:off x="9601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500" dirty="0"/>
          </a:p>
        </p:txBody>
      </p:sp>
      <p:sp>
        <p:nvSpPr>
          <p:cNvPr id="8" name="R1 q"/>
          <p:cNvSpPr/>
          <p:nvPr/>
        </p:nvSpPr>
        <p:spPr>
          <a:xfrm>
            <a:off x="9601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a fake message real or not real?</a:t>
            </a:r>
            <a:endParaRPr lang="en-US" sz="1600" dirty="0" b="1"/>
          </a:p>
        </p:txBody>
      </p:sp>
      <p:pic>
        <p:nvPicPr>
          <p:cNvPr id="101" name="R1 pic" descr="Fake: a dollar bill and a red X [sign: FAKE]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3080" y="2560320"/>
            <a:ext cx="1920240" cy="1344168"/>
          </a:xfrm>
          <a:prstGeom prst="rect">
            <a:avLst/>
          </a:prstGeom>
        </p:spPr>
      </p:pic>
      <p:sp>
        <p:nvSpPr>
          <p:cNvPr id="10" name="R2 shadow"/>
          <p:cNvSpPr/>
          <p:nvPr/>
        </p:nvSpPr>
        <p:spPr>
          <a:xfrm>
            <a:off x="44165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1" name="R2 card"/>
          <p:cNvSpPr/>
          <p:nvPr/>
        </p:nvSpPr>
        <p:spPr>
          <a:xfrm>
            <a:off x="43434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C9B8F2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2" name="R2 circle"/>
          <p:cNvSpPr/>
          <p:nvPr/>
        </p:nvSpPr>
        <p:spPr>
          <a:xfrm>
            <a:off x="46177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3" name="R2 num"/>
          <p:cNvSpPr/>
          <p:nvPr/>
        </p:nvSpPr>
        <p:spPr>
          <a:xfrm>
            <a:off x="46177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500" dirty="0"/>
          </a:p>
        </p:txBody>
      </p:sp>
      <p:sp>
        <p:nvSpPr>
          <p:cNvPr id="14" name="R2 q"/>
          <p:cNvSpPr/>
          <p:nvPr/>
        </p:nvSpPr>
        <p:spPr>
          <a:xfrm>
            <a:off x="46177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you give your PIN to a caller or to nobody?</a:t>
            </a:r>
            <a:endParaRPr lang="en-US" sz="1600" dirty="0" b="1"/>
          </a:p>
        </p:txBody>
      </p:sp>
      <p:pic>
        <p:nvPicPr>
          <p:cNvPr id="102" name="R2 pic" descr="PIN: a card and number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0680" y="2560320"/>
            <a:ext cx="1920240" cy="1344168"/>
          </a:xfrm>
          <a:prstGeom prst="rect">
            <a:avLst/>
          </a:prstGeom>
        </p:spPr>
      </p:pic>
      <p:sp>
        <p:nvSpPr>
          <p:cNvPr id="16" name="R3 shadow"/>
          <p:cNvSpPr/>
          <p:nvPr/>
        </p:nvSpPr>
        <p:spPr>
          <a:xfrm>
            <a:off x="80741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7" name="R3 card"/>
          <p:cNvSpPr/>
          <p:nvPr/>
        </p:nvSpPr>
        <p:spPr>
          <a:xfrm>
            <a:off x="80010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8" name="R3 circle"/>
          <p:cNvSpPr/>
          <p:nvPr/>
        </p:nvSpPr>
        <p:spPr>
          <a:xfrm>
            <a:off x="82753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9" name="R3 num"/>
          <p:cNvSpPr/>
          <p:nvPr/>
        </p:nvSpPr>
        <p:spPr>
          <a:xfrm>
            <a:off x="82753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500" dirty="0"/>
          </a:p>
        </p:txBody>
      </p:sp>
      <p:sp>
        <p:nvSpPr>
          <p:cNvPr id="20" name="R3 q"/>
          <p:cNvSpPr/>
          <p:nvPr/>
        </p:nvSpPr>
        <p:spPr>
          <a:xfrm>
            <a:off x="82753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When a call is suspicious, do you hang up or pay?</a:t>
            </a:r>
            <a:endParaRPr lang="en-US" sz="1600" dirty="0" b="1"/>
          </a:p>
        </p:txBody>
      </p:sp>
      <p:pic>
        <p:nvPicPr>
          <p:cNvPr id="103" name="R3 pic" descr="Suspicious: a thinking face and a phon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98280" y="2560320"/>
            <a:ext cx="1920240" cy="1344168"/>
          </a:xfrm>
          <a:prstGeom prst="rect">
            <a:avLst/>
          </a:prstGeom>
        </p:spPr>
      </p:pic>
      <p:sp>
        <p:nvSpPr>
          <p:cNvPr id="25" name="R1 ans"/>
          <p:cNvSpPr/>
          <p:nvPr/>
        </p:nvSpPr>
        <p:spPr>
          <a:xfrm>
            <a:off x="9601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not real</a:t>
            </a:r>
            <a:endParaRPr lang="en-US" sz="2800" dirty="0" b="1"/>
          </a:p>
        </p:txBody>
      </p:sp>
      <p:sp>
        <p:nvSpPr>
          <p:cNvPr id="26" name="R2 ans"/>
          <p:cNvSpPr/>
          <p:nvPr/>
        </p:nvSpPr>
        <p:spPr>
          <a:xfrm>
            <a:off x="46177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nobody</a:t>
            </a:r>
            <a:endParaRPr lang="en-US" sz="2800" dirty="0" b="1"/>
          </a:p>
        </p:txBody>
      </p:sp>
      <p:sp>
        <p:nvSpPr>
          <p:cNvPr id="27" name="R3 ans"/>
          <p:cNvSpPr/>
          <p:nvPr/>
        </p:nvSpPr>
        <p:spPr>
          <a:xfrm>
            <a:off x="82753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hang up</a:t>
            </a:r>
            <a:endParaRPr lang="en-US" sz="28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befor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3063240" cy="68580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156448" y="1289304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321040" y="1097280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94847" y="1032586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420770" y="956462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1"/>
          <p:cNvSpPr/>
          <p:nvPr/>
        </p:nvSpPr>
        <p:spPr>
          <a:xfrm>
            <a:off x="3566160" y="1078992"/>
            <a:ext cx="4114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You</a:t>
            </a:r>
            <a:endParaRPr lang="en-US" sz="4400" dirty="0" b="1"/>
          </a:p>
        </p:txBody>
      </p:sp>
      <p:sp>
        <p:nvSpPr>
          <p:cNvPr id="9" name="title2"/>
          <p:cNvSpPr/>
          <p:nvPr/>
        </p:nvSpPr>
        <p:spPr>
          <a:xfrm>
            <a:off x="3566160" y="182880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</a:t>
            </a:r>
            <a:endParaRPr lang="en-US" sz="4400" dirty="0" b="1"/>
          </a:p>
        </p:txBody>
      </p:sp>
      <p:sp>
        <p:nvSpPr>
          <p:cNvPr id="10" name="context"/>
          <p:cNvSpPr/>
          <p:nvPr/>
        </p:nvSpPr>
        <p:spPr>
          <a:xfrm>
            <a:off x="3487522" y="31089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Mrs. Lopez gets a phone call from a man who says he's from the electric company. Later, she talks to her son, Daniel.</a:t>
            </a:r>
            <a:endParaRPr lang="en-US" sz="1600" dirty="0"/>
          </a:p>
        </p:txBody>
      </p:sp>
      <p:sp>
        <p:nvSpPr>
          <p:cNvPr id="11" name="R1 num"/>
          <p:cNvSpPr/>
          <p:nvPr/>
        </p:nvSpPr>
        <p:spPr>
          <a:xfrm>
            <a:off x="3383280" y="411480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dirty="0"/>
          </a:p>
        </p:txBody>
      </p:sp>
      <p:sp>
        <p:nvSpPr>
          <p:cNvPr id="13" name="R2 num"/>
          <p:cNvSpPr/>
          <p:nvPr/>
        </p:nvSpPr>
        <p:spPr>
          <a:xfrm>
            <a:off x="3383280" y="4919472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600" dirty="0"/>
          </a:p>
        </p:txBody>
      </p:sp>
      <p:sp>
        <p:nvSpPr>
          <p:cNvPr id="15" name="R3 num"/>
          <p:cNvSpPr/>
          <p:nvPr/>
        </p:nvSpPr>
        <p:spPr>
          <a:xfrm>
            <a:off x="3383280" y="5724144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600" dirty="0"/>
          </a:p>
        </p:txBody>
      </p:sp>
      <p:sp>
        <p:nvSpPr>
          <p:cNvPr id="17" name="line 1"/>
          <p:cNvSpPr/>
          <p:nvPr/>
        </p:nvSpPr>
        <p:spPr>
          <a:xfrm>
            <a:off x="3503066" y="4928616"/>
            <a:ext cx="4480560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8" name="line 2"/>
          <p:cNvSpPr/>
          <p:nvPr/>
        </p:nvSpPr>
        <p:spPr>
          <a:xfrm>
            <a:off x="3503066" y="5733288"/>
            <a:ext cx="4480560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pic>
        <p:nvPicPr>
          <p:cNvPr id="24" name="pic" descr="Gift card: a gift and a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" y="2423160"/>
            <a:ext cx="2743200" cy="1920240"/>
          </a:xfrm>
          <a:prstGeom prst="rect">
            <a:avLst/>
          </a:prstGeom>
        </p:spPr>
      </p:pic>
      <p:sp>
        <p:nvSpPr>
          <p:cNvPr id="25" name="R1 hl"/>
          <p:cNvSpPr/>
          <p:nvPr/>
        </p:nvSpPr>
        <p:spPr>
          <a:xfrm>
            <a:off x="4389120" y="4251960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7" name="R1 voice"/>
          <p:cNvSpPr/>
          <p:nvPr/>
        </p:nvSpPr>
        <p:spPr>
          <a:xfrm>
            <a:off x="4389120" y="4251960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Caller</a:t>
            </a:r>
            <a:endParaRPr lang="en-US" sz="2200" dirty="0" b="1"/>
          </a:p>
        </p:txBody>
      </p:sp>
      <p:sp>
        <p:nvSpPr>
          <p:cNvPr id="29" name="R2 hl"/>
          <p:cNvSpPr/>
          <p:nvPr/>
        </p:nvSpPr>
        <p:spPr>
          <a:xfrm>
            <a:off x="4389120" y="5056632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1" name="R2 voice"/>
          <p:cNvSpPr/>
          <p:nvPr/>
        </p:nvSpPr>
        <p:spPr>
          <a:xfrm>
            <a:off x="4389120" y="5056632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Mrs. Lopez</a:t>
            </a:r>
            <a:endParaRPr lang="en-US" sz="2200" dirty="0" b="1"/>
          </a:p>
        </p:txBody>
      </p:sp>
      <p:sp>
        <p:nvSpPr>
          <p:cNvPr id="33" name="R3 hl"/>
          <p:cNvSpPr/>
          <p:nvPr/>
        </p:nvSpPr>
        <p:spPr>
          <a:xfrm>
            <a:off x="4389120" y="5861304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5" name="R3 voice"/>
          <p:cNvSpPr/>
          <p:nvPr/>
        </p:nvSpPr>
        <p:spPr>
          <a:xfrm>
            <a:off x="4389120" y="5861304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Daniel</a:t>
            </a:r>
            <a:endParaRPr lang="en-US" sz="2200" dirty="0" b="1"/>
          </a:p>
        </p:txBody>
      </p:sp>
      <p:sp>
        <p:nvSpPr>
          <p:cNvPr id="37" name="listen head"/>
          <p:cNvSpPr/>
          <p:nvPr/>
        </p:nvSpPr>
        <p:spPr>
          <a:xfrm>
            <a:off x="8549640" y="1280160"/>
            <a:ext cx="3017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for:</a:t>
            </a:r>
            <a:endParaRPr lang="en-US" sz="2400" dirty="0" b="1"/>
          </a:p>
        </p:txBody>
      </p:sp>
      <p:sp>
        <p:nvSpPr>
          <p:cNvPr id="39" name="listen 1"/>
          <p:cNvSpPr/>
          <p:nvPr/>
        </p:nvSpPr>
        <p:spPr>
          <a:xfrm>
            <a:off x="8549640" y="196596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 it a scam?</a:t>
            </a:r>
            <a:endParaRPr lang="en-US" sz="2200" dirty="0"/>
          </a:p>
        </p:txBody>
      </p:sp>
      <p:sp>
        <p:nvSpPr>
          <p:cNvPr id="41" name="listen 2"/>
          <p:cNvSpPr/>
          <p:nvPr/>
        </p:nvSpPr>
        <p:spPr>
          <a:xfrm>
            <a:off x="8549640" y="301752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Play 2: Tasks B and C.</a:t>
            </a:r>
            <a:endParaRPr lang="en-US" sz="2200" dirty="0"/>
          </a:p>
        </p:txBody>
      </p:sp>
      <p:sp>
        <p:nvSpPr>
          <p:cNvPr id="43" name="audio"/>
          <p:cNvSpPr/>
          <p:nvPr/>
        </p:nvSpPr>
        <p:spPr>
          <a:xfrm>
            <a:off x="8549640" y="406908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Audio: about 2:01. It plays once.</a:t>
            </a:r>
            <a:endParaRPr lang="en-US" sz="2200" dirty="0"/>
          </a:p>
        </p:txBody>
      </p:sp>
      <p:sp>
        <p:nvSpPr>
          <p:cNvPr id="46" name="play"/>
          <p:cNvSpPr/>
          <p:nvPr/>
        </p:nvSpPr>
        <p:spPr>
          <a:xfrm>
            <a:off x="8549640" y="5029200"/>
            <a:ext cx="301752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Play 1: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Task A</a:t>
            </a:r>
            <a:endParaRPr lang="en-US" sz="22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choic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A</a:t>
            </a:r>
            <a:endParaRPr lang="en-US" sz="4800" dirty="0" b="1"/>
          </a:p>
        </p:txBody>
      </p:sp>
      <p:sp>
        <p:nvSpPr>
          <p:cNvPr id="7" name="instr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Listen. Was it a scam?</a:t>
            </a:r>
            <a:endParaRPr lang="en-US" sz="20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Circle.</a:t>
            </a:r>
            <a:endParaRPr lang="en-US" sz="2000" dirty="0"/>
          </a:p>
        </p:txBody>
      </p:sp>
      <p:sp>
        <p:nvSpPr>
          <p:cNvPr id="8" name="R1 stmt"/>
          <p:cNvSpPr/>
          <p:nvPr/>
        </p:nvSpPr>
        <p:spPr>
          <a:xfrm>
            <a:off x="502920" y="3108960"/>
            <a:ext cx="178308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9" name="R1 opt1"/>
          <p:cNvSpPr/>
          <p:nvPr/>
        </p:nvSpPr>
        <p:spPr>
          <a:xfrm>
            <a:off x="2468880" y="3108960"/>
            <a:ext cx="27432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 Yes, it was a scam.</a:t>
            </a:r>
            <a:endParaRPr lang="en-US" sz="1500" dirty="0" b="1"/>
          </a:p>
        </p:txBody>
      </p:sp>
      <p:sp>
        <p:nvSpPr>
          <p:cNvPr id="10" name="R1 opt2"/>
          <p:cNvSpPr/>
          <p:nvPr/>
        </p:nvSpPr>
        <p:spPr>
          <a:xfrm>
            <a:off x="5349240" y="3108960"/>
            <a:ext cx="27432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b. No, the bill was really late.</a:t>
            </a:r>
            <a:endParaRPr lang="en-US" sz="1500" dirty="0" b="1"/>
          </a:p>
        </p:txBody>
      </p:sp>
      <p:sp>
        <p:nvSpPr>
          <p:cNvPr id="11" name="R1 opt3"/>
          <p:cNvSpPr/>
          <p:nvPr/>
        </p:nvSpPr>
        <p:spPr>
          <a:xfrm>
            <a:off x="8229600" y="3108960"/>
            <a:ext cx="27432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c. We don't know.</a:t>
            </a:r>
            <a:endParaRPr lang="en-US" sz="1500" dirty="0" b="1"/>
          </a:p>
        </p:txBody>
      </p:sp>
      <p:sp>
        <p:nvSpPr>
          <p:cNvPr id="12" name="R1 circle"/>
          <p:cNvSpPr/>
          <p:nvPr/>
        </p:nvSpPr>
        <p:spPr>
          <a:xfrm>
            <a:off x="2340864" y="3054096"/>
            <a:ext cx="299923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choic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B</a:t>
            </a:r>
            <a:endParaRPr lang="en-US" sz="4800" dirty="0" b="1"/>
          </a:p>
        </p:txBody>
      </p:sp>
      <p:sp>
        <p:nvSpPr>
          <p:cNvPr id="7" name="instr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</a:t>
            </a:r>
            <a:endParaRPr lang="en-US" sz="20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Which warning signs did you hear?</a:t>
            </a:r>
            <a:endParaRPr lang="en-US" sz="20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Circle the answer.</a:t>
            </a:r>
            <a:endParaRPr lang="en-US" sz="2000" dirty="0"/>
          </a:p>
        </p:txBody>
      </p:sp>
      <p:sp>
        <p:nvSpPr>
          <p:cNvPr id="8" name="R1 stmt"/>
          <p:cNvSpPr/>
          <p:nvPr/>
        </p:nvSpPr>
        <p:spPr>
          <a:xfrm>
            <a:off x="502920" y="3108960"/>
            <a:ext cx="594360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1. The caller said she must pay</a:t>
            </a:r>
            <a:endParaRPr lang="en-US" sz="1600" dirty="0"/>
          </a:p>
        </p:txBody>
      </p:sp>
      <p:sp>
        <p:nvSpPr>
          <p:cNvPr id="9" name="R1 opt1"/>
          <p:cNvSpPr/>
          <p:nvPr/>
        </p:nvSpPr>
        <p:spPr>
          <a:xfrm>
            <a:off x="6629400" y="310896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</a:t>
            </a:r>
            <a:endParaRPr lang="en-US" sz="1400" dirty="0" b="1"/>
          </a:p>
        </p:txBody>
      </p:sp>
      <p:sp>
        <p:nvSpPr>
          <p:cNvPr id="10" name="R1 opt2"/>
          <p:cNvSpPr/>
          <p:nvPr/>
        </p:nvSpPr>
        <p:spPr>
          <a:xfrm>
            <a:off x="8869680" y="310896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next month</a:t>
            </a:r>
            <a:endParaRPr lang="en-US" sz="1400" dirty="0" b="1"/>
          </a:p>
        </p:txBody>
      </p:sp>
      <p:sp>
        <p:nvSpPr>
          <p:cNvPr id="11" name="R1 circle"/>
          <p:cNvSpPr/>
          <p:nvPr/>
        </p:nvSpPr>
        <p:spPr>
          <a:xfrm>
            <a:off x="6501384" y="3054096"/>
            <a:ext cx="235915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2" name="R2 stmt"/>
          <p:cNvSpPr/>
          <p:nvPr/>
        </p:nvSpPr>
        <p:spPr>
          <a:xfrm>
            <a:off x="502920" y="3657600"/>
            <a:ext cx="594360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2. He wanted her to pay with</a:t>
            </a:r>
            <a:endParaRPr lang="en-US" sz="1600" dirty="0"/>
          </a:p>
        </p:txBody>
      </p:sp>
      <p:sp>
        <p:nvSpPr>
          <p:cNvPr id="13" name="R2 opt1"/>
          <p:cNvSpPr/>
          <p:nvPr/>
        </p:nvSpPr>
        <p:spPr>
          <a:xfrm>
            <a:off x="6629400" y="365760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gift cards</a:t>
            </a:r>
            <a:endParaRPr lang="en-US" sz="1400" dirty="0" b="1"/>
          </a:p>
        </p:txBody>
      </p:sp>
      <p:sp>
        <p:nvSpPr>
          <p:cNvPr id="14" name="R2 opt2"/>
          <p:cNvSpPr/>
          <p:nvPr/>
        </p:nvSpPr>
        <p:spPr>
          <a:xfrm>
            <a:off x="8869680" y="365760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check</a:t>
            </a:r>
            <a:endParaRPr lang="en-US" sz="1400" dirty="0" b="1"/>
          </a:p>
        </p:txBody>
      </p:sp>
      <p:sp>
        <p:nvSpPr>
          <p:cNvPr id="15" name="R2 circle"/>
          <p:cNvSpPr/>
          <p:nvPr/>
        </p:nvSpPr>
        <p:spPr>
          <a:xfrm>
            <a:off x="6501384" y="3602736"/>
            <a:ext cx="235915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6" name="R3 stmt"/>
          <p:cNvSpPr/>
          <p:nvPr/>
        </p:nvSpPr>
        <p:spPr>
          <a:xfrm>
            <a:off x="502920" y="4206240"/>
            <a:ext cx="594360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3. He said, " ____"</a:t>
            </a:r>
            <a:endParaRPr lang="en-US" sz="1600" dirty="0"/>
          </a:p>
        </p:txBody>
      </p:sp>
      <p:sp>
        <p:nvSpPr>
          <p:cNvPr id="17" name="R3 opt1"/>
          <p:cNvSpPr/>
          <p:nvPr/>
        </p:nvSpPr>
        <p:spPr>
          <a:xfrm>
            <a:off x="6629400" y="420624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tell anyone.</a:t>
            </a:r>
            <a:endParaRPr lang="en-US" sz="1400" dirty="0" b="1"/>
          </a:p>
        </p:txBody>
      </p:sp>
      <p:sp>
        <p:nvSpPr>
          <p:cNvPr id="18" name="R3 opt2"/>
          <p:cNvSpPr/>
          <p:nvPr/>
        </p:nvSpPr>
        <p:spPr>
          <a:xfrm>
            <a:off x="8869680" y="420624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Call your son.</a:t>
            </a:r>
            <a:endParaRPr lang="en-US" sz="1400" dirty="0" b="1"/>
          </a:p>
        </p:txBody>
      </p:sp>
      <p:sp>
        <p:nvSpPr>
          <p:cNvPr id="19" name="R3 circle"/>
          <p:cNvSpPr/>
          <p:nvPr/>
        </p:nvSpPr>
        <p:spPr>
          <a:xfrm>
            <a:off x="6501384" y="4151376"/>
            <a:ext cx="235915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R4 stmt"/>
          <p:cNvSpPr/>
          <p:nvPr/>
        </p:nvSpPr>
        <p:spPr>
          <a:xfrm>
            <a:off x="502920" y="4754880"/>
            <a:ext cx="594360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4. He said they would turn off her power in</a:t>
            </a:r>
            <a:endParaRPr lang="en-US" sz="1600" dirty="0"/>
          </a:p>
        </p:txBody>
      </p:sp>
      <p:sp>
        <p:nvSpPr>
          <p:cNvPr id="21" name="R4 opt1"/>
          <p:cNvSpPr/>
          <p:nvPr/>
        </p:nvSpPr>
        <p:spPr>
          <a:xfrm>
            <a:off x="6629400" y="475488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one hour</a:t>
            </a:r>
            <a:endParaRPr lang="en-US" sz="1400" dirty="0" b="1"/>
          </a:p>
        </p:txBody>
      </p:sp>
      <p:sp>
        <p:nvSpPr>
          <p:cNvPr id="22" name="R4 opt2"/>
          <p:cNvSpPr/>
          <p:nvPr/>
        </p:nvSpPr>
        <p:spPr>
          <a:xfrm>
            <a:off x="8869680" y="475488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one week</a:t>
            </a:r>
            <a:endParaRPr lang="en-US" sz="1400" dirty="0" b="1"/>
          </a:p>
        </p:txBody>
      </p:sp>
      <p:sp>
        <p:nvSpPr>
          <p:cNvPr id="23" name="R4 circle"/>
          <p:cNvSpPr/>
          <p:nvPr/>
        </p:nvSpPr>
        <p:spPr>
          <a:xfrm>
            <a:off x="6501384" y="4700016"/>
            <a:ext cx="235915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4" name="R5 stmt"/>
          <p:cNvSpPr/>
          <p:nvPr/>
        </p:nvSpPr>
        <p:spPr>
          <a:xfrm>
            <a:off x="502920" y="5303520"/>
            <a:ext cx="594360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5. Mrs. Lopez</a:t>
            </a:r>
            <a:endParaRPr lang="en-US" sz="1600" dirty="0"/>
          </a:p>
        </p:txBody>
      </p:sp>
      <p:sp>
        <p:nvSpPr>
          <p:cNvPr id="25" name="R5 opt1"/>
          <p:cNvSpPr/>
          <p:nvPr/>
        </p:nvSpPr>
        <p:spPr>
          <a:xfrm>
            <a:off x="6629400" y="530352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hung up</a:t>
            </a:r>
            <a:endParaRPr lang="en-US" sz="1400" dirty="0" b="1"/>
          </a:p>
        </p:txBody>
      </p:sp>
      <p:sp>
        <p:nvSpPr>
          <p:cNvPr id="26" name="R5 opt2"/>
          <p:cNvSpPr/>
          <p:nvPr/>
        </p:nvSpPr>
        <p:spPr>
          <a:xfrm>
            <a:off x="8869680" y="530352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paid $200</a:t>
            </a:r>
            <a:endParaRPr lang="en-US" sz="1400" dirty="0" b="1"/>
          </a:p>
        </p:txBody>
      </p:sp>
      <p:sp>
        <p:nvSpPr>
          <p:cNvPr id="27" name="R5 circle"/>
          <p:cNvSpPr/>
          <p:nvPr/>
        </p:nvSpPr>
        <p:spPr>
          <a:xfrm>
            <a:off x="6501384" y="5248656"/>
            <a:ext cx="235915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8" name="R6 stmt"/>
          <p:cNvSpPr/>
          <p:nvPr/>
        </p:nvSpPr>
        <p:spPr>
          <a:xfrm>
            <a:off x="502920" y="5852160"/>
            <a:ext cx="594360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6. Her real account is</a:t>
            </a:r>
            <a:endParaRPr lang="en-US" sz="1600" dirty="0"/>
          </a:p>
        </p:txBody>
      </p:sp>
      <p:sp>
        <p:nvSpPr>
          <p:cNvPr id="29" name="R6 opt1"/>
          <p:cNvSpPr/>
          <p:nvPr/>
        </p:nvSpPr>
        <p:spPr>
          <a:xfrm>
            <a:off x="6629400" y="585216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fine</a:t>
            </a:r>
            <a:endParaRPr lang="en-US" sz="1400" dirty="0" b="1"/>
          </a:p>
        </p:txBody>
      </p:sp>
      <p:sp>
        <p:nvSpPr>
          <p:cNvPr id="30" name="R6 opt2"/>
          <p:cNvSpPr/>
          <p:nvPr/>
        </p:nvSpPr>
        <p:spPr>
          <a:xfrm>
            <a:off x="8869680" y="585216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late</a:t>
            </a:r>
            <a:endParaRPr lang="en-US" sz="1400" dirty="0" b="1"/>
          </a:p>
        </p:txBody>
      </p:sp>
      <p:sp>
        <p:nvSpPr>
          <p:cNvPr id="31" name="R6 circle"/>
          <p:cNvSpPr/>
          <p:nvPr/>
        </p:nvSpPr>
        <p:spPr>
          <a:xfrm>
            <a:off x="6501384" y="5797296"/>
            <a:ext cx="235915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13294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07533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14300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54533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who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or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that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C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who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or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that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000" dirty="0" b="1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compare your answers.</a:t>
            </a:r>
            <a:endParaRPr lang="en-US" sz="2000" dirty="0" b="1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together.</a:t>
            </a:r>
            <a:endParaRPr lang="en-US" sz="2000" dirty="0" b="1"/>
          </a:p>
        </p:txBody>
      </p:sp>
      <p:sp>
        <p:nvSpPr>
          <p:cNvPr id="31" name="R1 card"/>
          <p:cNvSpPr/>
          <p:nvPr/>
        </p:nvSpPr>
        <p:spPr>
          <a:xfrm>
            <a:off x="1583741" y="2123237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123237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15813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123237"/>
            <a:ext cx="43159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 going to call the number ____ is on my real bill.</a:t>
            </a:r>
            <a:endParaRPr lang="en-US" sz="1800" dirty="0"/>
          </a:p>
        </p:txBody>
      </p:sp>
      <p:sp>
        <p:nvSpPr>
          <p:cNvPr id="35" name="R1 ans"/>
          <p:cNvSpPr/>
          <p:nvPr/>
        </p:nvSpPr>
        <p:spPr>
          <a:xfrm>
            <a:off x="6199632" y="2222144"/>
            <a:ext cx="13716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that</a:t>
            </a:r>
            <a:endParaRPr lang="en-US" sz="2000" dirty="0" b="1"/>
          </a:p>
        </p:txBody>
      </p:sp>
      <p:sp>
        <p:nvSpPr>
          <p:cNvPr id="36" name="R2 card"/>
          <p:cNvSpPr/>
          <p:nvPr/>
        </p:nvSpPr>
        <p:spPr>
          <a:xfrm>
            <a:off x="1583741" y="2851404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2 chip"/>
          <p:cNvSpPr/>
          <p:nvPr/>
        </p:nvSpPr>
        <p:spPr>
          <a:xfrm>
            <a:off x="544982" y="2851404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2 num"/>
          <p:cNvSpPr/>
          <p:nvPr/>
        </p:nvSpPr>
        <p:spPr>
          <a:xfrm>
            <a:off x="686714" y="288630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2</a:t>
            </a:r>
            <a:endParaRPr lang="en-US" sz="3200" dirty="0" b="1"/>
          </a:p>
        </p:txBody>
      </p:sp>
      <p:sp>
        <p:nvSpPr>
          <p:cNvPr id="39" name="R2 text"/>
          <p:cNvSpPr/>
          <p:nvPr/>
        </p:nvSpPr>
        <p:spPr>
          <a:xfrm>
            <a:off x="1810512" y="2851404"/>
            <a:ext cx="43159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man ____ called me knew my name.</a:t>
            </a:r>
            <a:endParaRPr lang="en-US" sz="1800" dirty="0"/>
          </a:p>
        </p:txBody>
      </p:sp>
      <p:sp>
        <p:nvSpPr>
          <p:cNvPr id="40" name="R2 ans"/>
          <p:cNvSpPr/>
          <p:nvPr/>
        </p:nvSpPr>
        <p:spPr>
          <a:xfrm>
            <a:off x="6199632" y="2950312"/>
            <a:ext cx="13716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who</a:t>
            </a:r>
            <a:endParaRPr lang="en-US" sz="2000" dirty="0" b="1"/>
          </a:p>
        </p:txBody>
      </p:sp>
      <p:sp>
        <p:nvSpPr>
          <p:cNvPr id="41" name="R3 card"/>
          <p:cNvSpPr/>
          <p:nvPr/>
        </p:nvSpPr>
        <p:spPr>
          <a:xfrm>
            <a:off x="1583741" y="3579571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R3 chip"/>
          <p:cNvSpPr/>
          <p:nvPr/>
        </p:nvSpPr>
        <p:spPr>
          <a:xfrm>
            <a:off x="544982" y="3579571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3" name="R3 num"/>
          <p:cNvSpPr/>
          <p:nvPr/>
        </p:nvSpPr>
        <p:spPr>
          <a:xfrm>
            <a:off x="686714" y="3614471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3</a:t>
            </a:r>
            <a:endParaRPr lang="en-US" sz="3200" dirty="0" b="1"/>
          </a:p>
        </p:txBody>
      </p:sp>
      <p:sp>
        <p:nvSpPr>
          <p:cNvPr id="44" name="R3 text"/>
          <p:cNvSpPr/>
          <p:nvPr/>
        </p:nvSpPr>
        <p:spPr>
          <a:xfrm>
            <a:off x="1810512" y="3579571"/>
            <a:ext cx="43159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company ____ asks for gift cards is a scam.</a:t>
            </a:r>
            <a:endParaRPr lang="en-US" sz="1800" dirty="0"/>
          </a:p>
        </p:txBody>
      </p:sp>
      <p:sp>
        <p:nvSpPr>
          <p:cNvPr id="45" name="R3 ans"/>
          <p:cNvSpPr/>
          <p:nvPr/>
        </p:nvSpPr>
        <p:spPr>
          <a:xfrm>
            <a:off x="6199632" y="3678479"/>
            <a:ext cx="13716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that</a:t>
            </a:r>
            <a:endParaRPr lang="en-US" sz="2000" dirty="0" b="1"/>
          </a:p>
        </p:txBody>
      </p:sp>
      <p:sp>
        <p:nvSpPr>
          <p:cNvPr id="46" name="R4 card"/>
          <p:cNvSpPr/>
          <p:nvPr/>
        </p:nvSpPr>
        <p:spPr>
          <a:xfrm>
            <a:off x="1583741" y="4307738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R4 chip"/>
          <p:cNvSpPr/>
          <p:nvPr/>
        </p:nvSpPr>
        <p:spPr>
          <a:xfrm>
            <a:off x="544982" y="4307738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8" name="R4 num"/>
          <p:cNvSpPr/>
          <p:nvPr/>
        </p:nvSpPr>
        <p:spPr>
          <a:xfrm>
            <a:off x="686714" y="434263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4</a:t>
            </a:r>
            <a:endParaRPr lang="en-US" sz="3200" dirty="0" b="1"/>
          </a:p>
        </p:txBody>
      </p:sp>
      <p:sp>
        <p:nvSpPr>
          <p:cNvPr id="49" name="R4 text"/>
          <p:cNvSpPr/>
          <p:nvPr/>
        </p:nvSpPr>
        <p:spPr>
          <a:xfrm>
            <a:off x="1810512" y="4307738"/>
            <a:ext cx="43159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Scammers are people ____ want your money.</a:t>
            </a:r>
            <a:endParaRPr lang="en-US" sz="1800" dirty="0"/>
          </a:p>
        </p:txBody>
      </p:sp>
      <p:sp>
        <p:nvSpPr>
          <p:cNvPr id="50" name="R4 ans"/>
          <p:cNvSpPr/>
          <p:nvPr/>
        </p:nvSpPr>
        <p:spPr>
          <a:xfrm>
            <a:off x="6199632" y="4406646"/>
            <a:ext cx="13716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who</a:t>
            </a:r>
            <a:endParaRPr lang="en-US" sz="2000" dirty="0" b="1"/>
          </a:p>
        </p:txBody>
      </p:sp>
      <p:sp>
        <p:nvSpPr>
          <p:cNvPr id="51" name="R5 card"/>
          <p:cNvSpPr/>
          <p:nvPr/>
        </p:nvSpPr>
        <p:spPr>
          <a:xfrm>
            <a:off x="1583741" y="5035906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R5 chip"/>
          <p:cNvSpPr/>
          <p:nvPr/>
        </p:nvSpPr>
        <p:spPr>
          <a:xfrm>
            <a:off x="544982" y="5035906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5 num"/>
          <p:cNvSpPr/>
          <p:nvPr/>
        </p:nvSpPr>
        <p:spPr>
          <a:xfrm>
            <a:off x="686714" y="5070805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5</a:t>
            </a:r>
            <a:endParaRPr lang="en-US" sz="3200" dirty="0" b="1"/>
          </a:p>
        </p:txBody>
      </p:sp>
      <p:sp>
        <p:nvSpPr>
          <p:cNvPr id="54" name="R5 text"/>
          <p:cNvSpPr/>
          <p:nvPr/>
        </p:nvSpPr>
        <p:spPr>
          <a:xfrm>
            <a:off x="1810512" y="5035906"/>
            <a:ext cx="43159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 careful with texts ____ ask for your password, too.</a:t>
            </a:r>
            <a:endParaRPr lang="en-US" sz="1800" dirty="0"/>
          </a:p>
        </p:txBody>
      </p:sp>
      <p:sp>
        <p:nvSpPr>
          <p:cNvPr id="55" name="R5 ans"/>
          <p:cNvSpPr/>
          <p:nvPr/>
        </p:nvSpPr>
        <p:spPr>
          <a:xfrm>
            <a:off x="6199632" y="5134813"/>
            <a:ext cx="13716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that</a:t>
            </a:r>
            <a:endParaRPr lang="en-US" sz="2000" dirty="0" b="1"/>
          </a:p>
        </p:txBody>
      </p:sp>
      <p:sp>
        <p:nvSpPr>
          <p:cNvPr id="56" name="R6 card"/>
          <p:cNvSpPr/>
          <p:nvPr/>
        </p:nvSpPr>
        <p:spPr>
          <a:xfrm>
            <a:off x="1583741" y="5764073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" name="R6 chip"/>
          <p:cNvSpPr/>
          <p:nvPr/>
        </p:nvSpPr>
        <p:spPr>
          <a:xfrm>
            <a:off x="544982" y="5764073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8" name="R6 num"/>
          <p:cNvSpPr/>
          <p:nvPr/>
        </p:nvSpPr>
        <p:spPr>
          <a:xfrm>
            <a:off x="686714" y="5798972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6</a:t>
            </a:r>
            <a:endParaRPr lang="en-US" sz="3200" dirty="0" b="1"/>
          </a:p>
        </p:txBody>
      </p:sp>
      <p:sp>
        <p:nvSpPr>
          <p:cNvPr id="59" name="R6 text"/>
          <p:cNvSpPr/>
          <p:nvPr/>
        </p:nvSpPr>
        <p:spPr>
          <a:xfrm>
            <a:off x="1810512" y="5764073"/>
            <a:ext cx="43159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never trust a caller ____ tells you to hurry.</a:t>
            </a:r>
            <a:endParaRPr lang="en-US" sz="1800" dirty="0"/>
          </a:p>
        </p:txBody>
      </p:sp>
      <p:sp>
        <p:nvSpPr>
          <p:cNvPr id="60" name="R6 ans"/>
          <p:cNvSpPr/>
          <p:nvPr/>
        </p:nvSpPr>
        <p:spPr>
          <a:xfrm>
            <a:off x="6199632" y="5862980"/>
            <a:ext cx="13716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who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checksay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681582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4982" y="1623974"/>
            <a:ext cx="6169457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691640"/>
            <a:ext cx="56692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Hear it: gonna = going to</a:t>
            </a:r>
            <a:endParaRPr lang="en-US" sz="1800" dirty="0" b="1"/>
          </a:p>
        </p:txBody>
      </p:sp>
      <p:sp>
        <p:nvSpPr>
          <p:cNvPr id="9" name="head2"/>
          <p:cNvSpPr/>
          <p:nvPr/>
        </p:nvSpPr>
        <p:spPr>
          <a:xfrm>
            <a:off x="868680" y="2093976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it: weak that, and the stress</a:t>
            </a:r>
            <a:endParaRPr lang="en-US" sz="1800" dirty="0"/>
          </a:p>
        </p:txBody>
      </p:sp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Hear It,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It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gonna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is a short form. This listening says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going to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it in a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calm, firm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voice.</a:t>
            </a:r>
            <a:endParaRPr lang="en-US" sz="2000" dirty="0" b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each line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two times.</a:t>
            </a:r>
            <a:endParaRPr lang="en-US" sz="2000" dirty="0" b="0"/>
          </a:p>
        </p:txBody>
      </p:sp>
      <p:sp>
        <p:nvSpPr>
          <p:cNvPr id="31" name="S1 card"/>
          <p:cNvSpPr/>
          <p:nvPr/>
        </p:nvSpPr>
        <p:spPr>
          <a:xfrm>
            <a:off x="548640" y="2715768"/>
            <a:ext cx="6766560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S1 text"/>
          <p:cNvSpPr/>
          <p:nvPr/>
        </p:nvSpPr>
        <p:spPr>
          <a:xfrm>
            <a:off x="777240" y="2715768"/>
            <a:ext cx="635508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We're </a:t>
            </a: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going to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turn off your power.</a:t>
            </a:r>
            <a:endParaRPr lang="en-US" sz="1800" dirty="0" b="1"/>
          </a:p>
        </p:txBody>
      </p:sp>
      <p:sp>
        <p:nvSpPr>
          <p:cNvPr id="33" name="S2 card"/>
          <p:cNvSpPr/>
          <p:nvPr/>
        </p:nvSpPr>
        <p:spPr>
          <a:xfrm>
            <a:off x="548640" y="3427171"/>
            <a:ext cx="6766560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4" name="S2 text"/>
          <p:cNvSpPr/>
          <p:nvPr/>
        </p:nvSpPr>
        <p:spPr>
          <a:xfrm>
            <a:off x="777240" y="3427171"/>
            <a:ext cx="635508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text </a:t>
            </a: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that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asks ("thut")</a:t>
            </a:r>
            <a:endParaRPr lang="en-US" sz="1800" dirty="0" b="1"/>
          </a:p>
        </p:txBody>
      </p:sp>
      <p:sp>
        <p:nvSpPr>
          <p:cNvPr id="35" name="S3 card"/>
          <p:cNvSpPr/>
          <p:nvPr/>
        </p:nvSpPr>
        <p:spPr>
          <a:xfrm>
            <a:off x="548640" y="4138574"/>
            <a:ext cx="6766560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6" name="S3 text"/>
          <p:cNvSpPr/>
          <p:nvPr/>
        </p:nvSpPr>
        <p:spPr>
          <a:xfrm>
            <a:off x="777240" y="4138574"/>
            <a:ext cx="635508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NEVER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• </a:t>
            </a: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GIFT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cards</a:t>
            </a:r>
            <a:endParaRPr lang="en-US" sz="1800" dirty="0" b="1"/>
          </a:p>
        </p:txBody>
      </p:sp>
      <p:sp>
        <p:nvSpPr>
          <p:cNvPr id="37" name="S4 card"/>
          <p:cNvSpPr/>
          <p:nvPr/>
        </p:nvSpPr>
        <p:spPr>
          <a:xfrm>
            <a:off x="548640" y="4849978"/>
            <a:ext cx="6766560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" name="S4 text"/>
          <p:cNvSpPr/>
          <p:nvPr/>
        </p:nvSpPr>
        <p:spPr>
          <a:xfrm>
            <a:off x="777240" y="4849978"/>
            <a:ext cx="635508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No, thank you. Goodbye.</a:t>
            </a:r>
            <a:endParaRPr lang="en-US" sz="1800" dirty="0" b="1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Prize: a trophy and a party pop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1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describing with who / that</a:t>
            </a:r>
            <a:endParaRPr lang="en-US" sz="24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7863840" y="182880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What's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 scam?</a:t>
            </a:r>
            <a:endParaRPr lang="en-US" sz="1700" dirty="0" b="1"/>
          </a:p>
        </p:txBody>
      </p:sp>
      <p:sp>
        <p:nvSpPr>
          <p:cNvPr id="19" name="Answer bg 1"/>
          <p:cNvSpPr/>
          <p:nvPr/>
        </p:nvSpPr>
        <p:spPr>
          <a:xfrm>
            <a:off x="7863840" y="228600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7863840" y="228600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It's a trick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that takes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your money.</a:t>
            </a:r>
            <a:endParaRPr lang="en-US" sz="1700" dirty="0" b="1"/>
          </a:p>
        </p:txBody>
      </p:sp>
      <p:sp>
        <p:nvSpPr>
          <p:cNvPr id="21" name="Question 2"/>
          <p:cNvSpPr/>
          <p:nvPr/>
        </p:nvSpPr>
        <p:spPr>
          <a:xfrm>
            <a:off x="5138928" y="333756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Who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called you?</a:t>
            </a:r>
            <a:endParaRPr lang="en-US" sz="1700" dirty="0" b="1"/>
          </a:p>
        </p:txBody>
      </p:sp>
      <p:sp>
        <p:nvSpPr>
          <p:cNvPr id="22" name="Answer bg 2"/>
          <p:cNvSpPr/>
          <p:nvPr/>
        </p:nvSpPr>
        <p:spPr>
          <a:xfrm>
            <a:off x="7863840" y="333756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7863840" y="333756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man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who said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he was from the bank.</a:t>
            </a:r>
            <a:endParaRPr lang="en-US" sz="1700" dirty="0" b="1"/>
          </a:p>
        </p:txBody>
      </p:sp>
      <p:sp>
        <p:nvSpPr>
          <p:cNvPr id="24" name="Question 3"/>
          <p:cNvSpPr/>
          <p:nvPr/>
        </p:nvSpPr>
        <p:spPr>
          <a:xfrm>
            <a:off x="5138928" y="438912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What's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 warning sign?</a:t>
            </a:r>
            <a:endParaRPr lang="en-US" sz="1700" dirty="0" b="1"/>
          </a:p>
        </p:txBody>
      </p:sp>
      <p:sp>
        <p:nvSpPr>
          <p:cNvPr id="25" name="Answer bg 3"/>
          <p:cNvSpPr/>
          <p:nvPr/>
        </p:nvSpPr>
        <p:spPr>
          <a:xfrm>
            <a:off x="7863840" y="438912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3"/>
          <p:cNvSpPr/>
          <p:nvPr/>
        </p:nvSpPr>
        <p:spPr>
          <a:xfrm>
            <a:off x="7863840" y="438912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It's something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that tells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you to be careful.</a:t>
            </a:r>
            <a:endParaRPr lang="en-US" sz="17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Link: a phone and a lin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2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to do</a:t>
            </a:r>
            <a:endParaRPr lang="en-US" sz="24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7863840" y="182880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about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 text that wants my PIN?</a:t>
            </a:r>
            <a:endParaRPr lang="en-US" sz="1700" dirty="0" b="1"/>
          </a:p>
        </p:txBody>
      </p:sp>
      <p:sp>
        <p:nvSpPr>
          <p:cNvPr id="19" name="Answer bg 1"/>
          <p:cNvSpPr/>
          <p:nvPr/>
        </p:nvSpPr>
        <p:spPr>
          <a:xfrm>
            <a:off x="7863840" y="228600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7863840" y="228600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answer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texts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that ask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for your PIN.</a:t>
            </a:r>
            <a:endParaRPr lang="en-US" sz="1700" dirty="0" b="1"/>
          </a:p>
        </p:txBody>
      </p:sp>
      <p:sp>
        <p:nvSpPr>
          <p:cNvPr id="21" name="Question 2"/>
          <p:cNvSpPr/>
          <p:nvPr/>
        </p:nvSpPr>
        <p:spPr>
          <a:xfrm>
            <a:off x="5138928" y="333756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about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 caller who wants gift cards?</a:t>
            </a:r>
            <a:endParaRPr lang="en-US" sz="1700" dirty="0" b="1"/>
          </a:p>
        </p:txBody>
      </p:sp>
      <p:sp>
        <p:nvSpPr>
          <p:cNvPr id="22" name="Answer bg 2"/>
          <p:cNvSpPr/>
          <p:nvPr/>
        </p:nvSpPr>
        <p:spPr>
          <a:xfrm>
            <a:off x="7863840" y="333756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7863840" y="333756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Hang up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on a caller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who asks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for gift cards.</a:t>
            </a:r>
            <a:endParaRPr lang="en-US" sz="1700" dirty="0" b="1"/>
          </a:p>
        </p:txBody>
      </p:sp>
      <p:sp>
        <p:nvSpPr>
          <p:cNvPr id="24" name="Question 3"/>
          <p:cNvSpPr/>
          <p:nvPr/>
        </p:nvSpPr>
        <p:spPr>
          <a:xfrm>
            <a:off x="5138928" y="438912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Who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can I trust?</a:t>
            </a:r>
            <a:endParaRPr lang="en-US" sz="1700" dirty="0" b="1"/>
          </a:p>
        </p:txBody>
      </p:sp>
      <p:sp>
        <p:nvSpPr>
          <p:cNvPr id="25" name="Answer bg 3"/>
          <p:cNvSpPr/>
          <p:nvPr/>
        </p:nvSpPr>
        <p:spPr>
          <a:xfrm>
            <a:off x="7863840" y="438912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3"/>
          <p:cNvSpPr/>
          <p:nvPr/>
        </p:nvSpPr>
        <p:spPr>
          <a:xfrm>
            <a:off x="7863840" y="438912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Call the company at the number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that is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on your card.</a:t>
            </a:r>
            <a:endParaRPr lang="en-US" sz="17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PIN: a card and number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3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anyone, something, must, should</a:t>
            </a:r>
            <a:endParaRPr lang="en-US" sz="24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WORDS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7863840" y="182880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EXAMPLE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Never… anyone</a:t>
            </a:r>
            <a:endParaRPr lang="en-US" sz="1700" dirty="0" b="1"/>
          </a:p>
        </p:txBody>
      </p:sp>
      <p:sp>
        <p:nvSpPr>
          <p:cNvPr id="19" name="Answer bg 1"/>
          <p:cNvSpPr/>
          <p:nvPr/>
        </p:nvSpPr>
        <p:spPr>
          <a:xfrm>
            <a:off x="7863840" y="228600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7863840" y="228600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Never give your PIN to anyone.</a:t>
            </a:r>
            <a:endParaRPr lang="en-US" sz="1700" dirty="0" b="1"/>
          </a:p>
        </p:txBody>
      </p:sp>
      <p:sp>
        <p:nvSpPr>
          <p:cNvPr id="21" name="Question 2"/>
          <p:cNvSpPr/>
          <p:nvPr/>
        </p:nvSpPr>
        <p:spPr>
          <a:xfrm>
            <a:off x="5138928" y="333756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 something…</a:t>
            </a:r>
            <a:endParaRPr lang="en-US" sz="1700" dirty="0" b="1"/>
          </a:p>
        </p:txBody>
      </p:sp>
      <p:sp>
        <p:nvSpPr>
          <p:cNvPr id="22" name="Answer bg 2"/>
          <p:cNvSpPr/>
          <p:nvPr/>
        </p:nvSpPr>
        <p:spPr>
          <a:xfrm>
            <a:off x="7863840" y="333756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7863840" y="333756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 something sounds too good to be true, it probably is.</a:t>
            </a:r>
            <a:endParaRPr lang="en-US" sz="1700" dirty="0" b="1"/>
          </a:p>
        </p:txBody>
      </p:sp>
      <p:sp>
        <p:nvSpPr>
          <p:cNvPr id="24" name="Question 3"/>
          <p:cNvSpPr/>
          <p:nvPr/>
        </p:nvSpPr>
        <p:spPr>
          <a:xfrm>
            <a:off x="5138928" y="438912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mustn't / should</a:t>
            </a:r>
            <a:endParaRPr lang="en-US" sz="1700" dirty="0" b="1"/>
          </a:p>
        </p:txBody>
      </p:sp>
      <p:sp>
        <p:nvSpPr>
          <p:cNvPr id="25" name="Answer bg 3"/>
          <p:cNvSpPr/>
          <p:nvPr/>
        </p:nvSpPr>
        <p:spPr>
          <a:xfrm>
            <a:off x="7863840" y="438912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3"/>
          <p:cNvSpPr/>
          <p:nvPr/>
        </p:nvSpPr>
        <p:spPr>
          <a:xfrm>
            <a:off x="7863840" y="438912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mustn't share your password. You should tell someone you trust.</a:t>
            </a:r>
            <a:endParaRPr lang="en-US" sz="17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Hang up: a phone and a waving h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4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 steps</a:t>
            </a:r>
            <a:endParaRPr lang="en-US" sz="24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STEP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7863840" y="182880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TO DO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Stop.</a:t>
            </a:r>
            <a:endParaRPr lang="en-US" sz="1700" dirty="0" b="1"/>
          </a:p>
        </p:txBody>
      </p:sp>
      <p:sp>
        <p:nvSpPr>
          <p:cNvPr id="19" name="Answer bg 1"/>
          <p:cNvSpPr/>
          <p:nvPr/>
        </p:nvSpPr>
        <p:spPr>
          <a:xfrm>
            <a:off x="7863840" y="228600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7863840" y="228600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answer or click right away.</a:t>
            </a:r>
            <a:endParaRPr lang="en-US" sz="1700" dirty="0" b="1"/>
          </a:p>
        </p:txBody>
      </p:sp>
      <p:sp>
        <p:nvSpPr>
          <p:cNvPr id="21" name="Question 2"/>
          <p:cNvSpPr/>
          <p:nvPr/>
        </p:nvSpPr>
        <p:spPr>
          <a:xfrm>
            <a:off x="5138928" y="333756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pay.</a:t>
            </a:r>
            <a:endParaRPr lang="en-US" sz="1700" dirty="0" b="1"/>
          </a:p>
        </p:txBody>
      </p:sp>
      <p:sp>
        <p:nvSpPr>
          <p:cNvPr id="22" name="Answer bg 2"/>
          <p:cNvSpPr/>
          <p:nvPr/>
        </p:nvSpPr>
        <p:spPr>
          <a:xfrm>
            <a:off x="7863840" y="333756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7863840" y="333756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Never pay with gift cards.</a:t>
            </a:r>
            <a:endParaRPr lang="en-US" sz="1700" dirty="0" b="1"/>
          </a:p>
        </p:txBody>
      </p:sp>
      <p:sp>
        <p:nvSpPr>
          <p:cNvPr id="24" name="Question 3"/>
          <p:cNvSpPr/>
          <p:nvPr/>
        </p:nvSpPr>
        <p:spPr>
          <a:xfrm>
            <a:off x="5138928" y="438912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Check.</a:t>
            </a:r>
            <a:endParaRPr lang="en-US" sz="1700" dirty="0" b="1"/>
          </a:p>
        </p:txBody>
      </p:sp>
      <p:sp>
        <p:nvSpPr>
          <p:cNvPr id="25" name="Answer bg 3"/>
          <p:cNvSpPr/>
          <p:nvPr/>
        </p:nvSpPr>
        <p:spPr>
          <a:xfrm>
            <a:off x="7863840" y="438912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3"/>
          <p:cNvSpPr/>
          <p:nvPr/>
        </p:nvSpPr>
        <p:spPr>
          <a:xfrm>
            <a:off x="7863840" y="438912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Call the number on your real bill or card.</a:t>
            </a:r>
            <a:endParaRPr lang="en-US" sz="1700" dirty="0" b="1"/>
          </a:p>
        </p:txBody>
      </p:sp>
      <p:sp>
        <p:nvSpPr>
          <p:cNvPr id="27" name="Question 4"/>
          <p:cNvSpPr/>
          <p:nvPr/>
        </p:nvSpPr>
        <p:spPr>
          <a:xfrm>
            <a:off x="5138928" y="544068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Tell someone.</a:t>
            </a:r>
            <a:endParaRPr lang="en-US" sz="1700" dirty="0" b="1"/>
          </a:p>
        </p:txBody>
      </p:sp>
      <p:sp>
        <p:nvSpPr>
          <p:cNvPr id="28" name="Answer bg 4"/>
          <p:cNvSpPr/>
          <p:nvPr/>
        </p:nvSpPr>
        <p:spPr>
          <a:xfrm>
            <a:off x="7863840" y="544068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9" name="Answer 4"/>
          <p:cNvSpPr/>
          <p:nvPr/>
        </p:nvSpPr>
        <p:spPr>
          <a:xfrm>
            <a:off x="7863840" y="544068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to a family member or friend you trust.</a:t>
            </a:r>
            <a:endParaRPr lang="en-US" sz="17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13294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07533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14300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A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54533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one word.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A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one word.</a:t>
            </a:r>
            <a:endParaRPr lang="en-US" sz="2000" dirty="0" b="1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your answers.</a:t>
            </a:r>
            <a:endParaRPr lang="en-US" sz="2000" dirty="0" b="1"/>
          </a:p>
        </p:txBody>
      </p:sp>
      <p:sp>
        <p:nvSpPr>
          <p:cNvPr id="31" name="R1 card"/>
          <p:cNvSpPr/>
          <p:nvPr/>
        </p:nvSpPr>
        <p:spPr>
          <a:xfrm>
            <a:off x="1583741" y="2123237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123237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15813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123237"/>
            <a:ext cx="404164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scam is a trick ____ takes your money.</a:t>
            </a:r>
            <a:endParaRPr lang="en-US" sz="1600" dirty="0"/>
          </a:p>
        </p:txBody>
      </p:sp>
      <p:sp>
        <p:nvSpPr>
          <p:cNvPr id="35" name="R1 ans"/>
          <p:cNvSpPr/>
          <p:nvPr/>
        </p:nvSpPr>
        <p:spPr>
          <a:xfrm>
            <a:off x="5925312" y="2222144"/>
            <a:ext cx="16459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that</a:t>
            </a:r>
            <a:endParaRPr lang="en-US" sz="2000" dirty="0" b="1"/>
          </a:p>
        </p:txBody>
      </p:sp>
      <p:sp>
        <p:nvSpPr>
          <p:cNvPr id="36" name="R2 card"/>
          <p:cNvSpPr/>
          <p:nvPr/>
        </p:nvSpPr>
        <p:spPr>
          <a:xfrm>
            <a:off x="1583741" y="2851404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2 chip"/>
          <p:cNvSpPr/>
          <p:nvPr/>
        </p:nvSpPr>
        <p:spPr>
          <a:xfrm>
            <a:off x="544982" y="2851404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2 num"/>
          <p:cNvSpPr/>
          <p:nvPr/>
        </p:nvSpPr>
        <p:spPr>
          <a:xfrm>
            <a:off x="686714" y="288630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2</a:t>
            </a:r>
            <a:endParaRPr lang="en-US" sz="3200" dirty="0" b="1"/>
          </a:p>
        </p:txBody>
      </p:sp>
      <p:sp>
        <p:nvSpPr>
          <p:cNvPr id="39" name="R2 text"/>
          <p:cNvSpPr/>
          <p:nvPr/>
        </p:nvSpPr>
        <p:spPr>
          <a:xfrm>
            <a:off x="1810512" y="2851404"/>
            <a:ext cx="404164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trust a caller ____ asks for gift cards.</a:t>
            </a:r>
            <a:endParaRPr lang="en-US" sz="1600" dirty="0"/>
          </a:p>
        </p:txBody>
      </p:sp>
      <p:sp>
        <p:nvSpPr>
          <p:cNvPr id="40" name="R2 ans"/>
          <p:cNvSpPr/>
          <p:nvPr/>
        </p:nvSpPr>
        <p:spPr>
          <a:xfrm>
            <a:off x="5925312" y="2950312"/>
            <a:ext cx="16459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who</a:t>
            </a:r>
            <a:endParaRPr lang="en-US" sz="2000" dirty="0" b="1"/>
          </a:p>
        </p:txBody>
      </p:sp>
      <p:sp>
        <p:nvSpPr>
          <p:cNvPr id="41" name="R3 card"/>
          <p:cNvSpPr/>
          <p:nvPr/>
        </p:nvSpPr>
        <p:spPr>
          <a:xfrm>
            <a:off x="1583741" y="3579571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R3 chip"/>
          <p:cNvSpPr/>
          <p:nvPr/>
        </p:nvSpPr>
        <p:spPr>
          <a:xfrm>
            <a:off x="544982" y="3579571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3" name="R3 num"/>
          <p:cNvSpPr/>
          <p:nvPr/>
        </p:nvSpPr>
        <p:spPr>
          <a:xfrm>
            <a:off x="686714" y="3614471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3</a:t>
            </a:r>
            <a:endParaRPr lang="en-US" sz="3200" dirty="0" b="1"/>
          </a:p>
        </p:txBody>
      </p:sp>
      <p:sp>
        <p:nvSpPr>
          <p:cNvPr id="44" name="R3 text"/>
          <p:cNvSpPr/>
          <p:nvPr/>
        </p:nvSpPr>
        <p:spPr>
          <a:xfrm>
            <a:off x="1810512" y="3579571"/>
            <a:ext cx="404164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 careful with links ____ look strange.</a:t>
            </a:r>
            <a:endParaRPr lang="en-US" sz="1600" dirty="0"/>
          </a:p>
        </p:txBody>
      </p:sp>
      <p:sp>
        <p:nvSpPr>
          <p:cNvPr id="45" name="R3 ans"/>
          <p:cNvSpPr/>
          <p:nvPr/>
        </p:nvSpPr>
        <p:spPr>
          <a:xfrm>
            <a:off x="5925312" y="3678479"/>
            <a:ext cx="16459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that</a:t>
            </a:r>
            <a:endParaRPr lang="en-US" sz="2000" dirty="0" b="1"/>
          </a:p>
        </p:txBody>
      </p:sp>
      <p:sp>
        <p:nvSpPr>
          <p:cNvPr id="46" name="R4 card"/>
          <p:cNvSpPr/>
          <p:nvPr/>
        </p:nvSpPr>
        <p:spPr>
          <a:xfrm>
            <a:off x="1583741" y="4307738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R4 chip"/>
          <p:cNvSpPr/>
          <p:nvPr/>
        </p:nvSpPr>
        <p:spPr>
          <a:xfrm>
            <a:off x="544982" y="4307738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8" name="R4 num"/>
          <p:cNvSpPr/>
          <p:nvPr/>
        </p:nvSpPr>
        <p:spPr>
          <a:xfrm>
            <a:off x="686714" y="434263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4</a:t>
            </a:r>
            <a:endParaRPr lang="en-US" sz="3200" dirty="0" b="1"/>
          </a:p>
        </p:txBody>
      </p:sp>
      <p:sp>
        <p:nvSpPr>
          <p:cNvPr id="49" name="R4 text"/>
          <p:cNvSpPr/>
          <p:nvPr/>
        </p:nvSpPr>
        <p:spPr>
          <a:xfrm>
            <a:off x="1810512" y="4307738"/>
            <a:ext cx="404164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Never give your PIN to ____.</a:t>
            </a:r>
            <a:endParaRPr lang="en-US" sz="1600" dirty="0"/>
          </a:p>
        </p:txBody>
      </p:sp>
      <p:sp>
        <p:nvSpPr>
          <p:cNvPr id="50" name="R4 ans"/>
          <p:cNvSpPr/>
          <p:nvPr/>
        </p:nvSpPr>
        <p:spPr>
          <a:xfrm>
            <a:off x="5925312" y="4406646"/>
            <a:ext cx="16459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anyone</a:t>
            </a:r>
            <a:endParaRPr lang="en-US" sz="2000" dirty="0" b="1"/>
          </a:p>
        </p:txBody>
      </p:sp>
      <p:sp>
        <p:nvSpPr>
          <p:cNvPr id="51" name="R5 card"/>
          <p:cNvSpPr/>
          <p:nvPr/>
        </p:nvSpPr>
        <p:spPr>
          <a:xfrm>
            <a:off x="1583741" y="5035906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R5 chip"/>
          <p:cNvSpPr/>
          <p:nvPr/>
        </p:nvSpPr>
        <p:spPr>
          <a:xfrm>
            <a:off x="544982" y="5035906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5 num"/>
          <p:cNvSpPr/>
          <p:nvPr/>
        </p:nvSpPr>
        <p:spPr>
          <a:xfrm>
            <a:off x="686714" y="5070805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5</a:t>
            </a:r>
            <a:endParaRPr lang="en-US" sz="3200" dirty="0" b="1"/>
          </a:p>
        </p:txBody>
      </p:sp>
      <p:sp>
        <p:nvSpPr>
          <p:cNvPr id="54" name="R5 text"/>
          <p:cNvSpPr/>
          <p:nvPr/>
        </p:nvSpPr>
        <p:spPr>
          <a:xfrm>
            <a:off x="1810512" y="5035906"/>
            <a:ext cx="404164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 ____ sounds too good to be true, it probably is.</a:t>
            </a:r>
            <a:endParaRPr lang="en-US" sz="1600" dirty="0"/>
          </a:p>
        </p:txBody>
      </p:sp>
      <p:sp>
        <p:nvSpPr>
          <p:cNvPr id="55" name="R5 ans"/>
          <p:cNvSpPr/>
          <p:nvPr/>
        </p:nvSpPr>
        <p:spPr>
          <a:xfrm>
            <a:off x="5925312" y="5134813"/>
            <a:ext cx="16459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something</a:t>
            </a:r>
            <a:endParaRPr lang="en-US" sz="2000" dirty="0" b="1"/>
          </a:p>
        </p:txBody>
      </p:sp>
      <p:sp>
        <p:nvSpPr>
          <p:cNvPr id="56" name="R6 card"/>
          <p:cNvSpPr/>
          <p:nvPr/>
        </p:nvSpPr>
        <p:spPr>
          <a:xfrm>
            <a:off x="1583741" y="5764073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" name="R6 chip"/>
          <p:cNvSpPr/>
          <p:nvPr/>
        </p:nvSpPr>
        <p:spPr>
          <a:xfrm>
            <a:off x="544982" y="5764073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8" name="R6 num"/>
          <p:cNvSpPr/>
          <p:nvPr/>
        </p:nvSpPr>
        <p:spPr>
          <a:xfrm>
            <a:off x="686714" y="5798972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6</a:t>
            </a:r>
            <a:endParaRPr lang="en-US" sz="3200" dirty="0" b="1"/>
          </a:p>
        </p:txBody>
      </p:sp>
      <p:sp>
        <p:nvSpPr>
          <p:cNvPr id="59" name="R6 text"/>
          <p:cNvSpPr/>
          <p:nvPr/>
        </p:nvSpPr>
        <p:spPr>
          <a:xfrm>
            <a:off x="1810512" y="5764073"/>
            <a:ext cx="404164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____ share your password. (must / mustn't)</a:t>
            </a:r>
            <a:endParaRPr lang="en-US" sz="1600" dirty="0"/>
          </a:p>
        </p:txBody>
      </p:sp>
      <p:sp>
        <p:nvSpPr>
          <p:cNvPr id="60" name="R6 ans"/>
          <p:cNvSpPr/>
          <p:nvPr/>
        </p:nvSpPr>
        <p:spPr>
          <a:xfrm>
            <a:off x="5925312" y="5862980"/>
            <a:ext cx="16459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mustn't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choic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B</a:t>
            </a:r>
            <a:endParaRPr lang="en-US" sz="4800" dirty="0" b="1"/>
          </a:p>
        </p:txBody>
      </p:sp>
      <p:sp>
        <p:nvSpPr>
          <p:cNvPr id="7" name="instr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Circle the correct words.</a:t>
            </a:r>
            <a:endParaRPr lang="en-US" sz="2000" dirty="0"/>
          </a:p>
        </p:txBody>
      </p:sp>
      <p:sp>
        <p:nvSpPr>
          <p:cNvPr id="8" name="R1 stmt"/>
          <p:cNvSpPr/>
          <p:nvPr/>
        </p:nvSpPr>
        <p:spPr>
          <a:xfrm>
            <a:off x="502920" y="3108960"/>
            <a:ext cx="608076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1. I got a text ____ said I won a prize.</a:t>
            </a:r>
            <a:endParaRPr lang="en-US" sz="1600" dirty="0"/>
          </a:p>
        </p:txBody>
      </p:sp>
      <p:sp>
        <p:nvSpPr>
          <p:cNvPr id="9" name="R1 opt1"/>
          <p:cNvSpPr/>
          <p:nvPr/>
        </p:nvSpPr>
        <p:spPr>
          <a:xfrm>
            <a:off x="6766560" y="310896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that</a:t>
            </a:r>
            <a:endParaRPr lang="en-US" sz="1500" dirty="0" b="1"/>
          </a:p>
        </p:txBody>
      </p:sp>
      <p:sp>
        <p:nvSpPr>
          <p:cNvPr id="10" name="R1 opt2"/>
          <p:cNvSpPr/>
          <p:nvPr/>
        </p:nvSpPr>
        <p:spPr>
          <a:xfrm>
            <a:off x="8961120" y="310896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who</a:t>
            </a:r>
            <a:endParaRPr lang="en-US" sz="1500" dirty="0" b="1"/>
          </a:p>
        </p:txBody>
      </p:sp>
      <p:sp>
        <p:nvSpPr>
          <p:cNvPr id="11" name="R1 circle"/>
          <p:cNvSpPr/>
          <p:nvPr/>
        </p:nvSpPr>
        <p:spPr>
          <a:xfrm>
            <a:off x="6638544" y="3054096"/>
            <a:ext cx="22677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2" name="R2 stmt"/>
          <p:cNvSpPr/>
          <p:nvPr/>
        </p:nvSpPr>
        <p:spPr>
          <a:xfrm>
            <a:off x="502920" y="3657600"/>
            <a:ext cx="608076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2. The woman ____ called was from my bank.</a:t>
            </a:r>
            <a:endParaRPr lang="en-US" sz="1600" dirty="0"/>
          </a:p>
        </p:txBody>
      </p:sp>
      <p:sp>
        <p:nvSpPr>
          <p:cNvPr id="13" name="R2 opt1"/>
          <p:cNvSpPr/>
          <p:nvPr/>
        </p:nvSpPr>
        <p:spPr>
          <a:xfrm>
            <a:off x="6766560" y="365760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who</a:t>
            </a:r>
            <a:endParaRPr lang="en-US" sz="1500" dirty="0" b="1"/>
          </a:p>
        </p:txBody>
      </p:sp>
      <p:sp>
        <p:nvSpPr>
          <p:cNvPr id="14" name="R2 opt2"/>
          <p:cNvSpPr/>
          <p:nvPr/>
        </p:nvSpPr>
        <p:spPr>
          <a:xfrm>
            <a:off x="8961120" y="365760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</a:t>
            </a:r>
            <a:endParaRPr lang="en-US" sz="1500" dirty="0" b="1"/>
          </a:p>
        </p:txBody>
      </p:sp>
      <p:sp>
        <p:nvSpPr>
          <p:cNvPr id="15" name="R2 circle"/>
          <p:cNvSpPr/>
          <p:nvPr/>
        </p:nvSpPr>
        <p:spPr>
          <a:xfrm>
            <a:off x="6638544" y="3602736"/>
            <a:ext cx="22677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6" name="R3 stmt"/>
          <p:cNvSpPr/>
          <p:nvPr/>
        </p:nvSpPr>
        <p:spPr>
          <a:xfrm>
            <a:off x="502920" y="4206240"/>
            <a:ext cx="608076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3. A man ____ asked for my PIN.</a:t>
            </a:r>
            <a:endParaRPr lang="en-US" sz="1600" dirty="0"/>
          </a:p>
        </p:txBody>
      </p:sp>
      <p:sp>
        <p:nvSpPr>
          <p:cNvPr id="17" name="R3 opt1"/>
          <p:cNvSpPr/>
          <p:nvPr/>
        </p:nvSpPr>
        <p:spPr>
          <a:xfrm>
            <a:off x="6766560" y="420624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who called</a:t>
            </a:r>
            <a:endParaRPr lang="en-US" sz="1500" dirty="0" b="1"/>
          </a:p>
        </p:txBody>
      </p:sp>
      <p:sp>
        <p:nvSpPr>
          <p:cNvPr id="18" name="R3 opt2"/>
          <p:cNvSpPr/>
          <p:nvPr/>
        </p:nvSpPr>
        <p:spPr>
          <a:xfrm>
            <a:off x="8961120" y="420624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who he called</a:t>
            </a:r>
            <a:endParaRPr lang="en-US" sz="1500" dirty="0" b="1"/>
          </a:p>
        </p:txBody>
      </p:sp>
      <p:sp>
        <p:nvSpPr>
          <p:cNvPr id="19" name="R3 circle"/>
          <p:cNvSpPr/>
          <p:nvPr/>
        </p:nvSpPr>
        <p:spPr>
          <a:xfrm>
            <a:off x="6638544" y="4151376"/>
            <a:ext cx="22677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R4 stmt"/>
          <p:cNvSpPr/>
          <p:nvPr/>
        </p:nvSpPr>
        <p:spPr>
          <a:xfrm>
            <a:off x="502920" y="4754880"/>
            <a:ext cx="608076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4. Don't click on links ____ look strange.</a:t>
            </a:r>
            <a:endParaRPr lang="en-US" sz="1600" dirty="0"/>
          </a:p>
        </p:txBody>
      </p:sp>
      <p:sp>
        <p:nvSpPr>
          <p:cNvPr id="21" name="R4 opt1"/>
          <p:cNvSpPr/>
          <p:nvPr/>
        </p:nvSpPr>
        <p:spPr>
          <a:xfrm>
            <a:off x="6766560" y="475488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that</a:t>
            </a:r>
            <a:endParaRPr lang="en-US" sz="1500" dirty="0" b="1"/>
          </a:p>
        </p:txBody>
      </p:sp>
      <p:sp>
        <p:nvSpPr>
          <p:cNvPr id="22" name="R4 opt2"/>
          <p:cNvSpPr/>
          <p:nvPr/>
        </p:nvSpPr>
        <p:spPr>
          <a:xfrm>
            <a:off x="8961120" y="475488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who</a:t>
            </a:r>
            <a:endParaRPr lang="en-US" sz="1500" dirty="0" b="1"/>
          </a:p>
        </p:txBody>
      </p:sp>
      <p:sp>
        <p:nvSpPr>
          <p:cNvPr id="23" name="R4 circle"/>
          <p:cNvSpPr/>
          <p:nvPr/>
        </p:nvSpPr>
        <p:spPr>
          <a:xfrm>
            <a:off x="6638544" y="4700016"/>
            <a:ext cx="22677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4" name="R5 stmt"/>
          <p:cNvSpPr/>
          <p:nvPr/>
        </p:nvSpPr>
        <p:spPr>
          <a:xfrm>
            <a:off x="502920" y="5303520"/>
            <a:ext cx="608076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5. You ____ tell someone you trust.</a:t>
            </a:r>
            <a:endParaRPr lang="en-US" sz="1600" dirty="0"/>
          </a:p>
        </p:txBody>
      </p:sp>
      <p:sp>
        <p:nvSpPr>
          <p:cNvPr id="25" name="R5 opt1"/>
          <p:cNvSpPr/>
          <p:nvPr/>
        </p:nvSpPr>
        <p:spPr>
          <a:xfrm>
            <a:off x="6766560" y="530352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should</a:t>
            </a:r>
            <a:endParaRPr lang="en-US" sz="1500" dirty="0" b="1"/>
          </a:p>
        </p:txBody>
      </p:sp>
      <p:sp>
        <p:nvSpPr>
          <p:cNvPr id="26" name="R5 opt2"/>
          <p:cNvSpPr/>
          <p:nvPr/>
        </p:nvSpPr>
        <p:spPr>
          <a:xfrm>
            <a:off x="8961120" y="530352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shouldn't</a:t>
            </a:r>
            <a:endParaRPr lang="en-US" sz="1500" dirty="0" b="1"/>
          </a:p>
        </p:txBody>
      </p:sp>
      <p:sp>
        <p:nvSpPr>
          <p:cNvPr id="27" name="R5 circle"/>
          <p:cNvSpPr/>
          <p:nvPr/>
        </p:nvSpPr>
        <p:spPr>
          <a:xfrm>
            <a:off x="6638544" y="5248656"/>
            <a:ext cx="22677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8" name="R6 stmt"/>
          <p:cNvSpPr/>
          <p:nvPr/>
        </p:nvSpPr>
        <p:spPr>
          <a:xfrm>
            <a:off x="502920" y="5852160"/>
            <a:ext cx="608076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6. ____ if the caller is pushy.</a:t>
            </a:r>
            <a:endParaRPr lang="en-US" sz="1600" dirty="0"/>
          </a:p>
        </p:txBody>
      </p:sp>
      <p:sp>
        <p:nvSpPr>
          <p:cNvPr id="29" name="R6 opt1"/>
          <p:cNvSpPr/>
          <p:nvPr/>
        </p:nvSpPr>
        <p:spPr>
          <a:xfrm>
            <a:off x="6766560" y="585216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Hang up</a:t>
            </a:r>
            <a:endParaRPr lang="en-US" sz="1500" dirty="0" b="1"/>
          </a:p>
        </p:txBody>
      </p:sp>
      <p:sp>
        <p:nvSpPr>
          <p:cNvPr id="30" name="R6 opt2"/>
          <p:cNvSpPr/>
          <p:nvPr/>
        </p:nvSpPr>
        <p:spPr>
          <a:xfrm>
            <a:off x="8961120" y="585216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Hang on</a:t>
            </a:r>
            <a:endParaRPr lang="en-US" sz="1500" dirty="0" b="1"/>
          </a:p>
        </p:txBody>
      </p:sp>
      <p:sp>
        <p:nvSpPr>
          <p:cNvPr id="31" name="R6 circle"/>
          <p:cNvSpPr/>
          <p:nvPr/>
        </p:nvSpPr>
        <p:spPr>
          <a:xfrm>
            <a:off x="6638544" y="5797296"/>
            <a:ext cx="22677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mistake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8060436" y="1132027"/>
            <a:ext cx="4274820" cy="586039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442448" y="1188720"/>
            <a:ext cx="1691640" cy="13716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 flipH="1">
            <a:off x="501091" y="2020824"/>
            <a:ext cx="3543300" cy="470916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 flipH="1">
            <a:off x="4388206" y="2020824"/>
            <a:ext cx="5860390" cy="470916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79328" y="457200"/>
            <a:ext cx="7295083" cy="114300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22122" y="393192"/>
            <a:ext cx="7295083" cy="1143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H="1">
            <a:off x="658368" y="1828800"/>
            <a:ext cx="3610966" cy="47091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 flipH="1">
            <a:off x="4519879" y="1828800"/>
            <a:ext cx="5860390" cy="47091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itle"/>
          <p:cNvSpPr/>
          <p:nvPr/>
        </p:nvSpPr>
        <p:spPr>
          <a:xfrm>
            <a:off x="608076" y="45720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Common Mistakes</a:t>
            </a:r>
            <a:endParaRPr lang="en-US" sz="4300" dirty="0" b="1"/>
          </a:p>
        </p:txBody>
      </p:sp>
      <p:pic>
        <p:nvPicPr>
          <p:cNvPr id="21" name="pic" descr="Block (a number): a phone and a no sig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1325880"/>
            <a:ext cx="1554480" cy="1088136"/>
          </a:xfrm>
          <a:prstGeom prst="rect">
            <a:avLst/>
          </a:prstGeom>
        </p:spPr>
      </p:pic>
      <p:sp>
        <p:nvSpPr>
          <p:cNvPr id="22" name="Dont head"/>
          <p:cNvSpPr/>
          <p:nvPr/>
        </p:nvSpPr>
        <p:spPr>
          <a:xfrm>
            <a:off x="914400" y="1938528"/>
            <a:ext cx="3108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B423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say</a:t>
            </a:r>
            <a:endParaRPr lang="en-US" sz="2200" dirty="0"/>
          </a:p>
        </p:txBody>
      </p:sp>
      <p:sp>
        <p:nvSpPr>
          <p:cNvPr id="23" name="Say head"/>
          <p:cNvSpPr/>
          <p:nvPr/>
        </p:nvSpPr>
        <p:spPr>
          <a:xfrm>
            <a:off x="4800600" y="1938528"/>
            <a:ext cx="53035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</a:t>
            </a:r>
            <a:endParaRPr lang="en-US" sz="2200" dirty="0"/>
          </a:p>
        </p:txBody>
      </p:sp>
      <p:sp>
        <p:nvSpPr>
          <p:cNvPr id="24" name="Bad 1"/>
          <p:cNvSpPr/>
          <p:nvPr/>
        </p:nvSpPr>
        <p:spPr>
          <a:xfrm>
            <a:off x="914400" y="2468880"/>
            <a:ext cx="32461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man who he called</a:t>
            </a:r>
            <a:endParaRPr lang="en-US" sz="1700" dirty="0"/>
          </a:p>
        </p:txBody>
      </p:sp>
      <p:sp>
        <p:nvSpPr>
          <p:cNvPr id="25" name="Good 1"/>
          <p:cNvSpPr/>
          <p:nvPr/>
        </p:nvSpPr>
        <p:spPr>
          <a:xfrm>
            <a:off x="4800600" y="2468880"/>
            <a:ext cx="5394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man who called</a:t>
            </a:r>
            <a:endParaRPr lang="en-US" sz="1700" dirty="0" b="1"/>
          </a:p>
        </p:txBody>
      </p:sp>
      <p:sp>
        <p:nvSpPr>
          <p:cNvPr id="26" name="Bad 2"/>
          <p:cNvSpPr/>
          <p:nvPr/>
        </p:nvSpPr>
        <p:spPr>
          <a:xfrm>
            <a:off x="914400" y="3035808"/>
            <a:ext cx="32461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text who said</a:t>
            </a:r>
            <a:endParaRPr lang="en-US" sz="1700" dirty="0"/>
          </a:p>
        </p:txBody>
      </p:sp>
      <p:sp>
        <p:nvSpPr>
          <p:cNvPr id="27" name="Good 2"/>
          <p:cNvSpPr/>
          <p:nvPr/>
        </p:nvSpPr>
        <p:spPr>
          <a:xfrm>
            <a:off x="4800600" y="3035808"/>
            <a:ext cx="5394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text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that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said</a:t>
            </a:r>
            <a:endParaRPr lang="en-US" sz="1700" dirty="0" b="1"/>
          </a:p>
        </p:txBody>
      </p:sp>
      <p:sp>
        <p:nvSpPr>
          <p:cNvPr id="28" name="Bad 3"/>
          <p:cNvSpPr/>
          <p:nvPr/>
        </p:nvSpPr>
        <p:spPr>
          <a:xfrm>
            <a:off x="914400" y="3602736"/>
            <a:ext cx="32461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Never give your PIN to nobody.</a:t>
            </a:r>
            <a:endParaRPr lang="en-US" sz="1700" dirty="0"/>
          </a:p>
        </p:txBody>
      </p:sp>
      <p:sp>
        <p:nvSpPr>
          <p:cNvPr id="29" name="Good 3"/>
          <p:cNvSpPr/>
          <p:nvPr/>
        </p:nvSpPr>
        <p:spPr>
          <a:xfrm>
            <a:off x="4800600" y="3602736"/>
            <a:ext cx="5394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Never give your PIN to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anyone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1700" dirty="0" b="1"/>
          </a:p>
        </p:txBody>
      </p:sp>
      <p:sp>
        <p:nvSpPr>
          <p:cNvPr id="30" name="Bad 4"/>
          <p:cNvSpPr/>
          <p:nvPr/>
        </p:nvSpPr>
        <p:spPr>
          <a:xfrm>
            <a:off x="914400" y="4169664"/>
            <a:ext cx="324612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trust a caller asks for money.</a:t>
            </a:r>
            <a:endParaRPr lang="en-US" sz="1700" dirty="0"/>
          </a:p>
        </p:txBody>
      </p:sp>
      <p:sp>
        <p:nvSpPr>
          <p:cNvPr id="31" name="Good 4"/>
          <p:cNvSpPr/>
          <p:nvPr/>
        </p:nvSpPr>
        <p:spPr>
          <a:xfrm>
            <a:off x="4800600" y="4169664"/>
            <a:ext cx="539496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trust a caller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who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asks for money.</a:t>
            </a:r>
            <a:endParaRPr lang="en-US" sz="1700" dirty="0" b="1"/>
          </a:p>
        </p:txBody>
      </p:sp>
      <p:sp>
        <p:nvSpPr>
          <p:cNvPr id="32" name="Bad 5"/>
          <p:cNvSpPr/>
          <p:nvPr/>
        </p:nvSpPr>
        <p:spPr>
          <a:xfrm>
            <a:off x="914400" y="5010912"/>
            <a:ext cx="32461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must to call the bank.</a:t>
            </a:r>
            <a:endParaRPr lang="en-US" sz="1700" dirty="0"/>
          </a:p>
        </p:txBody>
      </p:sp>
      <p:sp>
        <p:nvSpPr>
          <p:cNvPr id="33" name="Good 5"/>
          <p:cNvSpPr/>
          <p:nvPr/>
        </p:nvSpPr>
        <p:spPr>
          <a:xfrm>
            <a:off x="4800600" y="5010912"/>
            <a:ext cx="5394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must call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the bank.</a:t>
            </a:r>
            <a:endParaRPr lang="en-US" sz="17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drill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pic>
        <p:nvPicPr>
          <p:cNvPr id="26" name="pic" descr="Trust: a handshake and a check mar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4739" y="3680460"/>
            <a:ext cx="3449901" cy="2414930"/>
          </a:xfrm>
          <a:prstGeom prst="rect">
            <a:avLst/>
          </a:prstGeom>
        </p:spPr>
      </p:pic>
      <p:sp>
        <p:nvSpPr>
          <p:cNvPr id="4" name="Shape 2"/>
          <p:cNvSpPr/>
          <p:nvPr/>
        </p:nvSpPr>
        <p:spPr>
          <a:xfrm>
            <a:off x="560984" y="1342842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89788" y="1277417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771754" y="14173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 Check</a:t>
            </a:r>
            <a:endParaRPr lang="en-US" sz="4000" dirty="0" b="1"/>
          </a:p>
        </p:txBody>
      </p:sp>
      <p:sp>
        <p:nvSpPr>
          <p:cNvPr id="7" name="Shape 5"/>
          <p:cNvSpPr/>
          <p:nvPr/>
        </p:nvSpPr>
        <p:spPr>
          <a:xfrm>
            <a:off x="6107278" y="1382572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107278" y="3714292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035040" y="1325880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172200" y="1946757"/>
            <a:ext cx="678485" cy="678485"/>
          </a:xfrm>
          <a:prstGeom prst="star32">
            <a:avLst>
              <a:gd name="adj" fmla="val 43755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172200" y="1946757"/>
            <a:ext cx="678485" cy="67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2000" dirty="0"/>
          </a:p>
        </p:txBody>
      </p:sp>
      <p:sp>
        <p:nvSpPr>
          <p:cNvPr id="13" name="s1 label"/>
          <p:cNvSpPr/>
          <p:nvPr/>
        </p:nvSpPr>
        <p:spPr>
          <a:xfrm>
            <a:off x="6995160" y="15087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asks.</a:t>
            </a:r>
            <a:endParaRPr lang="en-US" sz="2200" dirty="0" b="1"/>
          </a:p>
        </p:txBody>
      </p:sp>
      <p:sp>
        <p:nvSpPr>
          <p:cNvPr id="14" name="Shape 12"/>
          <p:cNvSpPr/>
          <p:nvPr/>
        </p:nvSpPr>
        <p:spPr>
          <a:xfrm>
            <a:off x="6035040" y="3657600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172200" y="4278477"/>
            <a:ext cx="678485" cy="678485"/>
          </a:xfrm>
          <a:prstGeom prst="star32">
            <a:avLst>
              <a:gd name="adj" fmla="val 4375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172200" y="4278477"/>
            <a:ext cx="678485" cy="67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2000" dirty="0"/>
          </a:p>
        </p:txBody>
      </p:sp>
      <p:sp>
        <p:nvSpPr>
          <p:cNvPr id="17" name="s2 label"/>
          <p:cNvSpPr/>
          <p:nvPr/>
        </p:nvSpPr>
        <p:spPr>
          <a:xfrm>
            <a:off x="6995160" y="384048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 answers with who / that.</a:t>
            </a:r>
            <a:endParaRPr lang="en-US" sz="2200" dirty="0" b="1"/>
          </a:p>
        </p:txBody>
      </p:sp>
      <p:sp>
        <p:nvSpPr>
          <p:cNvPr id="60" name="s1 body"/>
          <p:cNvSpPr/>
          <p:nvPr/>
        </p:nvSpPr>
        <p:spPr>
          <a:xfrm>
            <a:off x="6995160" y="21031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A:</a:t>
            </a: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What's a gift card scam?</a:t>
            </a:r>
            <a:endParaRPr lang="en-US" sz="1900" dirty="0" b="0"/>
          </a:p>
        </p:txBody>
      </p:sp>
      <p:sp>
        <p:nvSpPr>
          <p:cNvPr id="70" name="s2 body"/>
          <p:cNvSpPr/>
          <p:nvPr/>
        </p:nvSpPr>
        <p:spPr>
          <a:xfrm>
            <a:off x="6995160" y="443484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B:</a:t>
            </a: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It's a call that asks you</a:t>
            </a:r>
            <a:endParaRPr lang="en-US" sz="1900" dirty="0" b="0"/>
          </a:p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 pay with gift cards.</a:t>
            </a:r>
            <a:endParaRPr lang="en-US" sz="1900" dirty="0" b="1"/>
          </a:p>
        </p:txBody>
      </p:sp>
      <p:sp>
        <p:nvSpPr>
          <p:cNvPr id="25" name="sub"/>
          <p:cNvSpPr/>
          <p:nvPr/>
        </p:nvSpPr>
        <p:spPr>
          <a:xfrm>
            <a:off x="771754" y="2148840"/>
            <a:ext cx="4572000" cy="685800"/>
          </a:xfrm>
          <a:prstGeom prst="rect">
            <a:avLst/>
          </a:prstGeom>
          <a:noFill/>
          <a:ln w="38100">
            <a:noFill/>
          </a:ln>
        </p:spPr>
        <p:txBody>
          <a:bodyPr wrap="square" lIns="91440" tIns="36576" rIns="9144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points to a picture and asks. Then switch.</a:t>
            </a:r>
            <a:endParaRPr lang="en-US" sz="2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talk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-171907" y="-142646"/>
            <a:ext cx="5937199" cy="7143293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127000">
            <a:solidFill>
              <a:srgbClr val="F1F5FB"/>
            </a:solidFill>
            <a:prstDash val="solid"/>
          </a:ln>
        </p:spPr>
        <p:txBody>
          <a:bodyPr/>
          <a:p/>
        </p:txBody>
      </p:sp>
      <p:pic>
        <p:nvPicPr>
          <p:cNvPr id="18" name="pic" descr="Warning sign: a warning triang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164" y="3418942"/>
            <a:ext cx="3882281" cy="2717597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308610" y="1260546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7414" y="1195121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head"/>
          <p:cNvSpPr/>
          <p:nvPr/>
        </p:nvSpPr>
        <p:spPr>
          <a:xfrm>
            <a:off x="502920" y="1298448"/>
            <a:ext cx="4663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  <a:endParaRPr lang="en-US" sz="40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3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Real or Scam?</a:t>
            </a:r>
            <a:endParaRPr lang="en-US" sz="3000" dirty="0" b="1"/>
          </a:p>
        </p:txBody>
      </p:sp>
      <p:sp>
        <p:nvSpPr>
          <p:cNvPr id="8" name="grouping"/>
          <p:cNvSpPr/>
          <p:nvPr/>
        </p:nvSpPr>
        <p:spPr>
          <a:xfrm>
            <a:off x="6291072" y="17830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Read the 10 messages.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734702" y="2103120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734702" y="2571293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1" name="time"/>
          <p:cNvSpPr/>
          <p:nvPr/>
        </p:nvSpPr>
        <p:spPr>
          <a:xfrm>
            <a:off x="9784080" y="2130552"/>
            <a:ext cx="192024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7:00–7:15</a:t>
            </a:r>
            <a:endParaRPr lang="en-US" sz="2000" dirty="0" b="1"/>
          </a:p>
        </p:txBody>
      </p:sp>
      <p:sp>
        <p:nvSpPr>
          <p:cNvPr id="12" name="Shape 10"/>
          <p:cNvSpPr/>
          <p:nvPr/>
        </p:nvSpPr>
        <p:spPr>
          <a:xfrm>
            <a:off x="6416345" y="3198571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91986" y="3071470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" name="Step num 1"/>
          <p:cNvSpPr/>
          <p:nvPr/>
        </p:nvSpPr>
        <p:spPr>
          <a:xfrm>
            <a:off x="6583680" y="3511296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200" dirty="0"/>
          </a:p>
        </p:txBody>
      </p:sp>
      <p:sp>
        <p:nvSpPr>
          <p:cNvPr id="20" name="Step 1"/>
          <p:cNvSpPr/>
          <p:nvPr/>
        </p:nvSpPr>
        <p:spPr>
          <a:xfrm>
            <a:off x="7315200" y="3401568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Read the 10 invented messages.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Card 1 is probably a scam.</a:t>
            </a:r>
            <a:endParaRPr lang="en-US" sz="1700" dirty="0" b="0"/>
          </a:p>
        </p:txBody>
      </p:sp>
      <p:sp>
        <p:nvSpPr>
          <p:cNvPr id="21" name="Step num 2"/>
          <p:cNvSpPr/>
          <p:nvPr/>
        </p:nvSpPr>
        <p:spPr>
          <a:xfrm>
            <a:off x="6583680" y="4489704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Step 2"/>
          <p:cNvSpPr/>
          <p:nvPr/>
        </p:nvSpPr>
        <p:spPr>
          <a:xfrm>
            <a:off x="7315200" y="4379976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Probably real or probably a scam?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It's a text that has a strange link…</a:t>
            </a:r>
            <a:endParaRPr lang="en-US" sz="1700" dirty="0" b="0"/>
          </a:p>
        </p:txBody>
      </p:sp>
      <p:sp>
        <p:nvSpPr>
          <p:cNvPr id="23" name="Step num 3"/>
          <p:cNvSpPr/>
          <p:nvPr/>
        </p:nvSpPr>
        <p:spPr>
          <a:xfrm>
            <a:off x="6583680" y="5468112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Step 3"/>
          <p:cNvSpPr/>
          <p:nvPr/>
        </p:nvSpPr>
        <p:spPr>
          <a:xfrm>
            <a:off x="7315200" y="5358384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why.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It's a text that… • It's from someone who…</a:t>
            </a:r>
            <a:endParaRPr lang="en-US" sz="17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talk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-171907" y="-142646"/>
            <a:ext cx="5937199" cy="7143293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127000">
            <a:solidFill>
              <a:srgbClr val="F1F5FB"/>
            </a:solidFill>
            <a:prstDash val="solid"/>
          </a:ln>
        </p:spPr>
        <p:txBody>
          <a:bodyPr/>
          <a:p/>
        </p:txBody>
      </p:sp>
      <p:pic>
        <p:nvPicPr>
          <p:cNvPr id="18" name="pic" descr="Hang up: a phone and a waving h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164" y="3418942"/>
            <a:ext cx="3882281" cy="2717597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308610" y="1260546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7414" y="1195121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head"/>
          <p:cNvSpPr/>
          <p:nvPr/>
        </p:nvSpPr>
        <p:spPr>
          <a:xfrm>
            <a:off x="502920" y="1298448"/>
            <a:ext cx="4663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  <a:endParaRPr lang="en-US" sz="40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3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Safe Answer</a:t>
            </a:r>
            <a:endParaRPr lang="en-US" sz="3000" dirty="0" b="1"/>
          </a:p>
        </p:txBody>
      </p:sp>
      <p:sp>
        <p:nvSpPr>
          <p:cNvPr id="8" name="grouping"/>
          <p:cNvSpPr/>
          <p:nvPr/>
        </p:nvSpPr>
        <p:spPr>
          <a:xfrm>
            <a:off x="6291072" y="17830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Read a caller card.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734702" y="2103120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734702" y="2571293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1" name="time"/>
          <p:cNvSpPr/>
          <p:nvPr/>
        </p:nvSpPr>
        <p:spPr>
          <a:xfrm>
            <a:off x="9784080" y="2130552"/>
            <a:ext cx="192024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7:00–7:15</a:t>
            </a:r>
            <a:endParaRPr lang="en-US" sz="2000" dirty="0" b="1"/>
          </a:p>
        </p:txBody>
      </p:sp>
      <p:sp>
        <p:nvSpPr>
          <p:cNvPr id="12" name="Shape 10"/>
          <p:cNvSpPr/>
          <p:nvPr/>
        </p:nvSpPr>
        <p:spPr>
          <a:xfrm>
            <a:off x="6416345" y="3198571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91986" y="3071470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" name="Step num 1"/>
          <p:cNvSpPr/>
          <p:nvPr/>
        </p:nvSpPr>
        <p:spPr>
          <a:xfrm>
            <a:off x="6583680" y="3511296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200" dirty="0"/>
          </a:p>
        </p:txBody>
      </p:sp>
      <p:sp>
        <p:nvSpPr>
          <p:cNvPr id="20" name="Step 1"/>
          <p:cNvSpPr/>
          <p:nvPr/>
        </p:nvSpPr>
        <p:spPr>
          <a:xfrm>
            <a:off x="7315200" y="3401568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is the caller: read a card.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Please tell me your PIN.</a:t>
            </a:r>
            <a:endParaRPr lang="en-US" sz="1700" dirty="0" b="0"/>
          </a:p>
        </p:txBody>
      </p:sp>
      <p:sp>
        <p:nvSpPr>
          <p:cNvPr id="21" name="Step num 2"/>
          <p:cNvSpPr/>
          <p:nvPr/>
        </p:nvSpPr>
        <p:spPr>
          <a:xfrm>
            <a:off x="6583680" y="4489704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Step 2"/>
          <p:cNvSpPr/>
          <p:nvPr/>
        </p:nvSpPr>
        <p:spPr>
          <a:xfrm>
            <a:off x="7315200" y="4379976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 gives a safe answer.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don't give information on the phone.</a:t>
            </a:r>
            <a:endParaRPr lang="en-US" sz="1700" dirty="0" b="0"/>
          </a:p>
        </p:txBody>
      </p:sp>
      <p:sp>
        <p:nvSpPr>
          <p:cNvPr id="23" name="Step num 3"/>
          <p:cNvSpPr/>
          <p:nvPr/>
        </p:nvSpPr>
        <p:spPr>
          <a:xfrm>
            <a:off x="6583680" y="5468112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Step 3"/>
          <p:cNvSpPr/>
          <p:nvPr/>
        </p:nvSpPr>
        <p:spPr>
          <a:xfrm>
            <a:off x="7315200" y="5358384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switch.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No, thank you. Goodbye.</a:t>
            </a:r>
            <a:endParaRPr lang="en-US" sz="17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40726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34965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41732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Read fast first.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81965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 the questions.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Read &amp;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RIVERSIDE COMMUNITY OFFICE · A flyer + a sample text (invented)</a:t>
            </a:r>
            <a:endParaRPr lang="en-US" sz="2000" dirty="0" b="1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 together.</a:t>
            </a:r>
            <a:endParaRPr lang="en-US" sz="2000" dirty="0" b="1"/>
          </a:p>
        </p:txBody>
      </p:sp>
      <p:sp>
        <p:nvSpPr>
          <p:cNvPr id="31" name="R1 card"/>
          <p:cNvSpPr/>
          <p:nvPr/>
        </p:nvSpPr>
        <p:spPr>
          <a:xfrm>
            <a:off x="1583741" y="2397557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397557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461565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397557"/>
            <a:ext cx="230428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Are most calls and texts scams?</a:t>
            </a:r>
            <a:endParaRPr lang="en-US" sz="1500" dirty="0"/>
          </a:p>
        </p:txBody>
      </p:sp>
      <p:sp>
        <p:nvSpPr>
          <p:cNvPr id="35" name="R1 ans"/>
          <p:cNvSpPr/>
          <p:nvPr/>
        </p:nvSpPr>
        <p:spPr>
          <a:xfrm>
            <a:off x="4187952" y="2525573"/>
            <a:ext cx="33832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No. Most are real.</a:t>
            </a:r>
            <a:endParaRPr lang="en-US" sz="1400" dirty="0" b="1"/>
          </a:p>
        </p:txBody>
      </p:sp>
      <p:sp>
        <p:nvSpPr>
          <p:cNvPr id="36" name="R2 card"/>
          <p:cNvSpPr/>
          <p:nvPr/>
        </p:nvSpPr>
        <p:spPr>
          <a:xfrm>
            <a:off x="1583741" y="3183941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2 chip"/>
          <p:cNvSpPr/>
          <p:nvPr/>
        </p:nvSpPr>
        <p:spPr>
          <a:xfrm>
            <a:off x="544982" y="3183941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2 num"/>
          <p:cNvSpPr/>
          <p:nvPr/>
        </p:nvSpPr>
        <p:spPr>
          <a:xfrm>
            <a:off x="686714" y="3247949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2</a:t>
            </a:r>
            <a:endParaRPr lang="en-US" sz="3200" dirty="0" b="1"/>
          </a:p>
        </p:txBody>
      </p:sp>
      <p:sp>
        <p:nvSpPr>
          <p:cNvPr id="39" name="R2 text"/>
          <p:cNvSpPr/>
          <p:nvPr/>
        </p:nvSpPr>
        <p:spPr>
          <a:xfrm>
            <a:off x="1810512" y="3183941"/>
            <a:ext cx="230428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real companies take gift cards for bills?</a:t>
            </a:r>
            <a:endParaRPr lang="en-US" sz="1500" dirty="0"/>
          </a:p>
        </p:txBody>
      </p:sp>
      <p:sp>
        <p:nvSpPr>
          <p:cNvPr id="40" name="R2 ans"/>
          <p:cNvSpPr/>
          <p:nvPr/>
        </p:nvSpPr>
        <p:spPr>
          <a:xfrm>
            <a:off x="4187952" y="3311957"/>
            <a:ext cx="33832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No, they don't.</a:t>
            </a:r>
            <a:endParaRPr lang="en-US" sz="1400" dirty="0" b="1"/>
          </a:p>
        </p:txBody>
      </p:sp>
      <p:sp>
        <p:nvSpPr>
          <p:cNvPr id="41" name="R3 card"/>
          <p:cNvSpPr/>
          <p:nvPr/>
        </p:nvSpPr>
        <p:spPr>
          <a:xfrm>
            <a:off x="1583741" y="3970325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R3 chip"/>
          <p:cNvSpPr/>
          <p:nvPr/>
        </p:nvSpPr>
        <p:spPr>
          <a:xfrm>
            <a:off x="544982" y="3970325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3" name="R3 num"/>
          <p:cNvSpPr/>
          <p:nvPr/>
        </p:nvSpPr>
        <p:spPr>
          <a:xfrm>
            <a:off x="686714" y="4034333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3</a:t>
            </a:r>
            <a:endParaRPr lang="en-US" sz="3200" dirty="0" b="1"/>
          </a:p>
        </p:txBody>
      </p:sp>
      <p:sp>
        <p:nvSpPr>
          <p:cNvPr id="44" name="R3 text"/>
          <p:cNvSpPr/>
          <p:nvPr/>
        </p:nvSpPr>
        <p:spPr>
          <a:xfrm>
            <a:off x="1810512" y="3970325"/>
            <a:ext cx="230428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is the first step?</a:t>
            </a:r>
            <a:endParaRPr lang="en-US" sz="1500" dirty="0"/>
          </a:p>
        </p:txBody>
      </p:sp>
      <p:sp>
        <p:nvSpPr>
          <p:cNvPr id="45" name="R3 ans"/>
          <p:cNvSpPr/>
          <p:nvPr/>
        </p:nvSpPr>
        <p:spPr>
          <a:xfrm>
            <a:off x="4187952" y="4098341"/>
            <a:ext cx="33832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Stop. Don't answer or click right away.</a:t>
            </a:r>
            <a:endParaRPr lang="en-US" sz="1400" dirty="0" b="1"/>
          </a:p>
        </p:txBody>
      </p:sp>
      <p:sp>
        <p:nvSpPr>
          <p:cNvPr id="46" name="R4 card"/>
          <p:cNvSpPr/>
          <p:nvPr/>
        </p:nvSpPr>
        <p:spPr>
          <a:xfrm>
            <a:off x="1583741" y="4756709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R4 chip"/>
          <p:cNvSpPr/>
          <p:nvPr/>
        </p:nvSpPr>
        <p:spPr>
          <a:xfrm>
            <a:off x="544982" y="4756709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8" name="R4 num"/>
          <p:cNvSpPr/>
          <p:nvPr/>
        </p:nvSpPr>
        <p:spPr>
          <a:xfrm>
            <a:off x="686714" y="4820717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4</a:t>
            </a:r>
            <a:endParaRPr lang="en-US" sz="3200" dirty="0" b="1"/>
          </a:p>
        </p:txBody>
      </p:sp>
      <p:sp>
        <p:nvSpPr>
          <p:cNvPr id="49" name="R4 text"/>
          <p:cNvSpPr/>
          <p:nvPr/>
        </p:nvSpPr>
        <p:spPr>
          <a:xfrm>
            <a:off x="1810512" y="4756709"/>
            <a:ext cx="230428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Which number should you call to check?</a:t>
            </a:r>
            <a:endParaRPr lang="en-US" sz="1500" dirty="0"/>
          </a:p>
        </p:txBody>
      </p:sp>
      <p:sp>
        <p:nvSpPr>
          <p:cNvPr id="50" name="R4 ans"/>
          <p:cNvSpPr/>
          <p:nvPr/>
        </p:nvSpPr>
        <p:spPr>
          <a:xfrm>
            <a:off x="4187952" y="4884725"/>
            <a:ext cx="33832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number on your real bill or card.</a:t>
            </a:r>
            <a:endParaRPr lang="en-US" sz="1400" dirty="0" b="1"/>
          </a:p>
        </p:txBody>
      </p:sp>
      <p:sp>
        <p:nvSpPr>
          <p:cNvPr id="51" name="R5 card"/>
          <p:cNvSpPr/>
          <p:nvPr/>
        </p:nvSpPr>
        <p:spPr>
          <a:xfrm>
            <a:off x="1583741" y="5543093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R5 chip"/>
          <p:cNvSpPr/>
          <p:nvPr/>
        </p:nvSpPr>
        <p:spPr>
          <a:xfrm>
            <a:off x="544982" y="5543093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5 num"/>
          <p:cNvSpPr/>
          <p:nvPr/>
        </p:nvSpPr>
        <p:spPr>
          <a:xfrm>
            <a:off x="686714" y="5607101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5</a:t>
            </a:r>
            <a:endParaRPr lang="en-US" sz="3200" dirty="0" b="1"/>
          </a:p>
        </p:txBody>
      </p:sp>
      <p:sp>
        <p:nvSpPr>
          <p:cNvPr id="54" name="R5 text"/>
          <p:cNvSpPr/>
          <p:nvPr/>
        </p:nvSpPr>
        <p:spPr>
          <a:xfrm>
            <a:off x="1810512" y="5543093"/>
            <a:ext cx="230428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are two warning signs in the sample text?</a:t>
            </a:r>
            <a:endParaRPr lang="en-US" sz="1500" dirty="0"/>
          </a:p>
        </p:txBody>
      </p:sp>
      <p:sp>
        <p:nvSpPr>
          <p:cNvPr id="55" name="R5 ans"/>
          <p:cNvSpPr/>
          <p:nvPr/>
        </p:nvSpPr>
        <p:spPr>
          <a:xfrm>
            <a:off x="4187952" y="5671109"/>
            <a:ext cx="33832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 asks for your PIN, and it says you must hurry (30 minutes).</a:t>
            </a:r>
            <a:endParaRPr lang="en-US" sz="14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go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4982" y="786384"/>
            <a:ext cx="5486400" cy="5731459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147718" y="2196389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992270" y="1937614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343400" y="21031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You Go  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7:25–7:30</a:t>
            </a:r>
            <a:endParaRPr lang="en-US" sz="4000" dirty="0"/>
          </a:p>
        </p:txBody>
      </p:sp>
      <p:pic>
        <p:nvPicPr>
          <p:cNvPr id="16" name="pic" descr="Fake: a dollar bill and a red X [sign: FAKE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651760"/>
            <a:ext cx="3017520" cy="2112264"/>
          </a:xfrm>
          <a:prstGeom prst="rect">
            <a:avLst/>
          </a:prstGeom>
        </p:spPr>
      </p:pic>
      <p:sp>
        <p:nvSpPr>
          <p:cNvPr id="17" name="Num 01"/>
          <p:cNvSpPr/>
          <p:nvPr/>
        </p:nvSpPr>
        <p:spPr>
          <a:xfrm>
            <a:off x="4343400" y="297180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000" dirty="0"/>
          </a:p>
        </p:txBody>
      </p:sp>
      <p:sp>
        <p:nvSpPr>
          <p:cNvPr id="18" name="Label 01"/>
          <p:cNvSpPr/>
          <p:nvPr/>
        </p:nvSpPr>
        <p:spPr>
          <a:xfrm>
            <a:off x="5120640" y="297180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Exit ticket</a:t>
            </a:r>
            <a:endParaRPr lang="en-US" sz="2200" dirty="0" b="1"/>
          </a:p>
        </p:txBody>
      </p:sp>
      <p:sp>
        <p:nvSpPr>
          <p:cNvPr id="19" name="Body 01"/>
          <p:cNvSpPr/>
          <p:nvPr/>
        </p:nvSpPr>
        <p:spPr>
          <a:xfrm>
            <a:off x="4343400" y="3520440"/>
            <a:ext cx="3520440" cy="24688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is one warning sign of a scam, and what should you do?</a:t>
            </a:r>
            <a:endParaRPr lang="en-US" sz="16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A warning sign, with who or that.</a:t>
            </a:r>
            <a:endParaRPr lang="en-US" sz="16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What to do.</a:t>
            </a:r>
            <a:endParaRPr lang="en-US" sz="16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A reason, with because.</a:t>
            </a:r>
            <a:endParaRPr lang="en-US" sz="16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Give it to me at the door.</a:t>
            </a:r>
            <a:endParaRPr lang="en-US" sz="1600" dirty="0" b="0"/>
          </a:p>
        </p:txBody>
      </p:sp>
      <p:sp>
        <p:nvSpPr>
          <p:cNvPr id="20" name="Num 02"/>
          <p:cNvSpPr/>
          <p:nvPr/>
        </p:nvSpPr>
        <p:spPr>
          <a:xfrm>
            <a:off x="8001000" y="297180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000" dirty="0"/>
          </a:p>
        </p:txBody>
      </p:sp>
      <p:sp>
        <p:nvSpPr>
          <p:cNvPr id="21" name="Label 02"/>
          <p:cNvSpPr/>
          <p:nvPr/>
        </p:nvSpPr>
        <p:spPr>
          <a:xfrm>
            <a:off x="8778240" y="297180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</a:t>
            </a:r>
            <a:endParaRPr lang="en-US" sz="2200" dirty="0" b="1"/>
          </a:p>
        </p:txBody>
      </p:sp>
      <p:sp>
        <p:nvSpPr>
          <p:cNvPr id="22" name="Body 02"/>
          <p:cNvSpPr/>
          <p:nvPr/>
        </p:nvSpPr>
        <p:spPr>
          <a:xfrm>
            <a:off x="8001000" y="3520440"/>
            <a:ext cx="3657600" cy="24688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About 15–20 minutes.</a:t>
            </a:r>
            <a:endParaRPr lang="en-US" sz="16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Write the sentence.</a:t>
            </a:r>
            <a:endParaRPr lang="en-US" sz="16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Finish your writing from Read &amp; Write C (your message).</a:t>
            </a:r>
            <a:endParaRPr lang="en-US" sz="16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Write 3 warning signs of a scam.</a:t>
            </a:r>
            <a:endParaRPr lang="en-US" sz="16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 Review (Lesson 11).</a:t>
            </a:r>
            <a:endParaRPr lang="en-US" sz="16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Bring it next week!</a:t>
            </a:r>
            <a:endParaRPr lang="en-US" sz="1600" dirty="0" b="1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goodby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7223760" y="914400"/>
            <a:ext cx="4480560" cy="51206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pic>
        <p:nvPicPr>
          <p:cNvPr id="4" name="pic" descr="Official: an official building and a check mar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  <p:sp>
        <p:nvSpPr>
          <p:cNvPr id="5" name="lesson"/>
          <p:cNvSpPr/>
          <p:nvPr/>
        </p:nvSpPr>
        <p:spPr>
          <a:xfrm>
            <a:off x="7635240" y="4434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Lesson 12  ·  Level 4</a:t>
            </a:r>
            <a:endParaRPr lang="en-US" sz="2200" b="1" dirty="0"/>
          </a:p>
        </p:txBody>
      </p:sp>
      <p:sp>
        <p:nvSpPr>
          <p:cNvPr id="6" name="Shape 3"/>
          <p:cNvSpPr/>
          <p:nvPr/>
        </p:nvSpPr>
        <p:spPr>
          <a:xfrm>
            <a:off x="661111" y="1146658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85800" y="1097280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868680" y="1325880"/>
            <a:ext cx="5806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Goodbye! See You Next Week!</a:t>
            </a:r>
            <a:endParaRPr lang="en-US" sz="4400" b="1" dirty="0"/>
          </a:p>
        </p:txBody>
      </p:sp>
      <p:sp>
        <p:nvSpPr>
          <p:cNvPr id="9" name="lead"/>
          <p:cNvSpPr/>
          <p:nvPr/>
        </p:nvSpPr>
        <p:spPr>
          <a:xfrm>
            <a:off x="777240" y="39776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 you can:</a:t>
            </a:r>
            <a:endParaRPr lang="en-US" sz="2400" b="1" dirty="0"/>
          </a:p>
        </p:txBody>
      </p:sp>
      <p:sp>
        <p:nvSpPr>
          <p:cNvPr id="10" name="bullets"/>
          <p:cNvSpPr/>
          <p:nvPr/>
        </p:nvSpPr>
        <p:spPr>
          <a:xfrm>
            <a:off x="777240" y="448056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Describe a person or a message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Name 4 warning signs of a scam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Say what to do</a:t>
            </a:r>
            <a:endParaRPr lang="en-US" sz="22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credits">
    <p:bg>
      <p:bgPr>
        <a:solidFill>
          <a:srgbClr val="C9B8F2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1371600"/>
            <a:ext cx="12191695" cy="5486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8465" y="431597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50469" y="365760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itle"/>
          <p:cNvSpPr/>
          <p:nvPr/>
        </p:nvSpPr>
        <p:spPr>
          <a:xfrm>
            <a:off x="674827" y="640080"/>
            <a:ext cx="5120640" cy="10241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5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Credits</a:t>
            </a:r>
            <a:endParaRPr lang="en-US" sz="5400" dirty="0"/>
          </a:p>
        </p:txBody>
      </p:sp>
      <p:sp>
        <p:nvSpPr>
          <p:cNvPr id="15" name="pictures"/>
          <p:cNvSpPr/>
          <p:nvPr/>
        </p:nvSpPr>
        <p:spPr>
          <a:xfrm>
            <a:off x="411480" y="2240280"/>
            <a:ext cx="11365992" cy="22402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Pictures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Vocabulary pictures use Twemoji graphics by Twitter, Inc. and other contributors (https://github.com/jdecked/twemoji), licensed under CC BY 4.0 (https://creativecommons.org/licenses/by/4.0/). The graphics were resized and combined, and signs and labels were added.</a:t>
            </a:r>
            <a:endParaRPr lang="en-US" sz="1600" dirty="0" b="0"/>
          </a:p>
        </p:txBody>
      </p:sp>
      <p:sp>
        <p:nvSpPr>
          <p:cNvPr id="16" name="names"/>
          <p:cNvSpPr/>
          <p:nvPr/>
        </p:nvSpPr>
        <p:spPr>
          <a:xfrm>
            <a:off x="411480" y="4709160"/>
            <a:ext cx="4206240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Names and story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Mrs. Lopez, Daniel, Mike, and Ana are invented names. The listening story is invented.</a:t>
            </a:r>
            <a:endParaRPr lang="en-US" sz="1600" dirty="0" b="0"/>
          </a:p>
        </p:txBody>
      </p:sp>
      <p:sp>
        <p:nvSpPr>
          <p:cNvPr id="17" name="audio"/>
          <p:cNvSpPr/>
          <p:nvPr/>
        </p:nvSpPr>
        <p:spPr>
          <a:xfrm>
            <a:off x="4846320" y="4709160"/>
            <a:ext cx="6931152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 and font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Audio: synthetic voices made with Chatterbox TTS (MIT License), cloned from short synthetic reference clips made with Kokoro-82M (Apache License 2.0). No recordings of real people were used. Each file carries an inaudible Perth watermark marking it as AI-generated. Font: Lexend Deca (OFL 1.1).</a:t>
            </a:r>
            <a:endParaRPr lang="en-US" sz="1350" dirty="0" b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© 2026 the authors. The authors license this deck under CC BY-NC-SA 4.0.</a:t>
            </a:r>
            <a:endParaRPr lang="en-US" sz="1350" dirty="0" b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Level 4 Lesson 12: Is It a Scam?</dc:title>
  <dc:subject>PptxGenJS Presentation</dc:subject>
  <dc:creator>Level 1 ESL</dc:creator>
  <cp:lastModifiedBy>Level 1 ESL</cp:lastModifiedBy>
  <cp:revision>1</cp:revision>
  <dcterms:created xsi:type="dcterms:W3CDTF">2026-10-15T20:54:31Z</dcterms:created>
  <dcterms:modified xsi:type="dcterms:W3CDTF">2026-10-15T20:54:31Z</dcterms:modified>
</cp:coreProperties>
</file>