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861" r:id="rId32"/>
    <p:sldId id="862" r:id="rId21"/>
    <p:sldId id="863" r:id="rId19"/>
    <p:sldId id="864" r:id="rId15"/>
    <p:sldId id="865" r:id="rId37"/>
    <p:sldId id="866" r:id="rId38"/>
    <p:sldId id="867" r:id="rId39"/>
    <p:sldId id="868" r:id="rId40"/>
    <p:sldId id="869" r:id="rId41"/>
    <p:sldId id="870" r:id="rId42"/>
    <p:sldId id="871" r:id="rId43"/>
    <p:sldId id="872" r:id="rId44"/>
    <p:sldId id="873" r:id="rId45"/>
    <p:sldId id="874" r:id="rId46"/>
    <p:sldId id="875" r:id="rId47"/>
    <p:sldId id="876" r:id="rId48"/>
    <p:sldId id="877" r:id="rId49"/>
    <p:sldId id="878" r:id="rId50"/>
    <p:sldId id="879" r:id="rId51"/>
    <p:sldId id="880" r:id="rId52"/>
    <p:sldId id="881" r:id="rId53"/>
    <p:sldId id="882" r:id="rId54"/>
    <p:sldId id="883" r:id="rId55"/>
    <p:sldId id="884" r:id="rId56"/>
    <p:sldId id="885" r:id="rId9"/>
    <p:sldId id="886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51.xml"/><Relationship Id="rId15" Type="http://schemas.openxmlformats.org/officeDocument/2006/relationships/slide" Target="slides/slide30.xml"/><Relationship Id="rId19" Type="http://schemas.openxmlformats.org/officeDocument/2006/relationships/slide" Target="slides/slide29.xml"/><Relationship Id="rId21" Type="http://schemas.openxmlformats.org/officeDocument/2006/relationships/slide" Target="slides/slide2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32" Type="http://schemas.openxmlformats.org/officeDocument/2006/relationships/slide" Target="slides/slide27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8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in 3 sentences. A asks one follow-up question (follow-ups on the right). Then switch.</a:t>
            </a:r>
          </a:p>
          <a:p>
            <a:r>
              <a:t>Homework Check (3 min, last click): Pairs compare Homework item 1 (it / them) and read their 3 home tips (item 3) to each other. Then they fill in the box on the Opening Talk page. Walk around. Write 2 common errors on the board (often turn off it (→ turn it off) and close the light (→ turn off the light)) and correct them together. Also put up 2 corrections from last week's exit tickets.</a:t>
            </a:r>
          </a:p>
          <a:p>
            <a:r>
              <a:t>Lesson plan: Step 1; Opening Talk page: cards, follow-ups;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6:00–6:08 · Opening Talk + Homework Check · 8 min. Pairs (7 pairs + 1 trio with 15 learners; 3–4 pairs with 7–8).</a:t>
            </a:r>
          </a:p>
          <a:p>
            <a:r>
              <a:t>Before class, write on the board: phrasal verbs + it / them</a:t>
            </a:r>
          </a:p>
          <a:p>
            <a:r>
              <a:t>Model with one learner: you say, "What do you turn off before you go to bed?" The learner answers with it / them (I turn the TV off. I turn it off at 10:00.). Then you ask, "What do you put on when it's cold?" Help them say 3 sentences. (Click to show the follow-up.)</a:t>
            </a:r>
          </a:p>
          <a:p>
            <a:r>
              <a:t>Opening Talk (5 min): learners open the Opening Talk page. A asks a card question; B answers in 3 sentences (the answer, a reason, a detail); A asks one follow-up. Switch after each card. The cards are on the next slide.</a:t>
            </a:r>
          </a:p>
          <a:p>
            <a:r>
              <a:t>If behind: one card only.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"Time Off" Say: "Asking for time off at work, planning a short trip to visit family or see a new place, packing, and leaving a detailed voicemail. Learners say why with to + verb and use verbs + to or + -ing. The company, the policy, the trips, and the phone numbers are invented."</a:t>
            </a:r>
          </a:p>
          <a:p>
            <a:r>
              <a:t>Read the three lines under "Today you will".</a:t>
            </a:r>
          </a:p>
          <a:p>
            <a:r>
              <a:t>Trips can be invented: don't assume learners can travel or have paid vacation days. A day trip in the city is always fine.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6:08–6:15 · New Words · 7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the hard words: time off (days you don't work); vacation days (paid days off); request form; approve (say yes); pack (put things in a bag); suitcase; carry-on bag (a small bag on the plane or bus); round-trip ticket (there and back); boarding pass; toiletries (toothbrush, soap); voicemail (a phone message); itinerary (the plan for a trip, with times).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Partner game (2 min): A points to a picture and asks, "Why do you need a boarding pass?" B answers with to + verb: "To get on the plane." Then B asks, "What do you enjoy doing on a trip?" Switch. 15 learners: finish with a quick team round (3 teams; you say a clue, the first team with the word gets a point). 7–8: 2 teams. 5 or fewer: one team against the clock.</a:t>
            </a:r>
          </a:p>
          <a:p>
            <a:r>
              <a:t>My Words: "Write any word you want in your language on the My Words page. It's your personal list. It's optional." Learners do it at home.</a:t>
            </a:r>
          </a:p>
          <a:p>
            <a:r>
              <a:t>If behind: teach the ★ words only.</a:t>
            </a:r>
          </a:p>
          <a:p>
            <a:r>
              <a:t>Lesson plan: Step 2; New Words page; Partner game; My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"Does a supervisor approve or pack a request?" (approve) • 2. "Is a round-trip ticket for one way or there and back?" (there and back) • 3. "Is a toothbrush a toiletry or a boarding pass?" (a toiletry)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6:15–6:30 · Listening + "Hear it, say it" · 15 min (slides 8 to 12). Individuals, then pairs check.</a:t>
            </a:r>
          </a:p>
          <a:p>
            <a:r>
              <a:t>Before you listen (2 min). Say: "Luis asks his supervisor, Ms. Adams, for time off. Then he leaves a voicemail for his sister, Rosa, and she calls back. Listen: why does he need time off?"</a:t>
            </a:r>
          </a:p>
          <a:p>
            <a:r>
              <a:t>There are 3 people: Luis, Ms. Adams and Rosa. A narrator starts and ends the listening. Each click highlights the next person.</a:t>
            </a:r>
          </a:p>
          <a:p>
            <a:r>
              <a:t>The audio (L4_L11_listening.mp3, about 1:44) plays the conversation once. Press play again for play 2. A third play is fine if the class needs it.</a:t>
            </a:r>
          </a:p>
          <a:p>
            <a:r>
              <a:t>No speaker? Read the script with a volunteer at a natural, friendly speed, two times. The script says going to and want to. People often say gonna and wanna; learners only need to recognize those words.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(the main idea). Pairs compare. Check together.</a:t>
            </a:r>
          </a:p>
          <a:p>
            <a:r>
              <a:t>Click to circle the answer: a (to visit his mother).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circle each answer (one click per item, 1 to 6): 1 5 to 7 • 2 birthday • 3 Thursday and Friday • 4 Ben • 5 42 • 6 6:30 p.m..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to, 2 working, 3 to, 4 to, 5 to, 6 planning.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"Hear it, say it" (3 min): Point to the script lines. wanna = want to: "When do you want to take it?" gonna = going to: "I'm going to take the bus." Then practice the phone number in groups with pauses: 555 · 214 · 8830. The class repeats the two lines twice.</a:t>
            </a:r>
          </a:p>
          <a:p>
            <a:r>
              <a:t>Reductions: the listening says going to and want to. People often say gonna and wanna. Learners only need to recognize the short forms, and they never write them.</a:t>
            </a:r>
          </a:p>
          <a:p>
            <a:r>
              <a:t>Lesson plan: Step 3: "Hear it, say it"; Listening page: Hear it, say it; Teacher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20). Whole class, then pairs. Show the Grammar page. The left side is the question. The right side is the answer.</a:t>
            </a:r>
          </a:p>
          <a:p>
            <a:r>
              <a:t>Show it (2 min): say, "I'm going to the store." Ask, "Why?" Answer, "To buy milk." Write: Why? → To + verb. Then say, "I enjoy cooking. I want to cook for my family." Write two lists on the board: + to: want, need, plan, decide, hope, forget, would like; + -ing: enjoy, don't mind, finish, avoid, keep.</a:t>
            </a:r>
          </a:p>
          <a:p>
            <a:r>
              <a:t>Box 1: read across: Why are you taking time off? → To visit my sister. Each click shows the answer side of one row.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verbs + to and verbs + -ing. Each click shows the answer side of one row.</a:t>
            </a:r>
          </a:p>
          <a:p>
            <a:r>
              <a:t>Rule of thumb (read it aloud): There is no rule for which verbs take to and which take -ing: learn the two short lists in Box 3. to + verb also answers Why? (To visit my sister.)</a:t>
            </a:r>
          </a:p>
          <a:p>
            <a:r>
              <a:t>Lesson plan: Step 4; Grammar Box 2; Rule of thumb.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3: the two lists. Each click shows the answer side of one row.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4: review (already, Would you mind…?, going to). Each click shows the answer side of one row.</a:t>
            </a:r>
          </a:p>
          <a:p>
            <a:r>
              <a:t>Questions and answers (2 min): Q: for see or to see? A: Use to: I'm going to Houston to see my sister. (not for see, not for to see) • Q: enjoy to travel or enjoy traveling? A: enjoy traveling. After enjoy, use -ing. • Q: How do I know: to or -ing? A: Look at the two lists in Box 3. Learn them like vocabulary.</a:t>
            </a:r>
          </a:p>
          <a:p>
            <a:r>
              <a:t>Check questions: "for see or to see?" (to see) • "enjoy to travel or enjoy traveling?" (enjoy traveling) • "want to visit or want visiting?" (want to visit).</a:t>
            </a:r>
          </a:p>
          <a:p>
            <a:r>
              <a:t>Lesson plan: Step 4; Grammar Box 4; Questions and answers.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to, 2 traveling, 3 to, 4 to, 5 working, 6 already.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correct words. Pairs check.</a:t>
            </a:r>
          </a:p>
          <a:p>
            <a:r>
              <a:t>Click to circle each answer (one click per item, 1 to 6): 1 to ask, 2 to visit, 3 packing, 4 to see, 5 taking, 6 covering.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mistakes. Read the table together: "Don't say… Say…". Read a line from Don't say. Ask: "What's the right way?" Learners try first. Then click to show the right form. Each click shows one line, in order 1 to 5.</a:t>
            </a:r>
          </a:p>
          <a:p>
            <a:r>
              <a:t>Learners can read the contrast tip on their Grammar page on their own; it is optional. You never need to read, translate, or explain it.</a:t>
            </a:r>
          </a:p>
          <a:p>
            <a:r>
              <a:t>Lesson plan: Grammar: Common mistakes;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check (last 3 min of Step 4). Pairs.</a:t>
            </a:r>
          </a:p>
          <a:p>
            <a:r>
              <a:t>A points to a picture and asks, "Why do you need a suitcase?" B answers with to + verb: "To pack my clothes." Then B asks, "What do you enjoy doing on a trip?" Switch. 15 learners: swap partners once. 5 or fewer: you join one pair.</a:t>
            </a:r>
          </a:p>
          <a:p>
            <a:r>
              <a:t>If behind: skip the pair check. Talk Time practices it.</a:t>
            </a:r>
          </a:p>
          <a:p>
            <a:r>
              <a:t>Break · 6:45–7:00 · 15 min. Write on the board: Why are you taking time off? → To visit my sister. • I want to go. I enjoy traveling. • I'm calling to ask about my vacation days.</a:t>
            </a:r>
          </a:p>
          <a:p>
            <a:r>
              <a:t>Lesson plan: Step 4: Pair check; Break.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7:00–7:15 · Talk Time: Trip Planner + Voicemail Relay · 15 min.</a:t>
            </a:r>
          </a:p>
          <a:p>
            <a:r>
              <a:t>Model it first (1 min): read trip card A: "Visit family in another state for 4 days." Say, "I'm going to Dallas to visit my cousins. I want to see the new baby. I enjoy cooking with my aunt." Then model a voicemail: "Hi, it's Ms. Lee. I'm calling to tell you about my trip. I'm leaving on Friday. Call me back at 555 · 301 · 7720."</a:t>
            </a:r>
          </a:p>
          <a:p>
            <a:r>
              <a:t>Round 1 (7 min): Trip Planner (pairs). Pairs choose a trip card. They plan why (to…), what they want to do and enjoy doing, and what to pack. Then they fill in the time-off request. Each click shows the next step.</a:t>
            </a:r>
          </a:p>
          <a:p>
            <a:r>
              <a:t>15 learners: pairs; then back-to-back rows. 7–8 learners: pairs; then one rotation. 5 or fewer: pairs; you check the notes.</a:t>
            </a:r>
          </a:p>
          <a:p>
            <a:r>
              <a:t>Lesson plan: Step 5; Talk Time: Trip Planner.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(6 min): Voicemail Relay (back to back). A leaves a voicemail of 30–45 seconds: name, reason for calling (to…), dates, and an invented callback number. B takes notes and reads them back. Switch. Each click shows the next step.</a:t>
            </a:r>
          </a:p>
          <a:p>
            <a:r>
              <a:t>15 learners: pairs; then back-to-back rows. 7–8 learners: pairs; then one rotation. 5 or fewer: pairs; you check the notes.</a:t>
            </a:r>
          </a:p>
          <a:p>
            <a:r>
              <a:t>Every answer needs a reason; every partner asks a follow-up. Walk around and listen. Note 2 good sentences to praise and 1 common error for next week.</a:t>
            </a:r>
          </a:p>
          <a:p>
            <a:r>
              <a:t>If behind: round 1 only.</a:t>
            </a:r>
          </a:p>
          <a:p>
            <a:r>
              <a:t>Lesson plan: Step 5; Talk Time: Voicemail Relay.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7:15–7:25 · Read &amp; Write: A time-off policy + a packing list · 10 min. Pairs read, then individual writing.</a:t>
            </a:r>
          </a:p>
          <a:p>
            <a:r>
              <a:t>Read (4 min): Learners read the invented company policy and Luis's packing list on the Read &amp; Write page and answer the questions. Say: "Read fast first. Then find the answers." Pairs answer questions 1–5 together.</a:t>
            </a:r>
          </a:p>
          <a:p>
            <a:r>
              <a:t>Check (1 min): click to show each answer (one click per question, 1 to 5): 1 At least two weeks ahead. • 2 From your supervisor or in the break room. • 3 Within three days. • 4 5. • 5 A birthday card.</a:t>
            </a:r>
          </a:p>
          <a:p>
            <a:r>
              <a:t>Write (5 min): Learners write an email (5–8 sentences) to a supervisor asking for time off: the dates, the reason (to…), who can cover, and thanks. Show the example. Writing check 4: collect this email and write one strength and one fix. Learners start in class and finish at home (Homework item 2).</a:t>
            </a:r>
          </a:p>
          <a:p>
            <a:r>
              <a:t>If behind: questions 1–5 only; the writing becomes homework.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+ Homework · 5 min · NEVER SKIP.</a:t>
            </a:r>
          </a:p>
          <a:p>
            <a:r>
              <a:t>Exit ticket (3 min): learners open the Exit Ticket page and answer in 3 sentences with a reason: Where would you like to go on a trip, and why? Example on the board: I would like to go to the beach to relax. I enjoy swimming in the ocean. It's also a good place for my family, because my kids love the water. With 5 or fewer, a learner can say it to you first and then write it.</a:t>
            </a:r>
          </a:p>
          <a:p>
            <a:r>
              <a:t>Collect the pages. After class, sort them into ✓ / almost / not yet. Start next week with 2 corrections on the board (no names).</a:t>
            </a:r>
          </a:p>
          <a:p>
            <a:r>
              <a:t>Homework (2 min): open the Homework page. Do item 1 together (item 1: I / enjoy / travel / by bus → I enjoy traveling by bus.). Say: "About 15–20 minutes. Finish your Read &amp; Write writing at home."</a:t>
            </a:r>
          </a:p>
          <a:p>
            <a:r>
              <a:t>Homework items: 1. Write the sentence. Use to or -ing. • 2. Finish your writing from Read &amp; Write C (your email). Read it one more time. Check ✓ the list in D. • 3. Plan a short trip (real or invented). Write where, why (to…), and 3 things to pack. • 4. Review (Lesson 10). Write one word.</a:t>
            </a:r>
          </a:p>
          <a:p>
            <a:r>
              <a:t>Writing check 4 (Week 12): collect the time-off email. Write one strength and one fix on each. Learners keep them in their writing folder.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Time off: a calendar and a palm tree [sign: DAY OFF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11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Time Off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for time off and give a reason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why with to + verb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Leave a voicemail and take notes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goal is a good goal.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678668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51548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for time off and give a reason.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22936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22936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39029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22936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why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verb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to Houston to see my sister.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5643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10417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10417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62651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10417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verbs +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want, need, plan, decide, hope, forget, would like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 and verbs +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enjoy, don't mind, finish, avoid, keep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743919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397898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397898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413992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397898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leave a detailed voicemail and take voicemail notes.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53140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185380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185380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01473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185380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an email (5–8 sentences) to a supervisor asking for time off.</a:t>
            </a:r>
            <a:endParaRPr lang="en-US" sz="15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188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Vacation days: a beach with an umbrella and a calend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turn off before you go to bed?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sentences: the answer, a reason, and a detail.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When? Why? Did you turn it off?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turn off before you go to bed?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put on when it's cold?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 you take out the trash this week?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can you do to save energy at home?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10, items 1 and 3.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Time off: a calendar and a palm tree [sign: DAY OFF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time off</a:t>
            </a:r>
            <a:endParaRPr lang="en-US" sz="2000" dirty="0" b="1"/>
          </a:p>
        </p:txBody>
      </p:sp>
      <p:pic>
        <p:nvPicPr>
          <p:cNvPr id="19" name="Word picture 2" descr="Vacation days: a beach with an umbrella and a calenda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vacation days</a:t>
            </a:r>
            <a:endParaRPr lang="en-US" sz="2000" dirty="0" b="1"/>
          </a:p>
        </p:txBody>
      </p:sp>
      <p:pic>
        <p:nvPicPr>
          <p:cNvPr id="21" name="Word picture 3" descr="Request form: a paper and a pencil [sign: REQUEST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request form</a:t>
            </a:r>
            <a:endParaRPr lang="en-US" sz="2000" dirty="0" b="1"/>
          </a:p>
        </p:txBody>
      </p:sp>
      <p:pic>
        <p:nvPicPr>
          <p:cNvPr id="23" name="Word picture 4" descr="Approve: an office worker and a check mark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approve</a:t>
            </a:r>
            <a:endParaRPr lang="en-US" sz="2000" dirty="0" b="1"/>
          </a:p>
        </p:txBody>
      </p:sp>
      <p:pic>
        <p:nvPicPr>
          <p:cNvPr id="25" name="Word picture 5" descr="Pack: a shirt and a suitca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pack</a:t>
            </a:r>
            <a:endParaRPr lang="en-US" sz="2000" dirty="0" b="1"/>
          </a:p>
        </p:txBody>
      </p:sp>
      <p:pic>
        <p:nvPicPr>
          <p:cNvPr id="27" name="Word picture 6" descr="Suitcase: a suitca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suitcase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29184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do you need it?</a:t>
            </a:r>
            <a:endParaRPr lang="en-US" sz="2200" dirty="0" b="1"/>
          </a:p>
        </p:txBody>
      </p:sp>
      <p:pic>
        <p:nvPicPr>
          <p:cNvPr id="17" name="Word picture 1" descr="Carry-on bag: a backpack and an airplan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carry-on bag</a:t>
            </a:r>
            <a:endParaRPr lang="en-US" sz="2000" dirty="0" b="1"/>
          </a:p>
        </p:txBody>
      </p:sp>
      <p:pic>
        <p:nvPicPr>
          <p:cNvPr id="19" name="Word picture 2" descr="Round-trip ticket: a ticket and a repeat arrow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round-trip ticket</a:t>
            </a:r>
            <a:endParaRPr lang="en-US" sz="1800" dirty="0" b="1"/>
          </a:p>
        </p:txBody>
      </p:sp>
      <p:pic>
        <p:nvPicPr>
          <p:cNvPr id="21" name="Word picture 3" descr="Boarding pass: a ticket and an airplane [sign: GATE 12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boarding pass</a:t>
            </a:r>
            <a:endParaRPr lang="en-US" sz="2000" dirty="0" b="1"/>
          </a:p>
        </p:txBody>
      </p:sp>
      <p:pic>
        <p:nvPicPr>
          <p:cNvPr id="23" name="Word picture 4" descr="Toiletries: a toothbrush and a lotion bottl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toiletries</a:t>
            </a:r>
            <a:endParaRPr lang="en-US" sz="2000" dirty="0" b="1"/>
          </a:p>
        </p:txBody>
      </p:sp>
      <p:pic>
        <p:nvPicPr>
          <p:cNvPr id="25" name="Word picture 5" descr="Voicemail: a phone and a speaking head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voicemail</a:t>
            </a:r>
            <a:endParaRPr lang="en-US" sz="2000" dirty="0" b="1"/>
          </a:p>
        </p:txBody>
      </p:sp>
      <p:pic>
        <p:nvPicPr>
          <p:cNvPr id="27" name="Word picture 6" descr="Itinerary: a map and a clipboard [sign: FRI 8:00 AM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itinerary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a supervisor approve or pack a request?</a:t>
            </a:r>
            <a:endParaRPr lang="en-US" sz="1600" dirty="0" b="1"/>
          </a:p>
        </p:txBody>
      </p:sp>
      <p:pic>
        <p:nvPicPr>
          <p:cNvPr id="101" name="R1 pic" descr="Approve: an office worker and a check mar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round-trip ticket for one way or there and back?</a:t>
            </a:r>
            <a:endParaRPr lang="en-US" sz="1600" dirty="0" b="1"/>
          </a:p>
        </p:txBody>
      </p:sp>
      <p:pic>
        <p:nvPicPr>
          <p:cNvPr id="102" name="R2 pic" descr="Round-trip ticket: a ticket and a repeat arrow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toothbrush a toiletry or a boarding pass?</a:t>
            </a:r>
            <a:endParaRPr lang="en-US" sz="1600" dirty="0" b="1"/>
          </a:p>
        </p:txBody>
      </p:sp>
      <p:pic>
        <p:nvPicPr>
          <p:cNvPr id="103" name="R3 pic" descr="Boarding pass: a ticket and an airplane [sign: GATE 12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approve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and back</a:t>
            </a:r>
            <a:endParaRPr lang="en-US" sz="22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toiletry</a:t>
            </a:r>
            <a:endParaRPr lang="en-US" sz="22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Luis asks his supervisor, Ms. Adams, for time off. Then he leaves a voicemail for his sister, Rosa, and she calls back.</a:t>
            </a:r>
            <a:endParaRPr lang="en-US" sz="16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Suitcase: a suitcas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Luis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Ms. Adams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Rosa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does he need time off?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2: Tasks B and C.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1:44.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Why does Luis need time off?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7830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246888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to visit his mother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4924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to see a doctor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22960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to move to a new apartment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2340864" y="3054096"/>
            <a:ext cx="29992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Complete the notes.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answer.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Dates: June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62940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 to 7</a:t>
            </a:r>
            <a:endParaRPr lang="en-US" sz="1400" dirty="0" b="1"/>
          </a:p>
        </p:txBody>
      </p:sp>
      <p:sp>
        <p:nvSpPr>
          <p:cNvPr id="10" name="R1 opt2"/>
          <p:cNvSpPr/>
          <p:nvPr/>
        </p:nvSpPr>
        <p:spPr>
          <a:xfrm>
            <a:off x="886968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15 to 17</a:t>
            </a:r>
            <a:endParaRPr lang="en-US" sz="1400" dirty="0" b="1"/>
          </a:p>
        </p:txBody>
      </p:sp>
      <p:sp>
        <p:nvSpPr>
          <p:cNvPr id="11" name="R1 circle"/>
          <p:cNvSpPr/>
          <p:nvPr/>
        </p:nvSpPr>
        <p:spPr>
          <a:xfrm>
            <a:off x="6501384" y="30540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Reason: his mother's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62940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birthday</a:t>
            </a:r>
            <a:endParaRPr lang="en-US" sz="1400" dirty="0" b="1"/>
          </a:p>
        </p:txBody>
      </p:sp>
      <p:sp>
        <p:nvSpPr>
          <p:cNvPr id="14" name="R2 opt2"/>
          <p:cNvSpPr/>
          <p:nvPr/>
        </p:nvSpPr>
        <p:spPr>
          <a:xfrm>
            <a:off x="886968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wedding</a:t>
            </a:r>
            <a:endParaRPr lang="en-US" sz="1400" dirty="0" b="1"/>
          </a:p>
        </p:txBody>
      </p:sp>
      <p:sp>
        <p:nvSpPr>
          <p:cNvPr id="15" name="R2 circle"/>
          <p:cNvSpPr/>
          <p:nvPr/>
        </p:nvSpPr>
        <p:spPr>
          <a:xfrm>
            <a:off x="6501384" y="360273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Anna will cover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62940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Thursday and Friday</a:t>
            </a:r>
            <a:endParaRPr lang="en-US" sz="1400" dirty="0" b="1"/>
          </a:p>
        </p:txBody>
      </p:sp>
      <p:sp>
        <p:nvSpPr>
          <p:cNvPr id="18" name="R3 opt2"/>
          <p:cNvSpPr/>
          <p:nvPr/>
        </p:nvSpPr>
        <p:spPr>
          <a:xfrm>
            <a:off x="886968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Saturday</a:t>
            </a:r>
            <a:endParaRPr lang="en-US" sz="1400" dirty="0" b="1"/>
          </a:p>
        </p:txBody>
      </p:sp>
      <p:sp>
        <p:nvSpPr>
          <p:cNvPr id="19" name="R3 circle"/>
          <p:cNvSpPr/>
          <p:nvPr/>
        </p:nvSpPr>
        <p:spPr>
          <a:xfrm>
            <a:off x="6501384" y="415137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For Saturday, Ms. Adams says to ask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62940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Ben</a:t>
            </a:r>
            <a:endParaRPr lang="en-US" sz="1400" dirty="0" b="1"/>
          </a:p>
        </p:txBody>
      </p:sp>
      <p:sp>
        <p:nvSpPr>
          <p:cNvPr id="22" name="R4 opt2"/>
          <p:cNvSpPr/>
          <p:nvPr/>
        </p:nvSpPr>
        <p:spPr>
          <a:xfrm>
            <a:off x="886968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Rosa</a:t>
            </a:r>
            <a:endParaRPr lang="en-US" sz="1400" dirty="0" b="1"/>
          </a:p>
        </p:txBody>
      </p:sp>
      <p:sp>
        <p:nvSpPr>
          <p:cNvPr id="23" name="R4 circle"/>
          <p:cNvSpPr/>
          <p:nvPr/>
        </p:nvSpPr>
        <p:spPr>
          <a:xfrm>
            <a:off x="6501384" y="470001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Bus number: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62940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42</a:t>
            </a:r>
            <a:endParaRPr lang="en-US" sz="1400" dirty="0" b="1"/>
          </a:p>
        </p:txBody>
      </p:sp>
      <p:sp>
        <p:nvSpPr>
          <p:cNvPr id="26" name="R5 opt2"/>
          <p:cNvSpPr/>
          <p:nvPr/>
        </p:nvSpPr>
        <p:spPr>
          <a:xfrm>
            <a:off x="886968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24</a:t>
            </a:r>
            <a:endParaRPr lang="en-US" sz="1400" dirty="0" b="1"/>
          </a:p>
        </p:txBody>
      </p:sp>
      <p:sp>
        <p:nvSpPr>
          <p:cNvPr id="27" name="R5 circle"/>
          <p:cNvSpPr/>
          <p:nvPr/>
        </p:nvSpPr>
        <p:spPr>
          <a:xfrm>
            <a:off x="6501384" y="524865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Arrival time: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62940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6:30 p.m.</a:t>
            </a:r>
            <a:endParaRPr lang="en-US" sz="1400" dirty="0" b="1"/>
          </a:p>
        </p:txBody>
      </p:sp>
      <p:sp>
        <p:nvSpPr>
          <p:cNvPr id="30" name="R6 opt2"/>
          <p:cNvSpPr/>
          <p:nvPr/>
        </p:nvSpPr>
        <p:spPr>
          <a:xfrm>
            <a:off x="886968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7:30 p.m.</a:t>
            </a:r>
            <a:endParaRPr lang="en-US" sz="1400" dirty="0" b="1"/>
          </a:p>
        </p:txBody>
      </p:sp>
      <p:sp>
        <p:nvSpPr>
          <p:cNvPr id="31" name="R6 circle"/>
          <p:cNvSpPr/>
          <p:nvPr/>
        </p:nvSpPr>
        <p:spPr>
          <a:xfrm>
            <a:off x="6501384" y="57972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the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form of the verb.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the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form of the verb.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____ ask for some time off.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222144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doesn't mind ____ on weekends.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2950312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calling ____ tell you about my trip.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367847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forget ____ bring Mom's birthday card.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406646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want everyone ____ sign it.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13481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____ surprises!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99632" y="5862980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planning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= going to, wanna = want to</a:t>
            </a:r>
            <a:endParaRPr lang="en-US" sz="18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a phone number, in groups</a:t>
            </a:r>
            <a:endParaRPr lang="en-US" sz="18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Phone numbers: groups with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pauses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do you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it?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the bus.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555 · 214 · 8830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Carry-on bag: a backpack and an airpla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+ verb answers Why?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are you taking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time off?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visit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sister in Houston.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are you going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Houston?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there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see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family.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are you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calling?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calling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ask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about my vacation days.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Round-trip ticket: a ticket and a repeat ar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verbs + to and verbs + -ing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want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do?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 visit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lake.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enjoy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doing on a trip?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enjoy taking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pictures.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you decide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do?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decided to take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bus.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mind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driving?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mind driving.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It's fine.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Boarding pass: a ticket and an airplane [sign: GATE 12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two lists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+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verb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+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want, need, plan, decide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enjoy, don't mind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hope, forget, would like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finish, avoid, keep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planning to leave on Friday.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traveling by bus.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Toiletries: a toothbrush and a lotion bott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review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WORDS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already / yet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I've already packed. Have you packed yet?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 mind + -ing?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 mind covering my shift?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to leave on Friday.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taking a day off ____ see the doctor.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925312" y="2222144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____ by train. (travel)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925312" y="2950312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traveling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decided ____ stay for 3 days.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925312" y="3678479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forget ____ pack your charger.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925312" y="4406646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doesn't mind ____ on Saturday. (work)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925312" y="5134813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I've ____ filled out the request form.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5925312" y="5862980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already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I'm calling ____ about my vacation days.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76656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ask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896112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 ask</a:t>
            </a:r>
            <a:endParaRPr lang="en-US" sz="1500" dirty="0" b="1"/>
          </a:p>
        </p:txBody>
      </p:sp>
      <p:sp>
        <p:nvSpPr>
          <p:cNvPr id="11" name="R1 circle"/>
          <p:cNvSpPr/>
          <p:nvPr/>
        </p:nvSpPr>
        <p:spPr>
          <a:xfrm>
            <a:off x="6638544" y="30540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I want ____ my aunt.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76656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visit</a:t>
            </a:r>
            <a:endParaRPr lang="en-US" sz="1500" dirty="0" b="1"/>
          </a:p>
        </p:txBody>
      </p:sp>
      <p:sp>
        <p:nvSpPr>
          <p:cNvPr id="14" name="R2 opt2"/>
          <p:cNvSpPr/>
          <p:nvPr/>
        </p:nvSpPr>
        <p:spPr>
          <a:xfrm>
            <a:off x="896112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visiting</a:t>
            </a:r>
            <a:endParaRPr lang="en-US" sz="1500" dirty="0" b="1"/>
          </a:p>
        </p:txBody>
      </p:sp>
      <p:sp>
        <p:nvSpPr>
          <p:cNvPr id="15" name="R2 circle"/>
          <p:cNvSpPr/>
          <p:nvPr/>
        </p:nvSpPr>
        <p:spPr>
          <a:xfrm>
            <a:off x="6638544" y="360273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Did you finish ____?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76656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packing</a:t>
            </a:r>
            <a:endParaRPr lang="en-US" sz="1500" dirty="0" b="1"/>
          </a:p>
        </p:txBody>
      </p:sp>
      <p:sp>
        <p:nvSpPr>
          <p:cNvPr id="18" name="R3 opt2"/>
          <p:cNvSpPr/>
          <p:nvPr/>
        </p:nvSpPr>
        <p:spPr>
          <a:xfrm>
            <a:off x="896112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pack</a:t>
            </a:r>
            <a:endParaRPr lang="en-US" sz="1500" dirty="0" b="1"/>
          </a:p>
        </p:txBody>
      </p:sp>
      <p:sp>
        <p:nvSpPr>
          <p:cNvPr id="19" name="R3 circle"/>
          <p:cNvSpPr/>
          <p:nvPr/>
        </p:nvSpPr>
        <p:spPr>
          <a:xfrm>
            <a:off x="6638544" y="415137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I hope ____ you soon.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76656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see</a:t>
            </a:r>
            <a:endParaRPr lang="en-US" sz="1500" dirty="0" b="1"/>
          </a:p>
        </p:txBody>
      </p:sp>
      <p:sp>
        <p:nvSpPr>
          <p:cNvPr id="22" name="R4 opt2"/>
          <p:cNvSpPr/>
          <p:nvPr/>
        </p:nvSpPr>
        <p:spPr>
          <a:xfrm>
            <a:off x="896112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seeing</a:t>
            </a:r>
            <a:endParaRPr lang="en-US" sz="1500" dirty="0" b="1"/>
          </a:p>
        </p:txBody>
      </p:sp>
      <p:sp>
        <p:nvSpPr>
          <p:cNvPr id="23" name="R4 circle"/>
          <p:cNvSpPr/>
          <p:nvPr/>
        </p:nvSpPr>
        <p:spPr>
          <a:xfrm>
            <a:off x="6638544" y="470001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Try to avoid ____ too many bags.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76656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taking</a:t>
            </a:r>
            <a:endParaRPr lang="en-US" sz="1500" dirty="0" b="1"/>
          </a:p>
        </p:txBody>
      </p:sp>
      <p:sp>
        <p:nvSpPr>
          <p:cNvPr id="26" name="R5 opt2"/>
          <p:cNvSpPr/>
          <p:nvPr/>
        </p:nvSpPr>
        <p:spPr>
          <a:xfrm>
            <a:off x="896112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take</a:t>
            </a:r>
            <a:endParaRPr lang="en-US" sz="1500" dirty="0" b="1"/>
          </a:p>
        </p:txBody>
      </p:sp>
      <p:sp>
        <p:nvSpPr>
          <p:cNvPr id="27" name="R5 circle"/>
          <p:cNvSpPr/>
          <p:nvPr/>
        </p:nvSpPr>
        <p:spPr>
          <a:xfrm>
            <a:off x="6638544" y="524865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Would you mind ____ my shift?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76656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covering</a:t>
            </a:r>
            <a:endParaRPr lang="en-US" sz="1500" dirty="0" b="1"/>
          </a:p>
        </p:txBody>
      </p:sp>
      <p:sp>
        <p:nvSpPr>
          <p:cNvPr id="30" name="R6 opt2"/>
          <p:cNvSpPr/>
          <p:nvPr/>
        </p:nvSpPr>
        <p:spPr>
          <a:xfrm>
            <a:off x="896112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cover</a:t>
            </a:r>
            <a:endParaRPr lang="en-US" sz="1500" dirty="0" b="1"/>
          </a:p>
        </p:txBody>
      </p:sp>
      <p:sp>
        <p:nvSpPr>
          <p:cNvPr id="31" name="R6 circle"/>
          <p:cNvSpPr/>
          <p:nvPr/>
        </p:nvSpPr>
        <p:spPr>
          <a:xfrm>
            <a:off x="6638544" y="57972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Voicemail: a phone and a speaking he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went to Houston for see my sister.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went to Houston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see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sister.</a:t>
            </a:r>
            <a:endParaRPr lang="en-US" sz="17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310128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to travel.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310128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traveling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877056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want visit my family.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3877056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want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visit my family.</a:t>
            </a:r>
            <a:endParaRPr lang="en-US" sz="17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443984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planning leave on Friday.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443984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planning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leave on Friday.</a:t>
            </a:r>
            <a:endParaRPr lang="en-US" sz="1700" dirty="0" b="1"/>
          </a:p>
        </p:txBody>
      </p:sp>
      <p:sp>
        <p:nvSpPr>
          <p:cNvPr id="32" name="Bad 5"/>
          <p:cNvSpPr/>
          <p:nvPr/>
        </p:nvSpPr>
        <p:spPr>
          <a:xfrm>
            <a:off x="914400" y="5010912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forget pack your toiletries.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010912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forget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pack your toiletries.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Itinerary: a map and a clipboard [sign: FRI 8:00 AM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with to + verb.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Why do you need a suitcase?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pack my clothes.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enjoy doing on a trip?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 to a picture and asks. Then switch.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Suitcase: a suitcas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Trip Planner</a:t>
            </a:r>
            <a:endParaRPr lang="en-US" sz="30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Choose a trip card.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Choose a trip card.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We're going to the lake to relax.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Plan the trip together.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swimming. Don't forget to pack…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Fill in the time-off request.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 • Dates • Reason (to…) • Who can cover my shift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Voicemail: a phone and a speaking he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Voicemail Relay</a:t>
            </a:r>
            <a:endParaRPr lang="en-US" sz="30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Sit back to back.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30–45 seconds.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leaves a voicemail.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Hi, this is… I'm calling to…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takes notes and reads them back.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So, your name is… and your number is…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 you call me back at…?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fast first.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GREENLEAF FOODS · A policy + a packing list (invented)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early should you ask for time off?</a:t>
            </a:r>
            <a:endParaRPr lang="en-US" sz="1500" dirty="0"/>
          </a:p>
        </p:txBody>
      </p:sp>
      <p:sp>
        <p:nvSpPr>
          <p:cNvPr id="35" name="R1 ans"/>
          <p:cNvSpPr/>
          <p:nvPr/>
        </p:nvSpPr>
        <p:spPr>
          <a:xfrm>
            <a:off x="4187952" y="2525573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least two weeks ahead.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can you get the form?</a:t>
            </a:r>
            <a:endParaRPr lang="en-US" sz="1500" dirty="0"/>
          </a:p>
        </p:txBody>
      </p:sp>
      <p:sp>
        <p:nvSpPr>
          <p:cNvPr id="40" name="R2 ans"/>
          <p:cNvSpPr/>
          <p:nvPr/>
        </p:nvSpPr>
        <p:spPr>
          <a:xfrm>
            <a:off x="4187952" y="3311957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From your supervisor or in the break room.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will the supervisor answer?</a:t>
            </a:r>
            <a:endParaRPr lang="en-US" sz="1500" dirty="0"/>
          </a:p>
        </p:txBody>
      </p:sp>
      <p:sp>
        <p:nvSpPr>
          <p:cNvPr id="45" name="R3 ans"/>
          <p:cNvSpPr/>
          <p:nvPr/>
        </p:nvSpPr>
        <p:spPr>
          <a:xfrm>
            <a:off x="4187952" y="4098341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Within three days.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many vacation days do part-time workers get?</a:t>
            </a:r>
            <a:endParaRPr lang="en-US" sz="1500" dirty="0"/>
          </a:p>
        </p:txBody>
      </p:sp>
      <p:sp>
        <p:nvSpPr>
          <p:cNvPr id="50" name="R4 ans"/>
          <p:cNvSpPr/>
          <p:nvPr/>
        </p:nvSpPr>
        <p:spPr>
          <a:xfrm>
            <a:off x="4187952" y="4884725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Luis bringing for his mother?</a:t>
            </a:r>
            <a:endParaRPr lang="en-US" sz="1500" dirty="0"/>
          </a:p>
        </p:txBody>
      </p:sp>
      <p:sp>
        <p:nvSpPr>
          <p:cNvPr id="55" name="R5 ans"/>
          <p:cNvSpPr/>
          <p:nvPr/>
        </p:nvSpPr>
        <p:spPr>
          <a:xfrm>
            <a:off x="4187952" y="5671109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birthday card.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Approve: an office worker and a check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would you like to go on a trip, and why?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Where and why, with to + verb.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Something you enjoy, with enjoy + -ing.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One more reason, with because.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6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15–20 minutes.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sentence.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writing from Read &amp; Write C (your email).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Plan a short trip (real or invented).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(Lesson 10).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6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Pack: a shirt and a suit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11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for time off and give a reason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why with to + verb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Leave a voicemail and take notes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Luis, Ms. Adams, Rosa, Ms. Lee, Ben, and Carla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License), cloned from short synthetic reference clips made with Kokoro-82M (Apache License 2.0). No recordings of real people were used. Each file carries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4 Lesson 11: Time Off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