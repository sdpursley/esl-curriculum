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4.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26.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2.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705" r:id="rId32"/>
    <p:sldId id="706" r:id="rId21"/>
    <p:sldId id="707" r:id="rId19"/>
    <p:sldId id="708" r:id="rId15"/>
    <p:sldId id="709" r:id="rId37"/>
    <p:sldId id="710" r:id="rId38"/>
    <p:sldId id="711" r:id="rId39"/>
    <p:sldId id="712" r:id="rId40"/>
    <p:sldId id="713" r:id="rId41"/>
    <p:sldId id="714" r:id="rId42"/>
    <p:sldId id="715" r:id="rId43"/>
    <p:sldId id="716" r:id="rId44"/>
    <p:sldId id="717" r:id="rId45"/>
    <p:sldId id="718" r:id="rId46"/>
    <p:sldId id="719" r:id="rId47"/>
    <p:sldId id="720" r:id="rId48"/>
    <p:sldId id="721" r:id="rId49"/>
    <p:sldId id="722" r:id="rId50"/>
    <p:sldId id="723" r:id="rId51"/>
    <p:sldId id="724" r:id="rId52"/>
    <p:sldId id="725" r:id="rId53"/>
    <p:sldId id="726" r:id="rId54"/>
    <p:sldId id="727" r:id="rId55"/>
    <p:sldId id="728" r:id="rId56"/>
    <p:sldId id="729" r:id="rId9"/>
    <p:sldId id="730" r:id="rId5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slide" Target="slides/slide51.xml"/><Relationship Id="rId15" Type="http://schemas.openxmlformats.org/officeDocument/2006/relationships/slide" Target="slides/slide30.xml"/><Relationship Id="rId19" Type="http://schemas.openxmlformats.org/officeDocument/2006/relationships/slide" Target="slides/slide29.xml"/><Relationship Id="rId21" Type="http://schemas.openxmlformats.org/officeDocument/2006/relationships/slide" Target="slides/slide28.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32" Type="http://schemas.openxmlformats.org/officeDocument/2006/relationships/slide" Target="slides/slide27.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title: "Goodbye! See you next week!" Learners repeat.</a:t>
            </a:r>
          </a:p>
          <a:p>
            <a:r>
              <a:t>Read the three "Now you can" lines. Ask one learner: "Would you mind getting my mail?" Wait for a thumbs-up and "No, not at all."</a:t>
            </a:r>
          </a:p>
          <a:p>
            <a:r>
              <a:t>Lesson plan: At a glance: Objectives; Step 7.</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continued. The four cards from the Opening Talk page. Each click shows the next card.</a:t>
            </a:r>
          </a:p>
          <a:p>
            <a:r>
              <a:t>A asks a card question. B answers in 3 sentences. A asks one follow-up question (follow-ups on the right). Then switch. Pairs write the partner's name and one good idea from Homework item 3.</a:t>
            </a:r>
          </a:p>
          <a:p>
            <a:r>
              <a:t>Homework Check (3 min, last click): pairs compare Homework item 1 (for / since and suggestions) and read their 3 good ideas (item 3) to each other. Then they fill in the box on the Opening Talk page. Walk around. Write 2 common errors on the board (often You could to try (→ You could try) and I have a cough since Sunday (→ I've had a cough since Sunday)) and correct them together. Also put up 2 corrections from last week's exit tickets.</a:t>
            </a:r>
          </a:p>
          <a:p>
            <a:r>
              <a:t>Lesson plan: Step 1; Opening Talk page: cards, follow-ups; Homework check.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 6:00–6:08 · Opening Talk + Homework Check · 8 min. Pairs (7 pairs + 1 trio with 15 learners; 3–4 pairs with 7–8).</a:t>
            </a:r>
          </a:p>
          <a:p>
            <a:r>
              <a:t>Before class, write on the board: suggestions: Why don't you…? / You could… / It's a good idea to…</a:t>
            </a:r>
          </a:p>
          <a:p>
            <a:r>
              <a:t>Model with one learner: you say, "I sit all day at work. Any ideas?" The learner gives a suggestion. Then you ask, "Why is that a good idea?" Help them say 3 sentences. (Click to show the follow-up.)</a:t>
            </a:r>
          </a:p>
          <a:p>
            <a:r>
              <a:t>Opening Talk (5 min): learners open the Opening Talk page. A asks a card question; B answers in 3 sentences (the answer, a reason, a detail); A asks one follow-up. Switch after each card. The cards are on the next slide.</a:t>
            </a:r>
          </a:p>
          <a:p>
            <a:r>
              <a:t>If behind: one card only.</a:t>
            </a:r>
          </a:p>
          <a:p>
            <a:r>
              <a:t>Lesson plan: Step 1; Opening Talk page.</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goal slowly. Learners repeat.</a:t>
            </a:r>
          </a:p>
          <a:p>
            <a:r>
              <a:t>Goal 1: Would you mind getting my mail? Goal 2: No, not at all. I'll do it. / Sorry, I can't. I'll be away. Why don't you ask Lina? Goal 3: Do you mind if I open the window?</a:t>
            </a:r>
          </a:p>
          <a:p>
            <a:r>
              <a:t>Goal 4: the Shift Switch Text in Talk Time. Goal 5: the note in Read &amp; Write.</a:t>
            </a:r>
          </a:p>
          <a:p>
            <a:r>
              <a:t>Lesson plan: At a glance: Objectives.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learners as they arrive.</a:t>
            </a:r>
          </a:p>
          <a:p>
            <a:r>
              <a:t>Point to the title and read it: "Would you mind…?" Say: "Tonight we ask a neighbor or a coworker for a favor: the mail, the plants, a spare key, a shift. All favors, keys, and addresses are invented."</a:t>
            </a:r>
          </a:p>
          <a:p>
            <a:r>
              <a:t>Read the three lines under "Today you will". Give one quick example of each: "Would you mind getting my mail?" • "No, not at all." / "Sorry, I can't, because…" • "Do you mind if I open the window?"</a:t>
            </a:r>
          </a:p>
          <a:p>
            <a:r>
              <a:t>Invented details: all favor cards, keys, names, and addresses are invented. Learners never share real addresses or where they keep a key.</a:t>
            </a:r>
          </a:p>
          <a:p>
            <a:r>
              <a:t>Lesson plan: Topic; At a glance: Objectives;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 6:08–6:15 · New Words · 7 min (this slide and the next). Whole class, then pairs.</a:t>
            </a:r>
          </a:p>
          <a:p>
            <a:r>
              <a:t>Point to each picture and say the word. Learners repeat once. ★ = the most important words. Each click shows the next word.</a:t>
            </a:r>
          </a:p>
          <a:p>
            <a:r>
              <a:t>Show the hard words: favor (help you ask for); borrow (take and give back) vs. lend (give and get back); water the plants, feed the cat, get the mail (mime each); spare key (an extra key: show two keys).</a:t>
            </a:r>
          </a:p>
          <a:p>
            <a:r>
              <a:t>If behind: teach the ★ words only.</a:t>
            </a:r>
          </a:p>
          <a:p>
            <a:r>
              <a:t>Lesson plan: Step 2; Key vocabulary; New Words page.</a:t>
            </a:r>
          </a:p>
          <a:p>
            <a:r>
              <a:t>Pictures: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continued. Point to each picture and say the word. Learners repeat once.</a:t>
            </a:r>
          </a:p>
          <a:p>
            <a:r>
              <a:t>Show the hard words: package; switch shifts (you take my Friday, I take your Sunday) vs. cover a shift (you work my shift); be away (not at home); owe (I owe you one = I'll help you next time); thank-you note.</a:t>
            </a:r>
          </a:p>
          <a:p>
            <a:r>
              <a:t>Partner game (2 min): A points to a picture and asks, "Would you mind getting the mail?" B gives a thumbs-up and says, "No, not at all," or says, "Sorry, I can't, because…" Switch. 15 learners: finish with a quick team round (3 teams; you say a clue, the first team with the word gets a point). 7–8: 2 teams. 5 or fewer: one team against the clock.</a:t>
            </a:r>
          </a:p>
          <a:p>
            <a:r>
              <a:t>My Words: "Write any word you want in your language on the My Words page. It's your personal list. It's optional." Learners do it at home.</a:t>
            </a:r>
          </a:p>
          <a:p>
            <a:r>
              <a:t>If behind: teach the ★ words only.</a:t>
            </a:r>
          </a:p>
          <a:p>
            <a:r>
              <a:t>Lesson plan: Step 2; New Words page; Partner game; My Words page.</a:t>
            </a:r>
          </a:p>
          <a:p>
            <a:r>
              <a:t>Pictures: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 Check meaning · 1 min. Whole class.</a:t>
            </a:r>
          </a:p>
          <a:p>
            <a:r>
              <a:t>The answers are hidden. Ask each question and wait for the class to answer. Then click to show the answer. Each click shows one answer, in order: 1, 2, 3.</a:t>
            </a:r>
          </a:p>
          <a:p>
            <a:r>
              <a:t>1. "If I borrow your pen, do I give it back?" (yes) • 2. "If you cover my shift, who works?" (you do) • 3. "Is a spare key the first key or an extra key?" (an extra key)</a:t>
            </a:r>
          </a:p>
          <a:p>
            <a:r>
              <a:t>Lesson plan: Step 2: Check meaning.</a:t>
            </a:r>
          </a:p>
          <a:p>
            <a:r>
              <a:t>Pictures: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 6:15–6:30 · Listening + "Hear it, say it" · 15 min (slides 8 to 12). Individuals, then pairs check.</a:t>
            </a:r>
          </a:p>
          <a:p>
            <a:r>
              <a:t>Before you listen (2 min). Say: "Patricia is going away for a week. First, she talks to her neighbor, Mr. Wilson. Then, at work, her coworker Omar asks her for a favor. Listen: what favors do they ask for?"</a:t>
            </a:r>
          </a:p>
          <a:p>
            <a:r>
              <a:t>There are three people: Patricia, Mr. Wilson (her neighbor), and Omar (her coworker). A narrator starts and ends the listening. Each click highlights the next person.</a:t>
            </a:r>
          </a:p>
          <a:p>
            <a:r>
              <a:t>The audio (about 1:47) is coming soon. When it is ready, it plays the conversation once; press play again for play 2. Until then, read the listening script (at the end of these notes) with a volunteer.</a:t>
            </a:r>
          </a:p>
          <a:p>
            <a:r>
              <a:t>No speaker? Read the script with a volunteer at a natural, friendly speed, two times. The script says going to and want to. People often say gonna and wanna; learners only need to recognize those words.</a:t>
            </a:r>
          </a:p>
          <a:p>
            <a:r>
              <a:t>Audio: the listening audio for this lesson (about 1:47) is coming soon. It will use computer-generated voices (Chatterbox TTS cloned from synthetic Kokoro-82M reference clips); no recordings of real people. Until it is ready, read the listening script (in the notes of the Before You Listen slide) with a volunteer. The names and the story are invented.</a:t>
            </a:r>
          </a:p>
          <a:p>
            <a:r>
              <a:t>Lesson plan: Step 3; Listening script; Listening page.</a:t>
            </a:r>
          </a:p>
          <a:p>
            <a:r>
              <a:t>Picture: Twemoji graphics by Twitter, Inc. and other contributors (https://github.com/jdecked/twemoji), CC BY 4.0 (https://creativecommons.org/licenses/by/4.0/); resized and combined, with signs and labels (images/CREDITS.md).</a:t>
            </a:r>
          </a:p>
          <a:p>
            <a:r>
              <a:t>Listening script (the audio is coming soon; until then, read it aloud with a volunteer at a normal, friendly speed):</a:t>
            </a:r>
          </a:p>
          <a:p>
            <a:r>
              <a:t>Narrator: Lesson five. Patricia is going away for a week. First, she talks to her neighbor, Mr. Wilson.</a:t>
            </a:r>
          </a:p>
          <a:p>
            <a:r>
              <a:t>Patricia: Hi, Mr. Wilson. Could I ask you a favor?</a:t>
            </a:r>
          </a:p>
          <a:p>
            <a:r>
              <a:t>Mr. Wilson: Of course, Patricia. What is it?</a:t>
            </a:r>
          </a:p>
          <a:p>
            <a:r>
              <a:t>Patricia: I'm going to be away next week. I'm visiting my sister. Would you mind getting my mail?</a:t>
            </a:r>
          </a:p>
          <a:p>
            <a:r>
              <a:t>Mr. Wilson: No, not at all. I'm home all week.</a:t>
            </a:r>
          </a:p>
          <a:p>
            <a:r>
              <a:t>Patricia: Thank you! And would you mind watering my plants? Just two times, on Tuesday and Friday.</a:t>
            </a:r>
          </a:p>
          <a:p>
            <a:r>
              <a:t>Mr. Wilson: No problem. Where will the key be?</a:t>
            </a:r>
          </a:p>
          <a:p>
            <a:r>
              <a:t>Patricia: I'm going to give you my spare key tonight. Oh, and would you mind feeding my cat, too?</a:t>
            </a:r>
          </a:p>
          <a:p>
            <a:r>
              <a:t>Mr. Wilson: Sure, I'll do it. I love cats. Do you mind if I put your packages inside, too?</a:t>
            </a:r>
          </a:p>
          <a:p>
            <a:r>
              <a:t>Patricia: No, go ahead. That's very kind.</a:t>
            </a:r>
          </a:p>
          <a:p>
            <a:r>
              <a:t>Mr. Wilson: Have a good trip. Don't worry about anything.</a:t>
            </a:r>
          </a:p>
          <a:p>
            <a:r>
              <a:t>Narrator: The next day, at work, Patricia talks to her coworker, Omar.</a:t>
            </a:r>
          </a:p>
          <a:p>
            <a:r>
              <a:t>Omar: Hey, Patricia. Would you mind covering my Saturday shift? My son has a soccer game.</a:t>
            </a:r>
          </a:p>
          <a:p>
            <a:r>
              <a:t>Patricia: Oh, I'm sorry, I can't. I'll be away on Saturday. I want to help, but I can't.</a:t>
            </a:r>
          </a:p>
          <a:p>
            <a:r>
              <a:t>Omar: Oh, right. You told me.</a:t>
            </a:r>
          </a:p>
          <a:p>
            <a:r>
              <a:t>Patricia: Why don't you ask Lina? She wants more hours this month.</a:t>
            </a:r>
          </a:p>
          <a:p>
            <a:r>
              <a:t>Omar: Good idea. Do you mind if I tell her you suggested it?</a:t>
            </a:r>
          </a:p>
          <a:p>
            <a:r>
              <a:t>Patricia: No, not at all. But ask the supervisor first, OK?</a:t>
            </a:r>
          </a:p>
          <a:p>
            <a:r>
              <a:t>Omar: Sure. Thanks, Patricia. I owe you one.</a:t>
            </a:r>
          </a:p>
          <a:p>
            <a:r>
              <a:t>Patricia: You're welcome. Good luck with the game!</a:t>
            </a:r>
          </a:p>
          <a:p>
            <a:r>
              <a:t>Narrator: That's the end of the listening.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1 → Task A (the main idea). Pairs compare. Check together.</a:t>
            </a:r>
          </a:p>
          <a:p>
            <a:r>
              <a:t>Click to circle the answer: a (get the mail, water the plants, feed the cat, and cover a shift).</a:t>
            </a:r>
          </a:p>
          <a:p>
            <a:r>
              <a:t>Then read Tasks B and C together (1 min) so learners know what to listen for.</a:t>
            </a:r>
          </a:p>
          <a:p>
            <a:r>
              <a:t>Lesson plan: Step 3; Listening Task A; Answer key.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2 → Tasks B and C. Pairs compare. Then show the answers.</a:t>
            </a:r>
          </a:p>
          <a:p>
            <a:r>
              <a:t>Click to circle each answer (one click per item, 1 to 6): 1 yes • 2 Tuesday and Friday • 3 her spare key • 4 inside • 5 no • 6 will be away.</a:t>
            </a:r>
          </a:p>
          <a:p>
            <a:r>
              <a:t>Lesson plan: Step 3; Listening Task B; Answer key.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C (play 2). Click to show each answer (one click per item, 1 to 6): 1 getting, 2 watering, 3 feeding, 4 if, 5 covering, 6 if.</a:t>
            </a:r>
          </a:p>
          <a:p>
            <a:r>
              <a:t>If behind: do Task C together on the board, reading the lines yourself.</a:t>
            </a:r>
          </a:p>
          <a:p>
            <a:r>
              <a:t>Lesson plan: Step 3; Listening Task C; Answer key.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"Hear it, say it" (3 min). Point to the script lines. gonna = going to: "I'm going to be away next week." wanna = want to: "I want to help, but I can't." You can say going to and want to.</a:t>
            </a:r>
          </a:p>
          <a:p>
            <a:r>
              <a:t>Then practice Would you mind…? and Do you mind if I…? said smoothly, with a friendly rise. Answer with a thumbs-up: No, not at all! The class repeats the two lines twice.</a:t>
            </a:r>
          </a:p>
          <a:p>
            <a:r>
              <a:t>Reductions: the listening says going to and want to. People often say gonna and wanna. Learners only need to recognize the short forms.</a:t>
            </a:r>
          </a:p>
          <a:p>
            <a:r>
              <a:t>Lesson plan: Step 3: "Hear it, say it"; Listening page: Hear it, say it; Teacher notes.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 6:30–6:45 · Grammar Q&amp;A · 15 min (slides 13 to 20). Whole class, then pairs. Show the Grammar page. The left side is the question. The right side is the answer.</a:t>
            </a:r>
          </a:p>
          <a:p>
            <a:r>
              <a:t>Show it (2 min): give a learner your key. Say, "I'm going to be away. Would you mind getting my mail?" Show a thumbs-up and help the learner say, "No, not at all." Write: Would you mind + -ing? → No = "No problem. I'll do it." Then ask, "Do you mind if I open the window?" Help them say, "No, go ahead."</a:t>
            </a:r>
          </a:p>
          <a:p>
            <a:r>
              <a:t>Box 1: read across: Would you mind getting my mail? → No, not at all. I'll do it. / Sorry, I can't. Each click shows the answer side of one row.</a:t>
            </a:r>
          </a:p>
          <a:p>
            <a:r>
              <a:t>No = yes: practice the answer first, with a thumbs-up: No, not at all! Learners often say Yes and mean "I'll help." Smile and model it again.</a:t>
            </a:r>
          </a:p>
          <a:p>
            <a:r>
              <a:t>Lesson plan: Step 4; Grammar Box 1;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2: permission: Do you mind if I…? → No, go ahead. Each click shows the answer side of one row.</a:t>
            </a:r>
          </a:p>
          <a:p>
            <a:r>
              <a:t>Rule of thumb (read it aloud): After Would you mind, use -ing (getting, covering). After Do you mind if I, use the base verb (open, leave). The answer No means "No problem. I'll help." / "Yes, you can."</a:t>
            </a:r>
          </a:p>
          <a:p>
            <a:r>
              <a:t>Lesson plan: Step 4; Grammar Box 2; Rule of thumb.</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3: saying yes and saying no politely. Click to show the right side.</a:t>
            </a:r>
          </a:p>
          <a:p>
            <a:r>
              <a:t>Saying no: model sorry + a reason + another idea. A polite no is a good answer.</a:t>
            </a:r>
          </a:p>
          <a:p>
            <a:r>
              <a:t>Lesson plan: Step 4; Grammar Box 3;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4: how polite? Each click shows one row.</a:t>
            </a:r>
          </a:p>
          <a:p>
            <a:r>
              <a:t>Questions and answers (2 min): Q: Someone asks Would you mind helping me? I want to help. Do I say yes? A: No! Say No, not at all. Mind asks "Is it a problem?" No = no problem. • Q: Would you mind to get or Would you mind getting? A: After mind, use -ing: Would you mind getting my mail? • Q: How do I say no politely? A: Say sorry, give a reason, and offer an idea: Sorry, I can't. I'll be away. Why don't you ask Lina?</a:t>
            </a:r>
          </a:p>
          <a:p>
            <a:r>
              <a:t>Check questions: "Would you mind helping me? You want to help. Do you say yes or no?" (No, not at all.) • "Would you mind to get or getting?" (getting) • "Do you mind if I leaving or if I leave?" (if I leave).</a:t>
            </a:r>
          </a:p>
          <a:p>
            <a:r>
              <a:t>Lesson plan: Step 4; Grammar Box 4; Questions and answers.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A and B (3 min): learners write, then pairs check. Go over the answers.</a:t>
            </a:r>
          </a:p>
          <a:p>
            <a:r>
              <a:t>Click to show each answer (one click per item, 1 to 6): 1 watering, 2 open, 3 feeding, 4 switching, 5 borrow, 6 getting.</a:t>
            </a:r>
          </a:p>
          <a:p>
            <a:r>
              <a:t>Lesson plan: Step 4; Grammar Practice A; Answer key.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 Learners circle the correct words. Pairs check.</a:t>
            </a:r>
          </a:p>
          <a:p>
            <a:r>
              <a:t>Click to circle each answer (one click per item, 1 to 6): 1 covering, 2 No, not at all., 3 leave, 4 mine, 5 'll be, 6 to switch.</a:t>
            </a:r>
          </a:p>
          <a:p>
            <a:r>
              <a:t>Lesson plan: Step 4; Grammar Practice B; Answer key.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mistakes. Read the table together: "Don't say… Say…". Read a line from Don't say. Ask: "What's the right way?" Learners try first. Then click to show the right form. Each click shows one line, in order 1 to 5.</a:t>
            </a:r>
          </a:p>
          <a:p>
            <a:r>
              <a:t>mind + -ing: Would you mind getting…? But Do you mind if I + the base verb: Do you mind if I leave…?</a:t>
            </a:r>
          </a:p>
          <a:p>
            <a:r>
              <a:t>Learners can read the contrast tip on their Grammar page on their own; it is optional. You never need to read, translate, or explain it.</a:t>
            </a:r>
          </a:p>
          <a:p>
            <a:r>
              <a:t>Lesson plan: Grammar: Common mistakes;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 check (last 3 min of Step 4). Pairs.</a:t>
            </a:r>
          </a:p>
          <a:p>
            <a:r>
              <a:t>A asks a favor from the pictures with Would you mind…? B answers with a thumbs-up and No, not at all, or Sorry, I can't, because… Switch. 15 learners: swap partners once. 5 or fewer: you join one pair.</a:t>
            </a:r>
          </a:p>
          <a:p>
            <a:r>
              <a:t>If behind: skip the pair check. Talk Time practices it.</a:t>
            </a:r>
          </a:p>
          <a:p>
            <a:r>
              <a:t>Break · 6:45–7:00 · 15 min. Write on the board: Would you mind + -ing? → No, not at all. (= I'll help) / Sorry, I can't, because… • Do you mind if I…? → No, go ahead.</a:t>
            </a:r>
          </a:p>
          <a:p>
            <a:r>
              <a:t>Lesson plan: Step 4: Pair check; Break.</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 7:00–7:15 · Talk Time: Favor Exchange + Shift Switch Text · 15 min.</a:t>
            </a:r>
          </a:p>
          <a:p>
            <a:r>
              <a:t>Model it first (1 min): hold up a favor card and ask a learner, "Would you mind getting my mail next week?" Help them check their "my week" card and answer, "No, not at all," or "Sorry, I can't, because I'll be away. Why don't you ask Ana?" Say: "Answer, give a reason, and offer an idea."</a:t>
            </a:r>
          </a:p>
          <a:p>
            <a:r>
              <a:t>Round 1 (7 min): Favor Exchange (mingle). Each learner has a favor card and a "my week" card. Ask three people. Each person answers No, not at all or Sorry, I can't, because… and offers another idea. Write who said yes. Each click shows the next step.</a:t>
            </a:r>
          </a:p>
          <a:p>
            <a:r>
              <a:t>15 learners: a whole-room mingle for round 1. 7–8 learners: two lines face each other; move one place each round. 5 or fewer: a circle for round 1: each person asks the person on the left.</a:t>
            </a:r>
          </a:p>
          <a:p>
            <a:r>
              <a:t>Invented details: all favor cards, keys, names, and addresses are invented. Learners never share real addresses or where they keep a key.</a:t>
            </a:r>
          </a:p>
          <a:p>
            <a:r>
              <a:t>Lesson plan: Step 5; Talk Time: Favor Exchange;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 2 (6 min): Shift Switch Text (pairs). Pairs write a 3-sentence text that confirms a shift switch (the day, the time, thanks). Then they read it to another pair. Remind them: "Ask your supervisor first." Each click shows the next step.</a:t>
            </a:r>
          </a:p>
          <a:p>
            <a:r>
              <a:t>Example: "Hi, Omar. Thanks for switching shifts with me! I'll work your Sunday shift (9:00–5:00), and you'll work my Friday shift (2:00–10:00). I've told Ms. Diaz, and she says it's OK."</a:t>
            </a:r>
          </a:p>
          <a:p>
            <a:r>
              <a:t>15 learners: pairs for round 2. 7–8 learners: pairs. 5 or fewer: pairs (you join if there is an odd number).</a:t>
            </a:r>
          </a:p>
          <a:p>
            <a:r>
              <a:t>Shift switches: every employer has its own rules. Add "Ask your supervisor first." It is printed on the Shift Switch Text page.</a:t>
            </a:r>
          </a:p>
          <a:p>
            <a:r>
              <a:t>Every answer needs a reason; every partner asks a follow-up. Walk around and listen. Note 2 good sentences to praise and 1 common error for next week.</a:t>
            </a:r>
          </a:p>
          <a:p>
            <a:r>
              <a:t>If behind: round 1 only.</a:t>
            </a:r>
          </a:p>
          <a:p>
            <a:r>
              <a:t>Lesson plan: Step 5; Talk Time: Shift Switch Text; Teacher notes.</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 7:15–7:25 · Read &amp; Write: A building notice + a neighbor's note · 10 min. Pairs read, then individual writing.</a:t>
            </a:r>
          </a:p>
          <a:p>
            <a:r>
              <a:t>Read (4 min): learners read the notice about packages and the note on the Read &amp; Write page and answer the questions. Say: "Read fast first. Then find the answers." Pairs answer questions 1–5 together.</a:t>
            </a:r>
          </a:p>
          <a:p>
            <a:r>
              <a:t>Check (1 min): click to show each answer (one click per question, 1 to 5): 1 To the new package room next to the mailroom. • 2 Within 5 days. • 3 Your text with the code. • 4 From June 10 to June 17. • 5 In an envelope under Ms. Lee's door (on Sunday).</a:t>
            </a:r>
          </a:p>
          <a:p>
            <a:r>
              <a:t>Write (5 min): learners write a note to a neighbor (5–8 sentences) asking for a favor while they're away: the dates, what to do, where the key is, thanks, and an offer to help back. Show the example. Invented details are fine. Learners start in class and finish at home (Homework item 2).</a:t>
            </a:r>
          </a:p>
          <a:p>
            <a:r>
              <a:t>If behind: questions 1–5 only; the writing becomes homework.</a:t>
            </a:r>
          </a:p>
          <a:p>
            <a:r>
              <a:t>Lesson plan: Step 6; Read &amp; Write page; Answer key.</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 7:25–7:30 · Exit Ticket + Homework · 5 min · NEVER SKIP.</a:t>
            </a:r>
          </a:p>
          <a:p>
            <a:r>
              <a:t>Exit ticket (3 min): learners open the Exit Ticket page and answer in 3 sentences with a reason: Ask a classmate for a favor with Would you mind…? Example on the board: Would you mind helping me with my homework? No, not at all. I'm asking because the last question is hard. With 5 or fewer, a learner can say it to you first and then write it.</a:t>
            </a:r>
          </a:p>
          <a:p>
            <a:r>
              <a:t>Collect the pages. After class, sort them into ✓ / almost / not yet. Start next week with 2 corrections on the board (no names).</a:t>
            </a:r>
          </a:p>
          <a:p>
            <a:r>
              <a:t>Homework (2 min): open the Homework page. Do item 1 together (you / mind / feed / my cat? → Would you mind feeding my cat?). Say: "About 15–20 minutes. Finish your Read &amp; Write writing at home."</a:t>
            </a:r>
          </a:p>
          <a:p>
            <a:r>
              <a:t>Homework items: 1 write the question or answer with the words • 2 finish the note from Read &amp; Write C and check it with the list in D • 3 write 3 favors you could ask a neighbor or a coworker, and a polite answer for each one • 4 review (Lesson 4): write one word.</a:t>
            </a:r>
          </a:p>
          <a:p>
            <a:r>
              <a:t>Lesson plan: Step 7; Exit Ticket page; Homework page.</a:t>
            </a:r>
          </a:p>
          <a:p>
            <a:r>
              <a:t>Picture: Twemoji graphics by Twitter, Inc. and other contributors (https://github.com/jdecked/twemoji), CC BY 4.0 (https://creativecommons.org/licenses/by/4.0/); resized and combined, with signs and labels (images/CREDITS.md).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Credits. You don't need to read this slide in class.</a:t>
            </a:r>
          </a:p>
          <a:p>
            <a:r>
              <a:t>Pictures: Twemoji graphics by Twitter, Inc. and other contributors, CC BY 4.0; the file-by-file list is in images/CREDITS.md.</a:t>
            </a:r>
          </a:p>
          <a:p>
            <a:r>
              <a:t>Audio: the listening audio for this lesson (about 1:47) is coming soon. It will use computer-generated voices (Chatterbox TTS cloned from synthetic Kokoro-82M reference clips); no recordings of real people. Until it is ready, read the listening script (in the notes of the Before You Listen slide) with a volunteer. The names and the story are invented.</a:t>
            </a:r>
          </a:p>
          <a:p>
            <a:r>
              <a:t>Course materials: © 2026 the authors, licensed under CC BY-NC-SA 4.0 (https://creativecommons.org/licenses/by-nc-sa/4.0/).</a:t>
            </a:r>
          </a:p>
          <a:p>
            <a:r>
              <a:t>Lesson plan: Picture Credits. Picture list: images/CREDITS.md.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 Id="rId4"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png"/><Relationship Id="rId4" Type="http://schemas.openxmlformats.org/officeDocument/2006/relationships/notesSlide" Target="../notesSlides/notesSlide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image" Target="../media/image1.png"/><Relationship Id="rId9" Type="http://schemas.openxmlformats.org/officeDocument/2006/relationships/image" Target="../media/image3.png"/><Relationship Id="rId10" Type="http://schemas.openxmlformats.org/officeDocument/2006/relationships/image" Target="../media/image4.png"/><Relationship Id="rId11" Type="http://schemas.openxmlformats.org/officeDocument/2006/relationships/image" Target="../media/image5.png"/><Relationship Id="rId12" Type="http://schemas.openxmlformats.org/officeDocument/2006/relationships/image" Target="../media/image6.png"/><Relationship Id="rId13" Type="http://schemas.openxmlformats.org/officeDocument/2006/relationships/image" Target="../media/image7.png"/><Relationship Id="rId1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image" Target="../media/image11.png"/><Relationship Id="rId12" Type="http://schemas.openxmlformats.org/officeDocument/2006/relationships/image" Target="../media/image12.png"/><Relationship Id="rId13" Type="http://schemas.openxmlformats.org/officeDocument/2006/relationships/image" Target="../media/image2.png"/><Relationship Id="rId1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5" Type="http://schemas.openxmlformats.org/officeDocument/2006/relationships/image" Target="../media/image3.png"/><Relationship Id="rId6" Type="http://schemas.openxmlformats.org/officeDocument/2006/relationships/image" Target="../media/image10.png"/><Relationship Id="rId7" Type="http://schemas.openxmlformats.org/officeDocument/2006/relationships/image" Target="../media/image7.png"/><Relationship Id="rId8"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4.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6.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9.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5.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3.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8.pn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9.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7.pn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slide27.xml><?xml version="1.0" encoding="utf-8"?>
<p:sld xmlns:a="http://schemas.openxmlformats.org/drawingml/2006/main" xmlns:p="http://schemas.openxmlformats.org/presentationml/2006/main" xmlns:r="http://schemas.openxmlformats.org/officeDocument/2006/relationships">
  <p:cSld name="L4:title">
    <p:bg>
      <p:bgPr>
        <a:solidFill>
          <a:srgbClr val="F1F5FB"/>
        </a:solidFill>
      </p:bgPr>
    </p:bg>
    <p:spTree>
      <p:nvGrpSpPr>
        <p:cNvPr id="1" name=""/>
        <p:cNvGrpSpPr/>
        <p:nvPr/>
      </p:nvGrpSpPr>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ic" descr="Favor: a person raising a hand and a handshake [sign: A FAVOR?]">    </p:cNvPr>
          <p:cNvPicPr>
            <a:picLocks noChangeAspect="1"/>
          </p:cNvPicPr>
          <p:nvPr/>
        </p:nvPicPr>
        <p:blipFill>
          <a:blip r:embed="rId3"/>
          <a:stretch>
            <a:fillRect/>
          </a:stretch>
        </p:blipFill>
        <p:spPr>
          <a:xfrm>
            <a:off x="7726680" y="1664208"/>
            <a:ext cx="3474720" cy="2432304"/>
          </a:xfrm>
          <a:prstGeom prst="rect">
            <a:avLst/>
          </a:prstGeom>
        </p:spPr>
      </p:pic>
      <p:sp>
        <p:nvSpPr>
          <p:cNvPr id="5" name="lesson"/>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5  ·  Level 4</a:t>
            </a:r>
            <a:endParaRPr lang="en-US" sz="2200" b="1" dirty="0"/>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itle"/>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4400" b="1" dirty="0">
                <a:solidFill>
                  <a:srgbClr val="1B2236"/>
                </a:solidFill>
                <a:latin typeface="Lexend Deca" pitchFamily="34" charset="0"/>
                <a:ea typeface="Lexend Deca" pitchFamily="34" charset="-122"/>
                <a:cs typeface="Lexend Deca" pitchFamily="34" charset="-120"/>
              </a:rPr>
              <a:t>Would You Mind…?</a:t>
            </a:r>
            <a:endParaRPr lang="en-US" sz="4400" b="1" dirty="0"/>
          </a:p>
        </p:txBody>
      </p:sp>
      <p:sp>
        <p:nvSpPr>
          <p:cNvPr id="9" name="lead"/>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Today you will:</a:t>
            </a:r>
            <a:endParaRPr lang="en-US" sz="2400" b="1" dirty="0"/>
          </a:p>
        </p:txBody>
      </p:sp>
      <p:sp>
        <p:nvSpPr>
          <p:cNvPr id="10" name="bullets"/>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Ask for a favor</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Say yes or no politely</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Ask permission</a:t>
            </a:r>
            <a:endParaRPr lang="en-US" sz="2200" dirty="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name="L4:goals">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Today's</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Goals</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2000" dirty="0">
                <a:solidFill>
                  <a:srgbClr val="1B2236"/>
                </a:solidFill>
                <a:latin typeface="Lexend Deca" pitchFamily="34" charset="0"/>
                <a:ea typeface="Lexend Deca" pitchFamily="34" charset="-122"/>
                <a:cs typeface="Lexend Deca" pitchFamily="34" charset="-120"/>
              </a:rPr>
              <a:t>By the end of class, you can do these five things.</a:t>
            </a:r>
            <a:endParaRPr lang="en-US" sz="2000" dirty="0"/>
          </a:p>
          <a:p>
            <a:pPr algn="l" indent="0" marL="0">
              <a:lnSpc>
                <a:spcPct val="120000"/>
              </a:lnSpc>
              <a:spcAft>
                <a:spcPts val="1400"/>
              </a:spcAft>
              <a:buNone/>
            </a:pPr>
            <a:r>
              <a:rPr lang="en-US" sz="2000" dirty="0" b="1">
                <a:solidFill>
                  <a:srgbClr val="1B2236"/>
                </a:solidFill>
                <a:latin typeface="Lexend Deca" pitchFamily="34" charset="0"/>
                <a:ea typeface="Lexend Deca" pitchFamily="34" charset="-122"/>
                <a:cs typeface="Lexend Deca" pitchFamily="34" charset="-120"/>
              </a:rPr>
              <a:t>Every goal is a good goal.</a:t>
            </a:r>
            <a:endParaRPr lang="en-US" sz="2000" dirty="0" b="1"/>
          </a:p>
        </p:txBody>
      </p:sp>
      <p:sp>
        <p:nvSpPr>
          <p:cNvPr id="31" name="R1 shadow"/>
          <p:cNvSpPr/>
          <p:nvPr/>
        </p:nvSpPr>
        <p:spPr>
          <a:xfrm>
            <a:off x="544982" y="2093062"/>
            <a:ext cx="6227064" cy="678668"/>
          </a:xfrm>
          <a:prstGeom prst="round1Rect">
            <a:avLst>
              <a:gd name="adj" fmla="val 23087"/>
            </a:avLst>
          </a:prstGeom>
          <a:solidFill>
            <a:srgbClr val="8FAFE3"/>
          </a:solidFill>
          <a:ln/>
        </p:spPr>
        <p:txBody>
          <a:bodyPr/>
          <a:p/>
        </p:txBody>
      </p:sp>
      <p:sp>
        <p:nvSpPr>
          <p:cNvPr id="32" name="R1 card"/>
          <p:cNvSpPr/>
          <p:nvPr/>
        </p:nvSpPr>
        <p:spPr>
          <a:xfrm>
            <a:off x="1583741" y="2035454"/>
            <a:ext cx="5130698" cy="678668"/>
          </a:xfrm>
          <a:prstGeom prst="round1Rect">
            <a:avLst>
              <a:gd name="adj" fmla="val 23087"/>
            </a:avLst>
          </a:prstGeom>
          <a:solidFill>
            <a:srgbClr val="FFFFFF"/>
          </a:solidFill>
          <a:ln/>
        </p:spPr>
        <p:txBody>
          <a:bodyPr/>
          <a:p/>
        </p:txBody>
      </p:sp>
      <p:sp>
        <p:nvSpPr>
          <p:cNvPr id="33" name="R1 chip"/>
          <p:cNvSpPr/>
          <p:nvPr/>
        </p:nvSpPr>
        <p:spPr>
          <a:xfrm>
            <a:off x="544982" y="2035454"/>
            <a:ext cx="1039673" cy="678668"/>
          </a:xfrm>
          <a:prstGeom prst="rect">
            <a:avLst/>
          </a:prstGeom>
          <a:solidFill>
            <a:srgbClr val="B9D2F7"/>
          </a:solidFill>
          <a:ln/>
        </p:spPr>
        <p:txBody>
          <a:bodyPr/>
          <a:p/>
        </p:txBody>
      </p:sp>
      <p:sp>
        <p:nvSpPr>
          <p:cNvPr id="34" name="R1 num"/>
          <p:cNvSpPr/>
          <p:nvPr/>
        </p:nvSpPr>
        <p:spPr>
          <a:xfrm>
            <a:off x="686714" y="2051548"/>
            <a:ext cx="1109167" cy="646481"/>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2035454"/>
            <a:ext cx="4434840" cy="678668"/>
          </a:xfrm>
          <a:prstGeom prst="rect">
            <a:avLst/>
          </a:prstGeom>
          <a:noFill/>
          <a:ln/>
        </p:spPr>
        <p:txBody>
          <a:bodyPr wrap="square" rtlCol="0" anchor="ctr"/>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can ask for a favor with </a:t>
            </a:r>
            <a:r>
              <a:rPr lang="en-US" sz="1500" dirty="0" b="1">
                <a:solidFill>
                  <a:srgbClr val="5B3FC4"/>
                </a:solidFill>
                <a:latin typeface="Lexend Deca" pitchFamily="34" charset="0"/>
                <a:ea typeface="Lexend Deca" pitchFamily="34" charset="-122"/>
                <a:cs typeface="Lexend Deca" pitchFamily="34" charset="-120"/>
              </a:rPr>
              <a:t>Would you mind…?</a:t>
            </a:r>
            <a:endParaRPr lang="en-US" sz="1500" dirty="0"/>
          </a:p>
        </p:txBody>
      </p:sp>
      <p:sp>
        <p:nvSpPr>
          <p:cNvPr id="36" name="R1 dot"/>
          <p:cNvSpPr/>
          <p:nvPr/>
        </p:nvSpPr>
        <p:spPr>
          <a:xfrm rot="10800000">
            <a:off x="6361481" y="2168957"/>
            <a:ext cx="88697" cy="76810"/>
          </a:xfrm>
          <a:prstGeom prst="triangle">
            <a:avLst/>
          </a:prstGeom>
          <a:solidFill>
            <a:srgbClr val="8FAFE3"/>
          </a:solidFill>
          <a:ln/>
        </p:spPr>
        <p:txBody>
          <a:bodyPr/>
          <a:p/>
        </p:txBody>
      </p:sp>
      <p:sp>
        <p:nvSpPr>
          <p:cNvPr id="37" name="R2 card"/>
          <p:cNvSpPr/>
          <p:nvPr/>
        </p:nvSpPr>
        <p:spPr>
          <a:xfrm>
            <a:off x="1583741" y="2822936"/>
            <a:ext cx="5130698" cy="678668"/>
          </a:xfrm>
          <a:prstGeom prst="round1Rect">
            <a:avLst>
              <a:gd name="adj" fmla="val 23087"/>
            </a:avLst>
          </a:prstGeom>
          <a:solidFill>
            <a:srgbClr val="FFFFFF"/>
          </a:solidFill>
          <a:ln/>
        </p:spPr>
        <p:txBody>
          <a:bodyPr/>
          <a:p/>
        </p:txBody>
      </p:sp>
      <p:sp>
        <p:nvSpPr>
          <p:cNvPr id="38" name="R2 chip"/>
          <p:cNvSpPr/>
          <p:nvPr/>
        </p:nvSpPr>
        <p:spPr>
          <a:xfrm>
            <a:off x="544982" y="2822936"/>
            <a:ext cx="1039673" cy="678668"/>
          </a:xfrm>
          <a:prstGeom prst="rect">
            <a:avLst/>
          </a:prstGeom>
          <a:solidFill>
            <a:srgbClr val="B9D2F7"/>
          </a:solidFill>
          <a:ln/>
        </p:spPr>
        <p:txBody>
          <a:bodyPr/>
          <a:p/>
        </p:txBody>
      </p:sp>
      <p:sp>
        <p:nvSpPr>
          <p:cNvPr id="39" name="R2 num"/>
          <p:cNvSpPr/>
          <p:nvPr/>
        </p:nvSpPr>
        <p:spPr>
          <a:xfrm>
            <a:off x="686714" y="2839029"/>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0" name="R2 text"/>
          <p:cNvSpPr/>
          <p:nvPr/>
        </p:nvSpPr>
        <p:spPr>
          <a:xfrm>
            <a:off x="1810512" y="2822936"/>
            <a:ext cx="4434840" cy="678668"/>
          </a:xfrm>
          <a:prstGeom prst="rect">
            <a:avLst/>
          </a:prstGeom>
          <a:noFill/>
          <a:ln/>
        </p:spPr>
        <p:txBody>
          <a:bodyPr wrap="square" rtlCol="0" anchor="ctr"/>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can answer </a:t>
            </a:r>
            <a:r>
              <a:rPr lang="en-US" sz="1500" dirty="0" b="1">
                <a:solidFill>
                  <a:srgbClr val="5B3FC4"/>
                </a:solidFill>
                <a:latin typeface="Lexend Deca" pitchFamily="34" charset="0"/>
                <a:ea typeface="Lexend Deca" pitchFamily="34" charset="-122"/>
                <a:cs typeface="Lexend Deca" pitchFamily="34" charset="-120"/>
              </a:rPr>
              <a:t>No, not at all</a:t>
            </a:r>
            <a:r>
              <a:rPr lang="en-US" sz="1500" dirty="0">
                <a:solidFill>
                  <a:srgbClr val="1B2236"/>
                </a:solidFill>
                <a:latin typeface="Lexend Deca" pitchFamily="34" charset="0"/>
                <a:ea typeface="Lexend Deca" pitchFamily="34" charset="-122"/>
                <a:cs typeface="Lexend Deca" pitchFamily="34" charset="-120"/>
              </a:rPr>
              <a:t> (= "Yes, I'll help") or say no politely, with a reason and another idea.</a:t>
            </a:r>
            <a:endParaRPr lang="en-US" sz="1500" dirty="0"/>
          </a:p>
        </p:txBody>
      </p:sp>
      <p:sp>
        <p:nvSpPr>
          <p:cNvPr id="41" name="R2 dot"/>
          <p:cNvSpPr/>
          <p:nvPr/>
        </p:nvSpPr>
        <p:spPr>
          <a:xfrm rot="10800000">
            <a:off x="6361481" y="2956438"/>
            <a:ext cx="88697" cy="76810"/>
          </a:xfrm>
          <a:prstGeom prst="triangle">
            <a:avLst/>
          </a:prstGeom>
          <a:solidFill>
            <a:srgbClr val="8FAFE3"/>
          </a:solidFill>
          <a:ln/>
        </p:spPr>
        <p:txBody>
          <a:bodyPr/>
          <a:p/>
        </p:txBody>
      </p:sp>
      <p:sp>
        <p:nvSpPr>
          <p:cNvPr id="42" name="R3 card"/>
          <p:cNvSpPr/>
          <p:nvPr/>
        </p:nvSpPr>
        <p:spPr>
          <a:xfrm>
            <a:off x="1583741" y="3610417"/>
            <a:ext cx="5130698" cy="678668"/>
          </a:xfrm>
          <a:prstGeom prst="round1Rect">
            <a:avLst>
              <a:gd name="adj" fmla="val 23087"/>
            </a:avLst>
          </a:prstGeom>
          <a:solidFill>
            <a:srgbClr val="FFFFFF"/>
          </a:solidFill>
          <a:ln/>
        </p:spPr>
        <p:txBody>
          <a:bodyPr/>
          <a:p/>
        </p:txBody>
      </p:sp>
      <p:sp>
        <p:nvSpPr>
          <p:cNvPr id="43" name="R3 chip"/>
          <p:cNvSpPr/>
          <p:nvPr/>
        </p:nvSpPr>
        <p:spPr>
          <a:xfrm>
            <a:off x="544982" y="3610417"/>
            <a:ext cx="1039673" cy="678668"/>
          </a:xfrm>
          <a:prstGeom prst="rect">
            <a:avLst/>
          </a:prstGeom>
          <a:solidFill>
            <a:srgbClr val="B9D2F7"/>
          </a:solidFill>
          <a:ln/>
        </p:spPr>
        <p:txBody>
          <a:bodyPr/>
          <a:p/>
        </p:txBody>
      </p:sp>
      <p:sp>
        <p:nvSpPr>
          <p:cNvPr id="44" name="R3 num"/>
          <p:cNvSpPr/>
          <p:nvPr/>
        </p:nvSpPr>
        <p:spPr>
          <a:xfrm>
            <a:off x="686714" y="3626510"/>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5" name="R3 text"/>
          <p:cNvSpPr/>
          <p:nvPr/>
        </p:nvSpPr>
        <p:spPr>
          <a:xfrm>
            <a:off x="1810512" y="3610417"/>
            <a:ext cx="4434840" cy="678668"/>
          </a:xfrm>
          <a:prstGeom prst="rect">
            <a:avLst/>
          </a:prstGeom>
          <a:noFill/>
          <a:ln/>
        </p:spPr>
        <p:txBody>
          <a:bodyPr wrap="square" rtlCol="0" anchor="ctr"/>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can ask permission with </a:t>
            </a:r>
            <a:r>
              <a:rPr lang="en-US" sz="1500" dirty="0" b="1">
                <a:solidFill>
                  <a:srgbClr val="5B3FC4"/>
                </a:solidFill>
                <a:latin typeface="Lexend Deca" pitchFamily="34" charset="0"/>
                <a:ea typeface="Lexend Deca" pitchFamily="34" charset="-122"/>
                <a:cs typeface="Lexend Deca" pitchFamily="34" charset="-120"/>
              </a:rPr>
              <a:t>Do you mind if I…?</a:t>
            </a:r>
            <a:endParaRPr lang="en-US" sz="1500" dirty="0"/>
          </a:p>
        </p:txBody>
      </p:sp>
      <p:sp>
        <p:nvSpPr>
          <p:cNvPr id="46" name="R3 dot"/>
          <p:cNvSpPr/>
          <p:nvPr/>
        </p:nvSpPr>
        <p:spPr>
          <a:xfrm rot="10800000">
            <a:off x="6361481" y="3743919"/>
            <a:ext cx="88697" cy="76810"/>
          </a:xfrm>
          <a:prstGeom prst="triangle">
            <a:avLst/>
          </a:prstGeom>
          <a:solidFill>
            <a:srgbClr val="8FAFE3"/>
          </a:solidFill>
          <a:ln/>
        </p:spPr>
        <p:txBody>
          <a:bodyPr/>
          <a:p/>
        </p:txBody>
      </p:sp>
      <p:sp>
        <p:nvSpPr>
          <p:cNvPr id="47" name="R4 card"/>
          <p:cNvSpPr/>
          <p:nvPr/>
        </p:nvSpPr>
        <p:spPr>
          <a:xfrm>
            <a:off x="1583741" y="4397898"/>
            <a:ext cx="5130698" cy="678668"/>
          </a:xfrm>
          <a:prstGeom prst="round1Rect">
            <a:avLst>
              <a:gd name="adj" fmla="val 23087"/>
            </a:avLst>
          </a:prstGeom>
          <a:solidFill>
            <a:srgbClr val="FFFFFF"/>
          </a:solidFill>
          <a:ln/>
        </p:spPr>
        <p:txBody>
          <a:bodyPr/>
          <a:p/>
        </p:txBody>
      </p:sp>
      <p:sp>
        <p:nvSpPr>
          <p:cNvPr id="48" name="R4 chip"/>
          <p:cNvSpPr/>
          <p:nvPr/>
        </p:nvSpPr>
        <p:spPr>
          <a:xfrm>
            <a:off x="544982" y="4397898"/>
            <a:ext cx="1039673" cy="678668"/>
          </a:xfrm>
          <a:prstGeom prst="rect">
            <a:avLst/>
          </a:prstGeom>
          <a:solidFill>
            <a:srgbClr val="B9D2F7"/>
          </a:solidFill>
          <a:ln/>
        </p:spPr>
        <p:txBody>
          <a:bodyPr/>
          <a:p/>
        </p:txBody>
      </p:sp>
      <p:sp>
        <p:nvSpPr>
          <p:cNvPr id="49" name="R4 num"/>
          <p:cNvSpPr/>
          <p:nvPr/>
        </p:nvSpPr>
        <p:spPr>
          <a:xfrm>
            <a:off x="686714" y="4413992"/>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0" name="R4 text"/>
          <p:cNvSpPr/>
          <p:nvPr/>
        </p:nvSpPr>
        <p:spPr>
          <a:xfrm>
            <a:off x="1810512" y="4397898"/>
            <a:ext cx="4434840" cy="678668"/>
          </a:xfrm>
          <a:prstGeom prst="rect">
            <a:avLst/>
          </a:prstGeom>
          <a:noFill/>
          <a:ln/>
        </p:spPr>
        <p:txBody>
          <a:bodyPr wrap="square" rtlCol="0" anchor="ctr"/>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can ask a coworker to switch a shift and confirm it in a short text.</a:t>
            </a:r>
            <a:endParaRPr lang="en-US" sz="1500" dirty="0"/>
          </a:p>
        </p:txBody>
      </p:sp>
      <p:sp>
        <p:nvSpPr>
          <p:cNvPr id="51" name="R4 dot"/>
          <p:cNvSpPr/>
          <p:nvPr/>
        </p:nvSpPr>
        <p:spPr>
          <a:xfrm rot="10800000">
            <a:off x="6361481" y="4531401"/>
            <a:ext cx="88697" cy="76810"/>
          </a:xfrm>
          <a:prstGeom prst="triangle">
            <a:avLst/>
          </a:prstGeom>
          <a:solidFill>
            <a:srgbClr val="8FAFE3"/>
          </a:solidFill>
          <a:ln/>
        </p:spPr>
        <p:txBody>
          <a:bodyPr/>
          <a:p/>
        </p:txBody>
      </p:sp>
      <p:sp>
        <p:nvSpPr>
          <p:cNvPr id="52" name="R5 card"/>
          <p:cNvSpPr/>
          <p:nvPr/>
        </p:nvSpPr>
        <p:spPr>
          <a:xfrm>
            <a:off x="1583741" y="5185380"/>
            <a:ext cx="5130698" cy="678668"/>
          </a:xfrm>
          <a:prstGeom prst="round1Rect">
            <a:avLst>
              <a:gd name="adj" fmla="val 23087"/>
            </a:avLst>
          </a:prstGeom>
          <a:solidFill>
            <a:srgbClr val="FFFFFF"/>
          </a:solidFill>
          <a:ln/>
        </p:spPr>
        <p:txBody>
          <a:bodyPr/>
          <a:p/>
        </p:txBody>
      </p:sp>
      <p:sp>
        <p:nvSpPr>
          <p:cNvPr id="53" name="R5 chip"/>
          <p:cNvSpPr/>
          <p:nvPr/>
        </p:nvSpPr>
        <p:spPr>
          <a:xfrm>
            <a:off x="544982" y="5185380"/>
            <a:ext cx="1039673" cy="678668"/>
          </a:xfrm>
          <a:prstGeom prst="rect">
            <a:avLst/>
          </a:prstGeom>
          <a:solidFill>
            <a:srgbClr val="B9D2F7"/>
          </a:solidFill>
          <a:ln/>
        </p:spPr>
        <p:txBody>
          <a:bodyPr/>
          <a:p/>
        </p:txBody>
      </p:sp>
      <p:sp>
        <p:nvSpPr>
          <p:cNvPr id="54" name="R5 num"/>
          <p:cNvSpPr/>
          <p:nvPr/>
        </p:nvSpPr>
        <p:spPr>
          <a:xfrm>
            <a:off x="686714" y="5201473"/>
            <a:ext cx="1109167" cy="646481"/>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5" name="R5 text"/>
          <p:cNvSpPr/>
          <p:nvPr/>
        </p:nvSpPr>
        <p:spPr>
          <a:xfrm>
            <a:off x="1810512" y="5185380"/>
            <a:ext cx="4434840" cy="678668"/>
          </a:xfrm>
          <a:prstGeom prst="rect">
            <a:avLst/>
          </a:prstGeom>
          <a:noFill/>
          <a:ln/>
        </p:spPr>
        <p:txBody>
          <a:bodyPr wrap="square" rtlCol="0" anchor="ctr"/>
          <a:lstStyle/>
          <a:p>
            <a:pPr algn="l" indent="0" marL="0">
              <a:buNone/>
            </a:pPr>
            <a:r>
              <a:rPr lang="en-US" sz="1500" dirty="0">
                <a:solidFill>
                  <a:srgbClr val="1B2236"/>
                </a:solidFill>
                <a:latin typeface="Lexend Deca" pitchFamily="34" charset="0"/>
                <a:ea typeface="Lexend Deca" pitchFamily="34" charset="-122"/>
                <a:cs typeface="Lexend Deca" pitchFamily="34" charset="-120"/>
              </a:rPr>
              <a:t>I can write a note to a neighbor (5–8 sentences) asking for a favor while I'm away.</a:t>
            </a:r>
            <a:endParaRPr lang="en-US" sz="1500" dirty="0"/>
          </a:p>
        </p:txBody>
      </p:sp>
      <p:sp>
        <p:nvSpPr>
          <p:cNvPr id="56" name="R5 dot"/>
          <p:cNvSpPr/>
          <p:nvPr/>
        </p:nvSpPr>
        <p:spPr>
          <a:xfrm rot="10800000">
            <a:off x="6361481" y="5318882"/>
            <a:ext cx="88697" cy="76810"/>
          </a:xfrm>
          <a:prstGeom prst="triangle">
            <a:avLst/>
          </a:prstGeom>
          <a:solidFill>
            <a:srgbClr val="8FAFE3"/>
          </a:solidFill>
          <a:ln/>
        </p:spPr>
        <p:txBody>
          <a:body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400"/>
                                        <p:tgtEl>
                                          <p:spTgt spid="33"/>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400"/>
                                        <p:tgtEl>
                                          <p:spTgt spid="37"/>
                                        </p:tgtEl>
                                      </p:cBhvr>
                                    </p:animEffect>
                                  </p:childTnLst>
                                </p:cTn>
                              </p:par>
                              <p:par>
                                <p:cTn id="28" presetID="10" presetClass="entr" presetSubtype="0" fill="hold"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4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4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4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400"/>
                                        <p:tgtEl>
                                          <p:spTgt spid="4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400"/>
                                        <p:tgtEl>
                                          <p:spTgt spid="42"/>
                                        </p:tgtEl>
                                      </p:cBhvr>
                                    </p:animEffect>
                                  </p:childTnLst>
                                </p:cTn>
                              </p:par>
                              <p:par>
                                <p:cTn id="45" presetID="10" presetClass="entr" presetSubtype="0" fill="hold"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400"/>
                                        <p:tgtEl>
                                          <p:spTgt spid="4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400"/>
                                        <p:tgtEl>
                                          <p:spTgt spid="47"/>
                                        </p:tgtEl>
                                      </p:cBhvr>
                                    </p:animEffect>
                                  </p:childTnLst>
                                </p:cTn>
                              </p:par>
                              <p:par>
                                <p:cTn id="62" presetID="10" presetClass="entr" presetSubtype="0" fill="hold" nodeType="with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400"/>
                                        <p:tgtEl>
                                          <p:spTgt spid="48"/>
                                        </p:tgtEl>
                                      </p:cBhvr>
                                    </p:animEffect>
                                  </p:childTnLst>
                                </p:cTn>
                              </p:par>
                              <p:par>
                                <p:cTn id="65" presetID="10"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4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400"/>
                                        <p:tgtEl>
                                          <p:spTgt spid="50"/>
                                        </p:tgtEl>
                                      </p:cBhvr>
                                    </p:animEffect>
                                  </p:childTnLst>
                                </p:cTn>
                              </p:par>
                              <p:par>
                                <p:cTn id="71" presetID="10"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400"/>
                                        <p:tgtEl>
                                          <p:spTgt spid="5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fade">
                                      <p:cBhvr>
                                        <p:cTn id="78" dur="400"/>
                                        <p:tgtEl>
                                          <p:spTgt spid="52"/>
                                        </p:tgtEl>
                                      </p:cBhvr>
                                    </p:animEffect>
                                  </p:childTnLst>
                                </p:cTn>
                              </p:par>
                              <p:par>
                                <p:cTn id="79" presetID="10" presetClass="entr" presetSubtype="0" fill="hold" nodeType="with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400"/>
                                        <p:tgtEl>
                                          <p:spTgt spid="53"/>
                                        </p:tgtEl>
                                      </p:cBhvr>
                                    </p:animEffect>
                                  </p:childTnLst>
                                </p:cTn>
                              </p:par>
                              <p:par>
                                <p:cTn id="82" presetID="10" presetClass="entr" presetSubtype="0"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400"/>
                                        <p:tgtEl>
                                          <p:spTgt spid="54"/>
                                        </p:tgtEl>
                                      </p:cBhvr>
                                    </p:animEffect>
                                  </p:childTnLst>
                                </p:cTn>
                              </p:par>
                              <p:par>
                                <p:cTn id="85" presetID="10" presetClass="entr" presetSubtype="0" fill="hold" nodeType="with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400"/>
                                        <p:tgtEl>
                                          <p:spTgt spid="55"/>
                                        </p:tgtEl>
                                      </p:cBhvr>
                                    </p:animEffect>
                                  </p:childTnLst>
                                </p:cTn>
                              </p:par>
                              <p:par>
                                <p:cTn id="88" presetID="10" presetClass="entr" presetSubtype="0" fill="hold"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fade">
                                      <p:cBhvr>
                                        <p:cTn id="90"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name="L4:warmup">
    <p:bg>
      <p:bgPr>
        <a:solidFill>
          <a:srgbClr val="F1F5FB"/>
        </a:solidFill>
      </p:bgPr>
    </p:bg>
    <p:spTree>
      <p:nvGrpSpPr>
        <p:cNvPr id="1" name=""/>
        <p:cNvGrpSpPr/>
        <p:nvPr/>
      </p:nvGrpSpPr>
      <p:grpSpPr/>
      <p:sp>
        <p:nvSpPr>
          <p:cNvPr id="2" name="Shape 0"/>
          <p:cNvSpPr/>
          <p:nvPr/>
        </p:nvSpPr>
        <p:spPr>
          <a:xfrm>
            <a:off x="487604" y="1352535"/>
            <a:ext cx="5246827" cy="1783080"/>
          </a:xfrm>
          <a:prstGeom prst="roundRect">
            <a:avLst>
              <a:gd name="adj" fmla="val 16667"/>
            </a:avLst>
          </a:prstGeom>
          <a:solidFill>
            <a:srgbClr val="8FAFE3"/>
          </a:solidFill>
          <a:ln/>
        </p:spPr>
        <p:txBody>
          <a:bodyPr/>
          <a:p/>
        </p:txBody>
      </p:sp>
      <p:sp>
        <p:nvSpPr>
          <p:cNvPr id="3" name="Shape 1"/>
          <p:cNvSpPr/>
          <p:nvPr/>
        </p:nvSpPr>
        <p:spPr>
          <a:xfrm>
            <a:off x="518465" y="1300277"/>
            <a:ext cx="5246827" cy="1783080"/>
          </a:xfrm>
          <a:prstGeom prst="roundRect">
            <a:avLst>
              <a:gd name="adj" fmla="val 16667"/>
            </a:avLst>
          </a:prstGeom>
          <a:solidFill>
            <a:srgbClr val="FFFFFF"/>
          </a:solidFill>
          <a:ln/>
        </p:spPr>
        <p:txBody>
          <a:bodyPr/>
          <a:p/>
        </p:txBody>
      </p:sp>
      <p:sp>
        <p:nvSpPr>
          <p:cNvPr id="4" name="Shape 2"/>
          <p:cNvSpPr/>
          <p:nvPr/>
        </p:nvSpPr>
        <p:spPr>
          <a:xfrm flipH="1">
            <a:off x="5503774" y="3276295"/>
            <a:ext cx="6847942" cy="3931006"/>
          </a:xfrm>
          <a:prstGeom prst="round1Rect">
            <a:avLst>
              <a:gd name="adj" fmla="val 23087"/>
            </a:avLst>
          </a:prstGeom>
          <a:solidFill>
            <a:srgbClr val="B9D2F7"/>
          </a:solidFill>
          <a:ln w="76200">
            <a:solidFill>
              <a:srgbClr val="FFFFFF"/>
            </a:solidFill>
            <a:prstDash val="solid"/>
          </a:ln>
        </p:spPr>
        <p:txBody>
          <a:bodyPr/>
          <a:p/>
        </p:txBody>
      </p:sp>
      <p:pic>
        <p:nvPicPr>
          <p:cNvPr id="15" name="pic" descr="Thank-you note: a note and flowers [sign: THANK YOU!]"/>
          <p:cNvPicPr>
            <a:picLocks noChangeAspect="1"/>
          </p:cNvPicPr>
          <p:nvPr/>
        </p:nvPicPr>
        <p:blipFill>
          <a:blip r:embed="rId3"/>
          <a:stretch>
            <a:fillRect/>
          </a:stretch>
        </p:blipFill>
        <p:spPr>
          <a:xfrm>
            <a:off x="6800393" y="2104034"/>
            <a:ext cx="4754880" cy="3328416"/>
          </a:xfrm>
          <a:prstGeom prst="rect">
            <a:avLst/>
          </a:prstGeom>
        </p:spPr>
      </p:pic>
      <p:sp>
        <p:nvSpPr>
          <p:cNvPr id="7" name="title"/>
          <p:cNvSpPr/>
          <p:nvPr/>
        </p:nvSpPr>
        <p:spPr>
          <a:xfrm>
            <a:off x="548640" y="1764792"/>
            <a:ext cx="5120640" cy="1234440"/>
          </a:xfrm>
          <a:prstGeom prst="rect">
            <a:avLst/>
          </a:prstGeom>
          <a:noFill/>
          <a:ln/>
        </p:spPr>
        <p:txBody>
          <a:bodyPr wrap="square" rtlCol="0" anchor="ctr"/>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Opening Talk</a:t>
            </a:r>
            <a:endParaRPr lang="en-US" sz="4000" dirty="0" b="1"/>
          </a:p>
        </p:txBody>
      </p:sp>
      <p:sp>
        <p:nvSpPr>
          <p:cNvPr id="8" name="kicker"/>
          <p:cNvSpPr/>
          <p:nvPr/>
        </p:nvSpPr>
        <p:spPr>
          <a:xfrm>
            <a:off x="599846" y="1371600"/>
            <a:ext cx="484632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OPENING TALK  ·  6:00</a:t>
            </a:r>
            <a:endParaRPr lang="en-US" sz="2000" dirty="0" b="1"/>
          </a:p>
        </p:txBody>
      </p:sp>
      <p:sp>
        <p:nvSpPr>
          <p:cNvPr id="9" name="box1"/>
          <p:cNvSpPr/>
          <p:nvPr/>
        </p:nvSpPr>
        <p:spPr>
          <a:xfrm>
            <a:off x="599846" y="3383280"/>
            <a:ext cx="4846320" cy="1188720"/>
          </a:xfrm>
          <a:prstGeom prst="rect">
            <a:avLst/>
          </a:prstGeom>
          <a:noFill/>
          <a:ln/>
        </p:spPr>
        <p:txBody>
          <a:bodyPr wrap="square" lIns="0" tIns="0" rIns="0" bIns="0" rtlCol="0" anchor="t"/>
          <a:lstStyle/>
          <a:p>
            <a:pPr algn="l" indent="0" marL="0">
              <a:lnSpc>
                <a:spcPct val="110000"/>
              </a:lnSpc>
              <a:buNone/>
            </a:pPr>
            <a:r>
              <a:rPr lang="en-US" sz="2000" dirty="0" b="1">
                <a:solidFill>
                  <a:srgbClr val="5B3FC4"/>
                </a:solidFill>
                <a:latin typeface="Lexend Deca" pitchFamily="34" charset="0"/>
                <a:ea typeface="Lexend Deca" pitchFamily="34" charset="-122"/>
                <a:cs typeface="Lexend Deca" pitchFamily="34" charset="-120"/>
              </a:rPr>
              <a:t>A asks a card question.</a:t>
            </a:r>
            <a:endParaRPr lang="en-US" sz="2000" dirty="0" b="1"/>
          </a:p>
          <a:p>
            <a:pPr algn="l" indent="0" marL="0">
              <a:lnSpc>
                <a:spcPct val="110000"/>
              </a:lnSpc>
              <a:buNone/>
            </a:pPr>
            <a:r>
              <a:rPr lang="en-US" sz="2000" dirty="0">
                <a:solidFill>
                  <a:srgbClr val="1B2236"/>
                </a:solidFill>
                <a:latin typeface="Lexend Deca" pitchFamily="34" charset="0"/>
                <a:ea typeface="Lexend Deca" pitchFamily="34" charset="-122"/>
                <a:cs typeface="Lexend Deca" pitchFamily="34" charset="-120"/>
              </a:rPr>
              <a:t>I sit all day at work. Any ideas?</a:t>
            </a:r>
            <a:endParaRPr lang="en-US" sz="2000" dirty="0"/>
          </a:p>
          <a:p>
            <a:pPr algn="l" indent="0" marL="0">
              <a:lnSpc>
                <a:spcPct val="110000"/>
              </a:lnSpc>
              <a:buNone/>
            </a:pPr>
            <a:r>
              <a:rPr lang="en-US" sz="2000" dirty="0" b="1">
                <a:solidFill>
                  <a:srgbClr val="1B2236"/>
                </a:solidFill>
                <a:latin typeface="Lexend Deca" pitchFamily="34" charset="0"/>
                <a:ea typeface="Lexend Deca" pitchFamily="34" charset="-122"/>
                <a:cs typeface="Lexend Deca" pitchFamily="34" charset="-120"/>
              </a:rPr>
              <a:t>B answers in 3 sentences.</a:t>
            </a:r>
            <a:endParaRPr lang="en-US" sz="2000" dirty="0" b="1"/>
          </a:p>
        </p:txBody>
      </p:sp>
      <p:sp>
        <p:nvSpPr>
          <p:cNvPr id="14" name="box2"/>
          <p:cNvSpPr/>
          <p:nvPr/>
        </p:nvSpPr>
        <p:spPr>
          <a:xfrm>
            <a:off x="599846" y="4754880"/>
            <a:ext cx="4846320" cy="1600200"/>
          </a:xfrm>
          <a:prstGeom prst="rect">
            <a:avLst/>
          </a:prstGeom>
          <a:noFill/>
          <a:ln/>
        </p:spPr>
        <p:txBody>
          <a:bodyPr wrap="square" lIns="0" tIns="0" rIns="0" bIns="0" rtlCol="0" anchor="t"/>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A asks one follow-up.</a:t>
            </a:r>
            <a:endParaRPr lang="en-US" sz="2000" dirty="0" b="1"/>
          </a:p>
          <a:p>
            <a:pPr algn="l" indent="0" marL="0">
              <a:spcAft>
                <a:spcPts val="400"/>
              </a:spcAft>
              <a:buNone/>
            </a:pPr>
            <a:r>
              <a:rPr lang="en-US" sz="2000" dirty="0" b="0">
                <a:solidFill>
                  <a:srgbClr val="1B2236"/>
                </a:solidFill>
                <a:latin typeface="Lexend Deca" pitchFamily="34" charset="0"/>
                <a:ea typeface="Lexend Deca" pitchFamily="34" charset="-122"/>
                <a:cs typeface="Lexend Deca" pitchFamily="34" charset="-120"/>
              </a:rPr>
              <a:t>Why?</a:t>
            </a:r>
            <a:endParaRPr lang="en-US" sz="2000" dirty="0" b="0"/>
          </a:p>
          <a:p>
            <a:pPr algn="l" indent="0" marL="0">
              <a:spcAft>
                <a:spcPts val="400"/>
              </a:spcAft>
              <a:buNone/>
            </a:pPr>
            <a:r>
              <a:rPr lang="en-US" sz="2000" dirty="0" b="1">
                <a:solidFill>
                  <a:srgbClr val="1B2236"/>
                </a:solidFill>
                <a:latin typeface="Lexend Deca" pitchFamily="34" charset="0"/>
                <a:ea typeface="Lexend Deca" pitchFamily="34" charset="-122"/>
                <a:cs typeface="Lexend Deca" pitchFamily="34" charset="-120"/>
              </a:rPr>
              <a:t>Then switch.</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name="L4:numlist">
    <p:bg>
      <p:bgPr>
        <a:solidFill>
          <a:srgbClr val="F1F5FB"/>
        </a:solidFill>
      </p:bgPr>
    </p:bg>
    <p:spTree>
      <p:nvGrpSpPr>
        <p:cNvPr id="1" name=""/>
        <p:cNvGrpSpPr/>
        <p:nvPr/>
      </p:nvGrpSpPr>
      <p:grpSpPr/>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Opening Talk</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Cards</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400"/>
              </a:spcAft>
              <a:buNone/>
            </a:pPr>
            <a:r>
              <a:rPr lang="en-US" sz="1800" dirty="0">
                <a:solidFill>
                  <a:srgbClr val="1B2236"/>
                </a:solidFill>
                <a:latin typeface="Lexend Deca" pitchFamily="34" charset="0"/>
                <a:ea typeface="Lexend Deca" pitchFamily="34" charset="-122"/>
                <a:cs typeface="Lexend Deca" pitchFamily="34" charset="-120"/>
              </a:rPr>
              <a:t>B answers in 3 sentences: the answer, a reason, and a detail.</a:t>
            </a:r>
            <a:endParaRPr lang="en-US" sz="1800" dirty="0"/>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Follow-ups:</a:t>
            </a:r>
            <a:endParaRPr lang="en-US" sz="1800" dirty="0" b="1"/>
          </a:p>
          <a:p>
            <a:pPr algn="l" indent="0" marL="0">
              <a:lnSpc>
                <a:spcPct val="120000"/>
              </a:lnSpc>
              <a:spcAft>
                <a:spcPts val="1400"/>
              </a:spcAft>
              <a:buNone/>
            </a:pPr>
            <a:r>
              <a:rPr lang="en-US" sz="1800" dirty="0" b="1">
                <a:solidFill>
                  <a:srgbClr val="1B2236"/>
                </a:solidFill>
                <a:latin typeface="Lexend Deca" pitchFamily="34" charset="0"/>
                <a:ea typeface="Lexend Deca" pitchFamily="34" charset="-122"/>
                <a:cs typeface="Lexend Deca" pitchFamily="34" charset="-120"/>
              </a:rPr>
              <a:t>Why? Have you ever tried it? How long have you…?</a:t>
            </a:r>
            <a:endParaRPr lang="en-US" sz="1800" dirty="0" b="1"/>
          </a:p>
        </p:txBody>
      </p:sp>
      <p:sp>
        <p:nvSpPr>
          <p:cNvPr id="31" name="R1 shadow"/>
          <p:cNvSpPr/>
          <p:nvPr/>
        </p:nvSpPr>
        <p:spPr>
          <a:xfrm>
            <a:off x="544982" y="2471623"/>
            <a:ext cx="6227064" cy="602590"/>
          </a:xfrm>
          <a:prstGeom prst="round1Rect">
            <a:avLst>
              <a:gd name="adj" fmla="val 23087"/>
            </a:avLst>
          </a:prstGeom>
          <a:solidFill>
            <a:srgbClr val="8FAFE3"/>
          </a:solidFill>
          <a:ln/>
        </p:spPr>
        <p:txBody>
          <a:bodyPr/>
          <a:p/>
        </p:txBody>
      </p:sp>
      <p:sp>
        <p:nvSpPr>
          <p:cNvPr id="32" name="R1 card"/>
          <p:cNvSpPr/>
          <p:nvPr/>
        </p:nvSpPr>
        <p:spPr>
          <a:xfrm>
            <a:off x="1583741" y="2414016"/>
            <a:ext cx="5130698" cy="602590"/>
          </a:xfrm>
          <a:prstGeom prst="round1Rect">
            <a:avLst>
              <a:gd name="adj" fmla="val 23087"/>
            </a:avLst>
          </a:prstGeom>
          <a:solidFill>
            <a:srgbClr val="FFFFFF"/>
          </a:solidFill>
          <a:ln/>
        </p:spPr>
        <p:txBody>
          <a:bodyPr/>
          <a:p/>
        </p:txBody>
      </p:sp>
      <p:sp>
        <p:nvSpPr>
          <p:cNvPr id="33" name="R1 chip"/>
          <p:cNvSpPr/>
          <p:nvPr/>
        </p:nvSpPr>
        <p:spPr>
          <a:xfrm>
            <a:off x="544982" y="2414016"/>
            <a:ext cx="1039673" cy="602590"/>
          </a:xfrm>
          <a:prstGeom prst="rect">
            <a:avLst/>
          </a:prstGeom>
          <a:solidFill>
            <a:srgbClr val="B9D2F7"/>
          </a:solidFill>
          <a:ln/>
        </p:spPr>
        <p:txBody>
          <a:bodyPr/>
          <a:p/>
        </p:txBody>
      </p:sp>
      <p:sp>
        <p:nvSpPr>
          <p:cNvPr id="34" name="R1 num"/>
          <p:cNvSpPr/>
          <p:nvPr/>
        </p:nvSpPr>
        <p:spPr>
          <a:xfrm>
            <a:off x="686714" y="2414016"/>
            <a:ext cx="1109167" cy="602590"/>
          </a:xfrm>
          <a:prstGeom prst="rect">
            <a:avLst/>
          </a:prstGeom>
          <a:noFill/>
          <a:ln/>
        </p:spPr>
        <p:txBody>
          <a:bodyPr wrap="square" rtlCol="0" anchor="t"/>
          <a:lstStyle/>
          <a:p>
            <a:pPr algn="l" indent="0" marL="0">
              <a:buNone/>
            </a:pPr>
            <a:r>
              <a:rPr lang="en-US" sz="3600" b="1" dirty="0">
                <a:solidFill>
                  <a:srgbClr val="1B2236"/>
                </a:solidFill>
                <a:latin typeface="Lexend Deca" pitchFamily="34" charset="0"/>
                <a:ea typeface="Lexend Deca" pitchFamily="34" charset="-122"/>
                <a:cs typeface="Lexend Deca" pitchFamily="34" charset="-120"/>
              </a:rPr>
              <a:t>01</a:t>
            </a:r>
            <a:endParaRPr lang="en-US" sz="3600" b="1" dirty="0"/>
          </a:p>
        </p:txBody>
      </p:sp>
      <p:sp>
        <p:nvSpPr>
          <p:cNvPr id="35" name="R1 text"/>
          <p:cNvSpPr/>
          <p:nvPr/>
        </p:nvSpPr>
        <p:spPr>
          <a:xfrm>
            <a:off x="1810512" y="2414016"/>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 sit all day at work. Any ideas?</a:t>
            </a:r>
            <a:endParaRPr lang="en-US" sz="1800" dirty="0"/>
          </a:p>
        </p:txBody>
      </p:sp>
      <p:sp>
        <p:nvSpPr>
          <p:cNvPr id="36" name="R1 dot"/>
          <p:cNvSpPr/>
          <p:nvPr/>
        </p:nvSpPr>
        <p:spPr>
          <a:xfrm rot="10800000">
            <a:off x="6361481" y="2547518"/>
            <a:ext cx="88697" cy="76810"/>
          </a:xfrm>
          <a:prstGeom prst="triangle">
            <a:avLst/>
          </a:prstGeom>
          <a:solidFill>
            <a:srgbClr val="8FAFE3"/>
          </a:solidFill>
          <a:ln/>
        </p:spPr>
        <p:txBody>
          <a:bodyPr/>
          <a:p/>
        </p:txBody>
      </p:sp>
      <p:sp>
        <p:nvSpPr>
          <p:cNvPr id="37" name="R2 card"/>
          <p:cNvSpPr/>
          <p:nvPr/>
        </p:nvSpPr>
        <p:spPr>
          <a:xfrm>
            <a:off x="1583741" y="3125419"/>
            <a:ext cx="5130698" cy="602590"/>
          </a:xfrm>
          <a:prstGeom prst="round1Rect">
            <a:avLst>
              <a:gd name="adj" fmla="val 23087"/>
            </a:avLst>
          </a:prstGeom>
          <a:solidFill>
            <a:srgbClr val="FFFFFF"/>
          </a:solidFill>
          <a:ln/>
        </p:spPr>
        <p:txBody>
          <a:bodyPr/>
          <a:p/>
        </p:txBody>
      </p:sp>
      <p:sp>
        <p:nvSpPr>
          <p:cNvPr id="38" name="R2 chip"/>
          <p:cNvSpPr/>
          <p:nvPr/>
        </p:nvSpPr>
        <p:spPr>
          <a:xfrm>
            <a:off x="544982" y="3125419"/>
            <a:ext cx="1039673" cy="602590"/>
          </a:xfrm>
          <a:prstGeom prst="rect">
            <a:avLst/>
          </a:prstGeom>
          <a:solidFill>
            <a:srgbClr val="B9D2F7"/>
          </a:solidFill>
          <a:ln/>
        </p:spPr>
        <p:txBody>
          <a:bodyPr/>
          <a:p/>
        </p:txBody>
      </p:sp>
      <p:sp>
        <p:nvSpPr>
          <p:cNvPr id="39" name="R2 num"/>
          <p:cNvSpPr/>
          <p:nvPr/>
        </p:nvSpPr>
        <p:spPr>
          <a:xfrm>
            <a:off x="686714" y="312541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02</a:t>
            </a:r>
            <a:endParaRPr lang="en-US" sz="3200" b="1" dirty="0"/>
          </a:p>
        </p:txBody>
      </p:sp>
      <p:sp>
        <p:nvSpPr>
          <p:cNvPr id="40" name="R2 text"/>
          <p:cNvSpPr/>
          <p:nvPr/>
        </p:nvSpPr>
        <p:spPr>
          <a:xfrm>
            <a:off x="1810512" y="3125419"/>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I'm always tired in the afternoon. What can I do?</a:t>
            </a:r>
            <a:endParaRPr lang="en-US" sz="1800" dirty="0"/>
          </a:p>
        </p:txBody>
      </p:sp>
      <p:sp>
        <p:nvSpPr>
          <p:cNvPr id="41" name="R2 dot"/>
          <p:cNvSpPr/>
          <p:nvPr/>
        </p:nvSpPr>
        <p:spPr>
          <a:xfrm rot="10800000">
            <a:off x="6361481" y="3258922"/>
            <a:ext cx="88697" cy="76810"/>
          </a:xfrm>
          <a:prstGeom prst="triangle">
            <a:avLst/>
          </a:prstGeom>
          <a:solidFill>
            <a:srgbClr val="8FAFE3"/>
          </a:solidFill>
          <a:ln/>
        </p:spPr>
        <p:txBody>
          <a:bodyPr/>
          <a:p/>
        </p:txBody>
      </p:sp>
      <p:sp>
        <p:nvSpPr>
          <p:cNvPr id="42" name="R3 card"/>
          <p:cNvSpPr/>
          <p:nvPr/>
        </p:nvSpPr>
        <p:spPr>
          <a:xfrm>
            <a:off x="1583741" y="3836822"/>
            <a:ext cx="5130698" cy="602590"/>
          </a:xfrm>
          <a:prstGeom prst="round1Rect">
            <a:avLst>
              <a:gd name="adj" fmla="val 23087"/>
            </a:avLst>
          </a:prstGeom>
          <a:solidFill>
            <a:srgbClr val="FFFFFF"/>
          </a:solidFill>
          <a:ln/>
        </p:spPr>
        <p:txBody>
          <a:bodyPr/>
          <a:p/>
        </p:txBody>
      </p:sp>
      <p:sp>
        <p:nvSpPr>
          <p:cNvPr id="43" name="R3 chip"/>
          <p:cNvSpPr/>
          <p:nvPr/>
        </p:nvSpPr>
        <p:spPr>
          <a:xfrm>
            <a:off x="544982" y="3836822"/>
            <a:ext cx="1039673" cy="602590"/>
          </a:xfrm>
          <a:prstGeom prst="rect">
            <a:avLst/>
          </a:prstGeom>
          <a:solidFill>
            <a:srgbClr val="B9D2F7"/>
          </a:solidFill>
          <a:ln/>
        </p:spPr>
        <p:txBody>
          <a:bodyPr/>
          <a:p/>
        </p:txBody>
      </p:sp>
      <p:sp>
        <p:nvSpPr>
          <p:cNvPr id="44" name="R3 num"/>
          <p:cNvSpPr/>
          <p:nvPr/>
        </p:nvSpPr>
        <p:spPr>
          <a:xfrm>
            <a:off x="686714" y="3836822"/>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03</a:t>
            </a:r>
            <a:endParaRPr lang="en-US" sz="3200" b="1" dirty="0"/>
          </a:p>
        </p:txBody>
      </p:sp>
      <p:sp>
        <p:nvSpPr>
          <p:cNvPr id="45" name="R3 text"/>
          <p:cNvSpPr/>
          <p:nvPr/>
        </p:nvSpPr>
        <p:spPr>
          <a:xfrm>
            <a:off x="1810512" y="3836822"/>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What's a good idea for a healthy lunch?</a:t>
            </a:r>
            <a:endParaRPr lang="en-US" sz="1800" dirty="0"/>
          </a:p>
        </p:txBody>
      </p:sp>
      <p:sp>
        <p:nvSpPr>
          <p:cNvPr id="46" name="R3 dot"/>
          <p:cNvSpPr/>
          <p:nvPr/>
        </p:nvSpPr>
        <p:spPr>
          <a:xfrm rot="10800000">
            <a:off x="6361481" y="3970325"/>
            <a:ext cx="88697" cy="76810"/>
          </a:xfrm>
          <a:prstGeom prst="triangle">
            <a:avLst/>
          </a:prstGeom>
          <a:solidFill>
            <a:srgbClr val="8FAFE3"/>
          </a:solidFill>
          <a:ln/>
        </p:spPr>
        <p:txBody>
          <a:bodyPr/>
          <a:p/>
        </p:txBody>
      </p:sp>
      <p:sp>
        <p:nvSpPr>
          <p:cNvPr id="47" name="R4 card"/>
          <p:cNvSpPr/>
          <p:nvPr/>
        </p:nvSpPr>
        <p:spPr>
          <a:xfrm>
            <a:off x="1583741" y="4548226"/>
            <a:ext cx="5130698" cy="602590"/>
          </a:xfrm>
          <a:prstGeom prst="round1Rect">
            <a:avLst>
              <a:gd name="adj" fmla="val 23087"/>
            </a:avLst>
          </a:prstGeom>
          <a:solidFill>
            <a:srgbClr val="FFFFFF"/>
          </a:solidFill>
          <a:ln/>
        </p:spPr>
        <p:txBody>
          <a:bodyPr/>
          <a:p/>
        </p:txBody>
      </p:sp>
      <p:sp>
        <p:nvSpPr>
          <p:cNvPr id="48" name="R4 chip"/>
          <p:cNvSpPr/>
          <p:nvPr/>
        </p:nvSpPr>
        <p:spPr>
          <a:xfrm>
            <a:off x="544982" y="4548226"/>
            <a:ext cx="1039673" cy="602590"/>
          </a:xfrm>
          <a:prstGeom prst="rect">
            <a:avLst/>
          </a:prstGeom>
          <a:solidFill>
            <a:srgbClr val="B9D2F7"/>
          </a:solidFill>
          <a:ln/>
        </p:spPr>
        <p:txBody>
          <a:bodyPr/>
          <a:p/>
        </p:txBody>
      </p:sp>
      <p:sp>
        <p:nvSpPr>
          <p:cNvPr id="49" name="R4 num"/>
          <p:cNvSpPr/>
          <p:nvPr/>
        </p:nvSpPr>
        <p:spPr>
          <a:xfrm>
            <a:off x="686714" y="4548226"/>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04</a:t>
            </a:r>
            <a:endParaRPr lang="en-US" sz="3200" b="1" dirty="0"/>
          </a:p>
        </p:txBody>
      </p:sp>
      <p:sp>
        <p:nvSpPr>
          <p:cNvPr id="50" name="R4 text"/>
          <p:cNvSpPr/>
          <p:nvPr/>
        </p:nvSpPr>
        <p:spPr>
          <a:xfrm>
            <a:off x="1810512" y="4548226"/>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How often is it a good idea to get a checkup?</a:t>
            </a:r>
            <a:endParaRPr lang="en-US" sz="1800" dirty="0"/>
          </a:p>
        </p:txBody>
      </p:sp>
      <p:sp>
        <p:nvSpPr>
          <p:cNvPr id="51" name="R4 dot"/>
          <p:cNvSpPr/>
          <p:nvPr/>
        </p:nvSpPr>
        <p:spPr>
          <a:xfrm rot="10800000">
            <a:off x="6361481" y="4681728"/>
            <a:ext cx="88697" cy="76810"/>
          </a:xfrm>
          <a:prstGeom prst="triangle">
            <a:avLst/>
          </a:prstGeom>
          <a:solidFill>
            <a:srgbClr val="8FAFE3"/>
          </a:solidFill>
          <a:ln/>
        </p:spPr>
        <p:txBody>
          <a:bodyPr/>
          <a:p/>
        </p:txBody>
      </p:sp>
      <p:sp>
        <p:nvSpPr>
          <p:cNvPr id="52" name="R5 card"/>
          <p:cNvSpPr/>
          <p:nvPr/>
        </p:nvSpPr>
        <p:spPr>
          <a:xfrm>
            <a:off x="1583741" y="5259629"/>
            <a:ext cx="5130698" cy="602590"/>
          </a:xfrm>
          <a:prstGeom prst="round1Rect">
            <a:avLst>
              <a:gd name="adj" fmla="val 23087"/>
            </a:avLst>
          </a:prstGeom>
          <a:solidFill>
            <a:srgbClr val="FFFFFF"/>
          </a:solidFill>
          <a:ln/>
        </p:spPr>
        <p:txBody>
          <a:bodyPr/>
          <a:p/>
        </p:txBody>
      </p:sp>
      <p:sp>
        <p:nvSpPr>
          <p:cNvPr id="53" name="R5 chip"/>
          <p:cNvSpPr/>
          <p:nvPr/>
        </p:nvSpPr>
        <p:spPr>
          <a:xfrm>
            <a:off x="544982" y="5259629"/>
            <a:ext cx="1039673" cy="602590"/>
          </a:xfrm>
          <a:prstGeom prst="rect">
            <a:avLst/>
          </a:prstGeom>
          <a:solidFill>
            <a:srgbClr val="B9D2F7"/>
          </a:solidFill>
          <a:ln/>
        </p:spPr>
        <p:txBody>
          <a:bodyPr/>
          <a:p/>
        </p:txBody>
      </p:sp>
      <p:sp>
        <p:nvSpPr>
          <p:cNvPr id="54" name="R5 num"/>
          <p:cNvSpPr/>
          <p:nvPr/>
        </p:nvSpPr>
        <p:spPr>
          <a:xfrm>
            <a:off x="686714" y="5259629"/>
            <a:ext cx="1109167" cy="602590"/>
          </a:xfrm>
          <a:prstGeom prst="rect">
            <a:avLst/>
          </a:prstGeom>
          <a:noFill/>
          <a:ln/>
        </p:spPr>
        <p:txBody>
          <a:bodyPr wrap="square" rtlCol="0" anchor="t"/>
          <a:lstStyle/>
          <a:p>
            <a:pPr algn="l" indent="0" marL="0">
              <a:buNone/>
            </a:pPr>
            <a:r>
              <a:rPr lang="en-US" sz="3200" b="1" dirty="0">
                <a:solidFill>
                  <a:srgbClr val="1B2236"/>
                </a:solidFill>
                <a:latin typeface="Lexend Deca" pitchFamily="34" charset="0"/>
                <a:ea typeface="Lexend Deca" pitchFamily="34" charset="-122"/>
                <a:cs typeface="Lexend Deca" pitchFamily="34" charset="-120"/>
              </a:rPr>
              <a:t>05</a:t>
            </a:r>
            <a:endParaRPr lang="en-US" sz="3200" b="1" dirty="0"/>
          </a:p>
        </p:txBody>
      </p:sp>
      <p:sp>
        <p:nvSpPr>
          <p:cNvPr id="55" name="R5 text"/>
          <p:cNvSpPr/>
          <p:nvPr/>
        </p:nvSpPr>
        <p:spPr>
          <a:xfrm>
            <a:off x="1810512" y="5259629"/>
            <a:ext cx="4434840" cy="602590"/>
          </a:xfrm>
          <a:prstGeom prst="rect">
            <a:avLst/>
          </a:prstGeom>
          <a:noFill/>
          <a:ln/>
        </p:spPr>
        <p:txBody>
          <a:bodyPr wrap="square"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Homework check: Lesson 4, items 1 and 3.</a:t>
            </a:r>
            <a:endParaRPr lang="en-US" sz="1800" dirty="0"/>
          </a:p>
        </p:txBody>
      </p:sp>
      <p:sp>
        <p:nvSpPr>
          <p:cNvPr id="56" name="R5 dot"/>
          <p:cNvSpPr/>
          <p:nvPr/>
        </p:nvSpPr>
        <p:spPr>
          <a:xfrm rot="10800000">
            <a:off x="6361481" y="5393131"/>
            <a:ext cx="88697" cy="76810"/>
          </a:xfrm>
          <a:prstGeom prst="triangle">
            <a:avLst/>
          </a:prstGeom>
          <a:solidFill>
            <a:srgbClr val="8FAFE3"/>
          </a:solidFill>
          <a:ln/>
        </p:spPr>
        <p:txBody>
          <a:body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4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400"/>
                                        <p:tgtEl>
                                          <p:spTgt spid="33"/>
                                        </p:tgtEl>
                                      </p:cBhvr>
                                    </p:animEffect>
                                  </p:childTnLst>
                                </p:cTn>
                              </p:par>
                              <p:par>
                                <p:cTn id="14" presetID="10" presetClass="entr" presetSubtype="0" fill="hold"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400"/>
                                        <p:tgtEl>
                                          <p:spTgt spid="34"/>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400"/>
                                        <p:tgtEl>
                                          <p:spTgt spid="37"/>
                                        </p:tgtEl>
                                      </p:cBhvr>
                                    </p:animEffect>
                                  </p:childTnLst>
                                </p:cTn>
                              </p:par>
                              <p:par>
                                <p:cTn id="28" presetID="10" presetClass="entr" presetSubtype="0" fill="hold"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4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4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4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400"/>
                                        <p:tgtEl>
                                          <p:spTgt spid="4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400"/>
                                        <p:tgtEl>
                                          <p:spTgt spid="42"/>
                                        </p:tgtEl>
                                      </p:cBhvr>
                                    </p:animEffect>
                                  </p:childTnLst>
                                </p:cTn>
                              </p:par>
                              <p:par>
                                <p:cTn id="45" presetID="10" presetClass="entr" presetSubtype="0" fill="hold"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400"/>
                                        <p:tgtEl>
                                          <p:spTgt spid="43"/>
                                        </p:tgtEl>
                                      </p:cBhvr>
                                    </p:animEffect>
                                  </p:childTnLst>
                                </p:cTn>
                              </p:par>
                              <p:par>
                                <p:cTn id="48" presetID="10" presetClass="entr" presetSubtype="0" fill="hold"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400"/>
                                        <p:tgtEl>
                                          <p:spTgt spid="44"/>
                                        </p:tgtEl>
                                      </p:cBhvr>
                                    </p:animEffect>
                                  </p:childTnLst>
                                </p:cTn>
                              </p:par>
                              <p:par>
                                <p:cTn id="51" presetID="10"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400"/>
                                        <p:tgtEl>
                                          <p:spTgt spid="45"/>
                                        </p:tgtEl>
                                      </p:cBhvr>
                                    </p:animEffect>
                                  </p:childTnLst>
                                </p:cTn>
                              </p:par>
                              <p:par>
                                <p:cTn id="54" presetID="10"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400"/>
                                        <p:tgtEl>
                                          <p:spTgt spid="4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400"/>
                                        <p:tgtEl>
                                          <p:spTgt spid="47"/>
                                        </p:tgtEl>
                                      </p:cBhvr>
                                    </p:animEffect>
                                  </p:childTnLst>
                                </p:cTn>
                              </p:par>
                              <p:par>
                                <p:cTn id="62" presetID="10" presetClass="entr" presetSubtype="0" fill="hold" nodeType="with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400"/>
                                        <p:tgtEl>
                                          <p:spTgt spid="48"/>
                                        </p:tgtEl>
                                      </p:cBhvr>
                                    </p:animEffect>
                                  </p:childTnLst>
                                </p:cTn>
                              </p:par>
                              <p:par>
                                <p:cTn id="65" presetID="10"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400"/>
                                        <p:tgtEl>
                                          <p:spTgt spid="49"/>
                                        </p:tgtEl>
                                      </p:cBhvr>
                                    </p:animEffect>
                                  </p:childTnLst>
                                </p:cTn>
                              </p:par>
                              <p:par>
                                <p:cTn id="68" presetID="10" presetClass="entr" presetSubtype="0"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400"/>
                                        <p:tgtEl>
                                          <p:spTgt spid="50"/>
                                        </p:tgtEl>
                                      </p:cBhvr>
                                    </p:animEffect>
                                  </p:childTnLst>
                                </p:cTn>
                              </p:par>
                              <p:par>
                                <p:cTn id="71" presetID="10"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fade">
                                      <p:cBhvr>
                                        <p:cTn id="73" dur="400"/>
                                        <p:tgtEl>
                                          <p:spTgt spid="51"/>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52"/>
                                        </p:tgtEl>
                                        <p:attrNameLst>
                                          <p:attrName>style.visibility</p:attrName>
                                        </p:attrNameLst>
                                      </p:cBhvr>
                                      <p:to>
                                        <p:strVal val="visible"/>
                                      </p:to>
                                    </p:set>
                                    <p:animEffect transition="in" filter="fade">
                                      <p:cBhvr>
                                        <p:cTn id="78" dur="400"/>
                                        <p:tgtEl>
                                          <p:spTgt spid="52"/>
                                        </p:tgtEl>
                                      </p:cBhvr>
                                    </p:animEffect>
                                  </p:childTnLst>
                                </p:cTn>
                              </p:par>
                              <p:par>
                                <p:cTn id="79" presetID="10" presetClass="entr" presetSubtype="0" fill="hold" nodeType="with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400"/>
                                        <p:tgtEl>
                                          <p:spTgt spid="53"/>
                                        </p:tgtEl>
                                      </p:cBhvr>
                                    </p:animEffect>
                                  </p:childTnLst>
                                </p:cTn>
                              </p:par>
                              <p:par>
                                <p:cTn id="82" presetID="10" presetClass="entr" presetSubtype="0"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400"/>
                                        <p:tgtEl>
                                          <p:spTgt spid="54"/>
                                        </p:tgtEl>
                                      </p:cBhvr>
                                    </p:animEffect>
                                  </p:childTnLst>
                                </p:cTn>
                              </p:par>
                              <p:par>
                                <p:cTn id="85" presetID="10" presetClass="entr" presetSubtype="0" fill="hold" nodeType="with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400"/>
                                        <p:tgtEl>
                                          <p:spTgt spid="55"/>
                                        </p:tgtEl>
                                      </p:cBhvr>
                                    </p:animEffect>
                                  </p:childTnLst>
                                </p:cTn>
                              </p:par>
                              <p:par>
                                <p:cTn id="88" presetID="10" presetClass="entr" presetSubtype="0" fill="hold"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fade">
                                      <p:cBhvr>
                                        <p:cTn id="90"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name="L4:words">
    <p:bg>
      <p:bgPr>
        <a:solidFill>
          <a:srgbClr val="F1F5FB"/>
        </a:solidFill>
      </p:bgPr>
    </p:bg>
    <p:spTree>
      <p:nvGrpSpPr>
        <p:cNvPr id="1" name=""/>
        <p:cNvGrpSpPr/>
        <p:nvPr/>
      </p:nvGrpSpPr>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itle"/>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New Words</a:t>
            </a:r>
            <a:endParaRPr lang="en-US" sz="4900" dirty="0" b="1"/>
          </a:p>
        </p:txBody>
      </p:sp>
      <p:sp>
        <p:nvSpPr>
          <p:cNvPr id="9" name="instr card"/>
          <p:cNvSpPr/>
          <p:nvPr/>
        </p:nvSpPr>
        <p:spPr>
          <a:xfrm>
            <a:off x="1121969" y="587045"/>
            <a:ext cx="3557930" cy="1143000"/>
          </a:xfrm>
          <a:prstGeom prst="round1Rect">
            <a:avLst>
              <a:gd name="adj" fmla="val 23087"/>
            </a:avLst>
          </a:prstGeom>
          <a:solidFill>
            <a:srgbClr val="FFFFFF"/>
          </a:solidFill>
          <a:ln/>
        </p:spPr>
        <p:txBody>
          <a:bodyPr/>
          <a:p/>
        </p:txBody>
      </p:sp>
      <p:sp>
        <p:nvSpPr>
          <p:cNvPr id="13" name="instr"/>
          <p:cNvSpPr/>
          <p:nvPr/>
        </p:nvSpPr>
        <p:spPr>
          <a:xfrm>
            <a:off x="1325880" y="685800"/>
            <a:ext cx="246888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Look. Listen.</a:t>
            </a:r>
            <a:endParaRPr lang="en-US" sz="2200" dirty="0" b="1"/>
          </a:p>
          <a:p>
            <a:pPr algn="l" indent="0" marL="0">
              <a:buNone/>
            </a:pPr>
            <a:r>
              <a:rPr lang="en-US" sz="2200" dirty="0" b="1">
                <a:solidFill>
                  <a:srgbClr val="1B2236"/>
                </a:solidFill>
                <a:latin typeface="Lexend Deca" pitchFamily="34" charset="0"/>
                <a:ea typeface="Lexend Deca" pitchFamily="34" charset="-122"/>
                <a:cs typeface="Lexend Deca" pitchFamily="34" charset="-120"/>
              </a:rPr>
              <a:t>Repeat.</a:t>
            </a:r>
            <a:endParaRPr lang="en-US" sz="2200" dirty="0" b="1"/>
          </a:p>
        </p:txBody>
      </p:sp>
      <p:pic>
        <p:nvPicPr>
          <p:cNvPr id="17" name="Word picture 1" descr="Favor: a person raising a hand and a handshake [sign: A FAVOR?]"/>
          <p:cNvPicPr>
            <a:picLocks noChangeAspect="1"/>
          </p:cNvPicPr>
          <p:nvPr/>
        </p:nvPicPr>
        <p:blipFill>
          <a:blip r:embed="rId8"/>
          <a:stretch>
            <a:fillRect/>
          </a:stretch>
        </p:blipFill>
        <p:spPr>
          <a:xfrm>
            <a:off x="1448410" y="2286000"/>
            <a:ext cx="1920240" cy="1344168"/>
          </a:xfrm>
          <a:prstGeom prst="rect">
            <a:avLst/>
          </a:prstGeom>
        </p:spPr>
      </p:pic>
      <p:sp>
        <p:nvSpPr>
          <p:cNvPr id="18" name="Word label 1"/>
          <p:cNvSpPr/>
          <p:nvPr/>
        </p:nvSpPr>
        <p:spPr>
          <a:xfrm>
            <a:off x="85405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favor</a:t>
            </a:r>
            <a:endParaRPr lang="en-US" sz="2000" dirty="0" b="1"/>
          </a:p>
        </p:txBody>
      </p:sp>
      <p:pic>
        <p:nvPicPr>
          <p:cNvPr id="19" name="Word picture 2" descr="Borrow: a ladder [sign: BORROW]"/>
          <p:cNvPicPr>
            <a:picLocks noChangeAspect="1"/>
          </p:cNvPicPr>
          <p:nvPr/>
        </p:nvPicPr>
        <p:blipFill>
          <a:blip r:embed="rId9"/>
          <a:stretch>
            <a:fillRect/>
          </a:stretch>
        </p:blipFill>
        <p:spPr>
          <a:xfrm>
            <a:off x="5060290" y="2286000"/>
            <a:ext cx="1920240" cy="1344168"/>
          </a:xfrm>
          <a:prstGeom prst="rect">
            <a:avLst/>
          </a:prstGeom>
        </p:spPr>
      </p:pic>
      <p:sp>
        <p:nvSpPr>
          <p:cNvPr id="20" name="Word label 2"/>
          <p:cNvSpPr/>
          <p:nvPr/>
        </p:nvSpPr>
        <p:spPr>
          <a:xfrm>
            <a:off x="446593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borrow</a:t>
            </a:r>
            <a:endParaRPr lang="en-US" sz="2000" dirty="0" b="1"/>
          </a:p>
        </p:txBody>
      </p:sp>
      <p:pic>
        <p:nvPicPr>
          <p:cNvPr id="21" name="Word picture 3" descr="Water the plants: a plant and a drop of water"/>
          <p:cNvPicPr>
            <a:picLocks noChangeAspect="1"/>
          </p:cNvPicPr>
          <p:nvPr/>
        </p:nvPicPr>
        <p:blipFill>
          <a:blip r:embed="rId10"/>
          <a:stretch>
            <a:fillRect/>
          </a:stretch>
        </p:blipFill>
        <p:spPr>
          <a:xfrm>
            <a:off x="8672170" y="2286000"/>
            <a:ext cx="1920240" cy="1344168"/>
          </a:xfrm>
          <a:prstGeom prst="rect">
            <a:avLst/>
          </a:prstGeom>
        </p:spPr>
      </p:pic>
      <p:sp>
        <p:nvSpPr>
          <p:cNvPr id="22" name="Word label 3"/>
          <p:cNvSpPr/>
          <p:nvPr/>
        </p:nvSpPr>
        <p:spPr>
          <a:xfrm>
            <a:off x="807781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800" dirty="0" b="1">
                <a:solidFill>
                  <a:srgbClr val="5B3FC4"/>
                </a:solidFill>
                <a:latin typeface="Lexend Deca" pitchFamily="34" charset="0"/>
                <a:ea typeface="Lexend Deca" pitchFamily="34" charset="-122"/>
                <a:cs typeface="Lexend Deca" pitchFamily="34" charset="-120"/>
              </a:rPr>
              <a:t>★</a:t>
            </a:r>
            <a:r>
              <a:rPr lang="en-US" sz="1800" dirty="0" b="1">
                <a:solidFill>
                  <a:srgbClr val="1B2236"/>
                </a:solidFill>
                <a:latin typeface="Lexend Deca" pitchFamily="34" charset="0"/>
                <a:ea typeface="Lexend Deca" pitchFamily="34" charset="-122"/>
                <a:cs typeface="Lexend Deca" pitchFamily="34" charset="-120"/>
              </a:rPr>
              <a:t> water the plants</a:t>
            </a:r>
            <a:endParaRPr lang="en-US" sz="1800" dirty="0" b="1"/>
          </a:p>
        </p:txBody>
      </p:sp>
      <p:pic>
        <p:nvPicPr>
          <p:cNvPr id="23" name="Word picture 4" descr="Feed the cat: a cat and a bowl"/>
          <p:cNvPicPr>
            <a:picLocks noChangeAspect="1"/>
          </p:cNvPicPr>
          <p:nvPr/>
        </p:nvPicPr>
        <p:blipFill>
          <a:blip r:embed="rId11"/>
          <a:stretch>
            <a:fillRect/>
          </a:stretch>
        </p:blipFill>
        <p:spPr>
          <a:xfrm>
            <a:off x="1448410" y="4315968"/>
            <a:ext cx="1920240" cy="1344168"/>
          </a:xfrm>
          <a:prstGeom prst="rect">
            <a:avLst/>
          </a:prstGeom>
        </p:spPr>
      </p:pic>
      <p:sp>
        <p:nvSpPr>
          <p:cNvPr id="24" name="Word label 4"/>
          <p:cNvSpPr/>
          <p:nvPr/>
        </p:nvSpPr>
        <p:spPr>
          <a:xfrm>
            <a:off x="85405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feed the cat</a:t>
            </a:r>
            <a:endParaRPr lang="en-US" sz="2000" dirty="0" b="1"/>
          </a:p>
        </p:txBody>
      </p:sp>
      <p:pic>
        <p:nvPicPr>
          <p:cNvPr id="25" name="Word picture 5" descr="Get the mail: a mailbox and a letter"/>
          <p:cNvPicPr>
            <a:picLocks noChangeAspect="1"/>
          </p:cNvPicPr>
          <p:nvPr/>
        </p:nvPicPr>
        <p:blipFill>
          <a:blip r:embed="rId12"/>
          <a:stretch>
            <a:fillRect/>
          </a:stretch>
        </p:blipFill>
        <p:spPr>
          <a:xfrm>
            <a:off x="5060290" y="4315968"/>
            <a:ext cx="1920240" cy="1344168"/>
          </a:xfrm>
          <a:prstGeom prst="rect">
            <a:avLst/>
          </a:prstGeom>
        </p:spPr>
      </p:pic>
      <p:sp>
        <p:nvSpPr>
          <p:cNvPr id="26" name="Word label 5"/>
          <p:cNvSpPr/>
          <p:nvPr/>
        </p:nvSpPr>
        <p:spPr>
          <a:xfrm>
            <a:off x="446593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get the mail</a:t>
            </a:r>
            <a:endParaRPr lang="en-US" sz="2000" dirty="0" b="1"/>
          </a:p>
        </p:txBody>
      </p:sp>
      <p:pic>
        <p:nvPicPr>
          <p:cNvPr id="27" name="Word picture 6" descr="Spare key: two keys [sign: SPARE]"/>
          <p:cNvPicPr>
            <a:picLocks noChangeAspect="1"/>
          </p:cNvPicPr>
          <p:nvPr/>
        </p:nvPicPr>
        <p:blipFill>
          <a:blip r:embed="rId13"/>
          <a:stretch>
            <a:fillRect/>
          </a:stretch>
        </p:blipFill>
        <p:spPr>
          <a:xfrm>
            <a:off x="8672170" y="4315968"/>
            <a:ext cx="1920240" cy="1344168"/>
          </a:xfrm>
          <a:prstGeom prst="rect">
            <a:avLst/>
          </a:prstGeom>
        </p:spPr>
      </p:pic>
      <p:sp>
        <p:nvSpPr>
          <p:cNvPr id="28" name="Word label 6"/>
          <p:cNvSpPr/>
          <p:nvPr/>
        </p:nvSpPr>
        <p:spPr>
          <a:xfrm>
            <a:off x="807781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spare key</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name="L4:words">
    <p:bg>
      <p:bgPr>
        <a:solidFill>
          <a:srgbClr val="F1F5FB"/>
        </a:solidFill>
      </p:bgPr>
    </p:bg>
    <p:spTree>
      <p:nvGrpSpPr>
        <p:cNvPr id="1" name=""/>
        <p:cNvGrpSpPr/>
        <p:nvPr/>
      </p:nvGrpSpPr>
      <p:grpSpPr/>
      <p:sp>
        <p:nvSpPr>
          <p:cNvPr id="2" name="Shape 0"/>
          <p:cNvSpPr/>
          <p:nvPr/>
        </p:nvSpPr>
        <p:spPr>
          <a:xfrm flipH="1" flipV="1">
            <a:off x="541325" y="2231136"/>
            <a:ext cx="10958170" cy="4343400"/>
          </a:xfrm>
          <a:prstGeom prst="round1Rect">
            <a:avLst>
              <a:gd name="adj" fmla="val 23087"/>
            </a:avLst>
          </a:prstGeom>
          <a:solidFill>
            <a:srgbClr val="8FAFE3"/>
          </a:solidFill>
          <a:ln/>
        </p:spPr>
        <p:txBody>
          <a:bodyPr/>
          <a:p/>
        </p:txBody>
      </p:sp>
      <p:sp>
        <p:nvSpPr>
          <p:cNvPr id="3" name="Shape 1"/>
          <p:cNvSpPr/>
          <p:nvPr/>
        </p:nvSpPr>
        <p:spPr>
          <a:xfrm flipH="1" flipV="1">
            <a:off x="541325" y="2090318"/>
            <a:ext cx="10958170" cy="4343400"/>
          </a:xfrm>
          <a:prstGeom prst="round1Rect">
            <a:avLst>
              <a:gd name="adj" fmla="val 23087"/>
            </a:avLst>
          </a:prstGeom>
          <a:solidFill>
            <a:srgbClr val="B9D2F7"/>
          </a:solidFill>
          <a:ln/>
        </p:spPr>
        <p:txBody>
          <a:bodyPr/>
          <a:p/>
        </p:txBody>
      </p:sp>
      <p:sp>
        <p:nvSpPr>
          <p:cNvPr id="6" name="Shape 4"/>
          <p:cNvSpPr/>
          <p:nvPr/>
        </p:nvSpPr>
        <p:spPr>
          <a:xfrm>
            <a:off x="5630738" y="517002"/>
            <a:ext cx="6063386" cy="1331366"/>
          </a:xfrm>
          <a:prstGeom prst="roundRect">
            <a:avLst>
              <a:gd name="adj" fmla="val 16667"/>
            </a:avLst>
          </a:prstGeom>
          <a:solidFill>
            <a:srgbClr val="8FAFE3"/>
          </a:solidFill>
          <a:ln/>
        </p:spPr>
        <p:txBody>
          <a:bodyPr/>
          <a:p/>
        </p:txBody>
      </p:sp>
      <p:sp>
        <p:nvSpPr>
          <p:cNvPr id="7" name="Shape 5"/>
          <p:cNvSpPr/>
          <p:nvPr/>
        </p:nvSpPr>
        <p:spPr>
          <a:xfrm>
            <a:off x="5666537" y="462686"/>
            <a:ext cx="6063386" cy="1331366"/>
          </a:xfrm>
          <a:prstGeom prst="roundRect">
            <a:avLst>
              <a:gd name="adj" fmla="val 16667"/>
            </a:avLst>
          </a:prstGeom>
          <a:solidFill>
            <a:srgbClr val="FFFFFF"/>
          </a:solidFill>
          <a:ln/>
        </p:spPr>
        <p:txBody>
          <a:bodyPr/>
          <a:p/>
        </p:txBody>
      </p:sp>
      <p:sp>
        <p:nvSpPr>
          <p:cNvPr id="8" name="title"/>
          <p:cNvSpPr/>
          <p:nvPr/>
        </p:nvSpPr>
        <p:spPr>
          <a:xfrm>
            <a:off x="5938114" y="594360"/>
            <a:ext cx="5669280" cy="1143000"/>
          </a:xfrm>
          <a:prstGeom prst="rect">
            <a:avLst/>
          </a:prstGeom>
          <a:noFill/>
          <a:ln/>
        </p:spPr>
        <p:txBody>
          <a:bodyPr wrap="square" rtlCol="0" anchor="ctr"/>
          <a:lstStyle/>
          <a:p>
            <a:pPr algn="l" indent="0" marL="0">
              <a:buNone/>
            </a:pPr>
            <a:r>
              <a:rPr lang="en-US" sz="4900" dirty="0" b="1">
                <a:solidFill>
                  <a:srgbClr val="1B2236"/>
                </a:solidFill>
                <a:latin typeface="Lexend Deca" pitchFamily="34" charset="0"/>
                <a:ea typeface="Lexend Deca" pitchFamily="34" charset="-122"/>
                <a:cs typeface="Lexend Deca" pitchFamily="34" charset="-120"/>
              </a:rPr>
              <a:t>More New Words</a:t>
            </a:r>
            <a:endParaRPr lang="en-US" sz="4900" dirty="0" b="1"/>
          </a:p>
        </p:txBody>
      </p:sp>
      <p:sp>
        <p:nvSpPr>
          <p:cNvPr id="9" name="instr card"/>
          <p:cNvSpPr/>
          <p:nvPr/>
        </p:nvSpPr>
        <p:spPr>
          <a:xfrm>
            <a:off x="1121969" y="587045"/>
            <a:ext cx="3291840" cy="1143000"/>
          </a:xfrm>
          <a:prstGeom prst="round1Rect">
            <a:avLst>
              <a:gd name="adj" fmla="val 23087"/>
            </a:avLst>
          </a:prstGeom>
          <a:solidFill>
            <a:srgbClr val="FFFFFF"/>
          </a:solidFill>
          <a:ln/>
        </p:spPr>
        <p:txBody>
          <a:bodyPr/>
          <a:p/>
        </p:txBody>
      </p:sp>
      <p:sp>
        <p:nvSpPr>
          <p:cNvPr id="13" name="instr"/>
          <p:cNvSpPr/>
          <p:nvPr/>
        </p:nvSpPr>
        <p:spPr>
          <a:xfrm>
            <a:off x="1325880" y="685800"/>
            <a:ext cx="2880360" cy="9601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Partner game:</a:t>
            </a:r>
            <a:endParaRPr lang="en-US" sz="2200" dirty="0" b="1"/>
          </a:p>
          <a:p>
            <a:pPr algn="l" indent="0" marL="0">
              <a:buNone/>
            </a:pPr>
            <a:r>
              <a:rPr lang="en-US" sz="2200" dirty="0" b="1">
                <a:solidFill>
                  <a:srgbClr val="1B2236"/>
                </a:solidFill>
                <a:latin typeface="Lexend Deca" pitchFamily="34" charset="0"/>
                <a:ea typeface="Lexend Deca" pitchFamily="34" charset="-122"/>
                <a:cs typeface="Lexend Deca" pitchFamily="34" charset="-120"/>
              </a:rPr>
              <a:t>Favor or no favor?</a:t>
            </a:r>
            <a:endParaRPr lang="en-US" sz="2200" dirty="0" b="1"/>
          </a:p>
        </p:txBody>
      </p:sp>
      <p:pic>
        <p:nvPicPr>
          <p:cNvPr id="17" name="Word picture 1" descr="Package: a package"/>
          <p:cNvPicPr>
            <a:picLocks noChangeAspect="1"/>
          </p:cNvPicPr>
          <p:nvPr/>
        </p:nvPicPr>
        <p:blipFill>
          <a:blip r:embed="rId8"/>
          <a:stretch>
            <a:fillRect/>
          </a:stretch>
        </p:blipFill>
        <p:spPr>
          <a:xfrm>
            <a:off x="1448410" y="2286000"/>
            <a:ext cx="1920240" cy="1344168"/>
          </a:xfrm>
          <a:prstGeom prst="rect">
            <a:avLst/>
          </a:prstGeom>
        </p:spPr>
      </p:pic>
      <p:sp>
        <p:nvSpPr>
          <p:cNvPr id="18" name="Word label 1"/>
          <p:cNvSpPr/>
          <p:nvPr/>
        </p:nvSpPr>
        <p:spPr>
          <a:xfrm>
            <a:off x="85405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package</a:t>
            </a:r>
            <a:endParaRPr lang="en-US" sz="2000" dirty="0" b="1"/>
          </a:p>
        </p:txBody>
      </p:sp>
      <p:pic>
        <p:nvPicPr>
          <p:cNvPr id="19" name="Word picture 2" descr="Switch shifts: a calendar and arrows [sign: SAT → SUN]"/>
          <p:cNvPicPr>
            <a:picLocks noChangeAspect="1"/>
          </p:cNvPicPr>
          <p:nvPr/>
        </p:nvPicPr>
        <p:blipFill>
          <a:blip r:embed="rId9"/>
          <a:stretch>
            <a:fillRect/>
          </a:stretch>
        </p:blipFill>
        <p:spPr>
          <a:xfrm>
            <a:off x="5060290" y="2286000"/>
            <a:ext cx="1920240" cy="1344168"/>
          </a:xfrm>
          <a:prstGeom prst="rect">
            <a:avLst/>
          </a:prstGeom>
        </p:spPr>
      </p:pic>
      <p:sp>
        <p:nvSpPr>
          <p:cNvPr id="20" name="Word label 2"/>
          <p:cNvSpPr/>
          <p:nvPr/>
        </p:nvSpPr>
        <p:spPr>
          <a:xfrm>
            <a:off x="446593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switch shifts</a:t>
            </a:r>
            <a:endParaRPr lang="en-US" sz="2000" dirty="0" b="1"/>
          </a:p>
        </p:txBody>
      </p:sp>
      <p:pic>
        <p:nvPicPr>
          <p:cNvPr id="21" name="Word picture 3" descr="Cover a shift: a person raising a hand and a clock [sign: COVER: SAT]"/>
          <p:cNvPicPr>
            <a:picLocks noChangeAspect="1"/>
          </p:cNvPicPr>
          <p:nvPr/>
        </p:nvPicPr>
        <p:blipFill>
          <a:blip r:embed="rId10"/>
          <a:stretch>
            <a:fillRect/>
          </a:stretch>
        </p:blipFill>
        <p:spPr>
          <a:xfrm>
            <a:off x="8672170" y="2286000"/>
            <a:ext cx="1920240" cy="1344168"/>
          </a:xfrm>
          <a:prstGeom prst="rect">
            <a:avLst/>
          </a:prstGeom>
        </p:spPr>
      </p:pic>
      <p:sp>
        <p:nvSpPr>
          <p:cNvPr id="22" name="Word label 3"/>
          <p:cNvSpPr/>
          <p:nvPr/>
        </p:nvSpPr>
        <p:spPr>
          <a:xfrm>
            <a:off x="8077810" y="3703320"/>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cover a shift</a:t>
            </a:r>
            <a:endParaRPr lang="en-US" sz="2000" dirty="0" b="1"/>
          </a:p>
        </p:txBody>
      </p:sp>
      <p:pic>
        <p:nvPicPr>
          <p:cNvPr id="23" name="Word picture 4" descr="Be away: a suitcase and a plane"/>
          <p:cNvPicPr>
            <a:picLocks noChangeAspect="1"/>
          </p:cNvPicPr>
          <p:nvPr/>
        </p:nvPicPr>
        <p:blipFill>
          <a:blip r:embed="rId11"/>
          <a:stretch>
            <a:fillRect/>
          </a:stretch>
        </p:blipFill>
        <p:spPr>
          <a:xfrm>
            <a:off x="1448410" y="4315968"/>
            <a:ext cx="1920240" cy="1344168"/>
          </a:xfrm>
          <a:prstGeom prst="rect">
            <a:avLst/>
          </a:prstGeom>
        </p:spPr>
      </p:pic>
      <p:sp>
        <p:nvSpPr>
          <p:cNvPr id="24" name="Word label 4"/>
          <p:cNvSpPr/>
          <p:nvPr/>
        </p:nvSpPr>
        <p:spPr>
          <a:xfrm>
            <a:off x="85405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5B3FC4"/>
                </a:solidFill>
                <a:latin typeface="Lexend Deca" pitchFamily="34" charset="0"/>
                <a:ea typeface="Lexend Deca" pitchFamily="34" charset="-122"/>
                <a:cs typeface="Lexend Deca" pitchFamily="34" charset="-120"/>
              </a:rPr>
              <a:t>★</a:t>
            </a:r>
            <a:r>
              <a:rPr lang="en-US" sz="2000" dirty="0" b="1">
                <a:solidFill>
                  <a:srgbClr val="1B2236"/>
                </a:solidFill>
                <a:latin typeface="Lexend Deca" pitchFamily="34" charset="0"/>
                <a:ea typeface="Lexend Deca" pitchFamily="34" charset="-122"/>
                <a:cs typeface="Lexend Deca" pitchFamily="34" charset="-120"/>
              </a:rPr>
              <a:t> be away</a:t>
            </a:r>
            <a:endParaRPr lang="en-US" sz="2000" dirty="0" b="1"/>
          </a:p>
        </p:txBody>
      </p:sp>
      <p:pic>
        <p:nvPicPr>
          <p:cNvPr id="25" name="Word picture 5" descr="Owe (someone): a handshake [sign: I OWE YOU ONE]"/>
          <p:cNvPicPr>
            <a:picLocks noChangeAspect="1"/>
          </p:cNvPicPr>
          <p:nvPr/>
        </p:nvPicPr>
        <p:blipFill>
          <a:blip r:embed="rId12"/>
          <a:stretch>
            <a:fillRect/>
          </a:stretch>
        </p:blipFill>
        <p:spPr>
          <a:xfrm>
            <a:off x="5060290" y="4315968"/>
            <a:ext cx="1920240" cy="1344168"/>
          </a:xfrm>
          <a:prstGeom prst="rect">
            <a:avLst/>
          </a:prstGeom>
        </p:spPr>
      </p:pic>
      <p:sp>
        <p:nvSpPr>
          <p:cNvPr id="26" name="Word label 5"/>
          <p:cNvSpPr/>
          <p:nvPr/>
        </p:nvSpPr>
        <p:spPr>
          <a:xfrm>
            <a:off x="446593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owe (someone)</a:t>
            </a:r>
            <a:endParaRPr lang="en-US" sz="2000" dirty="0" b="1"/>
          </a:p>
        </p:txBody>
      </p:sp>
      <p:pic>
        <p:nvPicPr>
          <p:cNvPr id="27" name="Word picture 6" descr="Thank-you note: a note and flowers [sign: THANK YOU!]"/>
          <p:cNvPicPr>
            <a:picLocks noChangeAspect="1"/>
          </p:cNvPicPr>
          <p:nvPr/>
        </p:nvPicPr>
        <p:blipFill>
          <a:blip r:embed="rId13"/>
          <a:stretch>
            <a:fillRect/>
          </a:stretch>
        </p:blipFill>
        <p:spPr>
          <a:xfrm>
            <a:off x="8672170" y="4315968"/>
            <a:ext cx="1920240" cy="1344168"/>
          </a:xfrm>
          <a:prstGeom prst="rect">
            <a:avLst/>
          </a:prstGeom>
        </p:spPr>
      </p:pic>
      <p:sp>
        <p:nvSpPr>
          <p:cNvPr id="28" name="Word label 6"/>
          <p:cNvSpPr/>
          <p:nvPr/>
        </p:nvSpPr>
        <p:spPr>
          <a:xfrm>
            <a:off x="8077810" y="5733288"/>
            <a:ext cx="3108960" cy="5029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thank-you note</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name="L4:check">
    <p:bg>
      <p:bgPr>
        <a:solidFill>
          <a:srgbClr val="F1F5FB"/>
        </a:solidFill>
      </p:bgPr>
    </p:bg>
    <p:spTree>
      <p:nvGrpSpPr>
        <p:cNvPr id="1" name=""/>
        <p:cNvGrpSpPr/>
        <p:nvPr/>
      </p:nvGrpSpPr>
      <p:grpSpPr/>
      <p:sp>
        <p:nvSpPr>
          <p:cNvPr id="2" name="title"/>
          <p:cNvSpPr/>
          <p:nvPr/>
        </p:nvSpPr>
        <p:spPr>
          <a:xfrm>
            <a:off x="685800" y="502920"/>
            <a:ext cx="1078992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Check the Meaning</a:t>
            </a:r>
            <a:endParaRPr lang="en-US" sz="4300" dirty="0" b="1"/>
          </a:p>
        </p:txBody>
      </p:sp>
      <p:sp>
        <p:nvSpPr>
          <p:cNvPr id="3" name="sub"/>
          <p:cNvSpPr/>
          <p:nvPr/>
        </p:nvSpPr>
        <p:spPr>
          <a:xfrm>
            <a:off x="685800" y="1554480"/>
            <a:ext cx="10789920" cy="548640"/>
          </a:xfrm>
          <a:prstGeom prst="rect">
            <a:avLst/>
          </a:prstGeom>
          <a:noFill/>
          <a:ln/>
        </p:spPr>
        <p:txBody>
          <a:bodyPr wrap="square" rtlCol="0" anchor="t"/>
          <a:lstStyle/>
          <a:p>
            <a:pPr algn="l" indent="0" marL="0">
              <a:buNone/>
            </a:pPr>
            <a:r>
              <a:rPr lang="en-US" sz="2400" dirty="0">
                <a:solidFill>
                  <a:srgbClr val="1B2236"/>
                </a:solidFill>
                <a:latin typeface="Lexend Deca" pitchFamily="34" charset="0"/>
                <a:ea typeface="Lexend Deca" pitchFamily="34" charset="-122"/>
                <a:cs typeface="Lexend Deca" pitchFamily="34" charset="-120"/>
              </a:rPr>
              <a:t>Look at the picture. Answer the question.</a:t>
            </a:r>
            <a:endParaRPr lang="en-US" sz="2400" dirty="0"/>
          </a:p>
        </p:txBody>
      </p:sp>
      <p:sp>
        <p:nvSpPr>
          <p:cNvPr id="4" name="R1 shadow"/>
          <p:cNvSpPr/>
          <p:nvPr/>
        </p:nvSpPr>
        <p:spPr>
          <a:xfrm>
            <a:off x="758952" y="2395728"/>
            <a:ext cx="3291840" cy="3383280"/>
          </a:xfrm>
          <a:prstGeom prst="round1Rect">
            <a:avLst>
              <a:gd name="adj" fmla="val 23087"/>
            </a:avLst>
          </a:prstGeom>
          <a:solidFill>
            <a:srgbClr val="8FAFE3"/>
          </a:solidFill>
          <a:ln/>
        </p:spPr>
        <p:txBody>
          <a:bodyPr/>
          <a:p/>
        </p:txBody>
      </p:sp>
      <p:sp>
        <p:nvSpPr>
          <p:cNvPr id="5" name="R1 card"/>
          <p:cNvSpPr/>
          <p:nvPr/>
        </p:nvSpPr>
        <p:spPr>
          <a:xfrm>
            <a:off x="685800" y="2286000"/>
            <a:ext cx="3291840" cy="3383280"/>
          </a:xfrm>
          <a:prstGeom prst="round1Rect">
            <a:avLst>
              <a:gd name="adj" fmla="val 23087"/>
            </a:avLst>
          </a:prstGeom>
          <a:solidFill>
            <a:srgbClr val="FFFFFF"/>
          </a:solidFill>
          <a:ln w="19050">
            <a:solidFill>
              <a:srgbClr val="8FAFE3"/>
            </a:solidFill>
            <a:prstDash val="solid"/>
          </a:ln>
        </p:spPr>
        <p:txBody>
          <a:bodyPr/>
          <a:p/>
        </p:txBody>
      </p:sp>
      <p:sp>
        <p:nvSpPr>
          <p:cNvPr id="6" name="R1 circle"/>
          <p:cNvSpPr/>
          <p:nvPr/>
        </p:nvSpPr>
        <p:spPr>
          <a:xfrm>
            <a:off x="960120" y="2560320"/>
            <a:ext cx="731520" cy="731520"/>
          </a:xfrm>
          <a:prstGeom prst="ellipse">
            <a:avLst/>
          </a:prstGeom>
          <a:solidFill>
            <a:srgbClr val="FFE28C"/>
          </a:solidFill>
          <a:ln/>
        </p:spPr>
        <p:txBody>
          <a:bodyPr/>
          <a:p/>
        </p:txBody>
      </p:sp>
      <p:sp>
        <p:nvSpPr>
          <p:cNvPr id="7" name="R1 num"/>
          <p:cNvSpPr/>
          <p:nvPr/>
        </p:nvSpPr>
        <p:spPr>
          <a:xfrm>
            <a:off x="9601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1</a:t>
            </a:r>
            <a:endParaRPr lang="en-US" sz="2500" dirty="0"/>
          </a:p>
        </p:txBody>
      </p:sp>
      <p:sp>
        <p:nvSpPr>
          <p:cNvPr id="8" name="R1 q"/>
          <p:cNvSpPr/>
          <p:nvPr/>
        </p:nvSpPr>
        <p:spPr>
          <a:xfrm>
            <a:off x="960120" y="3931920"/>
            <a:ext cx="2788920" cy="731520"/>
          </a:xfrm>
          <a:prstGeom prst="rect">
            <a:avLst/>
          </a:prstGeom>
          <a:noFill/>
          <a:ln/>
        </p:spPr>
        <p:txBody>
          <a:bodyPr wrap="square" rtlCol="0" anchor="t"/>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If I borrow your pen, do I give it back?</a:t>
            </a:r>
            <a:endParaRPr lang="en-US" sz="1600" dirty="0" b="1"/>
          </a:p>
        </p:txBody>
      </p:sp>
      <p:pic>
        <p:nvPicPr>
          <p:cNvPr id="101" name="R1 pic" descr="Borrow: a ladder [sign: BORROW]"/>
          <p:cNvPicPr>
            <a:picLocks noChangeAspect="1"/>
          </p:cNvPicPr>
          <p:nvPr/>
        </p:nvPicPr>
        <p:blipFill>
          <a:blip r:embed="rId5"/>
          <a:stretch>
            <a:fillRect/>
          </a:stretch>
        </p:blipFill>
        <p:spPr>
          <a:xfrm>
            <a:off x="1783080" y="2560320"/>
            <a:ext cx="1920240" cy="1344168"/>
          </a:xfrm>
          <a:prstGeom prst="rect">
            <a:avLst/>
          </a:prstGeom>
        </p:spPr>
      </p:pic>
      <p:sp>
        <p:nvSpPr>
          <p:cNvPr id="10" name="R2 shadow"/>
          <p:cNvSpPr/>
          <p:nvPr/>
        </p:nvSpPr>
        <p:spPr>
          <a:xfrm>
            <a:off x="4416552" y="2395728"/>
            <a:ext cx="3291840" cy="3383280"/>
          </a:xfrm>
          <a:prstGeom prst="round1Rect">
            <a:avLst>
              <a:gd name="adj" fmla="val 23087"/>
            </a:avLst>
          </a:prstGeom>
          <a:solidFill>
            <a:srgbClr val="8FAFE3"/>
          </a:solidFill>
          <a:ln/>
        </p:spPr>
        <p:txBody>
          <a:bodyPr/>
          <a:p/>
        </p:txBody>
      </p:sp>
      <p:sp>
        <p:nvSpPr>
          <p:cNvPr id="11" name="R2 card"/>
          <p:cNvSpPr/>
          <p:nvPr/>
        </p:nvSpPr>
        <p:spPr>
          <a:xfrm>
            <a:off x="4343400" y="2286000"/>
            <a:ext cx="3291840" cy="3383280"/>
          </a:xfrm>
          <a:prstGeom prst="round1Rect">
            <a:avLst>
              <a:gd name="adj" fmla="val 23087"/>
            </a:avLst>
          </a:prstGeom>
          <a:solidFill>
            <a:srgbClr val="C9B8F2"/>
          </a:solidFill>
          <a:ln w="19050">
            <a:solidFill>
              <a:srgbClr val="8FAFE3"/>
            </a:solidFill>
            <a:prstDash val="solid"/>
          </a:ln>
        </p:spPr>
        <p:txBody>
          <a:bodyPr/>
          <a:p/>
        </p:txBody>
      </p:sp>
      <p:sp>
        <p:nvSpPr>
          <p:cNvPr id="12" name="R2 circle"/>
          <p:cNvSpPr/>
          <p:nvPr/>
        </p:nvSpPr>
        <p:spPr>
          <a:xfrm>
            <a:off x="4617720" y="2560320"/>
            <a:ext cx="731520" cy="731520"/>
          </a:xfrm>
          <a:prstGeom prst="ellipse">
            <a:avLst/>
          </a:prstGeom>
          <a:solidFill>
            <a:srgbClr val="FFE28C"/>
          </a:solidFill>
          <a:ln/>
        </p:spPr>
        <p:txBody>
          <a:bodyPr/>
          <a:p/>
        </p:txBody>
      </p:sp>
      <p:sp>
        <p:nvSpPr>
          <p:cNvPr id="13" name="R2 num"/>
          <p:cNvSpPr/>
          <p:nvPr/>
        </p:nvSpPr>
        <p:spPr>
          <a:xfrm>
            <a:off x="46177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2</a:t>
            </a:r>
            <a:endParaRPr lang="en-US" sz="2500" dirty="0"/>
          </a:p>
        </p:txBody>
      </p:sp>
      <p:sp>
        <p:nvSpPr>
          <p:cNvPr id="14" name="R2 q"/>
          <p:cNvSpPr/>
          <p:nvPr/>
        </p:nvSpPr>
        <p:spPr>
          <a:xfrm>
            <a:off x="4617720" y="3931920"/>
            <a:ext cx="2788920" cy="731520"/>
          </a:xfrm>
          <a:prstGeom prst="rect">
            <a:avLst/>
          </a:prstGeom>
          <a:noFill/>
          <a:ln/>
        </p:spPr>
        <p:txBody>
          <a:bodyPr wrap="square" rtlCol="0" anchor="t"/>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If you cover my shift, who works?</a:t>
            </a:r>
            <a:endParaRPr lang="en-US" sz="1600" dirty="0" b="1"/>
          </a:p>
        </p:txBody>
      </p:sp>
      <p:pic>
        <p:nvPicPr>
          <p:cNvPr id="102" name="R2 pic" descr="Cover a shift: a person raising a hand and a clock [sign: COVER: SAT]"/>
          <p:cNvPicPr>
            <a:picLocks noChangeAspect="1"/>
          </p:cNvPicPr>
          <p:nvPr/>
        </p:nvPicPr>
        <p:blipFill>
          <a:blip r:embed="rId6"/>
          <a:stretch>
            <a:fillRect/>
          </a:stretch>
        </p:blipFill>
        <p:spPr>
          <a:xfrm>
            <a:off x="5440680" y="2560320"/>
            <a:ext cx="1920240" cy="1344168"/>
          </a:xfrm>
          <a:prstGeom prst="rect">
            <a:avLst/>
          </a:prstGeom>
        </p:spPr>
      </p:pic>
      <p:sp>
        <p:nvSpPr>
          <p:cNvPr id="16" name="R3 shadow"/>
          <p:cNvSpPr/>
          <p:nvPr/>
        </p:nvSpPr>
        <p:spPr>
          <a:xfrm>
            <a:off x="8074152" y="2395728"/>
            <a:ext cx="3291840" cy="3383280"/>
          </a:xfrm>
          <a:prstGeom prst="round1Rect">
            <a:avLst>
              <a:gd name="adj" fmla="val 23087"/>
            </a:avLst>
          </a:prstGeom>
          <a:solidFill>
            <a:srgbClr val="8FAFE3"/>
          </a:solidFill>
          <a:ln/>
        </p:spPr>
        <p:txBody>
          <a:bodyPr/>
          <a:p/>
        </p:txBody>
      </p:sp>
      <p:sp>
        <p:nvSpPr>
          <p:cNvPr id="17" name="R3 card"/>
          <p:cNvSpPr/>
          <p:nvPr/>
        </p:nvSpPr>
        <p:spPr>
          <a:xfrm>
            <a:off x="8001000" y="2286000"/>
            <a:ext cx="3291840" cy="3383280"/>
          </a:xfrm>
          <a:prstGeom prst="round1Rect">
            <a:avLst>
              <a:gd name="adj" fmla="val 23087"/>
            </a:avLst>
          </a:prstGeom>
          <a:solidFill>
            <a:srgbClr val="FFFFFF"/>
          </a:solidFill>
          <a:ln w="19050">
            <a:solidFill>
              <a:srgbClr val="8FAFE3"/>
            </a:solidFill>
            <a:prstDash val="solid"/>
          </a:ln>
        </p:spPr>
        <p:txBody>
          <a:bodyPr/>
          <a:p/>
        </p:txBody>
      </p:sp>
      <p:sp>
        <p:nvSpPr>
          <p:cNvPr id="18" name="R3 circle"/>
          <p:cNvSpPr/>
          <p:nvPr/>
        </p:nvSpPr>
        <p:spPr>
          <a:xfrm>
            <a:off x="8275320" y="2560320"/>
            <a:ext cx="731520" cy="731520"/>
          </a:xfrm>
          <a:prstGeom prst="ellipse">
            <a:avLst/>
          </a:prstGeom>
          <a:solidFill>
            <a:srgbClr val="FFE28C"/>
          </a:solidFill>
          <a:ln/>
        </p:spPr>
        <p:txBody>
          <a:bodyPr/>
          <a:p/>
        </p:txBody>
      </p:sp>
      <p:sp>
        <p:nvSpPr>
          <p:cNvPr id="19" name="R3 num"/>
          <p:cNvSpPr/>
          <p:nvPr/>
        </p:nvSpPr>
        <p:spPr>
          <a:xfrm>
            <a:off x="8275320" y="2560320"/>
            <a:ext cx="731520" cy="731520"/>
          </a:xfrm>
          <a:prstGeom prst="rect">
            <a:avLst/>
          </a:prstGeom>
          <a:noFill/>
          <a:ln/>
        </p:spPr>
        <p:txBody>
          <a:bodyPr wrap="square" lIns="0" tIns="0" rIns="0" bIns="0" rtlCol="0" anchor="ctr"/>
          <a:lstStyle/>
          <a:p>
            <a:pPr algn="ctr" indent="0" marL="0">
              <a:buNone/>
            </a:pPr>
            <a:r>
              <a:rPr lang="en-US" sz="2500" b="1" dirty="0">
                <a:solidFill>
                  <a:srgbClr val="1B2236"/>
                </a:solidFill>
                <a:latin typeface="Lexend Deca" pitchFamily="34" charset="0"/>
                <a:ea typeface="Lexend Deca" pitchFamily="34" charset="-122"/>
                <a:cs typeface="Lexend Deca" pitchFamily="34" charset="-120"/>
              </a:rPr>
              <a:t>3</a:t>
            </a:r>
            <a:endParaRPr lang="en-US" sz="2500" dirty="0"/>
          </a:p>
        </p:txBody>
      </p:sp>
      <p:sp>
        <p:nvSpPr>
          <p:cNvPr id="20" name="R3 q"/>
          <p:cNvSpPr/>
          <p:nvPr/>
        </p:nvSpPr>
        <p:spPr>
          <a:xfrm>
            <a:off x="8275320" y="3931920"/>
            <a:ext cx="2788920" cy="731520"/>
          </a:xfrm>
          <a:prstGeom prst="rect">
            <a:avLst/>
          </a:prstGeom>
          <a:noFill/>
          <a:ln/>
        </p:spPr>
        <p:txBody>
          <a:bodyPr wrap="square" rtlCol="0" anchor="t"/>
          <a:lstStyle/>
          <a:p>
            <a:pPr algn="l" indent="0" marL="0">
              <a:buNone/>
            </a:pPr>
            <a:r>
              <a:rPr lang="en-US" sz="1600" dirty="0" b="1">
                <a:solidFill>
                  <a:srgbClr val="1B2236"/>
                </a:solidFill>
                <a:latin typeface="Lexend Deca" pitchFamily="34" charset="0"/>
                <a:ea typeface="Lexend Deca" pitchFamily="34" charset="-122"/>
                <a:cs typeface="Lexend Deca" pitchFamily="34" charset="-120"/>
              </a:rPr>
              <a:t>Is a spare key the first key or an extra key?</a:t>
            </a:r>
            <a:endParaRPr lang="en-US" sz="1600" dirty="0" b="1"/>
          </a:p>
        </p:txBody>
      </p:sp>
      <p:pic>
        <p:nvPicPr>
          <p:cNvPr id="103" name="R3 pic" descr="Spare key: two keys [sign: SPARE]"/>
          <p:cNvPicPr>
            <a:picLocks noChangeAspect="1"/>
          </p:cNvPicPr>
          <p:nvPr/>
        </p:nvPicPr>
        <p:blipFill>
          <a:blip r:embed="rId7"/>
          <a:stretch>
            <a:fillRect/>
          </a:stretch>
        </p:blipFill>
        <p:spPr>
          <a:xfrm>
            <a:off x="9098280" y="2560320"/>
            <a:ext cx="1920240" cy="1344168"/>
          </a:xfrm>
          <a:prstGeom prst="rect">
            <a:avLst/>
          </a:prstGeom>
        </p:spPr>
      </p:pic>
      <p:sp>
        <p:nvSpPr>
          <p:cNvPr id="25" name="R1 ans"/>
          <p:cNvSpPr/>
          <p:nvPr/>
        </p:nvSpPr>
        <p:spPr>
          <a:xfrm>
            <a:off x="9601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800" dirty="0" b="1">
                <a:solidFill>
                  <a:srgbClr val="1B2236"/>
                </a:solidFill>
                <a:latin typeface="Lexend Deca" pitchFamily="34" charset="0"/>
                <a:ea typeface="Lexend Deca" pitchFamily="34" charset="-122"/>
                <a:cs typeface="Lexend Deca" pitchFamily="34" charset="-120"/>
              </a:rPr>
              <a:t>yes</a:t>
            </a:r>
            <a:endParaRPr lang="en-US" sz="2800" dirty="0" b="1"/>
          </a:p>
        </p:txBody>
      </p:sp>
      <p:sp>
        <p:nvSpPr>
          <p:cNvPr id="26" name="R2 ans"/>
          <p:cNvSpPr/>
          <p:nvPr/>
        </p:nvSpPr>
        <p:spPr>
          <a:xfrm>
            <a:off x="46177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800" dirty="0" b="1">
                <a:solidFill>
                  <a:srgbClr val="1B2236"/>
                </a:solidFill>
                <a:latin typeface="Lexend Deca" pitchFamily="34" charset="0"/>
                <a:ea typeface="Lexend Deca" pitchFamily="34" charset="-122"/>
                <a:cs typeface="Lexend Deca" pitchFamily="34" charset="-120"/>
              </a:rPr>
              <a:t>you do</a:t>
            </a:r>
            <a:endParaRPr lang="en-US" sz="2800" dirty="0" b="1"/>
          </a:p>
        </p:txBody>
      </p:sp>
      <p:sp>
        <p:nvSpPr>
          <p:cNvPr id="27" name="R3 ans"/>
          <p:cNvSpPr/>
          <p:nvPr/>
        </p:nvSpPr>
        <p:spPr>
          <a:xfrm>
            <a:off x="8275320" y="4709160"/>
            <a:ext cx="2286000" cy="685800"/>
          </a:xfrm>
          <a:prstGeom prst="roundRect">
            <a:avLst>
              <a:gd name="adj" fmla="val 22000"/>
            </a:avLst>
          </a:prstGeom>
          <a:solidFill>
            <a:srgbClr val="FFE28C"/>
          </a:solidFill>
          <a:ln w="38100">
            <a:noFill/>
          </a:ln>
        </p:spPr>
        <p:txBody>
          <a:bodyPr wrap="square" lIns="73152" tIns="36576" rIns="73152"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an extra key</a:t>
            </a:r>
            <a:endParaRPr lang="en-US" sz="22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name="L4:before">
    <p:bg>
      <p:bgPr>
        <a:solidFill>
          <a:srgbClr val="F1F5FB"/>
        </a:solidFill>
      </p:bgPr>
    </p:bg>
    <p:spTree>
      <p:nvGrpSpPr>
        <p:cNvPr id="1" name=""/>
        <p:cNvGrpSpPr/>
        <p:nvPr/>
      </p:nvGrpSpPr>
      <p:grpSpPr/>
      <p:sp>
        <p:nvSpPr>
          <p:cNvPr id="2" name="Shape 0"/>
          <p:cNvSpPr/>
          <p:nvPr/>
        </p:nvSpPr>
        <p:spPr>
          <a:xfrm>
            <a:off x="0" y="0"/>
            <a:ext cx="3063240" cy="6858000"/>
          </a:xfrm>
          <a:prstGeom prst="rect">
            <a:avLst/>
          </a:prstGeom>
          <a:solidFill>
            <a:srgbClr val="B9D2F7"/>
          </a:solidFill>
          <a:ln/>
        </p:spPr>
        <p:txBody>
          <a:bodyPr/>
          <a:p/>
        </p:txBody>
      </p:sp>
      <p:sp>
        <p:nvSpPr>
          <p:cNvPr id="4" name="Shape 2"/>
          <p:cNvSpPr/>
          <p:nvPr/>
        </p:nvSpPr>
        <p:spPr>
          <a:xfrm>
            <a:off x="8156448" y="1289304"/>
            <a:ext cx="3429000" cy="4983480"/>
          </a:xfrm>
          <a:prstGeom prst="round1Rect">
            <a:avLst>
              <a:gd name="adj" fmla="val 23087"/>
            </a:avLst>
          </a:prstGeom>
          <a:solidFill>
            <a:srgbClr val="8FAFE3"/>
          </a:solidFill>
          <a:ln/>
        </p:spPr>
        <p:txBody>
          <a:bodyPr/>
          <a:p/>
        </p:txBody>
      </p:sp>
      <p:sp>
        <p:nvSpPr>
          <p:cNvPr id="5" name="Shape 3"/>
          <p:cNvSpPr/>
          <p:nvPr/>
        </p:nvSpPr>
        <p:spPr>
          <a:xfrm>
            <a:off x="8321040" y="1097280"/>
            <a:ext cx="3429000" cy="4983480"/>
          </a:xfrm>
          <a:prstGeom prst="round1Rect">
            <a:avLst>
              <a:gd name="adj" fmla="val 23087"/>
            </a:avLst>
          </a:prstGeom>
          <a:solidFill>
            <a:srgbClr val="B9D2F7"/>
          </a:solidFill>
          <a:ln/>
        </p:spPr>
        <p:txBody>
          <a:bodyPr/>
          <a:p/>
        </p:txBody>
      </p:sp>
      <p:sp>
        <p:nvSpPr>
          <p:cNvPr id="6" name="Shape 4"/>
          <p:cNvSpPr/>
          <p:nvPr/>
        </p:nvSpPr>
        <p:spPr>
          <a:xfrm>
            <a:off x="3394847" y="1032586"/>
            <a:ext cx="4424782" cy="1863547"/>
          </a:xfrm>
          <a:prstGeom prst="roundRect">
            <a:avLst>
              <a:gd name="adj" fmla="val 16667"/>
            </a:avLst>
          </a:prstGeom>
          <a:solidFill>
            <a:srgbClr val="8FAFE3"/>
          </a:solidFill>
          <a:ln/>
        </p:spPr>
        <p:txBody>
          <a:bodyPr/>
          <a:p/>
        </p:txBody>
      </p:sp>
      <p:sp>
        <p:nvSpPr>
          <p:cNvPr id="7" name="Shape 5"/>
          <p:cNvSpPr/>
          <p:nvPr/>
        </p:nvSpPr>
        <p:spPr>
          <a:xfrm>
            <a:off x="3420770" y="956462"/>
            <a:ext cx="4424782" cy="1863547"/>
          </a:xfrm>
          <a:prstGeom prst="roundRect">
            <a:avLst>
              <a:gd name="adj" fmla="val 16667"/>
            </a:avLst>
          </a:prstGeom>
          <a:solidFill>
            <a:srgbClr val="FFFFFF"/>
          </a:solidFill>
          <a:ln/>
        </p:spPr>
        <p:txBody>
          <a:bodyPr/>
          <a:p/>
        </p:txBody>
      </p:sp>
      <p:sp>
        <p:nvSpPr>
          <p:cNvPr id="8" name="title1"/>
          <p:cNvSpPr/>
          <p:nvPr/>
        </p:nvSpPr>
        <p:spPr>
          <a:xfrm>
            <a:off x="3566160" y="1078992"/>
            <a:ext cx="4114800" cy="749808"/>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Before You</a:t>
            </a:r>
            <a:endParaRPr lang="en-US" sz="4400" dirty="0" b="1"/>
          </a:p>
        </p:txBody>
      </p:sp>
      <p:sp>
        <p:nvSpPr>
          <p:cNvPr id="9" name="title2"/>
          <p:cNvSpPr/>
          <p:nvPr/>
        </p:nvSpPr>
        <p:spPr>
          <a:xfrm>
            <a:off x="3566160" y="1828800"/>
            <a:ext cx="4114800" cy="822960"/>
          </a:xfrm>
          <a:prstGeom prst="rect">
            <a:avLst/>
          </a:prstGeom>
          <a:noFill/>
          <a:ln/>
        </p:spPr>
        <p:txBody>
          <a:bodyPr wrap="square" rtlCol="0" anchor="ctr"/>
          <a:lstStyle/>
          <a:p>
            <a:pPr algn="l" indent="0" marL="0">
              <a:buNone/>
            </a:pPr>
            <a:r>
              <a:rPr lang="en-US" sz="4400" dirty="0" b="1">
                <a:solidFill>
                  <a:srgbClr val="1B2236"/>
                </a:solidFill>
                <a:latin typeface="Lexend Deca" pitchFamily="34" charset="0"/>
                <a:ea typeface="Lexend Deca" pitchFamily="34" charset="-122"/>
                <a:cs typeface="Lexend Deca" pitchFamily="34" charset="-120"/>
              </a:rPr>
              <a:t>Listen</a:t>
            </a:r>
            <a:endParaRPr lang="en-US" sz="4400" dirty="0" b="1"/>
          </a:p>
        </p:txBody>
      </p:sp>
      <p:sp>
        <p:nvSpPr>
          <p:cNvPr id="10" name="context"/>
          <p:cNvSpPr/>
          <p:nvPr/>
        </p:nvSpPr>
        <p:spPr>
          <a:xfrm>
            <a:off x="3487522" y="3108960"/>
            <a:ext cx="4206240" cy="868680"/>
          </a:xfrm>
          <a:prstGeom prst="rect">
            <a:avLst/>
          </a:prstGeom>
          <a:noFill/>
          <a:ln/>
        </p:spPr>
        <p:txBody>
          <a:bodyPr wrap="square" lIns="0" tIns="0" rIns="0" bIns="0" rtlCol="0" anchor="ct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Patricia is going away for a week. First, she talks to her neighbor, Mr. Wilson. Then, at work, her coworker Omar asks her for a favor.</a:t>
            </a:r>
            <a:endParaRPr lang="en-US" sz="1600" dirty="0"/>
          </a:p>
        </p:txBody>
      </p:sp>
      <p:sp>
        <p:nvSpPr>
          <p:cNvPr id="11" name="R1 num"/>
          <p:cNvSpPr/>
          <p:nvPr/>
        </p:nvSpPr>
        <p:spPr>
          <a:xfrm>
            <a:off x="3383280" y="4114800"/>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01</a:t>
            </a:r>
            <a:endParaRPr lang="en-US" sz="3600" dirty="0"/>
          </a:p>
        </p:txBody>
      </p:sp>
      <p:sp>
        <p:nvSpPr>
          <p:cNvPr id="13" name="R2 num"/>
          <p:cNvSpPr/>
          <p:nvPr/>
        </p:nvSpPr>
        <p:spPr>
          <a:xfrm>
            <a:off x="3383280" y="4919472"/>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02</a:t>
            </a:r>
            <a:endParaRPr lang="en-US" sz="3600" dirty="0"/>
          </a:p>
        </p:txBody>
      </p:sp>
      <p:sp>
        <p:nvSpPr>
          <p:cNvPr id="15" name="R3 num"/>
          <p:cNvSpPr/>
          <p:nvPr/>
        </p:nvSpPr>
        <p:spPr>
          <a:xfrm>
            <a:off x="3383280" y="5724144"/>
            <a:ext cx="1005840" cy="822960"/>
          </a:xfrm>
          <a:prstGeom prst="rect">
            <a:avLst/>
          </a:prstGeom>
          <a:noFill/>
          <a:ln/>
        </p:spPr>
        <p:txBody>
          <a:bodyPr wrap="square" rtlCol="0" anchor="ctr"/>
          <a:lstStyle/>
          <a:p>
            <a:pPr algn="l" indent="0" marL="0">
              <a:buNone/>
            </a:pPr>
            <a:r>
              <a:rPr lang="en-US" sz="3600" dirty="0" b="1">
                <a:solidFill>
                  <a:srgbClr val="1B2236"/>
                </a:solidFill>
                <a:latin typeface="Lexend Deca" pitchFamily="34" charset="0"/>
                <a:ea typeface="Lexend Deca" pitchFamily="34" charset="-122"/>
                <a:cs typeface="Lexend Deca" pitchFamily="34" charset="-120"/>
              </a:rPr>
              <a:t>03</a:t>
            </a:r>
            <a:endParaRPr lang="en-US" sz="3600" dirty="0"/>
          </a:p>
        </p:txBody>
      </p:sp>
      <p:sp>
        <p:nvSpPr>
          <p:cNvPr id="17" name="line 1"/>
          <p:cNvSpPr/>
          <p:nvPr/>
        </p:nvSpPr>
        <p:spPr>
          <a:xfrm>
            <a:off x="3503066" y="4928616"/>
            <a:ext cx="4480560" cy="0"/>
          </a:xfrm>
          <a:prstGeom prst="line">
            <a:avLst/>
          </a:prstGeom>
          <a:noFill/>
          <a:ln w="6350">
            <a:solidFill>
              <a:srgbClr val="1B2236"/>
            </a:solidFill>
            <a:prstDash val="solid"/>
          </a:ln>
        </p:spPr>
        <p:txBody>
          <a:bodyPr/>
          <a:p/>
        </p:txBody>
      </p:sp>
      <p:sp>
        <p:nvSpPr>
          <p:cNvPr id="18" name="line 2"/>
          <p:cNvSpPr/>
          <p:nvPr/>
        </p:nvSpPr>
        <p:spPr>
          <a:xfrm>
            <a:off x="3503066" y="5733288"/>
            <a:ext cx="4480560" cy="0"/>
          </a:xfrm>
          <a:prstGeom prst="line">
            <a:avLst/>
          </a:prstGeom>
          <a:noFill/>
          <a:ln w="6350">
            <a:solidFill>
              <a:srgbClr val="1B2236"/>
            </a:solidFill>
            <a:prstDash val="solid"/>
          </a:ln>
        </p:spPr>
        <p:txBody>
          <a:bodyPr/>
          <a:p/>
        </p:txBody>
      </p:sp>
      <p:pic>
        <p:nvPicPr>
          <p:cNvPr id="24" name="pic" descr="Water the plants: a plant and a drop of water"/>
          <p:cNvPicPr>
            <a:picLocks noChangeAspect="1"/>
          </p:cNvPicPr>
          <p:nvPr/>
        </p:nvPicPr>
        <p:blipFill>
          <a:blip r:embed="rId3"/>
          <a:stretch>
            <a:fillRect/>
          </a:stretch>
        </p:blipFill>
        <p:spPr>
          <a:xfrm>
            <a:off x="160020" y="2423160"/>
            <a:ext cx="2743200" cy="1920240"/>
          </a:xfrm>
          <a:prstGeom prst="rect">
            <a:avLst/>
          </a:prstGeom>
        </p:spPr>
      </p:pic>
      <p:sp>
        <p:nvSpPr>
          <p:cNvPr id="25" name="R1 hl"/>
          <p:cNvSpPr/>
          <p:nvPr/>
        </p:nvSpPr>
        <p:spPr>
          <a:xfrm>
            <a:off x="4389120" y="4251960"/>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7" name="R1 voice"/>
          <p:cNvSpPr/>
          <p:nvPr/>
        </p:nvSpPr>
        <p:spPr>
          <a:xfrm>
            <a:off x="4389120" y="4251960"/>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Patricia</a:t>
            </a:r>
            <a:endParaRPr lang="en-US" sz="2200" dirty="0" b="1"/>
          </a:p>
        </p:txBody>
      </p:sp>
      <p:sp>
        <p:nvSpPr>
          <p:cNvPr id="29" name="R2 hl"/>
          <p:cNvSpPr/>
          <p:nvPr/>
        </p:nvSpPr>
        <p:spPr>
          <a:xfrm>
            <a:off x="4389120" y="5056632"/>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1" name="R2 voice"/>
          <p:cNvSpPr/>
          <p:nvPr/>
        </p:nvSpPr>
        <p:spPr>
          <a:xfrm>
            <a:off x="4389120" y="5056632"/>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Mr. Wilson</a:t>
            </a:r>
            <a:endParaRPr lang="en-US" sz="2200" dirty="0" b="1"/>
          </a:p>
        </p:txBody>
      </p:sp>
      <p:sp>
        <p:nvSpPr>
          <p:cNvPr id="33" name="R3 hl"/>
          <p:cNvSpPr/>
          <p:nvPr/>
        </p:nvSpPr>
        <p:spPr>
          <a:xfrm>
            <a:off x="4389120" y="5861304"/>
            <a:ext cx="3566160" cy="548640"/>
          </a:xfrm>
          <a:prstGeom prst="roundRect">
            <a:avLst>
              <a:gd name="adj" fmla="val 22000"/>
            </a:avLst>
          </a:prstGeom>
          <a:solidFill>
            <a:srgbClr val="FFE28C"/>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35" name="R3 voice"/>
          <p:cNvSpPr/>
          <p:nvPr/>
        </p:nvSpPr>
        <p:spPr>
          <a:xfrm>
            <a:off x="4389120" y="5861304"/>
            <a:ext cx="3566160" cy="548640"/>
          </a:xfrm>
          <a:prstGeom prst="rect">
            <a:avLst/>
          </a:prstGeom>
          <a:no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Omar</a:t>
            </a:r>
            <a:endParaRPr lang="en-US" sz="2200" dirty="0" b="1"/>
          </a:p>
        </p:txBody>
      </p:sp>
      <p:sp>
        <p:nvSpPr>
          <p:cNvPr id="37" name="listen head"/>
          <p:cNvSpPr/>
          <p:nvPr/>
        </p:nvSpPr>
        <p:spPr>
          <a:xfrm>
            <a:off x="8549640" y="1280160"/>
            <a:ext cx="3017520" cy="548640"/>
          </a:xfrm>
          <a:prstGeom prst="rect">
            <a:avLst/>
          </a:prstGeom>
          <a:noFill/>
          <a:ln w="38100">
            <a:noFill/>
          </a:ln>
        </p:spPr>
        <p:txBody>
          <a:bodyPr wrap="square" lIns="73152" tIns="36576" rIns="73152" bIns="36576" rtlCol="0" anchor="ctr">
            <a:noAutofit/>
          </a:bodyPr>
          <a:lstStyle/>
          <a:p>
            <a:pPr algn="l" indent="0" marL="0">
              <a:buNone/>
            </a:pPr>
            <a:r>
              <a:rPr lang="en-US" sz="2400" dirty="0" b="1">
                <a:solidFill>
                  <a:srgbClr val="1B2236"/>
                </a:solidFill>
                <a:latin typeface="Lexend Deca" pitchFamily="34" charset="0"/>
                <a:ea typeface="Lexend Deca" pitchFamily="34" charset="-122"/>
                <a:cs typeface="Lexend Deca" pitchFamily="34" charset="-120"/>
              </a:rPr>
              <a:t>Listen for:</a:t>
            </a:r>
            <a:endParaRPr lang="en-US" sz="2400" dirty="0" b="1"/>
          </a:p>
        </p:txBody>
      </p:sp>
      <p:sp>
        <p:nvSpPr>
          <p:cNvPr id="39" name="listen 1"/>
          <p:cNvSpPr/>
          <p:nvPr/>
        </p:nvSpPr>
        <p:spPr>
          <a:xfrm>
            <a:off x="8549640" y="196596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What favors do they ask for?</a:t>
            </a:r>
            <a:endParaRPr lang="en-US" sz="2200" dirty="0"/>
          </a:p>
        </p:txBody>
      </p:sp>
      <p:sp>
        <p:nvSpPr>
          <p:cNvPr id="41" name="listen 2"/>
          <p:cNvSpPr/>
          <p:nvPr/>
        </p:nvSpPr>
        <p:spPr>
          <a:xfrm>
            <a:off x="8549640" y="301752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Play 2: Tasks B and C.</a:t>
            </a:r>
            <a:endParaRPr lang="en-US" sz="2200" dirty="0"/>
          </a:p>
        </p:txBody>
      </p:sp>
      <p:sp>
        <p:nvSpPr>
          <p:cNvPr id="43" name="audio"/>
          <p:cNvSpPr/>
          <p:nvPr/>
        </p:nvSpPr>
        <p:spPr>
          <a:xfrm>
            <a:off x="8549640" y="4069080"/>
            <a:ext cx="3063240" cy="914400"/>
          </a:xfrm>
          <a:prstGeom prst="rect">
            <a:avLst/>
          </a:prstGeom>
          <a:noFill/>
          <a:ln w="38100">
            <a:noFill/>
          </a:ln>
        </p:spPr>
        <p:txBody>
          <a:bodyPr wrap="square" lIns="73152" tIns="36576" rIns="73152" bIns="36576" rtlCol="0" anchor="ctr">
            <a:noAutofit/>
          </a:bodyPr>
          <a:lstStyle/>
          <a:p>
            <a:pPr algn="l" indent="0" marL="0">
              <a:buNone/>
            </a:pPr>
            <a:r>
              <a:rPr lang="en-US" sz="2200" dirty="0">
                <a:solidFill>
                  <a:srgbClr val="1B2236"/>
                </a:solidFill>
                <a:latin typeface="Lexend Deca" pitchFamily="34" charset="0"/>
                <a:ea typeface="Lexend Deca" pitchFamily="34" charset="-122"/>
                <a:cs typeface="Lexend Deca" pitchFamily="34" charset="-120"/>
              </a:rPr>
              <a:t>Audio (about 1:47): coming soon.</a:t>
            </a:r>
            <a:endParaRPr lang="en-US" sz="2200" dirty="0"/>
          </a:p>
        </p:txBody>
      </p:sp>
      <p:sp>
        <p:nvSpPr>
          <p:cNvPr id="46" name="play"/>
          <p:cNvSpPr/>
          <p:nvPr/>
        </p:nvSpPr>
        <p:spPr>
          <a:xfrm>
            <a:off x="8549640" y="5029200"/>
            <a:ext cx="3017520" cy="731520"/>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2200" dirty="0" b="0">
                <a:solidFill>
                  <a:srgbClr val="1B2236"/>
                </a:solidFill>
                <a:latin typeface="Lexend Deca" pitchFamily="34" charset="0"/>
                <a:ea typeface="Lexend Deca" pitchFamily="34" charset="-122"/>
                <a:cs typeface="Lexend Deca" pitchFamily="34" charset="-120"/>
              </a:rPr>
              <a:t>Play 1: </a:t>
            </a:r>
            <a:r>
              <a:rPr lang="en-US" sz="2200" dirty="0" b="1">
                <a:solidFill>
                  <a:srgbClr val="5B3FC4"/>
                </a:solidFill>
                <a:latin typeface="Lexend Deca" pitchFamily="34" charset="0"/>
                <a:ea typeface="Lexend Deca" pitchFamily="34" charset="-122"/>
                <a:cs typeface="Lexend Deca" pitchFamily="34" charset="-120"/>
              </a:rPr>
              <a:t>Task A</a:t>
            </a:r>
            <a:endParaRPr lang="en-US" sz="22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4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name="L4: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Listening A</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Listen. What favors do they ask for?</a:t>
            </a:r>
            <a:endParaRPr lang="en-US" sz="2000" dirty="0"/>
          </a:p>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a:t>
            </a:r>
            <a:endParaRPr lang="en-US" sz="2000" dirty="0"/>
          </a:p>
        </p:txBody>
      </p:sp>
      <p:sp>
        <p:nvSpPr>
          <p:cNvPr id="8" name="R1 stmt"/>
          <p:cNvSpPr/>
          <p:nvPr/>
        </p:nvSpPr>
        <p:spPr>
          <a:xfrm>
            <a:off x="502920" y="3108960"/>
            <a:ext cx="182880" cy="530352"/>
          </a:xfrm>
          <a:prstGeom prst="rect">
            <a:avLst/>
          </a:prstGeom>
          <a:noFill/>
          <a:ln w="38100">
            <a:noFill/>
          </a:ln>
        </p:spPr>
        <p:txBody>
          <a:bodyPr wrap="square" lIns="73152" tIns="36576" rIns="73152" bIns="36576" rtlCol="0" anchor="ctr">
            <a:noAutofit/>
          </a:bodyPr>
          <a:lstStyle/>
          <a:p>
            <a:pPr algn="l" indent="0" marL="0">
              <a:buNone/>
            </a:pPr>
            <a:endParaRPr lang="en-US" sz="2000" dirty="0"/>
          </a:p>
        </p:txBody>
      </p:sp>
      <p:sp>
        <p:nvSpPr>
          <p:cNvPr id="9" name="R1 opt1"/>
          <p:cNvSpPr/>
          <p:nvPr/>
        </p:nvSpPr>
        <p:spPr>
          <a:xfrm>
            <a:off x="868680" y="3108960"/>
            <a:ext cx="352044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a. get the mail, water the plants, feed the cat, and cover a shift</a:t>
            </a:r>
            <a:endParaRPr lang="en-US" sz="1400" dirty="0" b="1"/>
          </a:p>
        </p:txBody>
      </p:sp>
      <p:sp>
        <p:nvSpPr>
          <p:cNvPr id="10" name="R1 opt2"/>
          <p:cNvSpPr/>
          <p:nvPr/>
        </p:nvSpPr>
        <p:spPr>
          <a:xfrm>
            <a:off x="4480560" y="3108960"/>
            <a:ext cx="352044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b. borrow a ladder and switch shifts</a:t>
            </a:r>
            <a:endParaRPr lang="en-US" sz="1400" dirty="0" b="1"/>
          </a:p>
        </p:txBody>
      </p:sp>
      <p:sp>
        <p:nvSpPr>
          <p:cNvPr id="11" name="R1 opt3"/>
          <p:cNvSpPr/>
          <p:nvPr/>
        </p:nvSpPr>
        <p:spPr>
          <a:xfrm>
            <a:off x="8092440" y="3108960"/>
            <a:ext cx="3520440" cy="530352"/>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c. pick up a package and lend a car</a:t>
            </a:r>
            <a:endParaRPr lang="en-US" sz="1400" dirty="0" b="1"/>
          </a:p>
        </p:txBody>
      </p:sp>
      <p:sp>
        <p:nvSpPr>
          <p:cNvPr id="12" name="R1 circle"/>
          <p:cNvSpPr/>
          <p:nvPr/>
        </p:nvSpPr>
        <p:spPr>
          <a:xfrm>
            <a:off x="740664" y="3054096"/>
            <a:ext cx="3776472" cy="640080"/>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name="L4: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Listening B</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Listen again. Yes or no, and why?</a:t>
            </a:r>
            <a:endParaRPr lang="en-US" sz="2000" dirty="0"/>
          </a:p>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 the answer.</a:t>
            </a:r>
            <a:endParaRPr lang="en-US" sz="2000" dirty="0"/>
          </a:p>
        </p:txBody>
      </p:sp>
      <p:sp>
        <p:nvSpPr>
          <p:cNvPr id="8" name="R1 stmt"/>
          <p:cNvSpPr/>
          <p:nvPr/>
        </p:nvSpPr>
        <p:spPr>
          <a:xfrm>
            <a:off x="502920" y="3108960"/>
            <a:ext cx="5943600" cy="475488"/>
          </a:xfrm>
          <a:prstGeom prst="rect">
            <a:avLst/>
          </a:prstGeom>
          <a:noFill/>
          <a:ln w="38100">
            <a:noFill/>
          </a:ln>
        </p:spPr>
        <p:txBody>
          <a:bodyPr wrap="square" lIns="73152" tIns="36576" rIns="73152" bIns="36576" rtlCol="0" anchor="ctr">
            <a:noAutofit/>
          </a:bodyP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1. The mail: Mr. Wilson says</a:t>
            </a:r>
            <a:endParaRPr lang="en-US" sz="1600" dirty="0"/>
          </a:p>
        </p:txBody>
      </p:sp>
      <p:sp>
        <p:nvSpPr>
          <p:cNvPr id="9" name="R1 opt1"/>
          <p:cNvSpPr/>
          <p:nvPr/>
        </p:nvSpPr>
        <p:spPr>
          <a:xfrm>
            <a:off x="6629400" y="310896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yes</a:t>
            </a:r>
            <a:endParaRPr lang="en-US" sz="1400" dirty="0" b="1"/>
          </a:p>
        </p:txBody>
      </p:sp>
      <p:sp>
        <p:nvSpPr>
          <p:cNvPr id="10" name="R1 opt2"/>
          <p:cNvSpPr/>
          <p:nvPr/>
        </p:nvSpPr>
        <p:spPr>
          <a:xfrm>
            <a:off x="8869680" y="310896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no</a:t>
            </a:r>
            <a:endParaRPr lang="en-US" sz="1400" dirty="0" b="1"/>
          </a:p>
        </p:txBody>
      </p:sp>
      <p:sp>
        <p:nvSpPr>
          <p:cNvPr id="11" name="R1 circle"/>
          <p:cNvSpPr/>
          <p:nvPr/>
        </p:nvSpPr>
        <p:spPr>
          <a:xfrm>
            <a:off x="6501384" y="3054096"/>
            <a:ext cx="23591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2" name="R2 stmt"/>
          <p:cNvSpPr/>
          <p:nvPr/>
        </p:nvSpPr>
        <p:spPr>
          <a:xfrm>
            <a:off x="502920" y="3657600"/>
            <a:ext cx="5943600" cy="475488"/>
          </a:xfrm>
          <a:prstGeom prst="rect">
            <a:avLst/>
          </a:prstGeom>
          <a:noFill/>
          <a:ln w="38100">
            <a:noFill/>
          </a:ln>
        </p:spPr>
        <p:txBody>
          <a:bodyPr wrap="square" lIns="73152" tIns="36576" rIns="73152" bIns="36576" rtlCol="0" anchor="ctr">
            <a:noAutofit/>
          </a:bodyP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2. The plants: water them on</a:t>
            </a:r>
            <a:endParaRPr lang="en-US" sz="1600" dirty="0"/>
          </a:p>
        </p:txBody>
      </p:sp>
      <p:sp>
        <p:nvSpPr>
          <p:cNvPr id="13" name="R2 opt1"/>
          <p:cNvSpPr/>
          <p:nvPr/>
        </p:nvSpPr>
        <p:spPr>
          <a:xfrm>
            <a:off x="6629400" y="365760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Tuesday and Friday</a:t>
            </a:r>
            <a:endParaRPr lang="en-US" sz="1400" dirty="0" b="1"/>
          </a:p>
        </p:txBody>
      </p:sp>
      <p:sp>
        <p:nvSpPr>
          <p:cNvPr id="14" name="R2 opt2"/>
          <p:cNvSpPr/>
          <p:nvPr/>
        </p:nvSpPr>
        <p:spPr>
          <a:xfrm>
            <a:off x="8869680" y="365760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Monday and Thursday</a:t>
            </a:r>
            <a:endParaRPr lang="en-US" sz="1400" dirty="0" b="1"/>
          </a:p>
        </p:txBody>
      </p:sp>
      <p:sp>
        <p:nvSpPr>
          <p:cNvPr id="15" name="R2 circle"/>
          <p:cNvSpPr/>
          <p:nvPr/>
        </p:nvSpPr>
        <p:spPr>
          <a:xfrm>
            <a:off x="6501384" y="3602736"/>
            <a:ext cx="23591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6" name="R3 stmt"/>
          <p:cNvSpPr/>
          <p:nvPr/>
        </p:nvSpPr>
        <p:spPr>
          <a:xfrm>
            <a:off x="502920" y="4206240"/>
            <a:ext cx="5943600" cy="475488"/>
          </a:xfrm>
          <a:prstGeom prst="rect">
            <a:avLst/>
          </a:prstGeom>
          <a:noFill/>
          <a:ln w="38100">
            <a:noFill/>
          </a:ln>
        </p:spPr>
        <p:txBody>
          <a:bodyPr wrap="square" lIns="73152" tIns="36576" rIns="73152" bIns="36576" rtlCol="0" anchor="ctr">
            <a:noAutofit/>
          </a:bodyP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3. The key: Patricia will give him</a:t>
            </a:r>
            <a:endParaRPr lang="en-US" sz="1600" dirty="0"/>
          </a:p>
        </p:txBody>
      </p:sp>
      <p:sp>
        <p:nvSpPr>
          <p:cNvPr id="17" name="R3 opt1"/>
          <p:cNvSpPr/>
          <p:nvPr/>
        </p:nvSpPr>
        <p:spPr>
          <a:xfrm>
            <a:off x="6629400" y="420624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her spare key</a:t>
            </a:r>
            <a:endParaRPr lang="en-US" sz="1400" dirty="0" b="1"/>
          </a:p>
        </p:txBody>
      </p:sp>
      <p:sp>
        <p:nvSpPr>
          <p:cNvPr id="18" name="R3 opt2"/>
          <p:cNvSpPr/>
          <p:nvPr/>
        </p:nvSpPr>
        <p:spPr>
          <a:xfrm>
            <a:off x="8869680" y="420624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her car key</a:t>
            </a:r>
            <a:endParaRPr lang="en-US" sz="1400" dirty="0" b="1"/>
          </a:p>
        </p:txBody>
      </p:sp>
      <p:sp>
        <p:nvSpPr>
          <p:cNvPr id="19" name="R3 circle"/>
          <p:cNvSpPr/>
          <p:nvPr/>
        </p:nvSpPr>
        <p:spPr>
          <a:xfrm>
            <a:off x="6501384" y="4151376"/>
            <a:ext cx="23591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R4 stmt"/>
          <p:cNvSpPr/>
          <p:nvPr/>
        </p:nvSpPr>
        <p:spPr>
          <a:xfrm>
            <a:off x="502920" y="4754880"/>
            <a:ext cx="5943600" cy="475488"/>
          </a:xfrm>
          <a:prstGeom prst="rect">
            <a:avLst/>
          </a:prstGeom>
          <a:noFill/>
          <a:ln w="38100">
            <a:noFill/>
          </a:ln>
        </p:spPr>
        <p:txBody>
          <a:bodyPr wrap="square" lIns="73152" tIns="36576" rIns="73152" bIns="36576" rtlCol="0" anchor="ctr">
            <a:noAutofit/>
          </a:bodyP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4. The packages: Mr. Wilson can put them</a:t>
            </a:r>
            <a:endParaRPr lang="en-US" sz="1600" dirty="0"/>
          </a:p>
        </p:txBody>
      </p:sp>
      <p:sp>
        <p:nvSpPr>
          <p:cNvPr id="21" name="R4 opt1"/>
          <p:cNvSpPr/>
          <p:nvPr/>
        </p:nvSpPr>
        <p:spPr>
          <a:xfrm>
            <a:off x="6629400" y="475488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inside</a:t>
            </a:r>
            <a:endParaRPr lang="en-US" sz="1400" dirty="0" b="1"/>
          </a:p>
        </p:txBody>
      </p:sp>
      <p:sp>
        <p:nvSpPr>
          <p:cNvPr id="22" name="R4 opt2"/>
          <p:cNvSpPr/>
          <p:nvPr/>
        </p:nvSpPr>
        <p:spPr>
          <a:xfrm>
            <a:off x="8869680" y="475488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at the office</a:t>
            </a:r>
            <a:endParaRPr lang="en-US" sz="1400" dirty="0" b="1"/>
          </a:p>
        </p:txBody>
      </p:sp>
      <p:sp>
        <p:nvSpPr>
          <p:cNvPr id="23" name="R4 circle"/>
          <p:cNvSpPr/>
          <p:nvPr/>
        </p:nvSpPr>
        <p:spPr>
          <a:xfrm>
            <a:off x="6501384" y="4700016"/>
            <a:ext cx="23591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4" name="R5 stmt"/>
          <p:cNvSpPr/>
          <p:nvPr/>
        </p:nvSpPr>
        <p:spPr>
          <a:xfrm>
            <a:off x="502920" y="5303520"/>
            <a:ext cx="5943600" cy="475488"/>
          </a:xfrm>
          <a:prstGeom prst="rect">
            <a:avLst/>
          </a:prstGeom>
          <a:noFill/>
          <a:ln w="38100">
            <a:noFill/>
          </a:ln>
        </p:spPr>
        <p:txBody>
          <a:bodyPr wrap="square" lIns="73152" tIns="36576" rIns="73152" bIns="36576" rtlCol="0" anchor="ctr">
            <a:noAutofit/>
          </a:bodyP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5. The Saturday shift: Patricia says</a:t>
            </a:r>
            <a:endParaRPr lang="en-US" sz="1600" dirty="0"/>
          </a:p>
        </p:txBody>
      </p:sp>
      <p:sp>
        <p:nvSpPr>
          <p:cNvPr id="25" name="R5 opt1"/>
          <p:cNvSpPr/>
          <p:nvPr/>
        </p:nvSpPr>
        <p:spPr>
          <a:xfrm>
            <a:off x="6629400" y="530352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yes</a:t>
            </a:r>
            <a:endParaRPr lang="en-US" sz="1400" dirty="0" b="1"/>
          </a:p>
        </p:txBody>
      </p:sp>
      <p:sp>
        <p:nvSpPr>
          <p:cNvPr id="26" name="R5 opt2"/>
          <p:cNvSpPr/>
          <p:nvPr/>
        </p:nvSpPr>
        <p:spPr>
          <a:xfrm>
            <a:off x="8869680" y="530352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no</a:t>
            </a:r>
            <a:endParaRPr lang="en-US" sz="1400" dirty="0" b="1"/>
          </a:p>
        </p:txBody>
      </p:sp>
      <p:sp>
        <p:nvSpPr>
          <p:cNvPr id="27" name="R5 circle"/>
          <p:cNvSpPr/>
          <p:nvPr/>
        </p:nvSpPr>
        <p:spPr>
          <a:xfrm>
            <a:off x="8741664" y="5248656"/>
            <a:ext cx="23591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8" name="R6 stmt"/>
          <p:cNvSpPr/>
          <p:nvPr/>
        </p:nvSpPr>
        <p:spPr>
          <a:xfrm>
            <a:off x="502920" y="5852160"/>
            <a:ext cx="5943600" cy="475488"/>
          </a:xfrm>
          <a:prstGeom prst="rect">
            <a:avLst/>
          </a:prstGeom>
          <a:noFill/>
          <a:ln w="38100">
            <a:noFill/>
          </a:ln>
        </p:spPr>
        <p:txBody>
          <a:bodyPr wrap="square" lIns="73152" tIns="36576" rIns="73152" bIns="36576" rtlCol="0" anchor="ctr">
            <a:noAutofit/>
          </a:bodyP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6. Why? She</a:t>
            </a:r>
            <a:endParaRPr lang="en-US" sz="1600" dirty="0"/>
          </a:p>
        </p:txBody>
      </p:sp>
      <p:sp>
        <p:nvSpPr>
          <p:cNvPr id="29" name="R6 opt1"/>
          <p:cNvSpPr/>
          <p:nvPr/>
        </p:nvSpPr>
        <p:spPr>
          <a:xfrm>
            <a:off x="6629400" y="585216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will be away</a:t>
            </a:r>
            <a:endParaRPr lang="en-US" sz="1400" dirty="0" b="1"/>
          </a:p>
        </p:txBody>
      </p:sp>
      <p:sp>
        <p:nvSpPr>
          <p:cNvPr id="30" name="R6 opt2"/>
          <p:cNvSpPr/>
          <p:nvPr/>
        </p:nvSpPr>
        <p:spPr>
          <a:xfrm>
            <a:off x="8869680" y="5852160"/>
            <a:ext cx="210312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has a soccer game</a:t>
            </a:r>
            <a:endParaRPr lang="en-US" sz="1400" dirty="0" b="1"/>
          </a:p>
        </p:txBody>
      </p:sp>
      <p:sp>
        <p:nvSpPr>
          <p:cNvPr id="31" name="R6 circle"/>
          <p:cNvSpPr/>
          <p:nvPr/>
        </p:nvSpPr>
        <p:spPr>
          <a:xfrm>
            <a:off x="6501384" y="5797296"/>
            <a:ext cx="235915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4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name="L4:gaps">
    <p:bg>
      <p:bgPr>
        <a:solidFill>
          <a:srgbClr val="F1F5FB"/>
        </a:solidFill>
      </p:bgPr>
    </p:bg>
    <p:spTree>
      <p:nvGrpSpPr>
        <p:cNvPr id="1" name=""/>
        <p:cNvGrpSpPr/>
        <p:nvPr/>
      </p:nvGrpSpPr>
      <p:grpSpPr/>
      <p:sp>
        <p:nvSpPr>
          <p:cNvPr id="2" name="head shadow"/>
          <p:cNvSpPr/>
          <p:nvPr/>
        </p:nvSpPr>
        <p:spPr>
          <a:xfrm>
            <a:off x="544982" y="1132942"/>
            <a:ext cx="7086600" cy="983894"/>
          </a:xfrm>
          <a:prstGeom prst="round1Rect">
            <a:avLst>
              <a:gd name="adj" fmla="val 23087"/>
            </a:avLst>
          </a:prstGeom>
          <a:solidFill>
            <a:srgbClr val="8FAFE3"/>
          </a:solidFill>
          <a:ln/>
        </p:spPr>
        <p:txBody>
          <a:bodyPr/>
          <a:p/>
        </p:txBody>
      </p:sp>
      <p:sp>
        <p:nvSpPr>
          <p:cNvPr id="3" name="head card"/>
          <p:cNvSpPr/>
          <p:nvPr/>
        </p:nvSpPr>
        <p:spPr>
          <a:xfrm>
            <a:off x="548640" y="1075334"/>
            <a:ext cx="7086600" cy="983894"/>
          </a:xfrm>
          <a:prstGeom prst="round1Rect">
            <a:avLst>
              <a:gd name="adj" fmla="val 23087"/>
            </a:avLst>
          </a:prstGeom>
          <a:solidFill>
            <a:srgbClr val="FFFFFF"/>
          </a:solidFill>
          <a:ln/>
        </p:spPr>
        <p:txBody>
          <a:bodyPr/>
          <a:p/>
        </p:txBody>
      </p:sp>
      <p:sp>
        <p:nvSpPr>
          <p:cNvPr id="8" name="head1"/>
          <p:cNvSpPr/>
          <p:nvPr/>
        </p:nvSpPr>
        <p:spPr>
          <a:xfrm>
            <a:off x="777240" y="114300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Listen again.</a:t>
            </a:r>
            <a:endParaRPr lang="en-US" sz="2000" dirty="0" b="1"/>
          </a:p>
        </p:txBody>
      </p:sp>
      <p:sp>
        <p:nvSpPr>
          <p:cNvPr id="9" name="head2"/>
          <p:cNvSpPr/>
          <p:nvPr/>
        </p:nvSpPr>
        <p:spPr>
          <a:xfrm>
            <a:off x="868680" y="154533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Write the missing word: an -ing word or if.</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Listening C</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Write an </a:t>
            </a:r>
            <a:r>
              <a:rPr lang="en-US" sz="2000" dirty="0" b="1">
                <a:solidFill>
                  <a:srgbClr val="5B3FC4"/>
                </a:solidFill>
                <a:latin typeface="Lexend Deca" pitchFamily="34" charset="0"/>
                <a:ea typeface="Lexend Deca" pitchFamily="34" charset="-122"/>
                <a:cs typeface="Lexend Deca" pitchFamily="34" charset="-120"/>
              </a:rPr>
              <a:t>-ing</a:t>
            </a:r>
            <a:r>
              <a:rPr lang="en-US" sz="2000" dirty="0" b="1">
                <a:solidFill>
                  <a:srgbClr val="1B2236"/>
                </a:solidFill>
                <a:latin typeface="Lexend Deca" pitchFamily="34" charset="0"/>
                <a:ea typeface="Lexend Deca" pitchFamily="34" charset="-122"/>
                <a:cs typeface="Lexend Deca" pitchFamily="34" charset="-120"/>
              </a:rPr>
              <a:t> word or </a:t>
            </a:r>
            <a:r>
              <a:rPr lang="en-US" sz="2000" dirty="0" b="1">
                <a:solidFill>
                  <a:srgbClr val="5B3FC4"/>
                </a:solidFill>
                <a:latin typeface="Lexend Deca" pitchFamily="34" charset="0"/>
                <a:ea typeface="Lexend Deca" pitchFamily="34" charset="-122"/>
                <a:cs typeface="Lexend Deca" pitchFamily="34" charset="-120"/>
              </a:rPr>
              <a:t>if</a:t>
            </a:r>
            <a:r>
              <a:rPr lang="en-US" sz="2000" dirty="0" b="1">
                <a:solidFill>
                  <a:srgbClr val="1B2236"/>
                </a:solidFill>
                <a:latin typeface="Lexend Deca" pitchFamily="34" charset="0"/>
                <a:ea typeface="Lexend Deca" pitchFamily="34" charset="-122"/>
                <a:cs typeface="Lexend Deca" pitchFamily="34" charset="-120"/>
              </a:rPr>
              <a:t>.</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Pairs: compare your answers.</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Then </a:t>
            </a:r>
            <a:r>
              <a:rPr lang="en-US" sz="2000" dirty="0" b="1">
                <a:solidFill>
                  <a:srgbClr val="5B3FC4"/>
                </a:solidFill>
                <a:latin typeface="Lexend Deca" pitchFamily="34" charset="0"/>
                <a:ea typeface="Lexend Deca" pitchFamily="34" charset="-122"/>
                <a:cs typeface="Lexend Deca" pitchFamily="34" charset="-120"/>
              </a:rPr>
              <a:t>check together.</a:t>
            </a:r>
            <a:endParaRPr lang="en-US" sz="2000" dirty="0" b="1"/>
          </a:p>
        </p:txBody>
      </p:sp>
      <p:sp>
        <p:nvSpPr>
          <p:cNvPr id="31" name="R1 card"/>
          <p:cNvSpPr/>
          <p:nvPr/>
        </p:nvSpPr>
        <p:spPr>
          <a:xfrm>
            <a:off x="1583741" y="2123237"/>
            <a:ext cx="6035040" cy="655015"/>
          </a:xfrm>
          <a:prstGeom prst="round1Rect">
            <a:avLst>
              <a:gd name="adj" fmla="val 23087"/>
            </a:avLst>
          </a:prstGeom>
          <a:solidFill>
            <a:srgbClr val="FFFFFF"/>
          </a:solidFill>
          <a:ln/>
        </p:spPr>
        <p:txBody>
          <a:bodyPr/>
          <a:p/>
        </p:txBody>
      </p:sp>
      <p:sp>
        <p:nvSpPr>
          <p:cNvPr id="32" name="R1 chip"/>
          <p:cNvSpPr/>
          <p:nvPr/>
        </p:nvSpPr>
        <p:spPr>
          <a:xfrm>
            <a:off x="544982" y="2123237"/>
            <a:ext cx="1039673" cy="655015"/>
          </a:xfrm>
          <a:prstGeom prst="rect">
            <a:avLst/>
          </a:prstGeom>
          <a:solidFill>
            <a:srgbClr val="B9D2F7"/>
          </a:solidFill>
          <a:ln/>
        </p:spPr>
        <p:txBody>
          <a:bodyPr/>
          <a:p/>
        </p:txBody>
      </p:sp>
      <p:sp>
        <p:nvSpPr>
          <p:cNvPr id="33" name="R1 num"/>
          <p:cNvSpPr/>
          <p:nvPr/>
        </p:nvSpPr>
        <p:spPr>
          <a:xfrm>
            <a:off x="686714" y="2158136"/>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123237"/>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Would you mind ____ my mail?</a:t>
            </a:r>
            <a:endParaRPr lang="en-US" sz="1800" dirty="0"/>
          </a:p>
        </p:txBody>
      </p:sp>
      <p:sp>
        <p:nvSpPr>
          <p:cNvPr id="35" name="R1 ans"/>
          <p:cNvSpPr/>
          <p:nvPr/>
        </p:nvSpPr>
        <p:spPr>
          <a:xfrm>
            <a:off x="6199632" y="2222144"/>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getting</a:t>
            </a:r>
            <a:endParaRPr lang="en-US" sz="2000" dirty="0" b="1"/>
          </a:p>
        </p:txBody>
      </p:sp>
      <p:sp>
        <p:nvSpPr>
          <p:cNvPr id="36" name="R2 card"/>
          <p:cNvSpPr/>
          <p:nvPr/>
        </p:nvSpPr>
        <p:spPr>
          <a:xfrm>
            <a:off x="1583741" y="2851404"/>
            <a:ext cx="6035040" cy="655015"/>
          </a:xfrm>
          <a:prstGeom prst="round1Rect">
            <a:avLst>
              <a:gd name="adj" fmla="val 23087"/>
            </a:avLst>
          </a:prstGeom>
          <a:solidFill>
            <a:srgbClr val="FFFFFF"/>
          </a:solidFill>
          <a:ln/>
        </p:spPr>
        <p:txBody>
          <a:bodyPr/>
          <a:p/>
        </p:txBody>
      </p:sp>
      <p:sp>
        <p:nvSpPr>
          <p:cNvPr id="37" name="R2 chip"/>
          <p:cNvSpPr/>
          <p:nvPr/>
        </p:nvSpPr>
        <p:spPr>
          <a:xfrm>
            <a:off x="544982" y="2851404"/>
            <a:ext cx="1039673" cy="655015"/>
          </a:xfrm>
          <a:prstGeom prst="rect">
            <a:avLst/>
          </a:prstGeom>
          <a:solidFill>
            <a:srgbClr val="B9D2F7"/>
          </a:solidFill>
          <a:ln/>
        </p:spPr>
        <p:txBody>
          <a:bodyPr/>
          <a:p/>
        </p:txBody>
      </p:sp>
      <p:sp>
        <p:nvSpPr>
          <p:cNvPr id="38" name="R2 num"/>
          <p:cNvSpPr/>
          <p:nvPr/>
        </p:nvSpPr>
        <p:spPr>
          <a:xfrm>
            <a:off x="686714" y="2886304"/>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2851404"/>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And would you mind ____ my plants?</a:t>
            </a:r>
            <a:endParaRPr lang="en-US" sz="1800" dirty="0"/>
          </a:p>
        </p:txBody>
      </p:sp>
      <p:sp>
        <p:nvSpPr>
          <p:cNvPr id="40" name="R2 ans"/>
          <p:cNvSpPr/>
          <p:nvPr/>
        </p:nvSpPr>
        <p:spPr>
          <a:xfrm>
            <a:off x="6199632" y="2950312"/>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watering</a:t>
            </a:r>
            <a:endParaRPr lang="en-US" sz="2000" dirty="0" b="1"/>
          </a:p>
        </p:txBody>
      </p:sp>
      <p:sp>
        <p:nvSpPr>
          <p:cNvPr id="41" name="R3 card"/>
          <p:cNvSpPr/>
          <p:nvPr/>
        </p:nvSpPr>
        <p:spPr>
          <a:xfrm>
            <a:off x="1583741" y="3579571"/>
            <a:ext cx="6035040" cy="655015"/>
          </a:xfrm>
          <a:prstGeom prst="round1Rect">
            <a:avLst>
              <a:gd name="adj" fmla="val 23087"/>
            </a:avLst>
          </a:prstGeom>
          <a:solidFill>
            <a:srgbClr val="FFFFFF"/>
          </a:solidFill>
          <a:ln/>
        </p:spPr>
        <p:txBody>
          <a:bodyPr/>
          <a:p/>
        </p:txBody>
      </p:sp>
      <p:sp>
        <p:nvSpPr>
          <p:cNvPr id="42" name="R3 chip"/>
          <p:cNvSpPr/>
          <p:nvPr/>
        </p:nvSpPr>
        <p:spPr>
          <a:xfrm>
            <a:off x="544982" y="3579571"/>
            <a:ext cx="1039673" cy="655015"/>
          </a:xfrm>
          <a:prstGeom prst="rect">
            <a:avLst/>
          </a:prstGeom>
          <a:solidFill>
            <a:srgbClr val="B9D2F7"/>
          </a:solidFill>
          <a:ln/>
        </p:spPr>
        <p:txBody>
          <a:bodyPr/>
          <a:p/>
        </p:txBody>
      </p:sp>
      <p:sp>
        <p:nvSpPr>
          <p:cNvPr id="43" name="R3 num"/>
          <p:cNvSpPr/>
          <p:nvPr/>
        </p:nvSpPr>
        <p:spPr>
          <a:xfrm>
            <a:off x="686714" y="3614471"/>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579571"/>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Oh, and would you mind ____ my cat, too?</a:t>
            </a:r>
            <a:endParaRPr lang="en-US" sz="1800" dirty="0"/>
          </a:p>
        </p:txBody>
      </p:sp>
      <p:sp>
        <p:nvSpPr>
          <p:cNvPr id="45" name="R3 ans"/>
          <p:cNvSpPr/>
          <p:nvPr/>
        </p:nvSpPr>
        <p:spPr>
          <a:xfrm>
            <a:off x="6199632" y="3678479"/>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feeding</a:t>
            </a:r>
            <a:endParaRPr lang="en-US" sz="2000" dirty="0" b="1"/>
          </a:p>
        </p:txBody>
      </p:sp>
      <p:sp>
        <p:nvSpPr>
          <p:cNvPr id="46" name="R4 card"/>
          <p:cNvSpPr/>
          <p:nvPr/>
        </p:nvSpPr>
        <p:spPr>
          <a:xfrm>
            <a:off x="1583741" y="4307738"/>
            <a:ext cx="6035040" cy="655015"/>
          </a:xfrm>
          <a:prstGeom prst="round1Rect">
            <a:avLst>
              <a:gd name="adj" fmla="val 23087"/>
            </a:avLst>
          </a:prstGeom>
          <a:solidFill>
            <a:srgbClr val="FFFFFF"/>
          </a:solidFill>
          <a:ln/>
        </p:spPr>
        <p:txBody>
          <a:bodyPr/>
          <a:p/>
        </p:txBody>
      </p:sp>
      <p:sp>
        <p:nvSpPr>
          <p:cNvPr id="47" name="R4 chip"/>
          <p:cNvSpPr/>
          <p:nvPr/>
        </p:nvSpPr>
        <p:spPr>
          <a:xfrm>
            <a:off x="544982" y="4307738"/>
            <a:ext cx="1039673" cy="655015"/>
          </a:xfrm>
          <a:prstGeom prst="rect">
            <a:avLst/>
          </a:prstGeom>
          <a:solidFill>
            <a:srgbClr val="B9D2F7"/>
          </a:solidFill>
          <a:ln/>
        </p:spPr>
        <p:txBody>
          <a:bodyPr/>
          <a:p/>
        </p:txBody>
      </p:sp>
      <p:sp>
        <p:nvSpPr>
          <p:cNvPr id="48" name="R4 num"/>
          <p:cNvSpPr/>
          <p:nvPr/>
        </p:nvSpPr>
        <p:spPr>
          <a:xfrm>
            <a:off x="686714" y="4342638"/>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307738"/>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Do you mind ____ I put your packages inside, too?</a:t>
            </a:r>
            <a:endParaRPr lang="en-US" sz="1800" dirty="0"/>
          </a:p>
        </p:txBody>
      </p:sp>
      <p:sp>
        <p:nvSpPr>
          <p:cNvPr id="50" name="R4 ans"/>
          <p:cNvSpPr/>
          <p:nvPr/>
        </p:nvSpPr>
        <p:spPr>
          <a:xfrm>
            <a:off x="6199632" y="4406646"/>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if</a:t>
            </a:r>
            <a:endParaRPr lang="en-US" sz="2000" dirty="0" b="1"/>
          </a:p>
        </p:txBody>
      </p:sp>
      <p:sp>
        <p:nvSpPr>
          <p:cNvPr id="51" name="R5 card"/>
          <p:cNvSpPr/>
          <p:nvPr/>
        </p:nvSpPr>
        <p:spPr>
          <a:xfrm>
            <a:off x="1583741" y="5035906"/>
            <a:ext cx="6035040" cy="655015"/>
          </a:xfrm>
          <a:prstGeom prst="round1Rect">
            <a:avLst>
              <a:gd name="adj" fmla="val 23087"/>
            </a:avLst>
          </a:prstGeom>
          <a:solidFill>
            <a:srgbClr val="FFFFFF"/>
          </a:solidFill>
          <a:ln/>
        </p:spPr>
        <p:txBody>
          <a:bodyPr/>
          <a:p/>
        </p:txBody>
      </p:sp>
      <p:sp>
        <p:nvSpPr>
          <p:cNvPr id="52" name="R5 chip"/>
          <p:cNvSpPr/>
          <p:nvPr/>
        </p:nvSpPr>
        <p:spPr>
          <a:xfrm>
            <a:off x="544982" y="5035906"/>
            <a:ext cx="1039673" cy="655015"/>
          </a:xfrm>
          <a:prstGeom prst="rect">
            <a:avLst/>
          </a:prstGeom>
          <a:solidFill>
            <a:srgbClr val="B9D2F7"/>
          </a:solidFill>
          <a:ln/>
        </p:spPr>
        <p:txBody>
          <a:bodyPr/>
          <a:p/>
        </p:txBody>
      </p:sp>
      <p:sp>
        <p:nvSpPr>
          <p:cNvPr id="53" name="R5 num"/>
          <p:cNvSpPr/>
          <p:nvPr/>
        </p:nvSpPr>
        <p:spPr>
          <a:xfrm>
            <a:off x="686714" y="5070805"/>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035906"/>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Would you mind ____ my Saturday shift?</a:t>
            </a:r>
            <a:endParaRPr lang="en-US" sz="1800" dirty="0"/>
          </a:p>
        </p:txBody>
      </p:sp>
      <p:sp>
        <p:nvSpPr>
          <p:cNvPr id="55" name="R5 ans"/>
          <p:cNvSpPr/>
          <p:nvPr/>
        </p:nvSpPr>
        <p:spPr>
          <a:xfrm>
            <a:off x="6199632" y="5134813"/>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covering</a:t>
            </a:r>
            <a:endParaRPr lang="en-US" sz="2000" dirty="0" b="1"/>
          </a:p>
        </p:txBody>
      </p:sp>
      <p:sp>
        <p:nvSpPr>
          <p:cNvPr id="56" name="R6 card"/>
          <p:cNvSpPr/>
          <p:nvPr/>
        </p:nvSpPr>
        <p:spPr>
          <a:xfrm>
            <a:off x="1583741" y="5764073"/>
            <a:ext cx="6035040" cy="655015"/>
          </a:xfrm>
          <a:prstGeom prst="round1Rect">
            <a:avLst>
              <a:gd name="adj" fmla="val 23087"/>
            </a:avLst>
          </a:prstGeom>
          <a:solidFill>
            <a:srgbClr val="FFFFFF"/>
          </a:solidFill>
          <a:ln/>
        </p:spPr>
        <p:txBody>
          <a:bodyPr/>
          <a:p/>
        </p:txBody>
      </p:sp>
      <p:sp>
        <p:nvSpPr>
          <p:cNvPr id="57" name="R6 chip"/>
          <p:cNvSpPr/>
          <p:nvPr/>
        </p:nvSpPr>
        <p:spPr>
          <a:xfrm>
            <a:off x="544982" y="5764073"/>
            <a:ext cx="1039673" cy="655015"/>
          </a:xfrm>
          <a:prstGeom prst="rect">
            <a:avLst/>
          </a:prstGeom>
          <a:solidFill>
            <a:srgbClr val="B9D2F7"/>
          </a:solidFill>
          <a:ln/>
        </p:spPr>
        <p:txBody>
          <a:bodyPr/>
          <a:p/>
        </p:txBody>
      </p:sp>
      <p:sp>
        <p:nvSpPr>
          <p:cNvPr id="58" name="R6 num"/>
          <p:cNvSpPr/>
          <p:nvPr/>
        </p:nvSpPr>
        <p:spPr>
          <a:xfrm>
            <a:off x="686714" y="5798972"/>
            <a:ext cx="1109167" cy="585216"/>
          </a:xfrm>
          <a:prstGeom prst="rect">
            <a:avLst/>
          </a:prstGeom>
          <a:noFill/>
          <a:ln/>
        </p:spPr>
        <p:txBody>
          <a:bodyPr wrap="square" rtlCol="0" anchor="ctr"/>
          <a:lstStyle/>
          <a:p>
            <a:pPr algn="ctr" indent="0" marL="0">
              <a:buNone/>
            </a:pPr>
            <a:r>
              <a:rPr lang="en-US" sz="3200" dirty="0" b="1"/>
              <a:t>6</a:t>
            </a:r>
            <a:endParaRPr lang="en-US" sz="3200" dirty="0" b="1"/>
          </a:p>
        </p:txBody>
      </p:sp>
      <p:sp>
        <p:nvSpPr>
          <p:cNvPr id="59" name="R6 text"/>
          <p:cNvSpPr/>
          <p:nvPr/>
        </p:nvSpPr>
        <p:spPr>
          <a:xfrm>
            <a:off x="1810512" y="5764073"/>
            <a:ext cx="4315968" cy="655015"/>
          </a:xfrm>
          <a:prstGeom prst="rect">
            <a:avLst/>
          </a:prstGeom>
          <a:noFill/>
          <a:ln/>
        </p:spPr>
        <p:txBody>
          <a:bodyPr wrap="square" rtlCol="0" anchor="ctr" tIns="0" bIns="0"/>
          <a:lstStyle/>
          <a:p>
            <a:pPr algn="l" indent="0" marL="0">
              <a:buNone/>
            </a:pPr>
            <a:r>
              <a:rPr lang="en-US" sz="1800" dirty="0">
                <a:solidFill>
                  <a:srgbClr val="1B2236"/>
                </a:solidFill>
                <a:latin typeface="Lexend Deca" pitchFamily="34" charset="0"/>
                <a:ea typeface="Lexend Deca" pitchFamily="34" charset="-122"/>
                <a:cs typeface="Lexend Deca" pitchFamily="34" charset="-120"/>
              </a:rPr>
              <a:t>Do you mind ____ I tell her you suggested it?</a:t>
            </a:r>
            <a:endParaRPr lang="en-US" sz="1800" dirty="0"/>
          </a:p>
        </p:txBody>
      </p:sp>
      <p:sp>
        <p:nvSpPr>
          <p:cNvPr id="60" name="R6 ans"/>
          <p:cNvSpPr/>
          <p:nvPr/>
        </p:nvSpPr>
        <p:spPr>
          <a:xfrm>
            <a:off x="6199632" y="5862980"/>
            <a:ext cx="137160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if</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name="L4:checksay">
    <p:bg>
      <p:bgPr>
        <a:solidFill>
          <a:srgbClr val="F1F5FB"/>
        </a:solidFill>
      </p:bgPr>
    </p:bg>
    <p:spTree>
      <p:nvGrpSpPr>
        <p:cNvPr id="1" name=""/>
        <p:cNvGrpSpPr/>
        <p:nvPr/>
      </p:nvGrpSpPr>
      <p:grpSpPr/>
      <p:sp>
        <p:nvSpPr>
          <p:cNvPr id="2" name="head shadow"/>
          <p:cNvSpPr/>
          <p:nvPr/>
        </p:nvSpPr>
        <p:spPr>
          <a:xfrm>
            <a:off x="544982" y="1681582"/>
            <a:ext cx="6227064" cy="983894"/>
          </a:xfrm>
          <a:prstGeom prst="round1Rect">
            <a:avLst>
              <a:gd name="adj" fmla="val 23087"/>
            </a:avLst>
          </a:prstGeom>
          <a:solidFill>
            <a:srgbClr val="8FAFE3"/>
          </a:solidFill>
          <a:ln/>
        </p:spPr>
        <p:txBody>
          <a:bodyPr/>
          <a:p/>
        </p:txBody>
      </p:sp>
      <p:sp>
        <p:nvSpPr>
          <p:cNvPr id="3" name="head card"/>
          <p:cNvSpPr/>
          <p:nvPr/>
        </p:nvSpPr>
        <p:spPr>
          <a:xfrm>
            <a:off x="544982" y="1623974"/>
            <a:ext cx="6169457" cy="983894"/>
          </a:xfrm>
          <a:prstGeom prst="round1Rect">
            <a:avLst>
              <a:gd name="adj" fmla="val 23087"/>
            </a:avLst>
          </a:prstGeom>
          <a:solidFill>
            <a:srgbClr val="FFFFFF"/>
          </a:solidFill>
          <a:ln/>
        </p:spPr>
        <p:txBody>
          <a:bodyPr/>
          <a:p/>
        </p:txBody>
      </p:sp>
      <p:sp>
        <p:nvSpPr>
          <p:cNvPr id="8" name="head1"/>
          <p:cNvSpPr/>
          <p:nvPr/>
        </p:nvSpPr>
        <p:spPr>
          <a:xfrm>
            <a:off x="777240" y="1691640"/>
            <a:ext cx="5669280" cy="384048"/>
          </a:xfrm>
          <a:prstGeom prst="rect">
            <a:avLst/>
          </a:prstGeom>
          <a:noFill/>
          <a:ln/>
        </p:spPr>
        <p:txBody>
          <a:bodyPr wrap="square" rtlCol="0" anchor="t"/>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Hear it: gonna = going to, wanna = want to</a:t>
            </a:r>
            <a:endParaRPr lang="en-US" sz="1800" dirty="0" b="1"/>
          </a:p>
        </p:txBody>
      </p:sp>
      <p:sp>
        <p:nvSpPr>
          <p:cNvPr id="9" name="head2"/>
          <p:cNvSpPr/>
          <p:nvPr/>
        </p:nvSpPr>
        <p:spPr>
          <a:xfrm>
            <a:off x="868680" y="2093976"/>
            <a:ext cx="5577840" cy="411480"/>
          </a:xfrm>
          <a:prstGeom prst="rect">
            <a:avLst/>
          </a:prstGeom>
          <a:noFill/>
          <a:ln/>
        </p:spPr>
        <p:txBody>
          <a:bodyPr wrap="square" lIns="0" tIns="0" rIns="0" bIns="0" rtlCol="0" anchor="t"/>
          <a:lstStyle/>
          <a:p>
            <a:pPr algn="l" indent="0" marL="0">
              <a:buNone/>
            </a:pPr>
            <a:r>
              <a:rPr lang="en-US" sz="1800" dirty="0">
                <a:solidFill>
                  <a:srgbClr val="1B2236"/>
                </a:solidFill>
                <a:latin typeface="Lexend Deca" pitchFamily="34" charset="0"/>
                <a:ea typeface="Lexend Deca" pitchFamily="34" charset="-122"/>
                <a:cs typeface="Lexend Deca" pitchFamily="34" charset="-120"/>
              </a:rPr>
              <a:t>Say it: smoothly, with a friendly rise</a:t>
            </a:r>
            <a:endParaRPr lang="en-US" sz="1800" dirty="0"/>
          </a:p>
        </p:txBody>
      </p:sp>
      <p:sp>
        <p:nvSpPr>
          <p:cNvPr id="29" name="title"/>
          <p:cNvSpPr/>
          <p:nvPr/>
        </p:nvSpPr>
        <p:spPr>
          <a:xfrm>
            <a:off x="7634326" y="1783080"/>
            <a:ext cx="422910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Hear It,</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Say It</a:t>
            </a:r>
            <a:endParaRPr lang="en-US" sz="4000" dirty="0" b="1"/>
          </a:p>
        </p:txBody>
      </p:sp>
      <p:sp>
        <p:nvSpPr>
          <p:cNvPr id="30" name="side"/>
          <p:cNvSpPr/>
          <p:nvPr/>
        </p:nvSpPr>
        <p:spPr>
          <a:xfrm>
            <a:off x="7751369" y="3611880"/>
            <a:ext cx="3931920"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5B3FC4"/>
                </a:solidFill>
                <a:latin typeface="Lexend Deca" pitchFamily="34" charset="0"/>
                <a:ea typeface="Lexend Deca" pitchFamily="34" charset="-122"/>
                <a:cs typeface="Lexend Deca" pitchFamily="34" charset="-120"/>
              </a:rPr>
              <a:t>gonna</a:t>
            </a:r>
            <a:r>
              <a:rPr lang="en-US" sz="2000" dirty="0">
                <a:solidFill>
                  <a:srgbClr val="1B2236"/>
                </a:solidFill>
                <a:latin typeface="Lexend Deca" pitchFamily="34" charset="0"/>
                <a:ea typeface="Lexend Deca" pitchFamily="34" charset="-122"/>
                <a:cs typeface="Lexend Deca" pitchFamily="34" charset="-120"/>
              </a:rPr>
              <a:t> and </a:t>
            </a:r>
            <a:r>
              <a:rPr lang="en-US" sz="2000" dirty="0" b="1">
                <a:solidFill>
                  <a:srgbClr val="5B3FC4"/>
                </a:solidFill>
                <a:latin typeface="Lexend Deca" pitchFamily="34" charset="0"/>
                <a:ea typeface="Lexend Deca" pitchFamily="34" charset="-122"/>
                <a:cs typeface="Lexend Deca" pitchFamily="34" charset="-120"/>
              </a:rPr>
              <a:t>wanna</a:t>
            </a:r>
            <a:r>
              <a:rPr lang="en-US" sz="2000" dirty="0">
                <a:solidFill>
                  <a:srgbClr val="1B2236"/>
                </a:solidFill>
                <a:latin typeface="Lexend Deca" pitchFamily="34" charset="0"/>
                <a:ea typeface="Lexend Deca" pitchFamily="34" charset="-122"/>
                <a:cs typeface="Lexend Deca" pitchFamily="34" charset="-120"/>
              </a:rPr>
              <a:t> are short forms. This listening uses the full forms.</a:t>
            </a:r>
            <a:endParaRPr lang="en-US" sz="2000" dirty="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Say it smoothly, with a </a:t>
            </a:r>
            <a:r>
              <a:rPr lang="en-US" sz="2000" dirty="0" b="1">
                <a:solidFill>
                  <a:srgbClr val="5B3FC4"/>
                </a:solidFill>
                <a:latin typeface="Lexend Deca" pitchFamily="34" charset="0"/>
                <a:ea typeface="Lexend Deca" pitchFamily="34" charset="-122"/>
                <a:cs typeface="Lexend Deca" pitchFamily="34" charset="-120"/>
              </a:rPr>
              <a:t>friendly rise</a:t>
            </a:r>
            <a:r>
              <a:rPr lang="en-US" sz="2000" dirty="0" b="0">
                <a:solidFill>
                  <a:srgbClr val="1B2236"/>
                </a:solidFill>
                <a:latin typeface="Lexend Deca" pitchFamily="34" charset="0"/>
                <a:ea typeface="Lexend Deca" pitchFamily="34" charset="-122"/>
                <a:cs typeface="Lexend Deca" pitchFamily="34" charset="-120"/>
              </a:rPr>
              <a:t>.</a:t>
            </a:r>
            <a:endParaRPr lang="en-US" sz="2000" dirty="0" b="0"/>
          </a:p>
          <a:p>
            <a:pPr algn="l" indent="0" marL="0">
              <a:lnSpc>
                <a:spcPct val="120000"/>
              </a:lnSpc>
              <a:spcAft>
                <a:spcPts val="1200"/>
              </a:spcAft>
              <a:buNone/>
            </a:pPr>
            <a:r>
              <a:rPr lang="en-US" sz="2000" dirty="0" b="0">
                <a:solidFill>
                  <a:srgbClr val="1B2236"/>
                </a:solidFill>
                <a:latin typeface="Lexend Deca" pitchFamily="34" charset="0"/>
                <a:ea typeface="Lexend Deca" pitchFamily="34" charset="-122"/>
                <a:cs typeface="Lexend Deca" pitchFamily="34" charset="-120"/>
              </a:rPr>
              <a:t>Say each line </a:t>
            </a:r>
            <a:r>
              <a:rPr lang="en-US" sz="2000" dirty="0" b="1">
                <a:solidFill>
                  <a:srgbClr val="5B3FC4"/>
                </a:solidFill>
                <a:latin typeface="Lexend Deca" pitchFamily="34" charset="0"/>
                <a:ea typeface="Lexend Deca" pitchFamily="34" charset="-122"/>
                <a:cs typeface="Lexend Deca" pitchFamily="34" charset="-120"/>
              </a:rPr>
              <a:t>two times.</a:t>
            </a:r>
            <a:endParaRPr lang="en-US" sz="2000" dirty="0" b="0"/>
          </a:p>
        </p:txBody>
      </p:sp>
      <p:sp>
        <p:nvSpPr>
          <p:cNvPr id="31" name="S1 card"/>
          <p:cNvSpPr/>
          <p:nvPr/>
        </p:nvSpPr>
        <p:spPr>
          <a:xfrm>
            <a:off x="548640" y="2715768"/>
            <a:ext cx="6766560" cy="602590"/>
          </a:xfrm>
          <a:prstGeom prst="round1Rect">
            <a:avLst>
              <a:gd name="adj" fmla="val 23087"/>
            </a:avLst>
          </a:prstGeom>
          <a:solidFill>
            <a:srgbClr val="FFFFFF"/>
          </a:solidFill>
          <a:ln/>
        </p:spPr>
        <p:txBody>
          <a:bodyPr/>
          <a:p/>
        </p:txBody>
      </p:sp>
      <p:sp>
        <p:nvSpPr>
          <p:cNvPr id="32" name="S1 text"/>
          <p:cNvSpPr/>
          <p:nvPr/>
        </p:nvSpPr>
        <p:spPr>
          <a:xfrm>
            <a:off x="777240" y="2715768"/>
            <a:ext cx="6355080" cy="602590"/>
          </a:xfrm>
          <a:prstGeom prst="rect">
            <a:avLst/>
          </a:prstGeom>
          <a:noFill/>
          <a:ln/>
        </p:spPr>
        <p:txBody>
          <a:bodyPr wrap="square" rtlCol="0" anchor="ct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I'm </a:t>
            </a:r>
            <a:r>
              <a:rPr lang="en-US" sz="1800" dirty="0" b="1">
                <a:solidFill>
                  <a:srgbClr val="5B3FC4"/>
                </a:solidFill>
                <a:latin typeface="Lexend Deca" pitchFamily="34" charset="0"/>
                <a:ea typeface="Lexend Deca" pitchFamily="34" charset="-122"/>
                <a:cs typeface="Lexend Deca" pitchFamily="34" charset="-120"/>
              </a:rPr>
              <a:t>going to</a:t>
            </a:r>
            <a:r>
              <a:rPr lang="en-US" sz="1800" dirty="0" b="1">
                <a:solidFill>
                  <a:srgbClr val="1B2236"/>
                </a:solidFill>
                <a:latin typeface="Lexend Deca" pitchFamily="34" charset="0"/>
                <a:ea typeface="Lexend Deca" pitchFamily="34" charset="-122"/>
                <a:cs typeface="Lexend Deca" pitchFamily="34" charset="-120"/>
              </a:rPr>
              <a:t> be away next week.</a:t>
            </a:r>
            <a:endParaRPr lang="en-US" sz="1800" dirty="0" b="1"/>
          </a:p>
        </p:txBody>
      </p:sp>
      <p:sp>
        <p:nvSpPr>
          <p:cNvPr id="33" name="S2 card"/>
          <p:cNvSpPr/>
          <p:nvPr/>
        </p:nvSpPr>
        <p:spPr>
          <a:xfrm>
            <a:off x="548640" y="3427171"/>
            <a:ext cx="6766560" cy="602590"/>
          </a:xfrm>
          <a:prstGeom prst="round1Rect">
            <a:avLst>
              <a:gd name="adj" fmla="val 23087"/>
            </a:avLst>
          </a:prstGeom>
          <a:solidFill>
            <a:srgbClr val="FFFFFF"/>
          </a:solidFill>
          <a:ln/>
        </p:spPr>
        <p:txBody>
          <a:bodyPr/>
          <a:p/>
        </p:txBody>
      </p:sp>
      <p:sp>
        <p:nvSpPr>
          <p:cNvPr id="34" name="S2 text"/>
          <p:cNvSpPr/>
          <p:nvPr/>
        </p:nvSpPr>
        <p:spPr>
          <a:xfrm>
            <a:off x="777240" y="3427171"/>
            <a:ext cx="6355080" cy="602590"/>
          </a:xfrm>
          <a:prstGeom prst="rect">
            <a:avLst/>
          </a:prstGeom>
          <a:noFill/>
          <a:ln/>
        </p:spPr>
        <p:txBody>
          <a:bodyPr wrap="square" rtlCol="0" anchor="ctr"/>
          <a:lstStyle/>
          <a:p>
            <a:pPr algn="l" indent="0" marL="0">
              <a:buNone/>
            </a:pPr>
            <a:r>
              <a:rPr lang="en-US" sz="1800" dirty="0" b="1">
                <a:solidFill>
                  <a:srgbClr val="1B2236"/>
                </a:solidFill>
                <a:latin typeface="Lexend Deca" pitchFamily="34" charset="0"/>
                <a:ea typeface="Lexend Deca" pitchFamily="34" charset="-122"/>
                <a:cs typeface="Lexend Deca" pitchFamily="34" charset="-120"/>
              </a:rPr>
              <a:t>I </a:t>
            </a:r>
            <a:r>
              <a:rPr lang="en-US" sz="1800" dirty="0" b="1">
                <a:solidFill>
                  <a:srgbClr val="5B3FC4"/>
                </a:solidFill>
                <a:latin typeface="Lexend Deca" pitchFamily="34" charset="0"/>
                <a:ea typeface="Lexend Deca" pitchFamily="34" charset="-122"/>
                <a:cs typeface="Lexend Deca" pitchFamily="34" charset="-120"/>
              </a:rPr>
              <a:t>want to</a:t>
            </a:r>
            <a:r>
              <a:rPr lang="en-US" sz="1800" dirty="0" b="1">
                <a:solidFill>
                  <a:srgbClr val="1B2236"/>
                </a:solidFill>
                <a:latin typeface="Lexend Deca" pitchFamily="34" charset="0"/>
                <a:ea typeface="Lexend Deca" pitchFamily="34" charset="-122"/>
                <a:cs typeface="Lexend Deca" pitchFamily="34" charset="-120"/>
              </a:rPr>
              <a:t> help, but I can't.</a:t>
            </a:r>
            <a:endParaRPr lang="en-US" sz="1800" dirty="0" b="1"/>
          </a:p>
        </p:txBody>
      </p:sp>
      <p:sp>
        <p:nvSpPr>
          <p:cNvPr id="35" name="S3 card"/>
          <p:cNvSpPr/>
          <p:nvPr/>
        </p:nvSpPr>
        <p:spPr>
          <a:xfrm>
            <a:off x="548640" y="4138574"/>
            <a:ext cx="6766560" cy="602590"/>
          </a:xfrm>
          <a:prstGeom prst="round1Rect">
            <a:avLst>
              <a:gd name="adj" fmla="val 23087"/>
            </a:avLst>
          </a:prstGeom>
          <a:solidFill>
            <a:srgbClr val="FFFFFF"/>
          </a:solidFill>
          <a:ln/>
        </p:spPr>
        <p:txBody>
          <a:bodyPr/>
          <a:p/>
        </p:txBody>
      </p:sp>
      <p:sp>
        <p:nvSpPr>
          <p:cNvPr id="36" name="S3 text"/>
          <p:cNvSpPr/>
          <p:nvPr/>
        </p:nvSpPr>
        <p:spPr>
          <a:xfrm>
            <a:off x="777240" y="4138574"/>
            <a:ext cx="6355080" cy="602590"/>
          </a:xfrm>
          <a:prstGeom prst="rect">
            <a:avLst/>
          </a:prstGeom>
          <a:noFill/>
          <a:ln/>
        </p:spPr>
        <p:txBody>
          <a:bodyPr wrap="square" rtlCol="0" anchor="ct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Would you mind</a:t>
            </a:r>
            <a:r>
              <a:rPr lang="en-US" sz="1800" dirty="0" b="1">
                <a:solidFill>
                  <a:srgbClr val="1B2236"/>
                </a:solidFill>
                <a:latin typeface="Lexend Deca" pitchFamily="34" charset="0"/>
                <a:ea typeface="Lexend Deca" pitchFamily="34" charset="-122"/>
                <a:cs typeface="Lexend Deca" pitchFamily="34" charset="-120"/>
              </a:rPr>
              <a:t> getting my mail?</a:t>
            </a:r>
            <a:endParaRPr lang="en-US" sz="1800" dirty="0" b="1"/>
          </a:p>
        </p:txBody>
      </p:sp>
      <p:sp>
        <p:nvSpPr>
          <p:cNvPr id="37" name="S4 card"/>
          <p:cNvSpPr/>
          <p:nvPr/>
        </p:nvSpPr>
        <p:spPr>
          <a:xfrm>
            <a:off x="548640" y="4849978"/>
            <a:ext cx="6766560" cy="602590"/>
          </a:xfrm>
          <a:prstGeom prst="round1Rect">
            <a:avLst>
              <a:gd name="adj" fmla="val 23087"/>
            </a:avLst>
          </a:prstGeom>
          <a:solidFill>
            <a:srgbClr val="FFFFFF"/>
          </a:solidFill>
          <a:ln/>
        </p:spPr>
        <p:txBody>
          <a:bodyPr/>
          <a:p/>
        </p:txBody>
      </p:sp>
      <p:sp>
        <p:nvSpPr>
          <p:cNvPr id="38" name="S4 text"/>
          <p:cNvSpPr/>
          <p:nvPr/>
        </p:nvSpPr>
        <p:spPr>
          <a:xfrm>
            <a:off x="777240" y="4849978"/>
            <a:ext cx="6355080" cy="602590"/>
          </a:xfrm>
          <a:prstGeom prst="rect">
            <a:avLst/>
          </a:prstGeom>
          <a:noFill/>
          <a:ln/>
        </p:spPr>
        <p:txBody>
          <a:bodyPr wrap="square" rtlCol="0" anchor="ct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Do you mind if I</a:t>
            </a:r>
            <a:r>
              <a:rPr lang="en-US" sz="1800" dirty="0" b="1">
                <a:solidFill>
                  <a:srgbClr val="1B2236"/>
                </a:solidFill>
                <a:latin typeface="Lexend Deca" pitchFamily="34" charset="0"/>
                <a:ea typeface="Lexend Deca" pitchFamily="34" charset="-122"/>
                <a:cs typeface="Lexend Deca" pitchFamily="34" charset="-120"/>
              </a:rPr>
              <a:t> open the window? </a:t>
            </a:r>
            <a:r>
              <a:rPr lang="en-US" sz="1800" dirty="0" b="1">
                <a:solidFill>
                  <a:srgbClr val="5B3FC4"/>
                </a:solidFill>
                <a:latin typeface="Lexend Deca" pitchFamily="34" charset="0"/>
                <a:ea typeface="Lexend Deca" pitchFamily="34" charset="-122"/>
                <a:cs typeface="Lexend Deca" pitchFamily="34" charset="-120"/>
              </a:rPr>
              <a:t>No, not at all!</a:t>
            </a:r>
            <a:endParaRPr lang="en-US" sz="1800" dirty="0" b="1"/>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Get the mail: a mailbox and a letter"/>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1</a:t>
            </a:r>
            <a:endParaRPr lang="en-US" sz="2000" dirty="0" b="1"/>
          </a:p>
          <a:p>
            <a:pPr algn="l" indent="0" marL="0">
              <a:spcAft>
                <a:spcPts val="400"/>
              </a:spcAft>
              <a:buNone/>
            </a:pPr>
            <a:r>
              <a:rPr lang="en-US" sz="2400" dirty="0" b="1">
                <a:solidFill>
                  <a:srgbClr val="1B2236"/>
                </a:solidFill>
                <a:latin typeface="Lexend Deca" pitchFamily="34" charset="0"/>
                <a:ea typeface="Lexend Deca" pitchFamily="34" charset="-122"/>
                <a:cs typeface="Lexend Deca" pitchFamily="34" charset="-120"/>
              </a:rPr>
              <a:t>Would you mind + -ing?</a:t>
            </a:r>
            <a:endParaRPr lang="en-US" sz="2400" dirty="0" b="1"/>
          </a:p>
        </p:txBody>
      </p:sp>
      <p:sp>
        <p:nvSpPr>
          <p:cNvPr id="8" name="Q head"/>
          <p:cNvSpPr/>
          <p:nvPr/>
        </p:nvSpPr>
        <p:spPr>
          <a:xfrm>
            <a:off x="5166360" y="1828800"/>
            <a:ext cx="265176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b="1"/>
          </a:p>
        </p:txBody>
      </p:sp>
      <p:sp>
        <p:nvSpPr>
          <p:cNvPr id="11" name="A head"/>
          <p:cNvSpPr/>
          <p:nvPr/>
        </p:nvSpPr>
        <p:spPr>
          <a:xfrm>
            <a:off x="7863840" y="1828800"/>
            <a:ext cx="406908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18" name="Question 1"/>
          <p:cNvSpPr/>
          <p:nvPr/>
        </p:nvSpPr>
        <p:spPr>
          <a:xfrm>
            <a:off x="5138928" y="228600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Would you mind</a:t>
            </a:r>
            <a:r>
              <a:rPr lang="en-US" sz="1700" dirty="0" b="1">
                <a:solidFill>
                  <a:srgbClr val="1B2236"/>
                </a:solidFill>
                <a:latin typeface="Lexend Deca" pitchFamily="34" charset="0"/>
                <a:ea typeface="Lexend Deca" pitchFamily="34" charset="-122"/>
                <a:cs typeface="Lexend Deca" pitchFamily="34" charset="-120"/>
              </a:rPr>
              <a:t> </a:t>
            </a:r>
            <a:r>
              <a:rPr lang="en-US" sz="1700" dirty="0" b="1">
                <a:solidFill>
                  <a:srgbClr val="1B2236"/>
                </a:solidFill>
                <a:latin typeface="Lexend Deca" pitchFamily="34" charset="0"/>
                <a:ea typeface="Lexend Deca" pitchFamily="34" charset="-122"/>
                <a:cs typeface="Lexend Deca" pitchFamily="34" charset="-120"/>
              </a:rPr>
              <a:t>getting</a:t>
            </a:r>
            <a:r>
              <a:rPr lang="en-US" sz="1700" dirty="0" b="1">
                <a:solidFill>
                  <a:srgbClr val="1B2236"/>
                </a:solidFill>
                <a:latin typeface="Lexend Deca" pitchFamily="34" charset="0"/>
                <a:ea typeface="Lexend Deca" pitchFamily="34" charset="-122"/>
                <a:cs typeface="Lexend Deca" pitchFamily="34" charset="-120"/>
              </a:rPr>
              <a:t> my mail?</a:t>
            </a:r>
            <a:endParaRPr lang="en-US" sz="1700" dirty="0" b="1"/>
          </a:p>
        </p:txBody>
      </p:sp>
      <p:sp>
        <p:nvSpPr>
          <p:cNvPr id="19" name="Answer bg 1"/>
          <p:cNvSpPr/>
          <p:nvPr/>
        </p:nvSpPr>
        <p:spPr>
          <a:xfrm>
            <a:off x="7863840" y="228600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863840" y="228600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No, </a:t>
            </a:r>
            <a:r>
              <a:rPr lang="en-US" sz="1700" dirty="0" b="1">
                <a:solidFill>
                  <a:srgbClr val="1B2236"/>
                </a:solidFill>
                <a:latin typeface="Lexend Deca" pitchFamily="34" charset="0"/>
                <a:ea typeface="Lexend Deca" pitchFamily="34" charset="-122"/>
                <a:cs typeface="Lexend Deca" pitchFamily="34" charset="-120"/>
              </a:rPr>
              <a:t>not at all</a:t>
            </a:r>
            <a:r>
              <a:rPr lang="en-US" sz="1700" dirty="0" b="1">
                <a:solidFill>
                  <a:srgbClr val="1B2236"/>
                </a:solidFill>
                <a:latin typeface="Lexend Deca" pitchFamily="34" charset="0"/>
                <a:ea typeface="Lexend Deca" pitchFamily="34" charset="-122"/>
                <a:cs typeface="Lexend Deca" pitchFamily="34" charset="-120"/>
              </a:rPr>
              <a:t>. I</a:t>
            </a:r>
            <a:r>
              <a:rPr lang="en-US" sz="1700" dirty="0" b="1">
                <a:solidFill>
                  <a:srgbClr val="1B2236"/>
                </a:solidFill>
                <a:latin typeface="Lexend Deca" pitchFamily="34" charset="0"/>
                <a:ea typeface="Lexend Deca" pitchFamily="34" charset="-122"/>
                <a:cs typeface="Lexend Deca" pitchFamily="34" charset="-120"/>
              </a:rPr>
              <a:t>'ll</a:t>
            </a:r>
            <a:r>
              <a:rPr lang="en-US" sz="1700" dirty="0" b="1">
                <a:solidFill>
                  <a:srgbClr val="1B2236"/>
                </a:solidFill>
                <a:latin typeface="Lexend Deca" pitchFamily="34" charset="0"/>
                <a:ea typeface="Lexend Deca" pitchFamily="34" charset="-122"/>
                <a:cs typeface="Lexend Deca" pitchFamily="34" charset="-120"/>
              </a:rPr>
              <a:t> do it.</a:t>
            </a:r>
            <a:endParaRPr lang="en-US" sz="1700" dirty="0" b="1"/>
          </a:p>
          <a:p>
            <a:pPr algn="l" indent="0" marL="0">
              <a:buNone/>
            </a:pPr>
            <a:r>
              <a:rPr lang="en-US" sz="1700" dirty="0" b="1">
                <a:solidFill>
                  <a:srgbClr val="1B2236"/>
                </a:solidFill>
                <a:latin typeface="Lexend Deca" pitchFamily="34" charset="0"/>
                <a:ea typeface="Lexend Deca" pitchFamily="34" charset="-122"/>
                <a:cs typeface="Lexend Deca" pitchFamily="34" charset="-120"/>
              </a:rPr>
              <a:t>Sorry</a:t>
            </a:r>
            <a:r>
              <a:rPr lang="en-US" sz="1700" dirty="0" b="1">
                <a:solidFill>
                  <a:srgbClr val="1B2236"/>
                </a:solidFill>
                <a:latin typeface="Lexend Deca" pitchFamily="34" charset="0"/>
                <a:ea typeface="Lexend Deca" pitchFamily="34" charset="-122"/>
                <a:cs typeface="Lexend Deca" pitchFamily="34" charset="-120"/>
              </a:rPr>
              <a:t>, I </a:t>
            </a:r>
            <a:r>
              <a:rPr lang="en-US" sz="1700" dirty="0" b="1">
                <a:solidFill>
                  <a:srgbClr val="1B2236"/>
                </a:solidFill>
                <a:latin typeface="Lexend Deca" pitchFamily="34" charset="0"/>
                <a:ea typeface="Lexend Deca" pitchFamily="34" charset="-122"/>
                <a:cs typeface="Lexend Deca" pitchFamily="34" charset="-120"/>
              </a:rPr>
              <a:t>can't</a:t>
            </a:r>
            <a:r>
              <a:rPr lang="en-US" sz="1700" dirty="0" b="1">
                <a:solidFill>
                  <a:srgbClr val="1B2236"/>
                </a:solidFill>
                <a:latin typeface="Lexend Deca" pitchFamily="34" charset="0"/>
                <a:ea typeface="Lexend Deca" pitchFamily="34" charset="-122"/>
                <a:cs typeface="Lexend Deca" pitchFamily="34" charset="-120"/>
              </a:rPr>
              <a:t>. I'll be away too.</a:t>
            </a:r>
            <a:endParaRPr lang="en-US" sz="1700" dirty="0" b="1"/>
          </a:p>
        </p:txBody>
      </p:sp>
      <p:sp>
        <p:nvSpPr>
          <p:cNvPr id="21" name="Question 2"/>
          <p:cNvSpPr/>
          <p:nvPr/>
        </p:nvSpPr>
        <p:spPr>
          <a:xfrm>
            <a:off x="5138928" y="333756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Would you mind</a:t>
            </a:r>
            <a:r>
              <a:rPr lang="en-US" sz="1700" dirty="0" b="1">
                <a:solidFill>
                  <a:srgbClr val="1B2236"/>
                </a:solidFill>
                <a:latin typeface="Lexend Deca" pitchFamily="34" charset="0"/>
                <a:ea typeface="Lexend Deca" pitchFamily="34" charset="-122"/>
                <a:cs typeface="Lexend Deca" pitchFamily="34" charset="-120"/>
              </a:rPr>
              <a:t> </a:t>
            </a:r>
            <a:r>
              <a:rPr lang="en-US" sz="1700" dirty="0" b="1">
                <a:solidFill>
                  <a:srgbClr val="1B2236"/>
                </a:solidFill>
                <a:latin typeface="Lexend Deca" pitchFamily="34" charset="0"/>
                <a:ea typeface="Lexend Deca" pitchFamily="34" charset="-122"/>
                <a:cs typeface="Lexend Deca" pitchFamily="34" charset="-120"/>
              </a:rPr>
              <a:t>covering</a:t>
            </a:r>
            <a:r>
              <a:rPr lang="en-US" sz="1700" dirty="0" b="1">
                <a:solidFill>
                  <a:srgbClr val="1B2236"/>
                </a:solidFill>
                <a:latin typeface="Lexend Deca" pitchFamily="34" charset="0"/>
                <a:ea typeface="Lexend Deca" pitchFamily="34" charset="-122"/>
                <a:cs typeface="Lexend Deca" pitchFamily="34" charset="-120"/>
              </a:rPr>
              <a:t> my shift?</a:t>
            </a:r>
            <a:endParaRPr lang="en-US" sz="1700" dirty="0" b="1"/>
          </a:p>
        </p:txBody>
      </p:sp>
      <p:sp>
        <p:nvSpPr>
          <p:cNvPr id="22" name="Answer bg 2"/>
          <p:cNvSpPr/>
          <p:nvPr/>
        </p:nvSpPr>
        <p:spPr>
          <a:xfrm>
            <a:off x="7863840" y="333756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863840" y="333756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No, </a:t>
            </a:r>
            <a:r>
              <a:rPr lang="en-US" sz="1700" dirty="0" b="1">
                <a:solidFill>
                  <a:srgbClr val="1B2236"/>
                </a:solidFill>
                <a:latin typeface="Lexend Deca" pitchFamily="34" charset="0"/>
                <a:ea typeface="Lexend Deca" pitchFamily="34" charset="-122"/>
                <a:cs typeface="Lexend Deca" pitchFamily="34" charset="-120"/>
              </a:rPr>
              <a:t>not at all</a:t>
            </a:r>
            <a:r>
              <a:rPr lang="en-US" sz="1700" dirty="0" b="1">
                <a:solidFill>
                  <a:srgbClr val="1B2236"/>
                </a:solidFill>
                <a:latin typeface="Lexend Deca" pitchFamily="34" charset="0"/>
                <a:ea typeface="Lexend Deca" pitchFamily="34" charset="-122"/>
                <a:cs typeface="Lexend Deca" pitchFamily="34" charset="-120"/>
              </a:rPr>
              <a:t>. I'm free on Saturday.</a:t>
            </a:r>
            <a:endParaRPr lang="en-US" sz="1700" dirty="0" b="1"/>
          </a:p>
        </p:txBody>
      </p:sp>
      <p:sp>
        <p:nvSpPr>
          <p:cNvPr id="24" name="Question 3"/>
          <p:cNvSpPr/>
          <p:nvPr/>
        </p:nvSpPr>
        <p:spPr>
          <a:xfrm>
            <a:off x="5138928" y="438912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Would you mind</a:t>
            </a:r>
            <a:r>
              <a:rPr lang="en-US" sz="1700" dirty="0" b="1">
                <a:solidFill>
                  <a:srgbClr val="1B2236"/>
                </a:solidFill>
                <a:latin typeface="Lexend Deca" pitchFamily="34" charset="0"/>
                <a:ea typeface="Lexend Deca" pitchFamily="34" charset="-122"/>
                <a:cs typeface="Lexend Deca" pitchFamily="34" charset="-120"/>
              </a:rPr>
              <a:t> </a:t>
            </a:r>
            <a:r>
              <a:rPr lang="en-US" sz="1700" dirty="0" b="1">
                <a:solidFill>
                  <a:srgbClr val="1B2236"/>
                </a:solidFill>
                <a:latin typeface="Lexend Deca" pitchFamily="34" charset="0"/>
                <a:ea typeface="Lexend Deca" pitchFamily="34" charset="-122"/>
                <a:cs typeface="Lexend Deca" pitchFamily="34" charset="-120"/>
              </a:rPr>
              <a:t>lending</a:t>
            </a:r>
            <a:r>
              <a:rPr lang="en-US" sz="1700" dirty="0" b="1">
                <a:solidFill>
                  <a:srgbClr val="1B2236"/>
                </a:solidFill>
                <a:latin typeface="Lexend Deca" pitchFamily="34" charset="0"/>
                <a:ea typeface="Lexend Deca" pitchFamily="34" charset="-122"/>
                <a:cs typeface="Lexend Deca" pitchFamily="34" charset="-120"/>
              </a:rPr>
              <a:t> me a ladder?</a:t>
            </a:r>
            <a:endParaRPr lang="en-US" sz="1700" dirty="0" b="1"/>
          </a:p>
        </p:txBody>
      </p:sp>
      <p:sp>
        <p:nvSpPr>
          <p:cNvPr id="25" name="Answer bg 3"/>
          <p:cNvSpPr/>
          <p:nvPr/>
        </p:nvSpPr>
        <p:spPr>
          <a:xfrm>
            <a:off x="7863840" y="438912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863840" y="438912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No problem. You can borrow </a:t>
            </a:r>
            <a:r>
              <a:rPr lang="en-US" sz="1700" dirty="0" b="1">
                <a:solidFill>
                  <a:srgbClr val="1B2236"/>
                </a:solidFill>
                <a:latin typeface="Lexend Deca" pitchFamily="34" charset="0"/>
                <a:ea typeface="Lexend Deca" pitchFamily="34" charset="-122"/>
                <a:cs typeface="Lexend Deca" pitchFamily="34" charset="-120"/>
              </a:rPr>
              <a:t>mine</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Switch shifts: a calendar and arrows [sign: SAT → SUN]"/>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2</a:t>
            </a:r>
            <a:endParaRPr lang="en-US" sz="2000" dirty="0" b="1"/>
          </a:p>
          <a:p>
            <a:pPr algn="l" indent="0" marL="0">
              <a:spcAft>
                <a:spcPts val="400"/>
              </a:spcAft>
              <a:buNone/>
            </a:pPr>
            <a:r>
              <a:rPr lang="en-US" sz="2200" dirty="0" b="1">
                <a:solidFill>
                  <a:srgbClr val="1B2236"/>
                </a:solidFill>
                <a:latin typeface="Lexend Deca" pitchFamily="34" charset="0"/>
                <a:ea typeface="Lexend Deca" pitchFamily="34" charset="-122"/>
                <a:cs typeface="Lexend Deca" pitchFamily="34" charset="-120"/>
              </a:rPr>
              <a:t>permission: Do you mind if I…?</a:t>
            </a:r>
            <a:endParaRPr lang="en-US" sz="2200" dirty="0" b="1"/>
          </a:p>
        </p:txBody>
      </p:sp>
      <p:sp>
        <p:nvSpPr>
          <p:cNvPr id="8" name="Q head"/>
          <p:cNvSpPr/>
          <p:nvPr/>
        </p:nvSpPr>
        <p:spPr>
          <a:xfrm>
            <a:off x="5166360" y="1828800"/>
            <a:ext cx="265176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QUESTION</a:t>
            </a:r>
            <a:endParaRPr lang="en-US" sz="2000" dirty="0" b="1"/>
          </a:p>
        </p:txBody>
      </p:sp>
      <p:sp>
        <p:nvSpPr>
          <p:cNvPr id="11" name="A head"/>
          <p:cNvSpPr/>
          <p:nvPr/>
        </p:nvSpPr>
        <p:spPr>
          <a:xfrm>
            <a:off x="7863840" y="1828800"/>
            <a:ext cx="406908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ANSWER</a:t>
            </a:r>
            <a:endParaRPr lang="en-US" sz="2000" dirty="0" b="1"/>
          </a:p>
        </p:txBody>
      </p:sp>
      <p:sp>
        <p:nvSpPr>
          <p:cNvPr id="18" name="Question 1"/>
          <p:cNvSpPr/>
          <p:nvPr/>
        </p:nvSpPr>
        <p:spPr>
          <a:xfrm>
            <a:off x="5138928" y="228600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Do you mind if I</a:t>
            </a:r>
            <a:r>
              <a:rPr lang="en-US" sz="1700" dirty="0" b="1">
                <a:solidFill>
                  <a:srgbClr val="1B2236"/>
                </a:solidFill>
                <a:latin typeface="Lexend Deca" pitchFamily="34" charset="0"/>
                <a:ea typeface="Lexend Deca" pitchFamily="34" charset="-122"/>
                <a:cs typeface="Lexend Deca" pitchFamily="34" charset="-120"/>
              </a:rPr>
              <a:t> </a:t>
            </a:r>
            <a:r>
              <a:rPr lang="en-US" sz="1700" dirty="0" b="1">
                <a:solidFill>
                  <a:srgbClr val="1B2236"/>
                </a:solidFill>
                <a:latin typeface="Lexend Deca" pitchFamily="34" charset="0"/>
                <a:ea typeface="Lexend Deca" pitchFamily="34" charset="-122"/>
                <a:cs typeface="Lexend Deca" pitchFamily="34" charset="-120"/>
              </a:rPr>
              <a:t>open</a:t>
            </a:r>
            <a:r>
              <a:rPr lang="en-US" sz="1700" dirty="0" b="1">
                <a:solidFill>
                  <a:srgbClr val="1B2236"/>
                </a:solidFill>
                <a:latin typeface="Lexend Deca" pitchFamily="34" charset="0"/>
                <a:ea typeface="Lexend Deca" pitchFamily="34" charset="-122"/>
                <a:cs typeface="Lexend Deca" pitchFamily="34" charset="-120"/>
              </a:rPr>
              <a:t> the window?</a:t>
            </a:r>
            <a:endParaRPr lang="en-US" sz="1700" dirty="0" b="1"/>
          </a:p>
        </p:txBody>
      </p:sp>
      <p:sp>
        <p:nvSpPr>
          <p:cNvPr id="19" name="Answer bg 1"/>
          <p:cNvSpPr/>
          <p:nvPr/>
        </p:nvSpPr>
        <p:spPr>
          <a:xfrm>
            <a:off x="7863840" y="228600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863840" y="228600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No, </a:t>
            </a:r>
            <a:r>
              <a:rPr lang="en-US" sz="1700" dirty="0" b="1">
                <a:solidFill>
                  <a:srgbClr val="1B2236"/>
                </a:solidFill>
                <a:latin typeface="Lexend Deca" pitchFamily="34" charset="0"/>
                <a:ea typeface="Lexend Deca" pitchFamily="34" charset="-122"/>
                <a:cs typeface="Lexend Deca" pitchFamily="34" charset="-120"/>
              </a:rPr>
              <a:t>go ahead</a:t>
            </a:r>
            <a:r>
              <a:rPr lang="en-US" sz="1700" dirty="0" b="1">
                <a:solidFill>
                  <a:srgbClr val="1B2236"/>
                </a:solidFill>
                <a:latin typeface="Lexend Deca" pitchFamily="34" charset="0"/>
                <a:ea typeface="Lexend Deca" pitchFamily="34" charset="-122"/>
                <a:cs typeface="Lexend Deca" pitchFamily="34" charset="-120"/>
              </a:rPr>
              <a:t>. It's hot in here.</a:t>
            </a:r>
            <a:endParaRPr lang="en-US" sz="1700" dirty="0" b="1"/>
          </a:p>
        </p:txBody>
      </p:sp>
      <p:sp>
        <p:nvSpPr>
          <p:cNvPr id="21" name="Question 2"/>
          <p:cNvSpPr/>
          <p:nvPr/>
        </p:nvSpPr>
        <p:spPr>
          <a:xfrm>
            <a:off x="5138928" y="333756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Do you mind if I</a:t>
            </a:r>
            <a:r>
              <a:rPr lang="en-US" sz="1700" dirty="0" b="1">
                <a:solidFill>
                  <a:srgbClr val="1B2236"/>
                </a:solidFill>
                <a:latin typeface="Lexend Deca" pitchFamily="34" charset="0"/>
                <a:ea typeface="Lexend Deca" pitchFamily="34" charset="-122"/>
                <a:cs typeface="Lexend Deca" pitchFamily="34" charset="-120"/>
              </a:rPr>
              <a:t> </a:t>
            </a:r>
            <a:r>
              <a:rPr lang="en-US" sz="1700" dirty="0" b="1">
                <a:solidFill>
                  <a:srgbClr val="1B2236"/>
                </a:solidFill>
                <a:latin typeface="Lexend Deca" pitchFamily="34" charset="0"/>
                <a:ea typeface="Lexend Deca" pitchFamily="34" charset="-122"/>
                <a:cs typeface="Lexend Deca" pitchFamily="34" charset="-120"/>
              </a:rPr>
              <a:t>leave</a:t>
            </a:r>
            <a:r>
              <a:rPr lang="en-US" sz="1700" dirty="0" b="1">
                <a:solidFill>
                  <a:srgbClr val="1B2236"/>
                </a:solidFill>
                <a:latin typeface="Lexend Deca" pitchFamily="34" charset="0"/>
                <a:ea typeface="Lexend Deca" pitchFamily="34" charset="-122"/>
                <a:cs typeface="Lexend Deca" pitchFamily="34" charset="-120"/>
              </a:rPr>
              <a:t> early today?</a:t>
            </a:r>
            <a:endParaRPr lang="en-US" sz="1700" dirty="0" b="1"/>
          </a:p>
        </p:txBody>
      </p:sp>
      <p:sp>
        <p:nvSpPr>
          <p:cNvPr id="22" name="Answer bg 2"/>
          <p:cNvSpPr/>
          <p:nvPr/>
        </p:nvSpPr>
        <p:spPr>
          <a:xfrm>
            <a:off x="7863840" y="333756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863840" y="333756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Sorry</a:t>
            </a:r>
            <a:r>
              <a:rPr lang="en-US" sz="1700" dirty="0" b="1">
                <a:solidFill>
                  <a:srgbClr val="1B2236"/>
                </a:solidFill>
                <a:latin typeface="Lexend Deca" pitchFamily="34" charset="0"/>
                <a:ea typeface="Lexend Deca" pitchFamily="34" charset="-122"/>
                <a:cs typeface="Lexend Deca" pitchFamily="34" charset="-120"/>
              </a:rPr>
              <a:t>, we need you until 5:00.</a:t>
            </a:r>
            <a:endParaRPr lang="en-US" sz="1700" dirty="0" b="1"/>
          </a:p>
        </p:txBody>
      </p:sp>
      <p:sp>
        <p:nvSpPr>
          <p:cNvPr id="24" name="Question 3"/>
          <p:cNvSpPr/>
          <p:nvPr/>
        </p:nvSpPr>
        <p:spPr>
          <a:xfrm>
            <a:off x="5138928" y="4389120"/>
            <a:ext cx="265176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Do you mind if I</a:t>
            </a:r>
            <a:r>
              <a:rPr lang="en-US" sz="1700" dirty="0" b="1">
                <a:solidFill>
                  <a:srgbClr val="1B2236"/>
                </a:solidFill>
                <a:latin typeface="Lexend Deca" pitchFamily="34" charset="0"/>
                <a:ea typeface="Lexend Deca" pitchFamily="34" charset="-122"/>
                <a:cs typeface="Lexend Deca" pitchFamily="34" charset="-120"/>
              </a:rPr>
              <a:t> </a:t>
            </a:r>
            <a:r>
              <a:rPr lang="en-US" sz="1700" dirty="0" b="1">
                <a:solidFill>
                  <a:srgbClr val="1B2236"/>
                </a:solidFill>
                <a:latin typeface="Lexend Deca" pitchFamily="34" charset="0"/>
                <a:ea typeface="Lexend Deca" pitchFamily="34" charset="-122"/>
                <a:cs typeface="Lexend Deca" pitchFamily="34" charset="-120"/>
              </a:rPr>
              <a:t>switch</a:t>
            </a:r>
            <a:r>
              <a:rPr lang="en-US" sz="1700" dirty="0" b="1">
                <a:solidFill>
                  <a:srgbClr val="1B2236"/>
                </a:solidFill>
                <a:latin typeface="Lexend Deca" pitchFamily="34" charset="0"/>
                <a:ea typeface="Lexend Deca" pitchFamily="34" charset="-122"/>
                <a:cs typeface="Lexend Deca" pitchFamily="34" charset="-120"/>
              </a:rPr>
              <a:t> my Friday shift?</a:t>
            </a:r>
            <a:endParaRPr lang="en-US" sz="1700" dirty="0" b="1"/>
          </a:p>
        </p:txBody>
      </p:sp>
      <p:sp>
        <p:nvSpPr>
          <p:cNvPr id="25" name="Answer bg 3"/>
          <p:cNvSpPr/>
          <p:nvPr/>
        </p:nvSpPr>
        <p:spPr>
          <a:xfrm>
            <a:off x="7863840" y="4389120"/>
            <a:ext cx="4069080" cy="97840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863840" y="4389120"/>
            <a:ext cx="4069080" cy="97840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No, </a:t>
            </a:r>
            <a:r>
              <a:rPr lang="en-US" sz="1700" dirty="0" b="1">
                <a:solidFill>
                  <a:srgbClr val="1B2236"/>
                </a:solidFill>
                <a:latin typeface="Lexend Deca" pitchFamily="34" charset="0"/>
                <a:ea typeface="Lexend Deca" pitchFamily="34" charset="-122"/>
                <a:cs typeface="Lexend Deca" pitchFamily="34" charset="-120"/>
              </a:rPr>
              <a:t>not at all</a:t>
            </a:r>
            <a:r>
              <a:rPr lang="en-US" sz="1700" dirty="0" b="1">
                <a:solidFill>
                  <a:srgbClr val="1B2236"/>
                </a:solidFill>
                <a:latin typeface="Lexend Deca" pitchFamily="34" charset="0"/>
                <a:ea typeface="Lexend Deca" pitchFamily="34" charset="-122"/>
                <a:cs typeface="Lexend Deca" pitchFamily="34" charset="-120"/>
              </a:rPr>
              <a:t>. Ask the supervisor first.</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Spare key: two keys [sign: SPARE]"/>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3</a:t>
            </a:r>
            <a:endParaRPr lang="en-US" sz="2000" dirty="0" b="1"/>
          </a:p>
          <a:p>
            <a:pPr algn="l" indent="0" marL="0">
              <a:spcAft>
                <a:spcPts val="400"/>
              </a:spcAft>
              <a:buNone/>
            </a:pPr>
            <a:r>
              <a:rPr lang="en-US" sz="2400" dirty="0" b="1">
                <a:solidFill>
                  <a:srgbClr val="1B2236"/>
                </a:solidFill>
                <a:latin typeface="Lexend Deca" pitchFamily="34" charset="0"/>
                <a:ea typeface="Lexend Deca" pitchFamily="34" charset="-122"/>
                <a:cs typeface="Lexend Deca" pitchFamily="34" charset="-120"/>
              </a:rPr>
              <a:t>saying yes, saying no</a:t>
            </a:r>
            <a:endParaRPr lang="en-US" sz="2400" dirty="0" b="1"/>
          </a:p>
        </p:txBody>
      </p:sp>
      <p:sp>
        <p:nvSpPr>
          <p:cNvPr id="8" name="Q head"/>
          <p:cNvSpPr/>
          <p:nvPr/>
        </p:nvSpPr>
        <p:spPr>
          <a:xfrm>
            <a:off x="5166360" y="1828800"/>
            <a:ext cx="256032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YOU CAN HELP (say no!)</a:t>
            </a:r>
            <a:endParaRPr lang="en-US" sz="2000" dirty="0" b="1"/>
          </a:p>
        </p:txBody>
      </p:sp>
      <p:sp>
        <p:nvSpPr>
          <p:cNvPr id="11" name="A head"/>
          <p:cNvSpPr/>
          <p:nvPr/>
        </p:nvSpPr>
        <p:spPr>
          <a:xfrm>
            <a:off x="7772400" y="1828800"/>
            <a:ext cx="416052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YOU CAN'T HELP (be polite)</a:t>
            </a:r>
            <a:endParaRPr lang="en-US" sz="2000" dirty="0" b="1"/>
          </a:p>
        </p:txBody>
      </p:sp>
      <p:sp>
        <p:nvSpPr>
          <p:cNvPr id="18" name="Question 1"/>
          <p:cNvSpPr/>
          <p:nvPr/>
        </p:nvSpPr>
        <p:spPr>
          <a:xfrm>
            <a:off x="5138928" y="2286000"/>
            <a:ext cx="2560320" cy="138988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No, not at all.</a:t>
            </a:r>
            <a:br>
              <a:rPr lang="en-US" sz="1800" dirty="0" b="1">
                <a:solidFill>
                  <a:srgbClr val="1B2236"/>
                </a:solidFill>
                <a:latin typeface="Lexend Deca" pitchFamily="34" charset="0"/>
                <a:ea typeface="Lexend Deca" pitchFamily="34" charset="-122"/>
                <a:cs typeface="Lexend Deca" pitchFamily="34" charset="-120"/>
              </a:rPr>
            </a:br>
            <a:r>
              <a:rPr lang="en-US" sz="1800" dirty="0" b="1">
                <a:solidFill>
                  <a:srgbClr val="5B3FC4"/>
                </a:solidFill>
                <a:latin typeface="Lexend Deca" pitchFamily="34" charset="0"/>
                <a:ea typeface="Lexend Deca" pitchFamily="34" charset="-122"/>
                <a:cs typeface="Lexend Deca" pitchFamily="34" charset="-120"/>
              </a:rPr>
              <a:t>No problem.</a:t>
            </a:r>
            <a:br>
              <a:rPr lang="en-US" sz="1800" dirty="0" b="1">
                <a:solidFill>
                  <a:srgbClr val="1B2236"/>
                </a:solidFill>
                <a:latin typeface="Lexend Deca" pitchFamily="34" charset="0"/>
                <a:ea typeface="Lexend Deca" pitchFamily="34" charset="-122"/>
                <a:cs typeface="Lexend Deca" pitchFamily="34" charset="-120"/>
              </a:rPr>
            </a:br>
            <a:r>
              <a:rPr lang="en-US" sz="1800" dirty="0" b="1">
                <a:solidFill>
                  <a:srgbClr val="5B3FC4"/>
                </a:solidFill>
                <a:latin typeface="Lexend Deca" pitchFamily="34" charset="0"/>
                <a:ea typeface="Lexend Deca" pitchFamily="34" charset="-122"/>
                <a:cs typeface="Lexend Deca" pitchFamily="34" charset="-120"/>
              </a:rPr>
              <a:t>Sure, I'll do it.</a:t>
            </a:r>
            <a:endParaRPr lang="en-US" sz="1800" dirty="0" b="1"/>
          </a:p>
        </p:txBody>
      </p:sp>
      <p:sp>
        <p:nvSpPr>
          <p:cNvPr id="19" name="Answer bg 1"/>
          <p:cNvSpPr/>
          <p:nvPr/>
        </p:nvSpPr>
        <p:spPr>
          <a:xfrm>
            <a:off x="7772400" y="2286000"/>
            <a:ext cx="4160520" cy="138988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772400" y="2286000"/>
            <a:ext cx="4160520" cy="138988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Sorry, I can't, because…</a:t>
            </a:r>
            <a:br>
              <a:rPr lang="en-US" sz="1800" dirty="0" b="1">
                <a:solidFill>
                  <a:srgbClr val="1B2236"/>
                </a:solidFill>
                <a:latin typeface="Lexend Deca" pitchFamily="34" charset="0"/>
                <a:ea typeface="Lexend Deca" pitchFamily="34" charset="-122"/>
                <a:cs typeface="Lexend Deca" pitchFamily="34" charset="-120"/>
              </a:rPr>
            </a:br>
            <a:r>
              <a:rPr lang="en-US" sz="1800" dirty="0" b="1">
                <a:solidFill>
                  <a:srgbClr val="1B2236"/>
                </a:solidFill>
                <a:latin typeface="Lexend Deca" pitchFamily="34" charset="0"/>
                <a:ea typeface="Lexend Deca" pitchFamily="34" charset="-122"/>
                <a:cs typeface="Lexend Deca" pitchFamily="34" charset="-120"/>
              </a:rPr>
              <a:t>+ another idea: </a:t>
            </a:r>
            <a:r>
              <a:rPr lang="en-US" sz="1800" dirty="0" b="1">
                <a:solidFill>
                  <a:srgbClr val="5B3FC4"/>
                </a:solidFill>
                <a:latin typeface="Lexend Deca" pitchFamily="34" charset="0"/>
                <a:ea typeface="Lexend Deca" pitchFamily="34" charset="-122"/>
                <a:cs typeface="Lexend Deca" pitchFamily="34" charset="-120"/>
              </a:rPr>
              <a:t>Why don't you ask Lina?</a:t>
            </a:r>
            <a:endParaRPr lang="en-US" sz="18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name="L4:table">
    <p:bg>
      <p:bgPr>
        <a:solidFill>
          <a:srgbClr val="F1F5FB"/>
        </a:solidFill>
      </p:bgPr>
    </p:bg>
    <p:spTree>
      <p:nvGrpSpPr>
        <p:cNvPr id="1" name=""/>
        <p:cNvGrpSpPr/>
        <p:nvPr/>
      </p:nvGrpSpPr>
      <p:grpSpPr/>
      <p:sp>
        <p:nvSpPr>
          <p:cNvPr id="2" name="Shape 0"/>
          <p:cNvSpPr/>
          <p:nvPr/>
        </p:nvSpPr>
        <p:spPr>
          <a:xfrm>
            <a:off x="5076429" y="533095"/>
            <a:ext cx="5814670" cy="1234440"/>
          </a:xfrm>
          <a:prstGeom prst="roundRect">
            <a:avLst>
              <a:gd name="adj" fmla="val 16667"/>
            </a:avLst>
          </a:prstGeom>
          <a:solidFill>
            <a:srgbClr val="8FAFE3"/>
          </a:solidFill>
          <a:ln/>
        </p:spPr>
        <p:txBody>
          <a:bodyPr/>
          <a:p/>
        </p:txBody>
      </p:sp>
      <p:sp>
        <p:nvSpPr>
          <p:cNvPr id="3" name="Shape 1"/>
          <p:cNvSpPr/>
          <p:nvPr/>
        </p:nvSpPr>
        <p:spPr>
          <a:xfrm>
            <a:off x="5110582" y="457200"/>
            <a:ext cx="5814670" cy="1234440"/>
          </a:xfrm>
          <a:prstGeom prst="roundRect">
            <a:avLst>
              <a:gd name="adj" fmla="val 16667"/>
            </a:avLst>
          </a:prstGeom>
          <a:solidFill>
            <a:srgbClr val="FFFFFF"/>
          </a:solidFill>
          <a:ln/>
        </p:spPr>
        <p:txBody>
          <a:bodyPr/>
          <a:p/>
        </p:txBody>
      </p:sp>
      <p:sp>
        <p:nvSpPr>
          <p:cNvPr id="4" name="left panel"/>
          <p:cNvSpPr/>
          <p:nvPr/>
        </p:nvSpPr>
        <p:spPr>
          <a:xfrm flipV="1">
            <a:off x="-106985" y="-101498"/>
            <a:ext cx="3844138" cy="6418174"/>
          </a:xfrm>
          <a:prstGeom prst="round1Rect">
            <a:avLst>
              <a:gd name="adj" fmla="val 23087"/>
            </a:avLst>
          </a:prstGeom>
          <a:solidFill>
            <a:srgbClr val="B9D2F7"/>
          </a:solidFill>
          <a:ln w="76200">
            <a:solidFill>
              <a:srgbClr val="FFFFFF"/>
            </a:solidFill>
            <a:prstDash val="solid"/>
          </a:ln>
        </p:spPr>
        <p:txBody>
          <a:bodyPr/>
          <a:p/>
        </p:txBody>
      </p:sp>
      <p:pic>
        <p:nvPicPr>
          <p:cNvPr id="17" name="pic" descr="Feed the cat: a cat and a bowl"/>
          <p:cNvPicPr>
            <a:picLocks noChangeAspect="1"/>
          </p:cNvPicPr>
          <p:nvPr/>
        </p:nvPicPr>
        <p:blipFill>
          <a:blip r:embed="rId3"/>
          <a:stretch>
            <a:fillRect/>
          </a:stretch>
        </p:blipFill>
        <p:spPr>
          <a:xfrm>
            <a:off x="457200" y="2265152"/>
            <a:ext cx="3326587" cy="2328611"/>
          </a:xfrm>
          <a:prstGeom prst="rect">
            <a:avLst/>
          </a:prstGeom>
        </p:spPr>
      </p:pic>
      <p:sp>
        <p:nvSpPr>
          <p:cNvPr id="7" name="head"/>
          <p:cNvSpPr/>
          <p:nvPr/>
        </p:nvSpPr>
        <p:spPr>
          <a:xfrm>
            <a:off x="5333695" y="566928"/>
            <a:ext cx="4846320" cy="1097280"/>
          </a:xfrm>
          <a:prstGeom prst="rect">
            <a:avLst/>
          </a:prstGeom>
          <a:noFill/>
          <a:ln/>
        </p:spPr>
        <p:txBody>
          <a:bodyPr wrap="square" rtlCol="0" anchor="ctr"/>
          <a:lstStyle/>
          <a:p>
            <a:pPr algn="l" indent="0" marL="0">
              <a:spcAft>
                <a:spcPts val="400"/>
              </a:spcAft>
              <a:buNone/>
            </a:pPr>
            <a:r>
              <a:rPr lang="en-US" sz="2000" dirty="0" b="1">
                <a:solidFill>
                  <a:srgbClr val="5B3FC4"/>
                </a:solidFill>
                <a:latin typeface="Lexend Deca" pitchFamily="34" charset="0"/>
                <a:ea typeface="Lexend Deca" pitchFamily="34" charset="-122"/>
                <a:cs typeface="Lexend Deca" pitchFamily="34" charset="-120"/>
              </a:rPr>
              <a:t>Grammar Box 4</a:t>
            </a:r>
            <a:endParaRPr lang="en-US" sz="2000" dirty="0" b="1"/>
          </a:p>
          <a:p>
            <a:pPr algn="l" indent="0" marL="0">
              <a:spcAft>
                <a:spcPts val="400"/>
              </a:spcAft>
              <a:buNone/>
            </a:pPr>
            <a:r>
              <a:rPr lang="en-US" sz="2400" dirty="0" b="1">
                <a:solidFill>
                  <a:srgbClr val="1B2236"/>
                </a:solidFill>
                <a:latin typeface="Lexend Deca" pitchFamily="34" charset="0"/>
                <a:ea typeface="Lexend Deca" pitchFamily="34" charset="-122"/>
                <a:cs typeface="Lexend Deca" pitchFamily="34" charset="-120"/>
              </a:rPr>
              <a:t>how polite?</a:t>
            </a:r>
            <a:endParaRPr lang="en-US" sz="2400" dirty="0" b="1"/>
          </a:p>
        </p:txBody>
      </p:sp>
      <p:sp>
        <p:nvSpPr>
          <p:cNvPr id="8" name="Q head"/>
          <p:cNvSpPr/>
          <p:nvPr/>
        </p:nvSpPr>
        <p:spPr>
          <a:xfrm>
            <a:off x="5166360" y="1828800"/>
            <a:ext cx="246888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SAY</a:t>
            </a:r>
            <a:endParaRPr lang="en-US" sz="2000" dirty="0" b="1"/>
          </a:p>
        </p:txBody>
      </p:sp>
      <p:sp>
        <p:nvSpPr>
          <p:cNvPr id="11" name="A head"/>
          <p:cNvSpPr/>
          <p:nvPr/>
        </p:nvSpPr>
        <p:spPr>
          <a:xfrm>
            <a:off x="7680960" y="1828800"/>
            <a:ext cx="4251960" cy="457200"/>
          </a:xfrm>
          <a:prstGeom prst="rect">
            <a:avLst/>
          </a:prstGeom>
          <a:noFill/>
          <a:ln/>
        </p:spPr>
        <p:txBody>
          <a:bodyPr wrap="square" rtlCol="0" anchor="ctr"/>
          <a:lstStyle/>
          <a:p>
            <a:pPr algn="l" indent="0" marL="0">
              <a:buNone/>
            </a:pPr>
            <a:r>
              <a:rPr lang="en-US" sz="2000" dirty="0" b="1">
                <a:solidFill>
                  <a:srgbClr val="5B3FC4"/>
                </a:solidFill>
                <a:latin typeface="Lexend Deca" pitchFamily="34" charset="0"/>
                <a:ea typeface="Lexend Deca" pitchFamily="34" charset="-122"/>
                <a:cs typeface="Lexend Deca" pitchFamily="34" charset="-120"/>
              </a:rPr>
              <a:t>WHEN?  ·  EXAMPLE</a:t>
            </a:r>
            <a:endParaRPr lang="en-US" sz="2000" dirty="0" b="1"/>
          </a:p>
        </p:txBody>
      </p:sp>
      <p:sp>
        <p:nvSpPr>
          <p:cNvPr id="18" name="Question 1"/>
          <p:cNvSpPr/>
          <p:nvPr/>
        </p:nvSpPr>
        <p:spPr>
          <a:xfrm>
            <a:off x="5138928" y="2286000"/>
            <a:ext cx="2468880" cy="102412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Can you…?</a:t>
            </a:r>
            <a:endParaRPr lang="en-US" sz="1800" dirty="0" b="1"/>
          </a:p>
        </p:txBody>
      </p:sp>
      <p:sp>
        <p:nvSpPr>
          <p:cNvPr id="19" name="Answer bg 1"/>
          <p:cNvSpPr/>
          <p:nvPr/>
        </p:nvSpPr>
        <p:spPr>
          <a:xfrm>
            <a:off x="7680960" y="2286000"/>
            <a:ext cx="4251960" cy="102412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Answer 1"/>
          <p:cNvSpPr/>
          <p:nvPr/>
        </p:nvSpPr>
        <p:spPr>
          <a:xfrm>
            <a:off x="7680960" y="2286000"/>
            <a:ext cx="4251960" cy="102412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a small favor, a friend</a:t>
            </a:r>
            <a:br>
              <a:rPr lang="en-US" sz="1700" dirty="0" b="1">
                <a:solidFill>
                  <a:srgbClr val="1B2236"/>
                </a:solidFill>
                <a:latin typeface="Lexend Deca" pitchFamily="34" charset="0"/>
                <a:ea typeface="Lexend Deca" pitchFamily="34" charset="-122"/>
                <a:cs typeface="Lexend Deca" pitchFamily="34" charset="-120"/>
              </a:rPr>
            </a:br>
            <a:r>
              <a:rPr lang="en-US" sz="1700" dirty="0" b="1">
                <a:solidFill>
                  <a:srgbClr val="1B2236"/>
                </a:solidFill>
                <a:latin typeface="Lexend Deca" pitchFamily="34" charset="0"/>
                <a:ea typeface="Lexend Deca" pitchFamily="34" charset="-122"/>
                <a:cs typeface="Lexend Deca" pitchFamily="34" charset="-120"/>
              </a:rPr>
              <a:t>Can you pass the salt?</a:t>
            </a:r>
            <a:endParaRPr lang="en-US" sz="1700" dirty="0" b="1"/>
          </a:p>
        </p:txBody>
      </p:sp>
      <p:sp>
        <p:nvSpPr>
          <p:cNvPr id="21" name="Question 2"/>
          <p:cNvSpPr/>
          <p:nvPr/>
        </p:nvSpPr>
        <p:spPr>
          <a:xfrm>
            <a:off x="5138928" y="3383280"/>
            <a:ext cx="2468880" cy="102412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Could you…?</a:t>
            </a:r>
            <a:endParaRPr lang="en-US" sz="1800" dirty="0" b="1"/>
          </a:p>
        </p:txBody>
      </p:sp>
      <p:sp>
        <p:nvSpPr>
          <p:cNvPr id="22" name="Answer bg 2"/>
          <p:cNvSpPr/>
          <p:nvPr/>
        </p:nvSpPr>
        <p:spPr>
          <a:xfrm>
            <a:off x="7680960" y="3383280"/>
            <a:ext cx="4251960" cy="102412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3" name="Answer 2"/>
          <p:cNvSpPr/>
          <p:nvPr/>
        </p:nvSpPr>
        <p:spPr>
          <a:xfrm>
            <a:off x="7680960" y="3383280"/>
            <a:ext cx="4251960" cy="102412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more polite</a:t>
            </a:r>
            <a:br>
              <a:rPr lang="en-US" sz="1700" dirty="0" b="1">
                <a:solidFill>
                  <a:srgbClr val="1B2236"/>
                </a:solidFill>
                <a:latin typeface="Lexend Deca" pitchFamily="34" charset="0"/>
                <a:ea typeface="Lexend Deca" pitchFamily="34" charset="-122"/>
                <a:cs typeface="Lexend Deca" pitchFamily="34" charset="-120"/>
              </a:rPr>
            </a:br>
            <a:r>
              <a:rPr lang="en-US" sz="1700" dirty="0" b="1">
                <a:solidFill>
                  <a:srgbClr val="1B2236"/>
                </a:solidFill>
                <a:latin typeface="Lexend Deca" pitchFamily="34" charset="0"/>
                <a:ea typeface="Lexend Deca" pitchFamily="34" charset="-122"/>
                <a:cs typeface="Lexend Deca" pitchFamily="34" charset="-120"/>
              </a:rPr>
              <a:t>Could you help me with this box?</a:t>
            </a:r>
            <a:endParaRPr lang="en-US" sz="1700" dirty="0" b="1"/>
          </a:p>
        </p:txBody>
      </p:sp>
      <p:sp>
        <p:nvSpPr>
          <p:cNvPr id="24" name="Question 3"/>
          <p:cNvSpPr/>
          <p:nvPr/>
        </p:nvSpPr>
        <p:spPr>
          <a:xfrm>
            <a:off x="5138928" y="4480560"/>
            <a:ext cx="2468880" cy="1024128"/>
          </a:xfrm>
          <a:prstGeom prst="rect">
            <a:avLst/>
          </a:prstGeom>
          <a:noFill/>
          <a:ln w="38100">
            <a:noFill/>
          </a:ln>
        </p:spPr>
        <p:txBody>
          <a:bodyPr wrap="square" lIns="73152" tIns="36576" rIns="73152" bIns="36576" rtlCol="0" anchor="ctr">
            <a:noAutofit/>
          </a:bodyPr>
          <a:lstStyle/>
          <a:p>
            <a:pPr algn="l" indent="0" marL="0">
              <a:buNone/>
            </a:pPr>
            <a:r>
              <a:rPr lang="en-US" sz="1800" dirty="0" b="1">
                <a:solidFill>
                  <a:srgbClr val="5B3FC4"/>
                </a:solidFill>
                <a:latin typeface="Lexend Deca" pitchFamily="34" charset="0"/>
                <a:ea typeface="Lexend Deca" pitchFamily="34" charset="-122"/>
                <a:cs typeface="Lexend Deca" pitchFamily="34" charset="-120"/>
              </a:rPr>
              <a:t>Would you mind …ing?</a:t>
            </a:r>
            <a:endParaRPr lang="en-US" sz="1800" dirty="0" b="1"/>
          </a:p>
        </p:txBody>
      </p:sp>
      <p:sp>
        <p:nvSpPr>
          <p:cNvPr id="25" name="Answer bg 3"/>
          <p:cNvSpPr/>
          <p:nvPr/>
        </p:nvSpPr>
        <p:spPr>
          <a:xfrm>
            <a:off x="7680960" y="4480560"/>
            <a:ext cx="4251960" cy="1024128"/>
          </a:xfrm>
          <a:prstGeom prst="roundRect">
            <a:avLst>
              <a:gd name="adj" fmla="val 22000"/>
            </a:avLst>
          </a:prstGeom>
          <a:solidFill>
            <a:srgbClr val="C9B8F2"/>
          </a:solidFill>
          <a:ln w="38100">
            <a:no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6" name="Answer 3"/>
          <p:cNvSpPr/>
          <p:nvPr/>
        </p:nvSpPr>
        <p:spPr>
          <a:xfrm>
            <a:off x="7680960" y="4480560"/>
            <a:ext cx="4251960" cy="1024128"/>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the most polite; a </a:t>
            </a:r>
            <a:r>
              <a:rPr lang="en-US" sz="1700" dirty="0" b="1">
                <a:solidFill>
                  <a:srgbClr val="1B2236"/>
                </a:solidFill>
                <a:latin typeface="Lexend Deca" pitchFamily="34" charset="0"/>
                <a:ea typeface="Lexend Deca" pitchFamily="34" charset="-122"/>
                <a:cs typeface="Lexend Deca" pitchFamily="34" charset="-120"/>
              </a:rPr>
              <a:t>bigger</a:t>
            </a:r>
            <a:r>
              <a:rPr lang="en-US" sz="1700" dirty="0" b="1">
                <a:solidFill>
                  <a:srgbClr val="1B2236"/>
                </a:solidFill>
                <a:latin typeface="Lexend Deca" pitchFamily="34" charset="0"/>
                <a:ea typeface="Lexend Deca" pitchFamily="34" charset="-122"/>
                <a:cs typeface="Lexend Deca" pitchFamily="34" charset="-120"/>
              </a:rPr>
              <a:t> favor</a:t>
            </a:r>
            <a:br>
              <a:rPr lang="en-US" sz="1700" dirty="0" b="1">
                <a:solidFill>
                  <a:srgbClr val="1B2236"/>
                </a:solidFill>
                <a:latin typeface="Lexend Deca" pitchFamily="34" charset="0"/>
                <a:ea typeface="Lexend Deca" pitchFamily="34" charset="-122"/>
                <a:cs typeface="Lexend Deca" pitchFamily="34" charset="-120"/>
              </a:rPr>
            </a:br>
            <a:r>
              <a:rPr lang="en-US" sz="1700" dirty="0" b="1">
                <a:solidFill>
                  <a:srgbClr val="1B2236"/>
                </a:solidFill>
                <a:latin typeface="Lexend Deca" pitchFamily="34" charset="0"/>
                <a:ea typeface="Lexend Deca" pitchFamily="34" charset="-122"/>
                <a:cs typeface="Lexend Deca" pitchFamily="34" charset="-120"/>
              </a:rPr>
              <a:t>Would you mind feeding my cat for a week?</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name="L4:gaps">
    <p:bg>
      <p:bgPr>
        <a:solidFill>
          <a:srgbClr val="F1F5FB"/>
        </a:solidFill>
      </p:bgPr>
    </p:bg>
    <p:spTree>
      <p:nvGrpSpPr>
        <p:cNvPr id="1" name=""/>
        <p:cNvGrpSpPr/>
        <p:nvPr/>
      </p:nvGrpSpPr>
      <p:grpSpPr/>
      <p:sp>
        <p:nvSpPr>
          <p:cNvPr id="2" name="head shadow"/>
          <p:cNvSpPr/>
          <p:nvPr/>
        </p:nvSpPr>
        <p:spPr>
          <a:xfrm>
            <a:off x="544982" y="1132942"/>
            <a:ext cx="7086600" cy="983894"/>
          </a:xfrm>
          <a:prstGeom prst="round1Rect">
            <a:avLst>
              <a:gd name="adj" fmla="val 23087"/>
            </a:avLst>
          </a:prstGeom>
          <a:solidFill>
            <a:srgbClr val="8FAFE3"/>
          </a:solidFill>
          <a:ln/>
        </p:spPr>
        <p:txBody>
          <a:bodyPr/>
          <a:p/>
        </p:txBody>
      </p:sp>
      <p:sp>
        <p:nvSpPr>
          <p:cNvPr id="3" name="head card"/>
          <p:cNvSpPr/>
          <p:nvPr/>
        </p:nvSpPr>
        <p:spPr>
          <a:xfrm>
            <a:off x="548640" y="1075334"/>
            <a:ext cx="7086600" cy="983894"/>
          </a:xfrm>
          <a:prstGeom prst="round1Rect">
            <a:avLst>
              <a:gd name="adj" fmla="val 23087"/>
            </a:avLst>
          </a:prstGeom>
          <a:solidFill>
            <a:srgbClr val="FFFFFF"/>
          </a:solidFill>
          <a:ln/>
        </p:spPr>
        <p:txBody>
          <a:bodyPr/>
          <a:p/>
        </p:txBody>
      </p:sp>
      <p:sp>
        <p:nvSpPr>
          <p:cNvPr id="8" name="head1"/>
          <p:cNvSpPr/>
          <p:nvPr/>
        </p:nvSpPr>
        <p:spPr>
          <a:xfrm>
            <a:off x="777240" y="114300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Practice A</a:t>
            </a:r>
            <a:endParaRPr lang="en-US" sz="2000" dirty="0" b="1"/>
          </a:p>
        </p:txBody>
      </p:sp>
      <p:sp>
        <p:nvSpPr>
          <p:cNvPr id="9" name="head2"/>
          <p:cNvSpPr/>
          <p:nvPr/>
        </p:nvSpPr>
        <p:spPr>
          <a:xfrm>
            <a:off x="868680" y="154533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Write the correct form of the verb.</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Practice A</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Write the correct form of the verb.</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check your answers.</a:t>
            </a:r>
            <a:endParaRPr lang="en-US" sz="2000" dirty="0" b="1"/>
          </a:p>
        </p:txBody>
      </p:sp>
      <p:sp>
        <p:nvSpPr>
          <p:cNvPr id="31" name="R1 card"/>
          <p:cNvSpPr/>
          <p:nvPr/>
        </p:nvSpPr>
        <p:spPr>
          <a:xfrm>
            <a:off x="1583741" y="2123237"/>
            <a:ext cx="6035040" cy="655015"/>
          </a:xfrm>
          <a:prstGeom prst="round1Rect">
            <a:avLst>
              <a:gd name="adj" fmla="val 23087"/>
            </a:avLst>
          </a:prstGeom>
          <a:solidFill>
            <a:srgbClr val="FFFFFF"/>
          </a:solidFill>
          <a:ln/>
        </p:spPr>
        <p:txBody>
          <a:bodyPr/>
          <a:p/>
        </p:txBody>
      </p:sp>
      <p:sp>
        <p:nvSpPr>
          <p:cNvPr id="32" name="R1 chip"/>
          <p:cNvSpPr/>
          <p:nvPr/>
        </p:nvSpPr>
        <p:spPr>
          <a:xfrm>
            <a:off x="544982" y="2123237"/>
            <a:ext cx="1039673" cy="655015"/>
          </a:xfrm>
          <a:prstGeom prst="rect">
            <a:avLst/>
          </a:prstGeom>
          <a:solidFill>
            <a:srgbClr val="B9D2F7"/>
          </a:solidFill>
          <a:ln/>
        </p:spPr>
        <p:txBody>
          <a:bodyPr/>
          <a:p/>
        </p:txBody>
      </p:sp>
      <p:sp>
        <p:nvSpPr>
          <p:cNvPr id="33" name="R1 num"/>
          <p:cNvSpPr/>
          <p:nvPr/>
        </p:nvSpPr>
        <p:spPr>
          <a:xfrm>
            <a:off x="686714" y="2158136"/>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123237"/>
            <a:ext cx="404164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Would you mind ____ my plants? (water)</a:t>
            </a:r>
            <a:endParaRPr lang="en-US" sz="1600" dirty="0"/>
          </a:p>
        </p:txBody>
      </p:sp>
      <p:sp>
        <p:nvSpPr>
          <p:cNvPr id="35" name="R1 ans"/>
          <p:cNvSpPr/>
          <p:nvPr/>
        </p:nvSpPr>
        <p:spPr>
          <a:xfrm>
            <a:off x="5925312" y="2222144"/>
            <a:ext cx="16459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watering</a:t>
            </a:r>
            <a:endParaRPr lang="en-US" sz="2000" dirty="0" b="1"/>
          </a:p>
        </p:txBody>
      </p:sp>
      <p:sp>
        <p:nvSpPr>
          <p:cNvPr id="36" name="R2 card"/>
          <p:cNvSpPr/>
          <p:nvPr/>
        </p:nvSpPr>
        <p:spPr>
          <a:xfrm>
            <a:off x="1583741" y="2851404"/>
            <a:ext cx="6035040" cy="655015"/>
          </a:xfrm>
          <a:prstGeom prst="round1Rect">
            <a:avLst>
              <a:gd name="adj" fmla="val 23087"/>
            </a:avLst>
          </a:prstGeom>
          <a:solidFill>
            <a:srgbClr val="FFFFFF"/>
          </a:solidFill>
          <a:ln/>
        </p:spPr>
        <p:txBody>
          <a:bodyPr/>
          <a:p/>
        </p:txBody>
      </p:sp>
      <p:sp>
        <p:nvSpPr>
          <p:cNvPr id="37" name="R2 chip"/>
          <p:cNvSpPr/>
          <p:nvPr/>
        </p:nvSpPr>
        <p:spPr>
          <a:xfrm>
            <a:off x="544982" y="2851404"/>
            <a:ext cx="1039673" cy="655015"/>
          </a:xfrm>
          <a:prstGeom prst="rect">
            <a:avLst/>
          </a:prstGeom>
          <a:solidFill>
            <a:srgbClr val="B9D2F7"/>
          </a:solidFill>
          <a:ln/>
        </p:spPr>
        <p:txBody>
          <a:bodyPr/>
          <a:p/>
        </p:txBody>
      </p:sp>
      <p:sp>
        <p:nvSpPr>
          <p:cNvPr id="38" name="R2 num"/>
          <p:cNvSpPr/>
          <p:nvPr/>
        </p:nvSpPr>
        <p:spPr>
          <a:xfrm>
            <a:off x="686714" y="2886304"/>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2851404"/>
            <a:ext cx="404164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Do you mind if I ____ the window? (open)</a:t>
            </a:r>
            <a:endParaRPr lang="en-US" sz="1600" dirty="0"/>
          </a:p>
        </p:txBody>
      </p:sp>
      <p:sp>
        <p:nvSpPr>
          <p:cNvPr id="40" name="R2 ans"/>
          <p:cNvSpPr/>
          <p:nvPr/>
        </p:nvSpPr>
        <p:spPr>
          <a:xfrm>
            <a:off x="5925312" y="2950312"/>
            <a:ext cx="16459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open</a:t>
            </a:r>
            <a:endParaRPr lang="en-US" sz="2000" dirty="0" b="1"/>
          </a:p>
        </p:txBody>
      </p:sp>
      <p:sp>
        <p:nvSpPr>
          <p:cNvPr id="41" name="R3 card"/>
          <p:cNvSpPr/>
          <p:nvPr/>
        </p:nvSpPr>
        <p:spPr>
          <a:xfrm>
            <a:off x="1583741" y="3579571"/>
            <a:ext cx="6035040" cy="655015"/>
          </a:xfrm>
          <a:prstGeom prst="round1Rect">
            <a:avLst>
              <a:gd name="adj" fmla="val 23087"/>
            </a:avLst>
          </a:prstGeom>
          <a:solidFill>
            <a:srgbClr val="FFFFFF"/>
          </a:solidFill>
          <a:ln/>
        </p:spPr>
        <p:txBody>
          <a:bodyPr/>
          <a:p/>
        </p:txBody>
      </p:sp>
      <p:sp>
        <p:nvSpPr>
          <p:cNvPr id="42" name="R3 chip"/>
          <p:cNvSpPr/>
          <p:nvPr/>
        </p:nvSpPr>
        <p:spPr>
          <a:xfrm>
            <a:off x="544982" y="3579571"/>
            <a:ext cx="1039673" cy="655015"/>
          </a:xfrm>
          <a:prstGeom prst="rect">
            <a:avLst/>
          </a:prstGeom>
          <a:solidFill>
            <a:srgbClr val="B9D2F7"/>
          </a:solidFill>
          <a:ln/>
        </p:spPr>
        <p:txBody>
          <a:bodyPr/>
          <a:p/>
        </p:txBody>
      </p:sp>
      <p:sp>
        <p:nvSpPr>
          <p:cNvPr id="43" name="R3 num"/>
          <p:cNvSpPr/>
          <p:nvPr/>
        </p:nvSpPr>
        <p:spPr>
          <a:xfrm>
            <a:off x="686714" y="3614471"/>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579571"/>
            <a:ext cx="404164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Would you mind ____ the cat on Sunday? (feed)</a:t>
            </a:r>
            <a:endParaRPr lang="en-US" sz="1600" dirty="0"/>
          </a:p>
        </p:txBody>
      </p:sp>
      <p:sp>
        <p:nvSpPr>
          <p:cNvPr id="45" name="R3 ans"/>
          <p:cNvSpPr/>
          <p:nvPr/>
        </p:nvSpPr>
        <p:spPr>
          <a:xfrm>
            <a:off x="5925312" y="3678479"/>
            <a:ext cx="16459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feeding</a:t>
            </a:r>
            <a:endParaRPr lang="en-US" sz="2000" dirty="0" b="1"/>
          </a:p>
        </p:txBody>
      </p:sp>
      <p:sp>
        <p:nvSpPr>
          <p:cNvPr id="46" name="R4 card"/>
          <p:cNvSpPr/>
          <p:nvPr/>
        </p:nvSpPr>
        <p:spPr>
          <a:xfrm>
            <a:off x="1583741" y="4307738"/>
            <a:ext cx="6035040" cy="655015"/>
          </a:xfrm>
          <a:prstGeom prst="round1Rect">
            <a:avLst>
              <a:gd name="adj" fmla="val 23087"/>
            </a:avLst>
          </a:prstGeom>
          <a:solidFill>
            <a:srgbClr val="FFFFFF"/>
          </a:solidFill>
          <a:ln/>
        </p:spPr>
        <p:txBody>
          <a:bodyPr/>
          <a:p/>
        </p:txBody>
      </p:sp>
      <p:sp>
        <p:nvSpPr>
          <p:cNvPr id="47" name="R4 chip"/>
          <p:cNvSpPr/>
          <p:nvPr/>
        </p:nvSpPr>
        <p:spPr>
          <a:xfrm>
            <a:off x="544982" y="4307738"/>
            <a:ext cx="1039673" cy="655015"/>
          </a:xfrm>
          <a:prstGeom prst="rect">
            <a:avLst/>
          </a:prstGeom>
          <a:solidFill>
            <a:srgbClr val="B9D2F7"/>
          </a:solidFill>
          <a:ln/>
        </p:spPr>
        <p:txBody>
          <a:bodyPr/>
          <a:p/>
        </p:txBody>
      </p:sp>
      <p:sp>
        <p:nvSpPr>
          <p:cNvPr id="48" name="R4 num"/>
          <p:cNvSpPr/>
          <p:nvPr/>
        </p:nvSpPr>
        <p:spPr>
          <a:xfrm>
            <a:off x="686714" y="4342638"/>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307738"/>
            <a:ext cx="404164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Would you mind ____ shifts with me? (switch)</a:t>
            </a:r>
            <a:endParaRPr lang="en-US" sz="1600" dirty="0"/>
          </a:p>
        </p:txBody>
      </p:sp>
      <p:sp>
        <p:nvSpPr>
          <p:cNvPr id="50" name="R4 ans"/>
          <p:cNvSpPr/>
          <p:nvPr/>
        </p:nvSpPr>
        <p:spPr>
          <a:xfrm>
            <a:off x="5925312" y="4406646"/>
            <a:ext cx="16459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switching</a:t>
            </a:r>
            <a:endParaRPr lang="en-US" sz="2000" dirty="0" b="1"/>
          </a:p>
        </p:txBody>
      </p:sp>
      <p:sp>
        <p:nvSpPr>
          <p:cNvPr id="51" name="R5 card"/>
          <p:cNvSpPr/>
          <p:nvPr/>
        </p:nvSpPr>
        <p:spPr>
          <a:xfrm>
            <a:off x="1583741" y="5035906"/>
            <a:ext cx="6035040" cy="655015"/>
          </a:xfrm>
          <a:prstGeom prst="round1Rect">
            <a:avLst>
              <a:gd name="adj" fmla="val 23087"/>
            </a:avLst>
          </a:prstGeom>
          <a:solidFill>
            <a:srgbClr val="FFFFFF"/>
          </a:solidFill>
          <a:ln/>
        </p:spPr>
        <p:txBody>
          <a:bodyPr/>
          <a:p/>
        </p:txBody>
      </p:sp>
      <p:sp>
        <p:nvSpPr>
          <p:cNvPr id="52" name="R5 chip"/>
          <p:cNvSpPr/>
          <p:nvPr/>
        </p:nvSpPr>
        <p:spPr>
          <a:xfrm>
            <a:off x="544982" y="5035906"/>
            <a:ext cx="1039673" cy="655015"/>
          </a:xfrm>
          <a:prstGeom prst="rect">
            <a:avLst/>
          </a:prstGeom>
          <a:solidFill>
            <a:srgbClr val="B9D2F7"/>
          </a:solidFill>
          <a:ln/>
        </p:spPr>
        <p:txBody>
          <a:bodyPr/>
          <a:p/>
        </p:txBody>
      </p:sp>
      <p:sp>
        <p:nvSpPr>
          <p:cNvPr id="53" name="R5 num"/>
          <p:cNvSpPr/>
          <p:nvPr/>
        </p:nvSpPr>
        <p:spPr>
          <a:xfrm>
            <a:off x="686714" y="5070805"/>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035906"/>
            <a:ext cx="404164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Do you mind if I ____ your ladder? (borrow)</a:t>
            </a:r>
            <a:endParaRPr lang="en-US" sz="1600" dirty="0"/>
          </a:p>
        </p:txBody>
      </p:sp>
      <p:sp>
        <p:nvSpPr>
          <p:cNvPr id="55" name="R5 ans"/>
          <p:cNvSpPr/>
          <p:nvPr/>
        </p:nvSpPr>
        <p:spPr>
          <a:xfrm>
            <a:off x="5925312" y="5134813"/>
            <a:ext cx="16459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borrow</a:t>
            </a:r>
            <a:endParaRPr lang="en-US" sz="2000" dirty="0" b="1"/>
          </a:p>
        </p:txBody>
      </p:sp>
      <p:sp>
        <p:nvSpPr>
          <p:cNvPr id="56" name="R6 card"/>
          <p:cNvSpPr/>
          <p:nvPr/>
        </p:nvSpPr>
        <p:spPr>
          <a:xfrm>
            <a:off x="1583741" y="5764073"/>
            <a:ext cx="6035040" cy="655015"/>
          </a:xfrm>
          <a:prstGeom prst="round1Rect">
            <a:avLst>
              <a:gd name="adj" fmla="val 23087"/>
            </a:avLst>
          </a:prstGeom>
          <a:solidFill>
            <a:srgbClr val="FFFFFF"/>
          </a:solidFill>
          <a:ln/>
        </p:spPr>
        <p:txBody>
          <a:bodyPr/>
          <a:p/>
        </p:txBody>
      </p:sp>
      <p:sp>
        <p:nvSpPr>
          <p:cNvPr id="57" name="R6 chip"/>
          <p:cNvSpPr/>
          <p:nvPr/>
        </p:nvSpPr>
        <p:spPr>
          <a:xfrm>
            <a:off x="544982" y="5764073"/>
            <a:ext cx="1039673" cy="655015"/>
          </a:xfrm>
          <a:prstGeom prst="rect">
            <a:avLst/>
          </a:prstGeom>
          <a:solidFill>
            <a:srgbClr val="B9D2F7"/>
          </a:solidFill>
          <a:ln/>
        </p:spPr>
        <p:txBody>
          <a:bodyPr/>
          <a:p/>
        </p:txBody>
      </p:sp>
      <p:sp>
        <p:nvSpPr>
          <p:cNvPr id="58" name="R6 num"/>
          <p:cNvSpPr/>
          <p:nvPr/>
        </p:nvSpPr>
        <p:spPr>
          <a:xfrm>
            <a:off x="686714" y="5798972"/>
            <a:ext cx="1109167" cy="585216"/>
          </a:xfrm>
          <a:prstGeom prst="rect">
            <a:avLst/>
          </a:prstGeom>
          <a:noFill/>
          <a:ln/>
        </p:spPr>
        <p:txBody>
          <a:bodyPr wrap="square" rtlCol="0" anchor="ctr"/>
          <a:lstStyle/>
          <a:p>
            <a:pPr algn="ctr" indent="0" marL="0">
              <a:buNone/>
            </a:pPr>
            <a:r>
              <a:rPr lang="en-US" sz="3200" dirty="0" b="1"/>
              <a:t>6</a:t>
            </a:r>
            <a:endParaRPr lang="en-US" sz="3200" dirty="0" b="1"/>
          </a:p>
        </p:txBody>
      </p:sp>
      <p:sp>
        <p:nvSpPr>
          <p:cNvPr id="59" name="R6 text"/>
          <p:cNvSpPr/>
          <p:nvPr/>
        </p:nvSpPr>
        <p:spPr>
          <a:xfrm>
            <a:off x="1810512" y="5764073"/>
            <a:ext cx="4041648" cy="655015"/>
          </a:xfrm>
          <a:prstGeom prst="rect">
            <a:avLst/>
          </a:prstGeom>
          <a:noFill/>
          <a:ln/>
        </p:spPr>
        <p:txBody>
          <a:bodyPr wrap="square" rtlCol="0" anchor="ctr" tIns="0" bIns="0"/>
          <a:lstStyle/>
          <a:p>
            <a:pPr algn="l" indent="0" marL="0">
              <a:buNone/>
            </a:pPr>
            <a:r>
              <a:rPr lang="en-US" sz="1600" dirty="0">
                <a:solidFill>
                  <a:srgbClr val="1B2236"/>
                </a:solidFill>
                <a:latin typeface="Lexend Deca" pitchFamily="34" charset="0"/>
                <a:ea typeface="Lexend Deca" pitchFamily="34" charset="-122"/>
                <a:cs typeface="Lexend Deca" pitchFamily="34" charset="-120"/>
              </a:rPr>
              <a:t>Would you mind ____ my packages? (get)</a:t>
            </a:r>
            <a:endParaRPr lang="en-US" sz="1600" dirty="0"/>
          </a:p>
        </p:txBody>
      </p:sp>
      <p:sp>
        <p:nvSpPr>
          <p:cNvPr id="60" name="R6 ans"/>
          <p:cNvSpPr/>
          <p:nvPr/>
        </p:nvSpPr>
        <p:spPr>
          <a:xfrm>
            <a:off x="5925312" y="5862980"/>
            <a:ext cx="164592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getting</a:t>
            </a:r>
            <a:endParaRPr lang="en-US" sz="20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0"/>
                                        </p:tgtEl>
                                        <p:attrNameLst>
                                          <p:attrName>style.visibility</p:attrName>
                                        </p:attrNameLst>
                                      </p:cBhvr>
                                      <p:to>
                                        <p:strVal val="visible"/>
                                      </p:to>
                                    </p:set>
                                    <p:animEffect transition="in" filter="fade">
                                      <p:cBhvr>
                                        <p:cTn id="32"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name="L4:choice">
    <p:bg>
      <p:bgPr>
        <a:solidFill>
          <a:srgbClr val="F1F5FB"/>
        </a:solidFill>
      </p:bgPr>
    </p:bg>
    <p:spTree>
      <p:nvGrpSpPr>
        <p:cNvPr id="1" name=""/>
        <p:cNvGrpSpPr/>
        <p:nvPr/>
      </p:nvGrpSpPr>
      <p:grpSpPr/>
      <p:sp>
        <p:nvSpPr>
          <p:cNvPr id="2" name="Shape 0"/>
          <p:cNvSpPr/>
          <p:nvPr/>
        </p:nvSpPr>
        <p:spPr>
          <a:xfrm>
            <a:off x="164592" y="2980944"/>
            <a:ext cx="11582705" cy="3623767"/>
          </a:xfrm>
          <a:prstGeom prst="round1Rect">
            <a:avLst>
              <a:gd name="adj" fmla="val 23087"/>
            </a:avLst>
          </a:prstGeom>
          <a:solidFill>
            <a:srgbClr val="8FAFE3"/>
          </a:solidFill>
          <a:ln/>
        </p:spPr>
        <p:txBody>
          <a:bodyPr/>
          <a:p/>
        </p:txBody>
      </p:sp>
      <p:sp>
        <p:nvSpPr>
          <p:cNvPr id="3" name="Shape 1"/>
          <p:cNvSpPr/>
          <p:nvPr/>
        </p:nvSpPr>
        <p:spPr>
          <a:xfrm>
            <a:off x="233172" y="1137194"/>
            <a:ext cx="5607101" cy="1375258"/>
          </a:xfrm>
          <a:prstGeom prst="roundRect">
            <a:avLst>
              <a:gd name="adj" fmla="val 16667"/>
            </a:avLst>
          </a:prstGeom>
          <a:solidFill>
            <a:srgbClr val="8FAFE3"/>
          </a:solidFill>
          <a:ln/>
        </p:spPr>
        <p:txBody>
          <a:bodyPr/>
          <a:p/>
        </p:txBody>
      </p:sp>
      <p:sp>
        <p:nvSpPr>
          <p:cNvPr id="4" name="Shape 2"/>
          <p:cNvSpPr/>
          <p:nvPr/>
        </p:nvSpPr>
        <p:spPr>
          <a:xfrm>
            <a:off x="266090" y="1080821"/>
            <a:ext cx="5607101" cy="1375258"/>
          </a:xfrm>
          <a:prstGeom prst="roundRect">
            <a:avLst>
              <a:gd name="adj" fmla="val 16667"/>
            </a:avLst>
          </a:prstGeom>
          <a:solidFill>
            <a:srgbClr val="FFFFFF"/>
          </a:solidFill>
          <a:ln/>
        </p:spPr>
        <p:txBody>
          <a:bodyPr/>
          <a:p/>
        </p:txBody>
      </p:sp>
      <p:sp>
        <p:nvSpPr>
          <p:cNvPr id="5" name="Shape 3"/>
          <p:cNvSpPr/>
          <p:nvPr/>
        </p:nvSpPr>
        <p:spPr>
          <a:xfrm>
            <a:off x="0" y="2856586"/>
            <a:ext cx="11582705" cy="3623767"/>
          </a:xfrm>
          <a:prstGeom prst="round1Rect">
            <a:avLst>
              <a:gd name="adj" fmla="val 23087"/>
            </a:avLst>
          </a:prstGeom>
          <a:solidFill>
            <a:srgbClr val="B9D2F7"/>
          </a:solidFill>
          <a:ln/>
        </p:spPr>
        <p:txBody>
          <a:bodyPr/>
          <a:p/>
        </p:txBody>
      </p:sp>
      <p:sp>
        <p:nvSpPr>
          <p:cNvPr id="6" name="title"/>
          <p:cNvSpPr/>
          <p:nvPr/>
        </p:nvSpPr>
        <p:spPr>
          <a:xfrm>
            <a:off x="416052" y="1452067"/>
            <a:ext cx="5680253" cy="947318"/>
          </a:xfrm>
          <a:prstGeom prst="rect">
            <a:avLst/>
          </a:prstGeom>
          <a:noFill/>
          <a:ln/>
        </p:spPr>
        <p:txBody>
          <a:bodyPr wrap="square" lIns="50800" tIns="50800" rIns="50800" bIns="50800" rtlCol="0" anchor="ctr"/>
          <a:lstStyle/>
          <a:p>
            <a:pPr algn="l" indent="0" marL="0">
              <a:buNone/>
            </a:pPr>
            <a:r>
              <a:rPr lang="en-US" sz="4800" dirty="0" b="1">
                <a:solidFill>
                  <a:srgbClr val="1B2236"/>
                </a:solidFill>
                <a:latin typeface="Lexend Deca" pitchFamily="34" charset="0"/>
                <a:ea typeface="Lexend Deca" pitchFamily="34" charset="-122"/>
                <a:cs typeface="Lexend Deca" pitchFamily="34" charset="-120"/>
              </a:rPr>
              <a:t>Practice B</a:t>
            </a:r>
            <a:endParaRPr lang="en-US" sz="4800" dirty="0" b="1"/>
          </a:p>
        </p:txBody>
      </p:sp>
      <p:sp>
        <p:nvSpPr>
          <p:cNvPr id="7" name="instr"/>
          <p:cNvSpPr/>
          <p:nvPr/>
        </p:nvSpPr>
        <p:spPr>
          <a:xfrm>
            <a:off x="6745529" y="1234440"/>
            <a:ext cx="4754880" cy="1188720"/>
          </a:xfrm>
          <a:prstGeom prst="rect">
            <a:avLst/>
          </a:prstGeom>
          <a:noFill/>
          <a:ln/>
        </p:spPr>
        <p:txBody>
          <a:bodyPr wrap="square" rtlCol="0" anchor="ctr"/>
          <a:lstStyle/>
          <a:p>
            <a:pPr algn="l" indent="0" marL="0">
              <a:spcAft>
                <a:spcPts val="400"/>
              </a:spcAft>
              <a:buNone/>
            </a:pPr>
            <a:r>
              <a:rPr lang="en-US" sz="2000" dirty="0">
                <a:solidFill>
                  <a:srgbClr val="1B2236"/>
                </a:solidFill>
                <a:latin typeface="Lexend Deca" pitchFamily="34" charset="0"/>
                <a:ea typeface="Lexend Deca" pitchFamily="34" charset="-122"/>
                <a:cs typeface="Lexend Deca" pitchFamily="34" charset="-120"/>
              </a:rPr>
              <a:t>Circle the correct words.</a:t>
            </a:r>
            <a:endParaRPr lang="en-US" sz="2000" dirty="0"/>
          </a:p>
        </p:txBody>
      </p:sp>
      <p:sp>
        <p:nvSpPr>
          <p:cNvPr id="8" name="R1 stmt"/>
          <p:cNvSpPr/>
          <p:nvPr/>
        </p:nvSpPr>
        <p:spPr>
          <a:xfrm>
            <a:off x="502920" y="3108960"/>
            <a:ext cx="6080760" cy="475488"/>
          </a:xfrm>
          <a:prstGeom prst="rect">
            <a:avLst/>
          </a:prstGeom>
          <a:noFill/>
          <a:ln w="38100">
            <a:noFill/>
          </a:ln>
        </p:spPr>
        <p:txBody>
          <a:bodyPr wrap="square" lIns="73152" tIns="36576" rIns="73152" bIns="36576" rtlCol="0" anchor="ctr">
            <a:noAutofit/>
          </a:bodyP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1. Would you mind ____ my shift?</a:t>
            </a:r>
            <a:endParaRPr lang="en-US" sz="1600" dirty="0"/>
          </a:p>
        </p:txBody>
      </p:sp>
      <p:sp>
        <p:nvSpPr>
          <p:cNvPr id="9" name="R1 opt1"/>
          <p:cNvSpPr/>
          <p:nvPr/>
        </p:nvSpPr>
        <p:spPr>
          <a:xfrm>
            <a:off x="6766560" y="310896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covering</a:t>
            </a:r>
            <a:endParaRPr lang="en-US" sz="1500" dirty="0" b="1"/>
          </a:p>
        </p:txBody>
      </p:sp>
      <p:sp>
        <p:nvSpPr>
          <p:cNvPr id="10" name="R1 opt2"/>
          <p:cNvSpPr/>
          <p:nvPr/>
        </p:nvSpPr>
        <p:spPr>
          <a:xfrm>
            <a:off x="8961120" y="310896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to cover</a:t>
            </a:r>
            <a:endParaRPr lang="en-US" sz="1500" dirty="0" b="1"/>
          </a:p>
        </p:txBody>
      </p:sp>
      <p:sp>
        <p:nvSpPr>
          <p:cNvPr id="11" name="R1 circle"/>
          <p:cNvSpPr/>
          <p:nvPr/>
        </p:nvSpPr>
        <p:spPr>
          <a:xfrm>
            <a:off x="6638544" y="3054096"/>
            <a:ext cx="226771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2" name="R2 stmt"/>
          <p:cNvSpPr/>
          <p:nvPr/>
        </p:nvSpPr>
        <p:spPr>
          <a:xfrm>
            <a:off x="502920" y="3657600"/>
            <a:ext cx="6080760" cy="475488"/>
          </a:xfrm>
          <a:prstGeom prst="rect">
            <a:avLst/>
          </a:prstGeom>
          <a:noFill/>
          <a:ln w="38100">
            <a:noFill/>
          </a:ln>
        </p:spPr>
        <p:txBody>
          <a:bodyPr wrap="square" lIns="73152" tIns="36576" rIns="73152" bIns="36576" rtlCol="0" anchor="ctr">
            <a:noAutofit/>
          </a:bodyP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2. A: Would you mind helping me? B: ____ I'll help.</a:t>
            </a:r>
            <a:endParaRPr lang="en-US" sz="1600" dirty="0"/>
          </a:p>
        </p:txBody>
      </p:sp>
      <p:sp>
        <p:nvSpPr>
          <p:cNvPr id="13" name="R2 opt1"/>
          <p:cNvSpPr/>
          <p:nvPr/>
        </p:nvSpPr>
        <p:spPr>
          <a:xfrm>
            <a:off x="6766560" y="365760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No, not at all.</a:t>
            </a:r>
            <a:endParaRPr lang="en-US" sz="1500" dirty="0" b="1"/>
          </a:p>
        </p:txBody>
      </p:sp>
      <p:sp>
        <p:nvSpPr>
          <p:cNvPr id="14" name="R2 opt2"/>
          <p:cNvSpPr/>
          <p:nvPr/>
        </p:nvSpPr>
        <p:spPr>
          <a:xfrm>
            <a:off x="8961120" y="365760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Yes, I do.</a:t>
            </a:r>
            <a:endParaRPr lang="en-US" sz="1500" dirty="0" b="1"/>
          </a:p>
        </p:txBody>
      </p:sp>
      <p:sp>
        <p:nvSpPr>
          <p:cNvPr id="15" name="R2 circle"/>
          <p:cNvSpPr/>
          <p:nvPr/>
        </p:nvSpPr>
        <p:spPr>
          <a:xfrm>
            <a:off x="6638544" y="3602736"/>
            <a:ext cx="226771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16" name="R3 stmt"/>
          <p:cNvSpPr/>
          <p:nvPr/>
        </p:nvSpPr>
        <p:spPr>
          <a:xfrm>
            <a:off x="502920" y="4206240"/>
            <a:ext cx="6080760" cy="475488"/>
          </a:xfrm>
          <a:prstGeom prst="rect">
            <a:avLst/>
          </a:prstGeom>
          <a:noFill/>
          <a:ln w="38100">
            <a:noFill/>
          </a:ln>
        </p:spPr>
        <p:txBody>
          <a:bodyPr wrap="square" lIns="73152" tIns="36576" rIns="73152" bIns="36576" rtlCol="0" anchor="ctr">
            <a:noAutofit/>
          </a:bodyP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3. Do you mind if I ____ early?</a:t>
            </a:r>
            <a:endParaRPr lang="en-US" sz="1600" dirty="0"/>
          </a:p>
        </p:txBody>
      </p:sp>
      <p:sp>
        <p:nvSpPr>
          <p:cNvPr id="17" name="R3 opt1"/>
          <p:cNvSpPr/>
          <p:nvPr/>
        </p:nvSpPr>
        <p:spPr>
          <a:xfrm>
            <a:off x="6766560" y="420624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leave</a:t>
            </a:r>
            <a:endParaRPr lang="en-US" sz="1500" dirty="0" b="1"/>
          </a:p>
        </p:txBody>
      </p:sp>
      <p:sp>
        <p:nvSpPr>
          <p:cNvPr id="18" name="R3 opt2"/>
          <p:cNvSpPr/>
          <p:nvPr/>
        </p:nvSpPr>
        <p:spPr>
          <a:xfrm>
            <a:off x="8961120" y="420624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leaving</a:t>
            </a:r>
            <a:endParaRPr lang="en-US" sz="1500" dirty="0" b="1"/>
          </a:p>
        </p:txBody>
      </p:sp>
      <p:sp>
        <p:nvSpPr>
          <p:cNvPr id="19" name="R3 circle"/>
          <p:cNvSpPr/>
          <p:nvPr/>
        </p:nvSpPr>
        <p:spPr>
          <a:xfrm>
            <a:off x="6638544" y="4151376"/>
            <a:ext cx="226771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0" name="R4 stmt"/>
          <p:cNvSpPr/>
          <p:nvPr/>
        </p:nvSpPr>
        <p:spPr>
          <a:xfrm>
            <a:off x="502920" y="4754880"/>
            <a:ext cx="6080760" cy="475488"/>
          </a:xfrm>
          <a:prstGeom prst="rect">
            <a:avLst/>
          </a:prstGeom>
          <a:noFill/>
          <a:ln w="38100">
            <a:noFill/>
          </a:ln>
        </p:spPr>
        <p:txBody>
          <a:bodyPr wrap="square" lIns="73152" tIns="36576" rIns="73152" bIns="36576" rtlCol="0" anchor="ctr">
            <a:noAutofit/>
          </a:bodyP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4. Could I borrow your pen? I forgot ____.</a:t>
            </a:r>
            <a:endParaRPr lang="en-US" sz="1600" dirty="0"/>
          </a:p>
        </p:txBody>
      </p:sp>
      <p:sp>
        <p:nvSpPr>
          <p:cNvPr id="21" name="R4 opt1"/>
          <p:cNvSpPr/>
          <p:nvPr/>
        </p:nvSpPr>
        <p:spPr>
          <a:xfrm>
            <a:off x="6766560" y="475488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mine</a:t>
            </a:r>
            <a:endParaRPr lang="en-US" sz="1500" dirty="0" b="1"/>
          </a:p>
        </p:txBody>
      </p:sp>
      <p:sp>
        <p:nvSpPr>
          <p:cNvPr id="22" name="R4 opt2"/>
          <p:cNvSpPr/>
          <p:nvPr/>
        </p:nvSpPr>
        <p:spPr>
          <a:xfrm>
            <a:off x="8961120" y="475488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my</a:t>
            </a:r>
            <a:endParaRPr lang="en-US" sz="1500" dirty="0" b="1"/>
          </a:p>
        </p:txBody>
      </p:sp>
      <p:sp>
        <p:nvSpPr>
          <p:cNvPr id="23" name="R4 circle"/>
          <p:cNvSpPr/>
          <p:nvPr/>
        </p:nvSpPr>
        <p:spPr>
          <a:xfrm>
            <a:off x="6638544" y="4700016"/>
            <a:ext cx="226771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4" name="R5 stmt"/>
          <p:cNvSpPr/>
          <p:nvPr/>
        </p:nvSpPr>
        <p:spPr>
          <a:xfrm>
            <a:off x="502920" y="5303520"/>
            <a:ext cx="6080760" cy="475488"/>
          </a:xfrm>
          <a:prstGeom prst="rect">
            <a:avLst/>
          </a:prstGeom>
          <a:noFill/>
          <a:ln w="38100">
            <a:noFill/>
          </a:ln>
        </p:spPr>
        <p:txBody>
          <a:bodyPr wrap="square" lIns="73152" tIns="36576" rIns="73152" bIns="36576" rtlCol="0" anchor="ctr">
            <a:noAutofit/>
          </a:bodyP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5. Sorry, I can't. I ____ away.</a:t>
            </a:r>
            <a:endParaRPr lang="en-US" sz="1600" dirty="0"/>
          </a:p>
        </p:txBody>
      </p:sp>
      <p:sp>
        <p:nvSpPr>
          <p:cNvPr id="25" name="R5 opt1"/>
          <p:cNvSpPr/>
          <p:nvPr/>
        </p:nvSpPr>
        <p:spPr>
          <a:xfrm>
            <a:off x="6766560" y="530352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'll be</a:t>
            </a:r>
            <a:endParaRPr lang="en-US" sz="1500" dirty="0" b="1"/>
          </a:p>
        </p:txBody>
      </p:sp>
      <p:sp>
        <p:nvSpPr>
          <p:cNvPr id="26" name="R5 opt2"/>
          <p:cNvSpPr/>
          <p:nvPr/>
        </p:nvSpPr>
        <p:spPr>
          <a:xfrm>
            <a:off x="8961120" y="530352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be</a:t>
            </a:r>
            <a:endParaRPr lang="en-US" sz="1500" dirty="0" b="1"/>
          </a:p>
        </p:txBody>
      </p:sp>
      <p:sp>
        <p:nvSpPr>
          <p:cNvPr id="27" name="R5 circle"/>
          <p:cNvSpPr/>
          <p:nvPr/>
        </p:nvSpPr>
        <p:spPr>
          <a:xfrm>
            <a:off x="6638544" y="5248656"/>
            <a:ext cx="226771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
        <p:nvSpPr>
          <p:cNvPr id="28" name="R6 stmt"/>
          <p:cNvSpPr/>
          <p:nvPr/>
        </p:nvSpPr>
        <p:spPr>
          <a:xfrm>
            <a:off x="502920" y="5852160"/>
            <a:ext cx="6080760" cy="475488"/>
          </a:xfrm>
          <a:prstGeom prst="rect">
            <a:avLst/>
          </a:prstGeom>
          <a:noFill/>
          <a:ln w="38100">
            <a:noFill/>
          </a:ln>
        </p:spPr>
        <p:txBody>
          <a:bodyPr wrap="square" lIns="73152" tIns="36576" rIns="73152" bIns="36576" rtlCol="0" anchor="ctr">
            <a:noAutofit/>
          </a:bodyPr>
          <a:lstStyle/>
          <a:p>
            <a:pPr algn="l" indent="0" marL="0">
              <a:buNone/>
            </a:pPr>
            <a:r>
              <a:rPr lang="en-US" sz="1600" dirty="0">
                <a:solidFill>
                  <a:srgbClr val="1B2236"/>
                </a:solidFill>
                <a:latin typeface="Lexend Deca" pitchFamily="34" charset="0"/>
                <a:ea typeface="Lexend Deca" pitchFamily="34" charset="-122"/>
                <a:cs typeface="Lexend Deca" pitchFamily="34" charset="-120"/>
              </a:rPr>
              <a:t>6. I'd like ____ my Friday shift.</a:t>
            </a:r>
            <a:endParaRPr lang="en-US" sz="1600" dirty="0"/>
          </a:p>
        </p:txBody>
      </p:sp>
      <p:sp>
        <p:nvSpPr>
          <p:cNvPr id="29" name="R6 opt1"/>
          <p:cNvSpPr/>
          <p:nvPr/>
        </p:nvSpPr>
        <p:spPr>
          <a:xfrm>
            <a:off x="6766560" y="585216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to switch</a:t>
            </a:r>
            <a:endParaRPr lang="en-US" sz="1500" dirty="0" b="1"/>
          </a:p>
        </p:txBody>
      </p:sp>
      <p:sp>
        <p:nvSpPr>
          <p:cNvPr id="30" name="R6 opt2"/>
          <p:cNvSpPr/>
          <p:nvPr/>
        </p:nvSpPr>
        <p:spPr>
          <a:xfrm>
            <a:off x="8961120" y="5852160"/>
            <a:ext cx="2011680" cy="475488"/>
          </a:xfrm>
          <a:prstGeom prst="roundRect">
            <a:avLst>
              <a:gd name="adj" fmla="val 22000"/>
            </a:avLst>
          </a:prstGeom>
          <a:solidFill>
            <a:srgbClr val="FFFFFF"/>
          </a:solidFill>
          <a:ln w="38100">
            <a:noFill/>
          </a:ln>
        </p:spPr>
        <p:txBody>
          <a:bodyPr wrap="square" lIns="73152" tIns="36576" rIns="73152" bIns="36576" rtlCol="0" anchor="ctr">
            <a:noAutofit/>
          </a:bodyPr>
          <a:lstStyle/>
          <a:p>
            <a:pPr algn="ctr" indent="0" marL="0">
              <a:buNone/>
            </a:pPr>
            <a:r>
              <a:rPr lang="en-US" sz="1500" dirty="0" b="1">
                <a:solidFill>
                  <a:srgbClr val="1B2236"/>
                </a:solidFill>
                <a:latin typeface="Lexend Deca" pitchFamily="34" charset="0"/>
                <a:ea typeface="Lexend Deca" pitchFamily="34" charset="-122"/>
                <a:cs typeface="Lexend Deca" pitchFamily="34" charset="-120"/>
              </a:rPr>
              <a:t>switching</a:t>
            </a:r>
            <a:endParaRPr lang="en-US" sz="1500" dirty="0" b="1"/>
          </a:p>
        </p:txBody>
      </p:sp>
      <p:sp>
        <p:nvSpPr>
          <p:cNvPr id="31" name="R6 circle"/>
          <p:cNvSpPr/>
          <p:nvPr/>
        </p:nvSpPr>
        <p:spPr>
          <a:xfrm>
            <a:off x="6638544" y="5797296"/>
            <a:ext cx="2267712" cy="585216"/>
          </a:xfrm>
          <a:prstGeom prst="ellipse">
            <a:avLst/>
          </a:prstGeom>
          <a:noFill/>
          <a:ln w="50800">
            <a:solidFill>
              <a:srgbClr val="5B3FC4"/>
            </a:solidFill>
          </a:ln>
        </p:spPr>
        <p:txBody>
          <a:bodyPr wrap="square" lIns="73152" tIns="36576" rIns="73152"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4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name="L4:mistakes">
    <p:bg>
      <p:bgPr>
        <a:solidFill>
          <a:srgbClr val="F1F5FB"/>
        </a:solidFill>
      </p:bgPr>
    </p:bg>
    <p:spTree>
      <p:nvGrpSpPr>
        <p:cNvPr id="1" name=""/>
        <p:cNvGrpSpPr/>
        <p:nvPr/>
      </p:nvGrpSpPr>
      <p:grpSpPr/>
      <p:sp>
        <p:nvSpPr>
          <p:cNvPr id="2" name="Shape 0"/>
          <p:cNvSpPr/>
          <p:nvPr/>
        </p:nvSpPr>
        <p:spPr>
          <a:xfrm flipH="1" flipV="1">
            <a:off x="8060436" y="1132027"/>
            <a:ext cx="4274820" cy="5860390"/>
          </a:xfrm>
          <a:prstGeom prst="round1Rect">
            <a:avLst>
              <a:gd name="adj" fmla="val 23087"/>
            </a:avLst>
          </a:prstGeom>
          <a:solidFill>
            <a:srgbClr val="B9D2F7"/>
          </a:solidFill>
          <a:ln w="76200">
            <a:solidFill>
              <a:srgbClr val="FFFFFF"/>
            </a:solidFill>
            <a:prstDash val="solid"/>
          </a:ln>
        </p:spPr>
        <p:txBody>
          <a:bodyPr/>
          <a:p/>
        </p:txBody>
      </p:sp>
      <p:sp>
        <p:nvSpPr>
          <p:cNvPr id="3" name="Shape 1"/>
          <p:cNvSpPr/>
          <p:nvPr/>
        </p:nvSpPr>
        <p:spPr>
          <a:xfrm>
            <a:off x="10442448" y="1188720"/>
            <a:ext cx="1691640" cy="1371600"/>
          </a:xfrm>
          <a:prstGeom prst="rect">
            <a:avLst/>
          </a:prstGeom>
          <a:solidFill>
            <a:srgbClr val="B9D2F7"/>
          </a:solidFill>
          <a:ln/>
        </p:spPr>
        <p:txBody>
          <a:bodyPr/>
          <a:p/>
        </p:txBody>
      </p:sp>
      <p:sp>
        <p:nvSpPr>
          <p:cNvPr id="5" name="Shape 3"/>
          <p:cNvSpPr/>
          <p:nvPr/>
        </p:nvSpPr>
        <p:spPr>
          <a:xfrm flipH="1">
            <a:off x="501091" y="2020824"/>
            <a:ext cx="3543300" cy="4709160"/>
          </a:xfrm>
          <a:prstGeom prst="round1Rect">
            <a:avLst>
              <a:gd name="adj" fmla="val 23087"/>
            </a:avLst>
          </a:prstGeom>
          <a:solidFill>
            <a:srgbClr val="8FAFE3"/>
          </a:solidFill>
          <a:ln/>
        </p:spPr>
        <p:txBody>
          <a:bodyPr/>
          <a:p/>
        </p:txBody>
      </p:sp>
      <p:sp>
        <p:nvSpPr>
          <p:cNvPr id="6" name="Shape 4"/>
          <p:cNvSpPr/>
          <p:nvPr/>
        </p:nvSpPr>
        <p:spPr>
          <a:xfrm flipH="1">
            <a:off x="4388206" y="2020824"/>
            <a:ext cx="5860390" cy="4709160"/>
          </a:xfrm>
          <a:prstGeom prst="round1Rect">
            <a:avLst>
              <a:gd name="adj" fmla="val 23087"/>
            </a:avLst>
          </a:prstGeom>
          <a:solidFill>
            <a:srgbClr val="8FAFE3"/>
          </a:solidFill>
          <a:ln/>
        </p:spPr>
        <p:txBody>
          <a:bodyPr/>
          <a:p/>
        </p:txBody>
      </p:sp>
      <p:sp>
        <p:nvSpPr>
          <p:cNvPr id="7" name="Shape 5"/>
          <p:cNvSpPr/>
          <p:nvPr/>
        </p:nvSpPr>
        <p:spPr>
          <a:xfrm>
            <a:off x="479328" y="457200"/>
            <a:ext cx="7295083" cy="1143000"/>
          </a:xfrm>
          <a:prstGeom prst="roundRect">
            <a:avLst>
              <a:gd name="adj" fmla="val 16667"/>
            </a:avLst>
          </a:prstGeom>
          <a:solidFill>
            <a:srgbClr val="8FAFE3"/>
          </a:solidFill>
          <a:ln/>
        </p:spPr>
        <p:txBody>
          <a:bodyPr/>
          <a:p/>
        </p:txBody>
      </p:sp>
      <p:sp>
        <p:nvSpPr>
          <p:cNvPr id="8" name="Shape 6"/>
          <p:cNvSpPr/>
          <p:nvPr/>
        </p:nvSpPr>
        <p:spPr>
          <a:xfrm>
            <a:off x="522122" y="393192"/>
            <a:ext cx="7295083" cy="1143000"/>
          </a:xfrm>
          <a:prstGeom prst="roundRect">
            <a:avLst>
              <a:gd name="adj" fmla="val 16667"/>
            </a:avLst>
          </a:prstGeom>
          <a:solidFill>
            <a:srgbClr val="FFFFFF"/>
          </a:solidFill>
          <a:ln/>
        </p:spPr>
        <p:txBody>
          <a:bodyPr/>
          <a:p/>
        </p:txBody>
      </p:sp>
      <p:sp>
        <p:nvSpPr>
          <p:cNvPr id="9" name="Shape 7"/>
          <p:cNvSpPr/>
          <p:nvPr/>
        </p:nvSpPr>
        <p:spPr>
          <a:xfrm flipH="1">
            <a:off x="658368" y="1828800"/>
            <a:ext cx="3610966" cy="4709160"/>
          </a:xfrm>
          <a:prstGeom prst="round1Rect">
            <a:avLst>
              <a:gd name="adj" fmla="val 23087"/>
            </a:avLst>
          </a:prstGeom>
          <a:solidFill>
            <a:srgbClr val="FFFFFF"/>
          </a:solidFill>
          <a:ln/>
        </p:spPr>
        <p:txBody>
          <a:bodyPr/>
          <a:p/>
        </p:txBody>
      </p:sp>
      <p:sp>
        <p:nvSpPr>
          <p:cNvPr id="10" name="Shape 8"/>
          <p:cNvSpPr/>
          <p:nvPr/>
        </p:nvSpPr>
        <p:spPr>
          <a:xfrm flipH="1">
            <a:off x="4519879" y="1828800"/>
            <a:ext cx="5860390" cy="4709160"/>
          </a:xfrm>
          <a:prstGeom prst="round1Rect">
            <a:avLst>
              <a:gd name="adj" fmla="val 23087"/>
            </a:avLst>
          </a:prstGeom>
          <a:solidFill>
            <a:srgbClr val="FFFFFF"/>
          </a:solidFill>
          <a:ln/>
        </p:spPr>
        <p:txBody>
          <a:bodyPr/>
          <a:p/>
        </p:txBody>
      </p:sp>
      <p:sp>
        <p:nvSpPr>
          <p:cNvPr id="11" name="title"/>
          <p:cNvSpPr/>
          <p:nvPr/>
        </p:nvSpPr>
        <p:spPr>
          <a:xfrm>
            <a:off x="608076" y="457200"/>
            <a:ext cx="6949440" cy="1005840"/>
          </a:xfrm>
          <a:prstGeom prst="rect">
            <a:avLst/>
          </a:prstGeom>
          <a:noFill/>
          <a:ln/>
        </p:spPr>
        <p:txBody>
          <a:bodyPr wrap="square" rtlCol="0" anchor="ctr"/>
          <a:lstStyle/>
          <a:p>
            <a:pPr algn="l" indent="0" marL="0">
              <a:buNone/>
            </a:pPr>
            <a:r>
              <a:rPr lang="en-US" sz="4300" dirty="0" b="1">
                <a:solidFill>
                  <a:srgbClr val="1B2236"/>
                </a:solidFill>
                <a:latin typeface="Lexend Deca" pitchFamily="34" charset="0"/>
                <a:ea typeface="Lexend Deca" pitchFamily="34" charset="-122"/>
                <a:cs typeface="Lexend Deca" pitchFamily="34" charset="-120"/>
              </a:rPr>
              <a:t>Common Mistakes</a:t>
            </a:r>
            <a:endParaRPr lang="en-US" sz="4300" dirty="0" b="1"/>
          </a:p>
        </p:txBody>
      </p:sp>
      <p:pic>
        <p:nvPicPr>
          <p:cNvPr id="21" name="pic" descr="Borrow: a ladder [sign: BORROW]"/>
          <p:cNvPicPr>
            <a:picLocks noChangeAspect="1"/>
          </p:cNvPicPr>
          <p:nvPr/>
        </p:nvPicPr>
        <p:blipFill>
          <a:blip r:embed="rId3"/>
          <a:stretch>
            <a:fillRect/>
          </a:stretch>
        </p:blipFill>
        <p:spPr>
          <a:xfrm>
            <a:off x="10515600" y="1325880"/>
            <a:ext cx="1554480" cy="1088136"/>
          </a:xfrm>
          <a:prstGeom prst="rect">
            <a:avLst/>
          </a:prstGeom>
        </p:spPr>
      </p:pic>
      <p:sp>
        <p:nvSpPr>
          <p:cNvPr id="22" name="Dont head"/>
          <p:cNvSpPr/>
          <p:nvPr/>
        </p:nvSpPr>
        <p:spPr>
          <a:xfrm>
            <a:off x="914400" y="1938528"/>
            <a:ext cx="310896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B42318"/>
                </a:solidFill>
                <a:latin typeface="Lexend Deca" pitchFamily="34" charset="0"/>
                <a:ea typeface="Lexend Deca" pitchFamily="34" charset="-122"/>
                <a:cs typeface="Lexend Deca" pitchFamily="34" charset="-120"/>
              </a:rPr>
              <a:t>Don't say</a:t>
            </a:r>
            <a:endParaRPr lang="en-US" sz="2200" dirty="0"/>
          </a:p>
        </p:txBody>
      </p:sp>
      <p:sp>
        <p:nvSpPr>
          <p:cNvPr id="23" name="Say head"/>
          <p:cNvSpPr/>
          <p:nvPr/>
        </p:nvSpPr>
        <p:spPr>
          <a:xfrm>
            <a:off x="4800600" y="1938528"/>
            <a:ext cx="5303520" cy="50292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E6B45"/>
                </a:solidFill>
                <a:latin typeface="Lexend Deca" pitchFamily="34" charset="0"/>
                <a:ea typeface="Lexend Deca" pitchFamily="34" charset="-122"/>
                <a:cs typeface="Lexend Deca" pitchFamily="34" charset="-120"/>
              </a:rPr>
              <a:t>Say</a:t>
            </a:r>
            <a:endParaRPr lang="en-US" sz="2200" dirty="0"/>
          </a:p>
        </p:txBody>
      </p:sp>
      <p:sp>
        <p:nvSpPr>
          <p:cNvPr id="24" name="Bad 1"/>
          <p:cNvSpPr/>
          <p:nvPr/>
        </p:nvSpPr>
        <p:spPr>
          <a:xfrm>
            <a:off x="914400" y="2468880"/>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Would you mind to get my mail?</a:t>
            </a:r>
            <a:endParaRPr lang="en-US" sz="1700" dirty="0"/>
          </a:p>
        </p:txBody>
      </p:sp>
      <p:sp>
        <p:nvSpPr>
          <p:cNvPr id="25" name="Good 1"/>
          <p:cNvSpPr/>
          <p:nvPr/>
        </p:nvSpPr>
        <p:spPr>
          <a:xfrm>
            <a:off x="4800600" y="2468880"/>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Would you mind </a:t>
            </a:r>
            <a:r>
              <a:rPr lang="en-US" sz="1700" dirty="0" b="1">
                <a:solidFill>
                  <a:srgbClr val="1B2236"/>
                </a:solidFill>
                <a:latin typeface="Lexend Deca" pitchFamily="34" charset="0"/>
                <a:ea typeface="Lexend Deca" pitchFamily="34" charset="-122"/>
                <a:cs typeface="Lexend Deca" pitchFamily="34" charset="-120"/>
              </a:rPr>
              <a:t>getting</a:t>
            </a:r>
            <a:r>
              <a:rPr lang="en-US" sz="1700" dirty="0" b="1">
                <a:solidFill>
                  <a:srgbClr val="1B2236"/>
                </a:solidFill>
                <a:latin typeface="Lexend Deca" pitchFamily="34" charset="0"/>
                <a:ea typeface="Lexend Deca" pitchFamily="34" charset="-122"/>
                <a:cs typeface="Lexend Deca" pitchFamily="34" charset="-120"/>
              </a:rPr>
              <a:t> my mail?</a:t>
            </a:r>
            <a:endParaRPr lang="en-US" sz="1700" dirty="0" b="1"/>
          </a:p>
        </p:txBody>
      </p:sp>
      <p:sp>
        <p:nvSpPr>
          <p:cNvPr id="26" name="Bad 2"/>
          <p:cNvSpPr/>
          <p:nvPr/>
        </p:nvSpPr>
        <p:spPr>
          <a:xfrm>
            <a:off x="914400" y="3035808"/>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Yes, I mind. I'll help you.</a:t>
            </a:r>
            <a:endParaRPr lang="en-US" sz="1700" dirty="0"/>
          </a:p>
        </p:txBody>
      </p:sp>
      <p:sp>
        <p:nvSpPr>
          <p:cNvPr id="27" name="Good 2"/>
          <p:cNvSpPr/>
          <p:nvPr/>
        </p:nvSpPr>
        <p:spPr>
          <a:xfrm>
            <a:off x="4800600" y="3035808"/>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No, not at all.</a:t>
            </a:r>
            <a:r>
              <a:rPr lang="en-US" sz="1700" dirty="0" b="1">
                <a:solidFill>
                  <a:srgbClr val="1B2236"/>
                </a:solidFill>
                <a:latin typeface="Lexend Deca" pitchFamily="34" charset="0"/>
                <a:ea typeface="Lexend Deca" pitchFamily="34" charset="-122"/>
                <a:cs typeface="Lexend Deca" pitchFamily="34" charset="-120"/>
              </a:rPr>
              <a:t> I'll help you.</a:t>
            </a:r>
            <a:endParaRPr lang="en-US" sz="1700" dirty="0" b="1"/>
          </a:p>
        </p:txBody>
      </p:sp>
      <p:sp>
        <p:nvSpPr>
          <p:cNvPr id="28" name="Bad 3"/>
          <p:cNvSpPr/>
          <p:nvPr/>
        </p:nvSpPr>
        <p:spPr>
          <a:xfrm>
            <a:off x="914400" y="3602736"/>
            <a:ext cx="3246120" cy="77724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Do you mind if I using your phone?</a:t>
            </a:r>
            <a:endParaRPr lang="en-US" sz="1700" dirty="0"/>
          </a:p>
        </p:txBody>
      </p:sp>
      <p:sp>
        <p:nvSpPr>
          <p:cNvPr id="29" name="Good 3"/>
          <p:cNvSpPr/>
          <p:nvPr/>
        </p:nvSpPr>
        <p:spPr>
          <a:xfrm>
            <a:off x="4800600" y="3602736"/>
            <a:ext cx="5394960" cy="77724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Do you mind if I </a:t>
            </a:r>
            <a:r>
              <a:rPr lang="en-US" sz="1700" dirty="0" b="1">
                <a:solidFill>
                  <a:srgbClr val="1B2236"/>
                </a:solidFill>
                <a:latin typeface="Lexend Deca" pitchFamily="34" charset="0"/>
                <a:ea typeface="Lexend Deca" pitchFamily="34" charset="-122"/>
                <a:cs typeface="Lexend Deca" pitchFamily="34" charset="-120"/>
              </a:rPr>
              <a:t>use</a:t>
            </a:r>
            <a:r>
              <a:rPr lang="en-US" sz="1700" dirty="0" b="1">
                <a:solidFill>
                  <a:srgbClr val="1B2236"/>
                </a:solidFill>
                <a:latin typeface="Lexend Deca" pitchFamily="34" charset="0"/>
                <a:ea typeface="Lexend Deca" pitchFamily="34" charset="-122"/>
                <a:cs typeface="Lexend Deca" pitchFamily="34" charset="-120"/>
              </a:rPr>
              <a:t> your phone?</a:t>
            </a:r>
            <a:endParaRPr lang="en-US" sz="1700" dirty="0" b="1"/>
          </a:p>
        </p:txBody>
      </p:sp>
      <p:sp>
        <p:nvSpPr>
          <p:cNvPr id="30" name="Bad 4"/>
          <p:cNvSpPr/>
          <p:nvPr/>
        </p:nvSpPr>
        <p:spPr>
          <a:xfrm>
            <a:off x="914400" y="4443984"/>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Can I borrow your?</a:t>
            </a:r>
            <a:endParaRPr lang="en-US" sz="1700" dirty="0"/>
          </a:p>
        </p:txBody>
      </p:sp>
      <p:sp>
        <p:nvSpPr>
          <p:cNvPr id="31" name="Good 4"/>
          <p:cNvSpPr/>
          <p:nvPr/>
        </p:nvSpPr>
        <p:spPr>
          <a:xfrm>
            <a:off x="4800600" y="4443984"/>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Can I borrow </a:t>
            </a:r>
            <a:r>
              <a:rPr lang="en-US" sz="1700" dirty="0" b="1">
                <a:solidFill>
                  <a:srgbClr val="1B2236"/>
                </a:solidFill>
                <a:latin typeface="Lexend Deca" pitchFamily="34" charset="0"/>
                <a:ea typeface="Lexend Deca" pitchFamily="34" charset="-122"/>
                <a:cs typeface="Lexend Deca" pitchFamily="34" charset="-120"/>
              </a:rPr>
              <a:t>yours</a:t>
            </a:r>
            <a:r>
              <a:rPr lang="en-US" sz="1700" dirty="0" b="1">
                <a:solidFill>
                  <a:srgbClr val="1B2236"/>
                </a:solidFill>
                <a:latin typeface="Lexend Deca" pitchFamily="34" charset="0"/>
                <a:ea typeface="Lexend Deca" pitchFamily="34" charset="-122"/>
                <a:cs typeface="Lexend Deca" pitchFamily="34" charset="-120"/>
              </a:rPr>
              <a:t>?</a:t>
            </a:r>
            <a:endParaRPr lang="en-US" sz="1700" dirty="0" b="1"/>
          </a:p>
        </p:txBody>
      </p:sp>
      <p:sp>
        <p:nvSpPr>
          <p:cNvPr id="32" name="Bad 5"/>
          <p:cNvSpPr/>
          <p:nvPr/>
        </p:nvSpPr>
        <p:spPr>
          <a:xfrm>
            <a:off x="914400" y="5010912"/>
            <a:ext cx="3246120" cy="502920"/>
          </a:xfrm>
          <a:prstGeom prst="rect">
            <a:avLst/>
          </a:prstGeom>
          <a:noFill/>
          <a:ln w="38100">
            <a:noFill/>
          </a:ln>
        </p:spPr>
        <p:txBody>
          <a:bodyPr wrap="square" lIns="73152" tIns="36576" rIns="73152" bIns="36576" rtlCol="0" anchor="ctr">
            <a:noAutofit/>
          </a:bodyPr>
          <a:lstStyle/>
          <a:p>
            <a:pPr algn="l" indent="0" marL="0">
              <a:buNone/>
            </a:pPr>
            <a:r>
              <a:rPr lang="en-US" sz="1700" dirty="0">
                <a:solidFill>
                  <a:srgbClr val="1B2236"/>
                </a:solidFill>
                <a:latin typeface="Lexend Deca" pitchFamily="34" charset="0"/>
                <a:ea typeface="Lexend Deca" pitchFamily="34" charset="-122"/>
                <a:cs typeface="Lexend Deca" pitchFamily="34" charset="-120"/>
              </a:rPr>
              <a:t>I like to switch my shift.</a:t>
            </a:r>
            <a:endParaRPr lang="en-US" sz="1700" dirty="0"/>
          </a:p>
        </p:txBody>
      </p:sp>
      <p:sp>
        <p:nvSpPr>
          <p:cNvPr id="33" name="Good 5"/>
          <p:cNvSpPr/>
          <p:nvPr/>
        </p:nvSpPr>
        <p:spPr>
          <a:xfrm>
            <a:off x="4800600" y="5010912"/>
            <a:ext cx="5394960" cy="50292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I</a:t>
            </a:r>
            <a:r>
              <a:rPr lang="en-US" sz="1700" dirty="0" b="1">
                <a:solidFill>
                  <a:srgbClr val="1B2236"/>
                </a:solidFill>
                <a:latin typeface="Lexend Deca" pitchFamily="34" charset="0"/>
                <a:ea typeface="Lexend Deca" pitchFamily="34" charset="-122"/>
                <a:cs typeface="Lexend Deca" pitchFamily="34" charset="-120"/>
              </a:rPr>
              <a:t>'d</a:t>
            </a:r>
            <a:r>
              <a:rPr lang="en-US" sz="1700" dirty="0" b="1">
                <a:solidFill>
                  <a:srgbClr val="1B2236"/>
                </a:solidFill>
                <a:latin typeface="Lexend Deca" pitchFamily="34" charset="0"/>
                <a:ea typeface="Lexend Deca" pitchFamily="34" charset="-122"/>
                <a:cs typeface="Lexend Deca" pitchFamily="34" charset="-120"/>
              </a:rPr>
              <a:t> like to switch my shift.</a:t>
            </a:r>
            <a:endParaRPr lang="en-US" sz="17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name="L4:drill">
    <p:bg>
      <p:bgPr>
        <a:solidFill>
          <a:srgbClr val="F1F5FB"/>
        </a:solidFill>
      </p:bgPr>
    </p:bg>
    <p:spTree>
      <p:nvGrpSpPr>
        <p:cNvPr id="1" name=""/>
        <p:cNvGrpSpPr/>
        <p:nvPr/>
      </p:nvGrpSpPr>
      <p:grpSpPr/>
      <p:pic>
        <p:nvPicPr>
          <p:cNvPr id="26" name="pic" descr="Package: a package"/>
          <p:cNvPicPr>
            <a:picLocks noChangeAspect="1"/>
          </p:cNvPicPr>
          <p:nvPr/>
        </p:nvPicPr>
        <p:blipFill>
          <a:blip r:embed="rId3"/>
          <a:stretch>
            <a:fillRect/>
          </a:stretch>
        </p:blipFill>
        <p:spPr>
          <a:xfrm>
            <a:off x="1274739" y="3680460"/>
            <a:ext cx="3449901" cy="2414930"/>
          </a:xfrm>
          <a:prstGeom prst="rect">
            <a:avLst/>
          </a:prstGeom>
        </p:spPr>
      </p:pic>
      <p:sp>
        <p:nvSpPr>
          <p:cNvPr id="4" name="Shape 2"/>
          <p:cNvSpPr/>
          <p:nvPr/>
        </p:nvSpPr>
        <p:spPr>
          <a:xfrm>
            <a:off x="560984" y="1342842"/>
            <a:ext cx="4912157" cy="1595628"/>
          </a:xfrm>
          <a:prstGeom prst="roundRect">
            <a:avLst>
              <a:gd name="adj" fmla="val 16667"/>
            </a:avLst>
          </a:prstGeom>
          <a:solidFill>
            <a:srgbClr val="8FAFE3"/>
          </a:solidFill>
          <a:ln/>
        </p:spPr>
        <p:txBody>
          <a:bodyPr/>
          <a:p/>
        </p:txBody>
      </p:sp>
      <p:sp>
        <p:nvSpPr>
          <p:cNvPr id="5" name="Shape 3"/>
          <p:cNvSpPr/>
          <p:nvPr/>
        </p:nvSpPr>
        <p:spPr>
          <a:xfrm>
            <a:off x="589788" y="1277417"/>
            <a:ext cx="4912157" cy="1595628"/>
          </a:xfrm>
          <a:prstGeom prst="roundRect">
            <a:avLst>
              <a:gd name="adj" fmla="val 16667"/>
            </a:avLst>
          </a:prstGeom>
          <a:solidFill>
            <a:srgbClr val="FFFFFF"/>
          </a:solidFill>
          <a:ln/>
        </p:spPr>
        <p:txBody>
          <a:bodyPr/>
          <a:p/>
        </p:txBody>
      </p:sp>
      <p:sp>
        <p:nvSpPr>
          <p:cNvPr id="6" name="title"/>
          <p:cNvSpPr/>
          <p:nvPr/>
        </p:nvSpPr>
        <p:spPr>
          <a:xfrm>
            <a:off x="771754" y="1417320"/>
            <a:ext cx="4572000" cy="731520"/>
          </a:xfrm>
          <a:prstGeom prst="rect">
            <a:avLst/>
          </a:prstGeom>
          <a:noFill/>
          <a:ln/>
        </p:spPr>
        <p:txBody>
          <a:bodyPr wrap="square" rtlCol="0" anchor="ctr"/>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Pair Check</a:t>
            </a:r>
            <a:endParaRPr lang="en-US" sz="4000" dirty="0" b="1"/>
          </a:p>
        </p:txBody>
      </p:sp>
      <p:sp>
        <p:nvSpPr>
          <p:cNvPr id="7" name="Shape 5"/>
          <p:cNvSpPr/>
          <p:nvPr/>
        </p:nvSpPr>
        <p:spPr>
          <a:xfrm>
            <a:off x="6107278" y="1382572"/>
            <a:ext cx="5577840" cy="1920240"/>
          </a:xfrm>
          <a:prstGeom prst="round1Rect">
            <a:avLst>
              <a:gd name="adj" fmla="val 23087"/>
            </a:avLst>
          </a:prstGeom>
          <a:solidFill>
            <a:srgbClr val="8FAFE3"/>
          </a:solidFill>
          <a:ln/>
        </p:spPr>
        <p:txBody>
          <a:bodyPr/>
          <a:p/>
        </p:txBody>
      </p:sp>
      <p:sp>
        <p:nvSpPr>
          <p:cNvPr id="8" name="Shape 6"/>
          <p:cNvSpPr/>
          <p:nvPr/>
        </p:nvSpPr>
        <p:spPr>
          <a:xfrm>
            <a:off x="6107278" y="3714292"/>
            <a:ext cx="5577840" cy="1920240"/>
          </a:xfrm>
          <a:prstGeom prst="round1Rect">
            <a:avLst>
              <a:gd name="adj" fmla="val 23087"/>
            </a:avLst>
          </a:prstGeom>
          <a:solidFill>
            <a:srgbClr val="8FAFE3"/>
          </a:solidFill>
          <a:ln/>
        </p:spPr>
        <p:txBody>
          <a:bodyPr/>
          <a:p/>
        </p:txBody>
      </p:sp>
      <p:sp>
        <p:nvSpPr>
          <p:cNvPr id="10" name="Shape 8"/>
          <p:cNvSpPr/>
          <p:nvPr/>
        </p:nvSpPr>
        <p:spPr>
          <a:xfrm>
            <a:off x="6035040" y="1325880"/>
            <a:ext cx="5577840" cy="1920240"/>
          </a:xfrm>
          <a:prstGeom prst="round1Rect">
            <a:avLst>
              <a:gd name="adj" fmla="val 23087"/>
            </a:avLst>
          </a:prstGeom>
          <a:solidFill>
            <a:srgbClr val="FFFFFF"/>
          </a:solidFill>
          <a:ln/>
        </p:spPr>
        <p:txBody>
          <a:bodyPr/>
          <a:p/>
        </p:txBody>
      </p:sp>
      <p:sp>
        <p:nvSpPr>
          <p:cNvPr id="11" name="Shape 9"/>
          <p:cNvSpPr/>
          <p:nvPr/>
        </p:nvSpPr>
        <p:spPr>
          <a:xfrm>
            <a:off x="6172200" y="1946757"/>
            <a:ext cx="678485" cy="678485"/>
          </a:xfrm>
          <a:prstGeom prst="star32">
            <a:avLst>
              <a:gd name="adj" fmla="val 43755"/>
            </a:avLst>
          </a:prstGeom>
          <a:solidFill>
            <a:srgbClr val="B9D2F7"/>
          </a:solidFill>
          <a:ln/>
        </p:spPr>
        <p:txBody>
          <a:bodyPr/>
          <a:p/>
        </p:txBody>
      </p:sp>
      <p:sp>
        <p:nvSpPr>
          <p:cNvPr id="12" name="Text 10"/>
          <p:cNvSpPr/>
          <p:nvPr/>
        </p:nvSpPr>
        <p:spPr>
          <a:xfrm>
            <a:off x="6172200" y="1946757"/>
            <a:ext cx="678485" cy="678485"/>
          </a:xfrm>
          <a:prstGeom prst="rect">
            <a:avLst/>
          </a:prstGeom>
          <a:noFill/>
          <a:ln/>
        </p:spPr>
        <p:txBody>
          <a:bodyPr wrap="square"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01</a:t>
            </a:r>
            <a:endParaRPr lang="en-US" sz="2000" dirty="0"/>
          </a:p>
        </p:txBody>
      </p:sp>
      <p:sp>
        <p:nvSpPr>
          <p:cNvPr id="13" name="s1 label"/>
          <p:cNvSpPr/>
          <p:nvPr/>
        </p:nvSpPr>
        <p:spPr>
          <a:xfrm>
            <a:off x="6995160" y="1508760"/>
            <a:ext cx="4480560" cy="5029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A asks a favor.</a:t>
            </a:r>
            <a:endParaRPr lang="en-US" sz="2200" dirty="0" b="1"/>
          </a:p>
        </p:txBody>
      </p:sp>
      <p:sp>
        <p:nvSpPr>
          <p:cNvPr id="14" name="Shape 12"/>
          <p:cNvSpPr/>
          <p:nvPr/>
        </p:nvSpPr>
        <p:spPr>
          <a:xfrm>
            <a:off x="6035040" y="3657600"/>
            <a:ext cx="5577840" cy="1920240"/>
          </a:xfrm>
          <a:prstGeom prst="round1Rect">
            <a:avLst>
              <a:gd name="adj" fmla="val 23087"/>
            </a:avLst>
          </a:prstGeom>
          <a:solidFill>
            <a:srgbClr val="B9D2F7"/>
          </a:solidFill>
          <a:ln/>
        </p:spPr>
        <p:txBody>
          <a:bodyPr/>
          <a:p/>
        </p:txBody>
      </p:sp>
      <p:sp>
        <p:nvSpPr>
          <p:cNvPr id="15" name="Shape 13"/>
          <p:cNvSpPr/>
          <p:nvPr/>
        </p:nvSpPr>
        <p:spPr>
          <a:xfrm>
            <a:off x="6172200" y="4278477"/>
            <a:ext cx="678485" cy="678485"/>
          </a:xfrm>
          <a:prstGeom prst="star32">
            <a:avLst>
              <a:gd name="adj" fmla="val 43755"/>
            </a:avLst>
          </a:prstGeom>
          <a:solidFill>
            <a:srgbClr val="FFFFFF"/>
          </a:solidFill>
          <a:ln/>
        </p:spPr>
        <p:txBody>
          <a:bodyPr/>
          <a:p/>
        </p:txBody>
      </p:sp>
      <p:sp>
        <p:nvSpPr>
          <p:cNvPr id="16" name="Text 14"/>
          <p:cNvSpPr/>
          <p:nvPr/>
        </p:nvSpPr>
        <p:spPr>
          <a:xfrm>
            <a:off x="6172200" y="4278477"/>
            <a:ext cx="678485" cy="678485"/>
          </a:xfrm>
          <a:prstGeom prst="rect">
            <a:avLst/>
          </a:prstGeom>
          <a:noFill/>
          <a:ln/>
        </p:spPr>
        <p:txBody>
          <a:bodyPr wrap="square"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02</a:t>
            </a:r>
            <a:endParaRPr lang="en-US" sz="2000" dirty="0"/>
          </a:p>
        </p:txBody>
      </p:sp>
      <p:sp>
        <p:nvSpPr>
          <p:cNvPr id="17" name="s2 label"/>
          <p:cNvSpPr/>
          <p:nvPr/>
        </p:nvSpPr>
        <p:spPr>
          <a:xfrm>
            <a:off x="6995160" y="3840480"/>
            <a:ext cx="4480560" cy="502920"/>
          </a:xfrm>
          <a:prstGeom prst="rect">
            <a:avLst/>
          </a:prstGeom>
          <a:noFill/>
          <a:ln/>
        </p:spPr>
        <p:txBody>
          <a:bodyPr wrap="square" lIns="0" tIns="0" rIns="0" bIns="0" rtlCol="0" anchor="ct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B answers.</a:t>
            </a:r>
            <a:endParaRPr lang="en-US" sz="2200" dirty="0" b="1"/>
          </a:p>
        </p:txBody>
      </p:sp>
      <p:sp>
        <p:nvSpPr>
          <p:cNvPr id="60" name="s1 body"/>
          <p:cNvSpPr/>
          <p:nvPr/>
        </p:nvSpPr>
        <p:spPr>
          <a:xfrm>
            <a:off x="6995160" y="2103120"/>
            <a:ext cx="4480560" cy="914400"/>
          </a:xfrm>
          <a:prstGeom prst="rect">
            <a:avLst/>
          </a:prstGeom>
          <a:noFill/>
          <a:ln/>
        </p:spPr>
        <p:txBody>
          <a:bodyPr wrap="square" lIns="0" tIns="0" rIns="0" bIns="0" rtlCol="0" anchor="ct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A:</a:t>
            </a:r>
            <a:r>
              <a:rPr lang="en-US" sz="1900" dirty="0" b="0">
                <a:solidFill>
                  <a:srgbClr val="1B2236"/>
                </a:solidFill>
                <a:latin typeface="Lexend Deca" pitchFamily="34" charset="0"/>
                <a:ea typeface="Lexend Deca" pitchFamily="34" charset="-122"/>
                <a:cs typeface="Lexend Deca" pitchFamily="34" charset="-120"/>
              </a:rPr>
              <a:t> Would you mind getting my mail?</a:t>
            </a:r>
            <a:endParaRPr lang="en-US" sz="1900" dirty="0" b="0"/>
          </a:p>
        </p:txBody>
      </p:sp>
      <p:sp>
        <p:nvSpPr>
          <p:cNvPr id="70" name="s2 body"/>
          <p:cNvSpPr/>
          <p:nvPr/>
        </p:nvSpPr>
        <p:spPr>
          <a:xfrm>
            <a:off x="6995160" y="4434840"/>
            <a:ext cx="4480560" cy="914400"/>
          </a:xfrm>
          <a:prstGeom prst="rect">
            <a:avLst/>
          </a:prstGeom>
          <a:noFill/>
          <a:ln/>
        </p:spPr>
        <p:txBody>
          <a:bodyPr wrap="square" lIns="0" tIns="0" rIns="0" bIns="0" rtlCol="0" anchor="ctr"/>
          <a:lstStyle/>
          <a:p>
            <a:pPr algn="l" indent="0" marL="0">
              <a:buNone/>
            </a:pPr>
            <a:r>
              <a:rPr lang="en-US" sz="1900" dirty="0" b="1">
                <a:solidFill>
                  <a:srgbClr val="5B3FC4"/>
                </a:solidFill>
                <a:latin typeface="Lexend Deca" pitchFamily="34" charset="0"/>
                <a:ea typeface="Lexend Deca" pitchFamily="34" charset="-122"/>
                <a:cs typeface="Lexend Deca" pitchFamily="34" charset="-120"/>
              </a:rPr>
              <a:t>B:</a:t>
            </a:r>
            <a:r>
              <a:rPr lang="en-US" sz="1900" dirty="0" b="0">
                <a:solidFill>
                  <a:srgbClr val="1B2236"/>
                </a:solidFill>
                <a:latin typeface="Lexend Deca" pitchFamily="34" charset="0"/>
                <a:ea typeface="Lexend Deca" pitchFamily="34" charset="-122"/>
                <a:cs typeface="Lexend Deca" pitchFamily="34" charset="-120"/>
              </a:rPr>
              <a:t> No, not at all.</a:t>
            </a:r>
            <a:endParaRPr lang="en-US" sz="1900" dirty="0" b="0"/>
          </a:p>
          <a:p>
            <a:pPr algn="l" indent="0" marL="0">
              <a:buNone/>
            </a:pPr>
            <a:r>
              <a:rPr lang="en-US" sz="1900" dirty="0" b="1">
                <a:solidFill>
                  <a:srgbClr val="1B2236"/>
                </a:solidFill>
                <a:latin typeface="Lexend Deca" pitchFamily="34" charset="0"/>
                <a:ea typeface="Lexend Deca" pitchFamily="34" charset="-122"/>
                <a:cs typeface="Lexend Deca" pitchFamily="34" charset="-120"/>
              </a:rPr>
              <a:t>Or: Sorry, I can't, because…</a:t>
            </a:r>
            <a:endParaRPr lang="en-US" sz="1900" dirty="0" b="1"/>
          </a:p>
        </p:txBody>
      </p:sp>
      <p:sp>
        <p:nvSpPr>
          <p:cNvPr id="25" name="sub"/>
          <p:cNvSpPr/>
          <p:nvPr/>
        </p:nvSpPr>
        <p:spPr>
          <a:xfrm>
            <a:off x="771754" y="2148840"/>
            <a:ext cx="4572000" cy="685800"/>
          </a:xfrm>
          <a:prstGeom prst="rect">
            <a:avLst/>
          </a:prstGeom>
          <a:noFill/>
          <a:ln w="38100">
            <a:noFill/>
          </a:ln>
        </p:spPr>
        <p:txBody>
          <a:bodyPr wrap="square" lIns="91440" tIns="36576" rIns="91440" bIns="36576" rtlCol="0" anchor="ctr">
            <a:noAutofit/>
          </a:bodyPr>
          <a:lstStyle/>
          <a:p>
            <a:pPr algn="l" indent="0" marL="0">
              <a:buNone/>
            </a:pPr>
            <a:r>
              <a:rPr lang="en-US" sz="2000" dirty="0">
                <a:solidFill>
                  <a:srgbClr val="1B2236"/>
                </a:solidFill>
                <a:latin typeface="Lexend Deca" pitchFamily="34" charset="0"/>
                <a:ea typeface="Lexend Deca" pitchFamily="34" charset="-122"/>
                <a:cs typeface="Lexend Deca" pitchFamily="34" charset="-120"/>
              </a:rPr>
              <a:t>A asks a favor from the pictures. Then switch.</a:t>
            </a:r>
            <a:endParaRPr lang="en-US" sz="2000" dirty="0"/>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name="L4:talk">
    <p:bg>
      <p:bgPr>
        <a:solidFill>
          <a:srgbClr val="F1F5FB"/>
        </a:solidFill>
      </p:bgPr>
    </p:bg>
    <p:spTree>
      <p:nvGrpSpPr>
        <p:cNvPr id="1" name=""/>
        <p:cNvGrpSpPr/>
        <p:nvPr/>
      </p:nvGrpSpPr>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pic" descr="Favor: a person raising a hand and a handshake [sign: A FAVOR?]"/>
          <p:cNvPicPr>
            <a:picLocks noChangeAspect="1"/>
          </p:cNvPicPr>
          <p:nvPr/>
        </p:nvPicPr>
        <p:blipFill>
          <a:blip r:embed="rId3"/>
          <a:stretch>
            <a:fillRect/>
          </a:stretch>
        </p:blipFill>
        <p:spPr>
          <a:xfrm>
            <a:off x="726164" y="3418942"/>
            <a:ext cx="3882281" cy="2717597"/>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head"/>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endParaRPr lang="en-US" sz="4000" dirty="0" b="1"/>
          </a:p>
          <a:p>
            <a:pPr algn="l" indent="0" marL="0">
              <a:spcAft>
                <a:spcPts val="200"/>
              </a:spcAft>
              <a:buNone/>
            </a:pPr>
            <a:r>
              <a:rPr lang="en-US" sz="3000" dirty="0" b="1">
                <a:solidFill>
                  <a:srgbClr val="1B2236"/>
                </a:solidFill>
                <a:latin typeface="Lexend Deca" pitchFamily="34" charset="0"/>
                <a:ea typeface="Lexend Deca" pitchFamily="34" charset="-122"/>
                <a:cs typeface="Lexend Deca" pitchFamily="34" charset="-120"/>
              </a:rPr>
              <a:t>Favor Exchange</a:t>
            </a:r>
            <a:endParaRPr lang="en-US" sz="3000" dirty="0" b="1"/>
          </a:p>
        </p:txBody>
      </p:sp>
      <p:sp>
        <p:nvSpPr>
          <p:cNvPr id="8" name="grouping"/>
          <p:cNvSpPr/>
          <p:nvPr/>
        </p:nvSpPr>
        <p:spPr>
          <a:xfrm>
            <a:off x="6291072" y="1783080"/>
            <a:ext cx="329184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Mingle.</a:t>
            </a:r>
            <a:endParaRPr lang="en-US" sz="1800" dirty="0"/>
          </a:p>
          <a:p>
            <a:pPr algn="l" indent="0" marL="0">
              <a:buNone/>
            </a:pPr>
            <a:r>
              <a:rPr lang="en-US" sz="1800" dirty="0">
                <a:solidFill>
                  <a:srgbClr val="1B2236"/>
                </a:solidFill>
                <a:latin typeface="Lexend Deca" pitchFamily="34" charset="0"/>
                <a:ea typeface="Lexend Deca" pitchFamily="34" charset="-122"/>
                <a:cs typeface="Lexend Deca" pitchFamily="34" charset="-120"/>
              </a:rPr>
              <a:t>Ask three people.</a:t>
            </a:r>
            <a:endParaRPr lang="en-US" sz="1800" dirty="0"/>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ime"/>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7:00–7:15</a:t>
            </a:r>
            <a:endParaRPr lang="en-US" sz="2000" dirty="0" b="1"/>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endParaRPr lang="en-US" sz="2200" dirty="0"/>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Take a favor card and a "my week" card.</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Would you mind getting my mail?</a:t>
            </a:r>
            <a:endParaRPr lang="en-US" sz="1700" dirty="0" b="0"/>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endParaRPr lang="en-US" sz="2200" dirty="0"/>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Answer and give a reason.</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Sorry, I can't, because…</a:t>
            </a:r>
            <a:endParaRPr lang="en-US" sz="1700" dirty="0" b="0"/>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endParaRPr lang="en-US" sz="2200" dirty="0"/>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Offer another idea. Write who said yes.</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Why don't you ask Ana?</a:t>
            </a:r>
            <a:endParaRPr lang="en-US" sz="17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name="L4:talk">
    <p:bg>
      <p:bgPr>
        <a:solidFill>
          <a:srgbClr val="F1F5FB"/>
        </a:solidFill>
      </p:bgPr>
    </p:bg>
    <p:spTree>
      <p:nvGrpSpPr>
        <p:cNvPr id="1" name=""/>
        <p:cNvGrpSpPr/>
        <p:nvPr/>
      </p:nvGrpSpPr>
      <p:grpSpPr/>
      <p:sp>
        <p:nvSpPr>
          <p:cNvPr id="2" name="Shape 0"/>
          <p:cNvSpPr/>
          <p:nvPr/>
        </p:nvSpPr>
        <p:spPr>
          <a:xfrm>
            <a:off x="-171907" y="-142646"/>
            <a:ext cx="5937199" cy="7143293"/>
          </a:xfrm>
          <a:prstGeom prst="round1Rect">
            <a:avLst>
              <a:gd name="adj" fmla="val 23087"/>
            </a:avLst>
          </a:prstGeom>
          <a:solidFill>
            <a:srgbClr val="B9D2F7"/>
          </a:solidFill>
          <a:ln w="127000">
            <a:solidFill>
              <a:srgbClr val="F1F5FB"/>
            </a:solidFill>
            <a:prstDash val="solid"/>
          </a:ln>
        </p:spPr>
        <p:txBody>
          <a:bodyPr/>
          <a:p/>
        </p:txBody>
      </p:sp>
      <p:pic>
        <p:nvPicPr>
          <p:cNvPr id="18" name="pic" descr="Switch shifts: a calendar and arrows [sign: SAT → SUN]"/>
          <p:cNvPicPr>
            <a:picLocks noChangeAspect="1"/>
          </p:cNvPicPr>
          <p:nvPr/>
        </p:nvPicPr>
        <p:blipFill>
          <a:blip r:embed="rId3"/>
          <a:stretch>
            <a:fillRect/>
          </a:stretch>
        </p:blipFill>
        <p:spPr>
          <a:xfrm>
            <a:off x="726164" y="3418942"/>
            <a:ext cx="3882281" cy="2717597"/>
          </a:xfrm>
          <a:prstGeom prst="rect">
            <a:avLst/>
          </a:prstGeom>
        </p:spPr>
      </p:pic>
      <p:sp>
        <p:nvSpPr>
          <p:cNvPr id="5" name="Shape 3"/>
          <p:cNvSpPr/>
          <p:nvPr/>
        </p:nvSpPr>
        <p:spPr>
          <a:xfrm>
            <a:off x="308610" y="1260546"/>
            <a:ext cx="4912157" cy="1595628"/>
          </a:xfrm>
          <a:prstGeom prst="roundRect">
            <a:avLst>
              <a:gd name="adj" fmla="val 16667"/>
            </a:avLst>
          </a:prstGeom>
          <a:solidFill>
            <a:srgbClr val="8FAFE3"/>
          </a:solidFill>
          <a:ln/>
        </p:spPr>
        <p:txBody>
          <a:bodyPr/>
          <a:p/>
        </p:txBody>
      </p:sp>
      <p:sp>
        <p:nvSpPr>
          <p:cNvPr id="6" name="Shape 4"/>
          <p:cNvSpPr/>
          <p:nvPr/>
        </p:nvSpPr>
        <p:spPr>
          <a:xfrm>
            <a:off x="337414" y="1195121"/>
            <a:ext cx="4912157" cy="1595628"/>
          </a:xfrm>
          <a:prstGeom prst="roundRect">
            <a:avLst>
              <a:gd name="adj" fmla="val 16667"/>
            </a:avLst>
          </a:prstGeom>
          <a:solidFill>
            <a:srgbClr val="FFFFFF"/>
          </a:solidFill>
          <a:ln/>
        </p:spPr>
        <p:txBody>
          <a:bodyPr/>
          <a:p/>
        </p:txBody>
      </p:sp>
      <p:sp>
        <p:nvSpPr>
          <p:cNvPr id="7" name="head"/>
          <p:cNvSpPr/>
          <p:nvPr/>
        </p:nvSpPr>
        <p:spPr>
          <a:xfrm>
            <a:off x="502920" y="1298448"/>
            <a:ext cx="4663440" cy="1417320"/>
          </a:xfrm>
          <a:prstGeom prst="rect">
            <a:avLst/>
          </a:prstGeom>
          <a:noFill/>
          <a:ln/>
        </p:spPr>
        <p:txBody>
          <a:bodyPr wrap="square" rtlCol="0" anchor="ctr"/>
          <a:lstStyle/>
          <a:p>
            <a:pPr algn="l" indent="0" marL="0">
              <a:spcAft>
                <a:spcPts val="200"/>
              </a:spcAft>
              <a:buNone/>
            </a:pPr>
            <a:r>
              <a:rPr lang="en-US" sz="4000" dirty="0" b="1">
                <a:solidFill>
                  <a:srgbClr val="1B2236"/>
                </a:solidFill>
                <a:latin typeface="Lexend Deca" pitchFamily="34" charset="0"/>
                <a:ea typeface="Lexend Deca" pitchFamily="34" charset="-122"/>
                <a:cs typeface="Lexend Deca" pitchFamily="34" charset="-120"/>
              </a:rPr>
              <a:t>Talk Time</a:t>
            </a:r>
            <a:endParaRPr lang="en-US" sz="4000" dirty="0" b="1"/>
          </a:p>
          <a:p>
            <a:pPr algn="l" indent="0" marL="0">
              <a:spcAft>
                <a:spcPts val="200"/>
              </a:spcAft>
              <a:buNone/>
            </a:pPr>
            <a:r>
              <a:rPr lang="en-US" sz="2600" dirty="0" b="1">
                <a:solidFill>
                  <a:srgbClr val="1B2236"/>
                </a:solidFill>
                <a:latin typeface="Lexend Deca" pitchFamily="34" charset="0"/>
                <a:ea typeface="Lexend Deca" pitchFamily="34" charset="-122"/>
                <a:cs typeface="Lexend Deca" pitchFamily="34" charset="-120"/>
              </a:rPr>
              <a:t>Shift Switch Text</a:t>
            </a:r>
            <a:endParaRPr lang="en-US" sz="2600" dirty="0" b="1"/>
          </a:p>
        </p:txBody>
      </p:sp>
      <p:sp>
        <p:nvSpPr>
          <p:cNvPr id="8" name="grouping"/>
          <p:cNvSpPr/>
          <p:nvPr/>
        </p:nvSpPr>
        <p:spPr>
          <a:xfrm>
            <a:off x="6291072" y="1783080"/>
            <a:ext cx="3291840" cy="914400"/>
          </a:xfrm>
          <a:prstGeom prst="rect">
            <a:avLst/>
          </a:prstGeom>
          <a:noFill/>
          <a:ln/>
        </p:spPr>
        <p:txBody>
          <a:bodyPr wrap="square" lIns="0" tIns="0" rIns="0" bIns="0" rtlCol="0" anchor="ctr"/>
          <a:lstStyle/>
          <a:p>
            <a:pPr algn="l" indent="0" marL="0">
              <a:buNone/>
            </a:pPr>
            <a:r>
              <a:rPr lang="en-US" sz="1800" dirty="0">
                <a:solidFill>
                  <a:srgbClr val="1B2236"/>
                </a:solidFill>
                <a:latin typeface="Lexend Deca" pitchFamily="34" charset="0"/>
                <a:ea typeface="Lexend Deca" pitchFamily="34" charset="-122"/>
                <a:cs typeface="Lexend Deca" pitchFamily="34" charset="-120"/>
              </a:rPr>
              <a:t>Pairs.</a:t>
            </a:r>
            <a:endParaRPr lang="en-US" sz="1800" dirty="0"/>
          </a:p>
          <a:p>
            <a:pPr algn="l" indent="0" marL="0">
              <a:buNone/>
            </a:pPr>
            <a:r>
              <a:rPr lang="en-US" sz="1800" dirty="0">
                <a:solidFill>
                  <a:srgbClr val="1B2236"/>
                </a:solidFill>
                <a:latin typeface="Lexend Deca" pitchFamily="34" charset="0"/>
                <a:ea typeface="Lexend Deca" pitchFamily="34" charset="-122"/>
                <a:cs typeface="Lexend Deca" pitchFamily="34" charset="-120"/>
              </a:rPr>
              <a:t>Write a 3-sentence text.</a:t>
            </a:r>
            <a:endParaRPr lang="en-US" sz="1800" dirty="0"/>
          </a:p>
        </p:txBody>
      </p:sp>
      <p:sp>
        <p:nvSpPr>
          <p:cNvPr id="9" name="Shape 7"/>
          <p:cNvSpPr/>
          <p:nvPr/>
        </p:nvSpPr>
        <p:spPr>
          <a:xfrm>
            <a:off x="9734702" y="2103120"/>
            <a:ext cx="1992478" cy="0"/>
          </a:xfrm>
          <a:prstGeom prst="line">
            <a:avLst/>
          </a:prstGeom>
          <a:noFill/>
          <a:ln w="6350">
            <a:solidFill>
              <a:srgbClr val="1B2236"/>
            </a:solidFill>
            <a:prstDash val="solid"/>
          </a:ln>
        </p:spPr>
        <p:txBody>
          <a:bodyPr/>
          <a:p/>
        </p:txBody>
      </p:sp>
      <p:sp>
        <p:nvSpPr>
          <p:cNvPr id="10" name="Shape 8"/>
          <p:cNvSpPr/>
          <p:nvPr/>
        </p:nvSpPr>
        <p:spPr>
          <a:xfrm>
            <a:off x="9734702" y="2571293"/>
            <a:ext cx="1992478" cy="0"/>
          </a:xfrm>
          <a:prstGeom prst="line">
            <a:avLst/>
          </a:prstGeom>
          <a:noFill/>
          <a:ln w="6350">
            <a:solidFill>
              <a:srgbClr val="1B2236"/>
            </a:solidFill>
            <a:prstDash val="solid"/>
          </a:ln>
        </p:spPr>
        <p:txBody>
          <a:bodyPr/>
          <a:p/>
        </p:txBody>
      </p:sp>
      <p:sp>
        <p:nvSpPr>
          <p:cNvPr id="11" name="time"/>
          <p:cNvSpPr/>
          <p:nvPr/>
        </p:nvSpPr>
        <p:spPr>
          <a:xfrm>
            <a:off x="9784080" y="2130552"/>
            <a:ext cx="1920240" cy="384048"/>
          </a:xfrm>
          <a:prstGeom prst="rect">
            <a:avLst/>
          </a:prstGeom>
          <a:noFill/>
          <a:ln/>
        </p:spPr>
        <p:txBody>
          <a:bodyPr wrap="none" lIns="0" tIns="0" rIns="0" bIns="0" rtlCol="0" anchor="ctr"/>
          <a:lstStyle/>
          <a:p>
            <a:pPr algn="ctr" indent="0" marL="0">
              <a:buNone/>
            </a:pPr>
            <a:r>
              <a:rPr lang="en-US" sz="2000" dirty="0" b="1">
                <a:solidFill>
                  <a:srgbClr val="1B2236"/>
                </a:solidFill>
                <a:latin typeface="Lexend Deca" pitchFamily="34" charset="0"/>
                <a:ea typeface="Lexend Deca" pitchFamily="34" charset="-122"/>
                <a:cs typeface="Lexend Deca" pitchFamily="34" charset="-120"/>
              </a:rPr>
              <a:t>7:00–7:15</a:t>
            </a:r>
            <a:endParaRPr lang="en-US" sz="2000" dirty="0" b="1"/>
          </a:p>
        </p:txBody>
      </p:sp>
      <p:sp>
        <p:nvSpPr>
          <p:cNvPr id="12" name="Shape 10"/>
          <p:cNvSpPr/>
          <p:nvPr/>
        </p:nvSpPr>
        <p:spPr>
          <a:xfrm>
            <a:off x="6416345" y="3198571"/>
            <a:ext cx="5486400" cy="3411626"/>
          </a:xfrm>
          <a:prstGeom prst="round1Rect">
            <a:avLst>
              <a:gd name="adj" fmla="val 23087"/>
            </a:avLst>
          </a:prstGeom>
          <a:solidFill>
            <a:srgbClr val="8FAFE3"/>
          </a:solidFill>
          <a:ln/>
        </p:spPr>
        <p:txBody>
          <a:bodyPr/>
          <a:p/>
        </p:txBody>
      </p:sp>
      <p:sp>
        <p:nvSpPr>
          <p:cNvPr id="13" name="Shape 11"/>
          <p:cNvSpPr/>
          <p:nvPr/>
        </p:nvSpPr>
        <p:spPr>
          <a:xfrm>
            <a:off x="6291986" y="3071470"/>
            <a:ext cx="5486400" cy="3411626"/>
          </a:xfrm>
          <a:prstGeom prst="round1Rect">
            <a:avLst>
              <a:gd name="adj" fmla="val 23087"/>
            </a:avLst>
          </a:prstGeom>
          <a:solidFill>
            <a:srgbClr val="FFFFFF"/>
          </a:solidFill>
          <a:ln/>
        </p:spPr>
        <p:txBody>
          <a:bodyPr/>
          <a:p/>
        </p:txBody>
      </p:sp>
      <p:sp>
        <p:nvSpPr>
          <p:cNvPr id="19" name="Step num 1"/>
          <p:cNvSpPr/>
          <p:nvPr/>
        </p:nvSpPr>
        <p:spPr>
          <a:xfrm>
            <a:off x="6583680" y="3511296"/>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1</a:t>
            </a:r>
            <a:endParaRPr lang="en-US" sz="2200" dirty="0"/>
          </a:p>
        </p:txBody>
      </p:sp>
      <p:sp>
        <p:nvSpPr>
          <p:cNvPr id="20" name="Step 1"/>
          <p:cNvSpPr/>
          <p:nvPr/>
        </p:nvSpPr>
        <p:spPr>
          <a:xfrm>
            <a:off x="7315200" y="3401568"/>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Write a text to a coworker.</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Thanks for switching shifts with me!</a:t>
            </a:r>
            <a:endParaRPr lang="en-US" sz="1700" dirty="0" b="0"/>
          </a:p>
        </p:txBody>
      </p:sp>
      <p:sp>
        <p:nvSpPr>
          <p:cNvPr id="21" name="Step num 2"/>
          <p:cNvSpPr/>
          <p:nvPr/>
        </p:nvSpPr>
        <p:spPr>
          <a:xfrm>
            <a:off x="6583680" y="4489704"/>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2</a:t>
            </a:r>
            <a:endParaRPr lang="en-US" sz="2200" dirty="0"/>
          </a:p>
        </p:txBody>
      </p:sp>
      <p:sp>
        <p:nvSpPr>
          <p:cNvPr id="22" name="Step 2"/>
          <p:cNvSpPr/>
          <p:nvPr/>
        </p:nvSpPr>
        <p:spPr>
          <a:xfrm>
            <a:off x="7315200" y="4379976"/>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Confirm the day, the time, and thanks.</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I'll work your… • You'll work my…</a:t>
            </a:r>
            <a:endParaRPr lang="en-US" sz="1700" dirty="0" b="0"/>
          </a:p>
        </p:txBody>
      </p:sp>
      <p:sp>
        <p:nvSpPr>
          <p:cNvPr id="23" name="Step num 3"/>
          <p:cNvSpPr/>
          <p:nvPr/>
        </p:nvSpPr>
        <p:spPr>
          <a:xfrm>
            <a:off x="6583680" y="5468112"/>
            <a:ext cx="566928" cy="566928"/>
          </a:xfrm>
          <a:prstGeom prst="ellipse">
            <a:avLst/>
          </a:prstGeom>
          <a:solidFill>
            <a:srgbClr val="FFE28C"/>
          </a:solidFill>
          <a:ln w="38100">
            <a:noFill/>
          </a:ln>
        </p:spPr>
        <p:txBody>
          <a:bodyPr wrap="square" lIns="0" tIns="36576" rIns="0" bIns="36576" rtlCol="0" anchor="ctr">
            <a:noAutofit/>
          </a:bodyPr>
          <a:lstStyle/>
          <a:p>
            <a:pPr algn="ctr" indent="0" marL="0">
              <a:buNone/>
            </a:pPr>
            <a:r>
              <a:rPr lang="en-US" sz="2200" dirty="0" b="1">
                <a:solidFill>
                  <a:srgbClr val="1B2236"/>
                </a:solidFill>
                <a:latin typeface="Lexend Deca" pitchFamily="34" charset="0"/>
                <a:ea typeface="Lexend Deca" pitchFamily="34" charset="-122"/>
                <a:cs typeface="Lexend Deca" pitchFamily="34" charset="-120"/>
              </a:rPr>
              <a:t>3</a:t>
            </a:r>
            <a:endParaRPr lang="en-US" sz="2200" dirty="0"/>
          </a:p>
        </p:txBody>
      </p:sp>
      <p:sp>
        <p:nvSpPr>
          <p:cNvPr id="24" name="Step 3"/>
          <p:cNvSpPr/>
          <p:nvPr/>
        </p:nvSpPr>
        <p:spPr>
          <a:xfrm>
            <a:off x="7315200" y="5358384"/>
            <a:ext cx="4206240" cy="868680"/>
          </a:xfrm>
          <a:prstGeom prst="rect">
            <a:avLst/>
          </a:prstGeom>
          <a:noFill/>
          <a:ln w="38100">
            <a:noFill/>
          </a:ln>
        </p:spPr>
        <p:txBody>
          <a:bodyPr wrap="square" lIns="73152" tIns="36576" rIns="73152" bIns="36576" rtlCol="0" anchor="ctr">
            <a:noAutofit/>
          </a:bodyPr>
          <a:lstStyle/>
          <a:p>
            <a:pPr algn="l" indent="0" marL="0">
              <a:buNone/>
            </a:pPr>
            <a:r>
              <a:rPr lang="en-US" sz="1700" dirty="0" b="1">
                <a:solidFill>
                  <a:srgbClr val="1B2236"/>
                </a:solidFill>
                <a:latin typeface="Lexend Deca" pitchFamily="34" charset="0"/>
                <a:ea typeface="Lexend Deca" pitchFamily="34" charset="-122"/>
                <a:cs typeface="Lexend Deca" pitchFamily="34" charset="-120"/>
              </a:rPr>
              <a:t>Read it to another pair.</a:t>
            </a:r>
            <a:endParaRPr lang="en-US" sz="1700" dirty="0" b="1"/>
          </a:p>
          <a:p>
            <a:pPr algn="l" indent="0" marL="0">
              <a:buNone/>
            </a:pPr>
            <a:r>
              <a:rPr lang="en-US" sz="1700" dirty="0" b="0">
                <a:solidFill>
                  <a:srgbClr val="5B3FC4"/>
                </a:solidFill>
                <a:latin typeface="Lexend Deca" pitchFamily="34" charset="0"/>
                <a:ea typeface="Lexend Deca" pitchFamily="34" charset="-122"/>
                <a:cs typeface="Lexend Deca" pitchFamily="34" charset="-120"/>
              </a:rPr>
              <a:t>Ask your supervisor first.</a:t>
            </a:r>
            <a:endParaRPr lang="en-US" sz="1700" dirty="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4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400"/>
                                        <p:tgtEl>
                                          <p:spTgt spid="23"/>
                                        </p:tgtEl>
                                      </p:cBhvr>
                                    </p:animEffect>
                                  </p:childTnLst>
                                </p:cTn>
                              </p:par>
                              <p:par>
                                <p:cTn id="24" presetID="10" presetClass="entr" presetSubtype="0"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name="L4:gaps">
    <p:bg>
      <p:bgPr>
        <a:solidFill>
          <a:srgbClr val="F1F5FB"/>
        </a:solidFill>
      </p:bgPr>
    </p:bg>
    <p:spTree>
      <p:nvGrpSpPr>
        <p:cNvPr id="1" name=""/>
        <p:cNvGrpSpPr/>
        <p:nvPr/>
      </p:nvGrpSpPr>
      <p:grpSpPr/>
      <p:sp>
        <p:nvSpPr>
          <p:cNvPr id="2" name="head shadow"/>
          <p:cNvSpPr/>
          <p:nvPr/>
        </p:nvSpPr>
        <p:spPr>
          <a:xfrm>
            <a:off x="544982" y="1407262"/>
            <a:ext cx="7086600" cy="983894"/>
          </a:xfrm>
          <a:prstGeom prst="round1Rect">
            <a:avLst>
              <a:gd name="adj" fmla="val 23087"/>
            </a:avLst>
          </a:prstGeom>
          <a:solidFill>
            <a:srgbClr val="8FAFE3"/>
          </a:solidFill>
          <a:ln/>
        </p:spPr>
        <p:txBody>
          <a:bodyPr/>
          <a:p/>
        </p:txBody>
      </p:sp>
      <p:sp>
        <p:nvSpPr>
          <p:cNvPr id="3" name="head card"/>
          <p:cNvSpPr/>
          <p:nvPr/>
        </p:nvSpPr>
        <p:spPr>
          <a:xfrm>
            <a:off x="548640" y="1349654"/>
            <a:ext cx="7086600" cy="983894"/>
          </a:xfrm>
          <a:prstGeom prst="round1Rect">
            <a:avLst>
              <a:gd name="adj" fmla="val 23087"/>
            </a:avLst>
          </a:prstGeom>
          <a:solidFill>
            <a:srgbClr val="FFFFFF"/>
          </a:solidFill>
          <a:ln/>
        </p:spPr>
        <p:txBody>
          <a:bodyPr/>
          <a:p/>
        </p:txBody>
      </p:sp>
      <p:sp>
        <p:nvSpPr>
          <p:cNvPr id="8" name="head1"/>
          <p:cNvSpPr/>
          <p:nvPr/>
        </p:nvSpPr>
        <p:spPr>
          <a:xfrm>
            <a:off x="777240" y="1417320"/>
            <a:ext cx="5440680" cy="384048"/>
          </a:xfrm>
          <a:prstGeom prst="rect">
            <a:avLst/>
          </a:prstGeom>
          <a:noFill/>
          <a:ln/>
        </p:spPr>
        <p:txBody>
          <a:bodyPr wrap="square" rtlCol="0" anchor="t"/>
          <a:lstStyle/>
          <a:p>
            <a:pPr algn="l" indent="0" marL="0">
              <a:buNone/>
            </a:pPr>
            <a:r>
              <a:rPr lang="en-US" sz="2000" dirty="0" b="1">
                <a:solidFill>
                  <a:srgbClr val="1B2236"/>
                </a:solidFill>
                <a:latin typeface="Lexend Deca" pitchFamily="34" charset="0"/>
                <a:ea typeface="Lexend Deca" pitchFamily="34" charset="-122"/>
                <a:cs typeface="Lexend Deca" pitchFamily="34" charset="-120"/>
              </a:rPr>
              <a:t>Read the notice.</a:t>
            </a:r>
            <a:endParaRPr lang="en-US" sz="2000" dirty="0" b="1"/>
          </a:p>
        </p:txBody>
      </p:sp>
      <p:sp>
        <p:nvSpPr>
          <p:cNvPr id="9" name="head2"/>
          <p:cNvSpPr/>
          <p:nvPr/>
        </p:nvSpPr>
        <p:spPr>
          <a:xfrm>
            <a:off x="868680" y="1819656"/>
            <a:ext cx="5349240" cy="411480"/>
          </a:xfrm>
          <a:prstGeom prst="rect">
            <a:avLst/>
          </a:prstGeom>
          <a:noFill/>
          <a:ln/>
        </p:spPr>
        <p:txBody>
          <a:bodyPr wrap="square" lIns="0" tIns="0" rIns="0" bIns="0" rtlCol="0" anchor="t"/>
          <a:lstStyle/>
          <a:p>
            <a:pPr algn="l" indent="0" marL="0">
              <a:buNone/>
            </a:pPr>
            <a:r>
              <a:rPr lang="en-US" sz="2000" dirty="0">
                <a:solidFill>
                  <a:srgbClr val="1B2236"/>
                </a:solidFill>
                <a:latin typeface="Lexend Deca" pitchFamily="34" charset="0"/>
                <a:ea typeface="Lexend Deca" pitchFamily="34" charset="-122"/>
                <a:cs typeface="Lexend Deca" pitchFamily="34" charset="-120"/>
              </a:rPr>
              <a:t>Answer the questions.</a:t>
            </a:r>
            <a:endParaRPr lang="en-US" sz="2000" dirty="0"/>
          </a:p>
        </p:txBody>
      </p:sp>
      <p:sp>
        <p:nvSpPr>
          <p:cNvPr id="29" name="title"/>
          <p:cNvSpPr/>
          <p:nvPr/>
        </p:nvSpPr>
        <p:spPr>
          <a:xfrm>
            <a:off x="8001000" y="1783080"/>
            <a:ext cx="3840480" cy="1600200"/>
          </a:xfrm>
          <a:prstGeom prst="rect">
            <a:avLst/>
          </a:prstGeom>
          <a:noFill/>
          <a:ln/>
        </p:spPr>
        <p:txBody>
          <a:bodyPr wrap="square" rtlCol="0" anchor="b"/>
          <a:lstStyle/>
          <a:p>
            <a:pPr algn="l" indent="0" marL="0">
              <a:buNone/>
            </a:pPr>
            <a:r>
              <a:rPr lang="en-US" sz="4000" dirty="0" b="1">
                <a:solidFill>
                  <a:srgbClr val="1B2236"/>
                </a:solidFill>
                <a:latin typeface="Lexend Deca" pitchFamily="34" charset="0"/>
                <a:ea typeface="Lexend Deca" pitchFamily="34" charset="-122"/>
                <a:cs typeface="Lexend Deca" pitchFamily="34" charset="-120"/>
              </a:rPr>
              <a:t>Read &amp;</a:t>
            </a:r>
            <a:endParaRPr lang="en-US" sz="4000" dirty="0" b="1"/>
          </a:p>
          <a:p>
            <a:pPr algn="l" indent="0" marL="0">
              <a:buNone/>
            </a:pPr>
            <a:r>
              <a:rPr lang="en-US" sz="4000" dirty="0" b="1">
                <a:solidFill>
                  <a:srgbClr val="1B2236"/>
                </a:solidFill>
                <a:latin typeface="Lexend Deca" pitchFamily="34" charset="0"/>
                <a:ea typeface="Lexend Deca" pitchFamily="34" charset="-122"/>
                <a:cs typeface="Lexend Deca" pitchFamily="34" charset="-120"/>
              </a:rPr>
              <a:t>Write</a:t>
            </a:r>
            <a:endParaRPr lang="en-US" sz="4000" dirty="0" b="1"/>
          </a:p>
        </p:txBody>
      </p:sp>
      <p:sp>
        <p:nvSpPr>
          <p:cNvPr id="30" name="side"/>
          <p:cNvSpPr/>
          <p:nvPr/>
        </p:nvSpPr>
        <p:spPr>
          <a:xfrm>
            <a:off x="8046720" y="3611880"/>
            <a:ext cx="3749039" cy="2377440"/>
          </a:xfrm>
          <a:prstGeom prst="rect">
            <a:avLst/>
          </a:prstGeom>
          <a:noFill/>
          <a:ln/>
        </p:spPr>
        <p:txBody>
          <a:bodyPr wrap="square" lIns="0" tIns="0" rIns="0" bIns="0" rtlCol="0" anchor="t"/>
          <a:lstStyle/>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Maple Court Apartments:</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a notice + a note to a neighbor.</a:t>
            </a:r>
            <a:endParaRPr lang="en-US" sz="2000" dirty="0" b="1"/>
          </a:p>
          <a:p>
            <a:pPr algn="l" indent="0" marL="0">
              <a:lnSpc>
                <a:spcPct val="120000"/>
              </a:lnSpc>
              <a:spcAft>
                <a:spcPts val="1200"/>
              </a:spcAft>
              <a:buNone/>
            </a:pPr>
            <a:r>
              <a:rPr lang="en-US" sz="2000" dirty="0" b="1">
                <a:solidFill>
                  <a:srgbClr val="1B2236"/>
                </a:solidFill>
                <a:latin typeface="Lexend Deca" pitchFamily="34" charset="0"/>
                <a:ea typeface="Lexend Deca" pitchFamily="34" charset="-122"/>
                <a:cs typeface="Lexend Deca" pitchFamily="34" charset="-120"/>
              </a:rPr>
              <a:t>Pairs: </a:t>
            </a:r>
            <a:r>
              <a:rPr lang="en-US" sz="2000" dirty="0" b="1">
                <a:solidFill>
                  <a:srgbClr val="5B3FC4"/>
                </a:solidFill>
                <a:latin typeface="Lexend Deca" pitchFamily="34" charset="0"/>
                <a:ea typeface="Lexend Deca" pitchFamily="34" charset="-122"/>
                <a:cs typeface="Lexend Deca" pitchFamily="34" charset="-120"/>
              </a:rPr>
              <a:t>answer together.</a:t>
            </a:r>
            <a:endParaRPr lang="en-US" sz="2000" dirty="0" b="1"/>
          </a:p>
        </p:txBody>
      </p:sp>
      <p:sp>
        <p:nvSpPr>
          <p:cNvPr id="31" name="R1 card"/>
          <p:cNvSpPr/>
          <p:nvPr/>
        </p:nvSpPr>
        <p:spPr>
          <a:xfrm>
            <a:off x="1583741" y="2397557"/>
            <a:ext cx="6035040" cy="713232"/>
          </a:xfrm>
          <a:prstGeom prst="round1Rect">
            <a:avLst>
              <a:gd name="adj" fmla="val 23087"/>
            </a:avLst>
          </a:prstGeom>
          <a:solidFill>
            <a:srgbClr val="FFFFFF"/>
          </a:solidFill>
          <a:ln/>
        </p:spPr>
        <p:txBody>
          <a:bodyPr/>
          <a:p/>
        </p:txBody>
      </p:sp>
      <p:sp>
        <p:nvSpPr>
          <p:cNvPr id="32" name="R1 chip"/>
          <p:cNvSpPr/>
          <p:nvPr/>
        </p:nvSpPr>
        <p:spPr>
          <a:xfrm>
            <a:off x="544982" y="2397557"/>
            <a:ext cx="1039673" cy="713232"/>
          </a:xfrm>
          <a:prstGeom prst="rect">
            <a:avLst/>
          </a:prstGeom>
          <a:solidFill>
            <a:srgbClr val="B9D2F7"/>
          </a:solidFill>
          <a:ln/>
        </p:spPr>
        <p:txBody>
          <a:bodyPr/>
          <a:p/>
        </p:txBody>
      </p:sp>
      <p:sp>
        <p:nvSpPr>
          <p:cNvPr id="33" name="R1 num"/>
          <p:cNvSpPr/>
          <p:nvPr/>
        </p:nvSpPr>
        <p:spPr>
          <a:xfrm>
            <a:off x="686714" y="2461565"/>
            <a:ext cx="1109167" cy="585216"/>
          </a:xfrm>
          <a:prstGeom prst="rect">
            <a:avLst/>
          </a:prstGeom>
          <a:noFill/>
          <a:ln/>
        </p:spPr>
        <p:txBody>
          <a:bodyPr wrap="square" rtlCol="0" anchor="ctr"/>
          <a:lstStyle/>
          <a:p>
            <a:pPr algn="ctr" indent="0" marL="0">
              <a:buNone/>
            </a:pPr>
            <a:r>
              <a:rPr lang="en-US" sz="3200" dirty="0" b="1"/>
              <a:t>1</a:t>
            </a:r>
            <a:endParaRPr lang="en-US" sz="3200" dirty="0" b="1"/>
          </a:p>
        </p:txBody>
      </p:sp>
      <p:sp>
        <p:nvSpPr>
          <p:cNvPr id="34" name="R1 text"/>
          <p:cNvSpPr/>
          <p:nvPr/>
        </p:nvSpPr>
        <p:spPr>
          <a:xfrm>
            <a:off x="1810512" y="2397557"/>
            <a:ext cx="2304288" cy="713232"/>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Where will all packages go?</a:t>
            </a:r>
            <a:endParaRPr lang="en-US" sz="1500" dirty="0"/>
          </a:p>
        </p:txBody>
      </p:sp>
      <p:sp>
        <p:nvSpPr>
          <p:cNvPr id="35" name="R1 ans"/>
          <p:cNvSpPr/>
          <p:nvPr/>
        </p:nvSpPr>
        <p:spPr>
          <a:xfrm>
            <a:off x="4187952" y="2525573"/>
            <a:ext cx="3383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To the new package room next to the mailroom.</a:t>
            </a:r>
            <a:endParaRPr lang="en-US" sz="1400" dirty="0" b="1"/>
          </a:p>
        </p:txBody>
      </p:sp>
      <p:sp>
        <p:nvSpPr>
          <p:cNvPr id="36" name="R2 card"/>
          <p:cNvSpPr/>
          <p:nvPr/>
        </p:nvSpPr>
        <p:spPr>
          <a:xfrm>
            <a:off x="1583741" y="3183941"/>
            <a:ext cx="6035040" cy="713232"/>
          </a:xfrm>
          <a:prstGeom prst="round1Rect">
            <a:avLst>
              <a:gd name="adj" fmla="val 23087"/>
            </a:avLst>
          </a:prstGeom>
          <a:solidFill>
            <a:srgbClr val="FFFFFF"/>
          </a:solidFill>
          <a:ln/>
        </p:spPr>
        <p:txBody>
          <a:bodyPr/>
          <a:p/>
        </p:txBody>
      </p:sp>
      <p:sp>
        <p:nvSpPr>
          <p:cNvPr id="37" name="R2 chip"/>
          <p:cNvSpPr/>
          <p:nvPr/>
        </p:nvSpPr>
        <p:spPr>
          <a:xfrm>
            <a:off x="544982" y="3183941"/>
            <a:ext cx="1039673" cy="713232"/>
          </a:xfrm>
          <a:prstGeom prst="rect">
            <a:avLst/>
          </a:prstGeom>
          <a:solidFill>
            <a:srgbClr val="B9D2F7"/>
          </a:solidFill>
          <a:ln/>
        </p:spPr>
        <p:txBody>
          <a:bodyPr/>
          <a:p/>
        </p:txBody>
      </p:sp>
      <p:sp>
        <p:nvSpPr>
          <p:cNvPr id="38" name="R2 num"/>
          <p:cNvSpPr/>
          <p:nvPr/>
        </p:nvSpPr>
        <p:spPr>
          <a:xfrm>
            <a:off x="686714" y="3247949"/>
            <a:ext cx="1109167" cy="585216"/>
          </a:xfrm>
          <a:prstGeom prst="rect">
            <a:avLst/>
          </a:prstGeom>
          <a:noFill/>
          <a:ln/>
        </p:spPr>
        <p:txBody>
          <a:bodyPr wrap="square" rtlCol="0" anchor="ctr"/>
          <a:lstStyle/>
          <a:p>
            <a:pPr algn="ctr" indent="0" marL="0">
              <a:buNone/>
            </a:pPr>
            <a:r>
              <a:rPr lang="en-US" sz="3200" dirty="0" b="1"/>
              <a:t>2</a:t>
            </a:r>
            <a:endParaRPr lang="en-US" sz="3200" dirty="0" b="1"/>
          </a:p>
        </p:txBody>
      </p:sp>
      <p:sp>
        <p:nvSpPr>
          <p:cNvPr id="39" name="R2 text"/>
          <p:cNvSpPr/>
          <p:nvPr/>
        </p:nvSpPr>
        <p:spPr>
          <a:xfrm>
            <a:off x="1810512" y="3183941"/>
            <a:ext cx="2304288" cy="713232"/>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When must you pick up a package?</a:t>
            </a:r>
            <a:endParaRPr lang="en-US" sz="1500" dirty="0"/>
          </a:p>
        </p:txBody>
      </p:sp>
      <p:sp>
        <p:nvSpPr>
          <p:cNvPr id="40" name="R2 ans"/>
          <p:cNvSpPr/>
          <p:nvPr/>
        </p:nvSpPr>
        <p:spPr>
          <a:xfrm>
            <a:off x="4187952" y="3311957"/>
            <a:ext cx="3383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Within 5 days.</a:t>
            </a:r>
            <a:endParaRPr lang="en-US" sz="1400" dirty="0" b="1"/>
          </a:p>
        </p:txBody>
      </p:sp>
      <p:sp>
        <p:nvSpPr>
          <p:cNvPr id="41" name="R3 card"/>
          <p:cNvSpPr/>
          <p:nvPr/>
        </p:nvSpPr>
        <p:spPr>
          <a:xfrm>
            <a:off x="1583741" y="3970325"/>
            <a:ext cx="6035040" cy="713232"/>
          </a:xfrm>
          <a:prstGeom prst="round1Rect">
            <a:avLst>
              <a:gd name="adj" fmla="val 23087"/>
            </a:avLst>
          </a:prstGeom>
          <a:solidFill>
            <a:srgbClr val="FFFFFF"/>
          </a:solidFill>
          <a:ln/>
        </p:spPr>
        <p:txBody>
          <a:bodyPr/>
          <a:p/>
        </p:txBody>
      </p:sp>
      <p:sp>
        <p:nvSpPr>
          <p:cNvPr id="42" name="R3 chip"/>
          <p:cNvSpPr/>
          <p:nvPr/>
        </p:nvSpPr>
        <p:spPr>
          <a:xfrm>
            <a:off x="544982" y="3970325"/>
            <a:ext cx="1039673" cy="713232"/>
          </a:xfrm>
          <a:prstGeom prst="rect">
            <a:avLst/>
          </a:prstGeom>
          <a:solidFill>
            <a:srgbClr val="B9D2F7"/>
          </a:solidFill>
          <a:ln/>
        </p:spPr>
        <p:txBody>
          <a:bodyPr/>
          <a:p/>
        </p:txBody>
      </p:sp>
      <p:sp>
        <p:nvSpPr>
          <p:cNvPr id="43" name="R3 num"/>
          <p:cNvSpPr/>
          <p:nvPr/>
        </p:nvSpPr>
        <p:spPr>
          <a:xfrm>
            <a:off x="686714" y="4034333"/>
            <a:ext cx="1109167" cy="585216"/>
          </a:xfrm>
          <a:prstGeom prst="rect">
            <a:avLst/>
          </a:prstGeom>
          <a:noFill/>
          <a:ln/>
        </p:spPr>
        <p:txBody>
          <a:bodyPr wrap="square" rtlCol="0" anchor="ctr"/>
          <a:lstStyle/>
          <a:p>
            <a:pPr algn="ctr" indent="0" marL="0">
              <a:buNone/>
            </a:pPr>
            <a:r>
              <a:rPr lang="en-US" sz="3200" dirty="0" b="1"/>
              <a:t>3</a:t>
            </a:r>
            <a:endParaRPr lang="en-US" sz="3200" dirty="0" b="1"/>
          </a:p>
        </p:txBody>
      </p:sp>
      <p:sp>
        <p:nvSpPr>
          <p:cNvPr id="44" name="R3 text"/>
          <p:cNvSpPr/>
          <p:nvPr/>
        </p:nvSpPr>
        <p:spPr>
          <a:xfrm>
            <a:off x="1810512" y="3970325"/>
            <a:ext cx="2304288" cy="713232"/>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What must a neighbor show?</a:t>
            </a:r>
            <a:endParaRPr lang="en-US" sz="1500" dirty="0"/>
          </a:p>
        </p:txBody>
      </p:sp>
      <p:sp>
        <p:nvSpPr>
          <p:cNvPr id="45" name="R3 ans"/>
          <p:cNvSpPr/>
          <p:nvPr/>
        </p:nvSpPr>
        <p:spPr>
          <a:xfrm>
            <a:off x="4187952" y="4098341"/>
            <a:ext cx="3383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Your text with the code.</a:t>
            </a:r>
            <a:endParaRPr lang="en-US" sz="1400" dirty="0" b="1"/>
          </a:p>
        </p:txBody>
      </p:sp>
      <p:sp>
        <p:nvSpPr>
          <p:cNvPr id="46" name="R4 card"/>
          <p:cNvSpPr/>
          <p:nvPr/>
        </p:nvSpPr>
        <p:spPr>
          <a:xfrm>
            <a:off x="1583741" y="4756709"/>
            <a:ext cx="6035040" cy="713232"/>
          </a:xfrm>
          <a:prstGeom prst="round1Rect">
            <a:avLst>
              <a:gd name="adj" fmla="val 23087"/>
            </a:avLst>
          </a:prstGeom>
          <a:solidFill>
            <a:srgbClr val="FFFFFF"/>
          </a:solidFill>
          <a:ln/>
        </p:spPr>
        <p:txBody>
          <a:bodyPr/>
          <a:p/>
        </p:txBody>
      </p:sp>
      <p:sp>
        <p:nvSpPr>
          <p:cNvPr id="47" name="R4 chip"/>
          <p:cNvSpPr/>
          <p:nvPr/>
        </p:nvSpPr>
        <p:spPr>
          <a:xfrm>
            <a:off x="544982" y="4756709"/>
            <a:ext cx="1039673" cy="713232"/>
          </a:xfrm>
          <a:prstGeom prst="rect">
            <a:avLst/>
          </a:prstGeom>
          <a:solidFill>
            <a:srgbClr val="B9D2F7"/>
          </a:solidFill>
          <a:ln/>
        </p:spPr>
        <p:txBody>
          <a:bodyPr/>
          <a:p/>
        </p:txBody>
      </p:sp>
      <p:sp>
        <p:nvSpPr>
          <p:cNvPr id="48" name="R4 num"/>
          <p:cNvSpPr/>
          <p:nvPr/>
        </p:nvSpPr>
        <p:spPr>
          <a:xfrm>
            <a:off x="686714" y="4820717"/>
            <a:ext cx="1109167" cy="585216"/>
          </a:xfrm>
          <a:prstGeom prst="rect">
            <a:avLst/>
          </a:prstGeom>
          <a:noFill/>
          <a:ln/>
        </p:spPr>
        <p:txBody>
          <a:bodyPr wrap="square" rtlCol="0" anchor="ctr"/>
          <a:lstStyle/>
          <a:p>
            <a:pPr algn="ctr" indent="0" marL="0">
              <a:buNone/>
            </a:pPr>
            <a:r>
              <a:rPr lang="en-US" sz="3200" dirty="0" b="1"/>
              <a:t>4</a:t>
            </a:r>
            <a:endParaRPr lang="en-US" sz="3200" dirty="0" b="1"/>
          </a:p>
        </p:txBody>
      </p:sp>
      <p:sp>
        <p:nvSpPr>
          <p:cNvPr id="49" name="R4 text"/>
          <p:cNvSpPr/>
          <p:nvPr/>
        </p:nvSpPr>
        <p:spPr>
          <a:xfrm>
            <a:off x="1810512" y="4756709"/>
            <a:ext cx="2304288" cy="713232"/>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When will Tomás be away?</a:t>
            </a:r>
            <a:endParaRPr lang="en-US" sz="1500" dirty="0"/>
          </a:p>
        </p:txBody>
      </p:sp>
      <p:sp>
        <p:nvSpPr>
          <p:cNvPr id="50" name="R4 ans"/>
          <p:cNvSpPr/>
          <p:nvPr/>
        </p:nvSpPr>
        <p:spPr>
          <a:xfrm>
            <a:off x="4187952" y="4884725"/>
            <a:ext cx="3383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From June 10 to June 17.</a:t>
            </a:r>
            <a:endParaRPr lang="en-US" sz="1400" dirty="0" b="1"/>
          </a:p>
        </p:txBody>
      </p:sp>
      <p:sp>
        <p:nvSpPr>
          <p:cNvPr id="51" name="R5 card"/>
          <p:cNvSpPr/>
          <p:nvPr/>
        </p:nvSpPr>
        <p:spPr>
          <a:xfrm>
            <a:off x="1583741" y="5543093"/>
            <a:ext cx="6035040" cy="713232"/>
          </a:xfrm>
          <a:prstGeom prst="round1Rect">
            <a:avLst>
              <a:gd name="adj" fmla="val 23087"/>
            </a:avLst>
          </a:prstGeom>
          <a:solidFill>
            <a:srgbClr val="FFFFFF"/>
          </a:solidFill>
          <a:ln/>
        </p:spPr>
        <p:txBody>
          <a:bodyPr/>
          <a:p/>
        </p:txBody>
      </p:sp>
      <p:sp>
        <p:nvSpPr>
          <p:cNvPr id="52" name="R5 chip"/>
          <p:cNvSpPr/>
          <p:nvPr/>
        </p:nvSpPr>
        <p:spPr>
          <a:xfrm>
            <a:off x="544982" y="5543093"/>
            <a:ext cx="1039673" cy="713232"/>
          </a:xfrm>
          <a:prstGeom prst="rect">
            <a:avLst/>
          </a:prstGeom>
          <a:solidFill>
            <a:srgbClr val="B9D2F7"/>
          </a:solidFill>
          <a:ln/>
        </p:spPr>
        <p:txBody>
          <a:bodyPr/>
          <a:p/>
        </p:txBody>
      </p:sp>
      <p:sp>
        <p:nvSpPr>
          <p:cNvPr id="53" name="R5 num"/>
          <p:cNvSpPr/>
          <p:nvPr/>
        </p:nvSpPr>
        <p:spPr>
          <a:xfrm>
            <a:off x="686714" y="5607101"/>
            <a:ext cx="1109167" cy="585216"/>
          </a:xfrm>
          <a:prstGeom prst="rect">
            <a:avLst/>
          </a:prstGeom>
          <a:noFill/>
          <a:ln/>
        </p:spPr>
        <p:txBody>
          <a:bodyPr wrap="square" rtlCol="0" anchor="ctr"/>
          <a:lstStyle/>
          <a:p>
            <a:pPr algn="ctr" indent="0" marL="0">
              <a:buNone/>
            </a:pPr>
            <a:r>
              <a:rPr lang="en-US" sz="3200" dirty="0" b="1"/>
              <a:t>5</a:t>
            </a:r>
            <a:endParaRPr lang="en-US" sz="3200" dirty="0" b="1"/>
          </a:p>
        </p:txBody>
      </p:sp>
      <p:sp>
        <p:nvSpPr>
          <p:cNvPr id="54" name="R5 text"/>
          <p:cNvSpPr/>
          <p:nvPr/>
        </p:nvSpPr>
        <p:spPr>
          <a:xfrm>
            <a:off x="1810512" y="5543093"/>
            <a:ext cx="2304288" cy="713232"/>
          </a:xfrm>
          <a:prstGeom prst="rect">
            <a:avLst/>
          </a:prstGeom>
          <a:noFill/>
          <a:ln/>
        </p:spPr>
        <p:txBody>
          <a:bodyPr wrap="square" rtlCol="0" anchor="ctr" tIns="0" bIns="0"/>
          <a:lstStyle/>
          <a:p>
            <a:pPr algn="l" indent="0" marL="0">
              <a:buNone/>
            </a:pPr>
            <a:r>
              <a:rPr lang="en-US" sz="1500" dirty="0">
                <a:solidFill>
                  <a:srgbClr val="1B2236"/>
                </a:solidFill>
                <a:latin typeface="Lexend Deca" pitchFamily="34" charset="0"/>
                <a:ea typeface="Lexend Deca" pitchFamily="34" charset="-122"/>
                <a:cs typeface="Lexend Deca" pitchFamily="34" charset="-120"/>
              </a:rPr>
              <a:t>Where will the spare key be?</a:t>
            </a:r>
            <a:endParaRPr lang="en-US" sz="1500" dirty="0"/>
          </a:p>
        </p:txBody>
      </p:sp>
      <p:sp>
        <p:nvSpPr>
          <p:cNvPr id="55" name="R5 ans"/>
          <p:cNvSpPr/>
          <p:nvPr/>
        </p:nvSpPr>
        <p:spPr>
          <a:xfrm>
            <a:off x="4187952" y="5671109"/>
            <a:ext cx="3383280" cy="457200"/>
          </a:xfrm>
          <a:prstGeom prst="roundRect">
            <a:avLst>
              <a:gd name="adj" fmla="val 22000"/>
            </a:avLst>
          </a:prstGeom>
          <a:solidFill>
            <a:srgbClr val="C9B8F2"/>
          </a:solidFill>
          <a:ln w="38100">
            <a:noFill/>
          </a:ln>
        </p:spPr>
        <p:txBody>
          <a:bodyPr wrap="square" lIns="73152" tIns="36576" rIns="73152" bIns="36576" rtlCol="0" anchor="ctr">
            <a:noAutofit/>
          </a:bodyPr>
          <a:lstStyle/>
          <a:p>
            <a:pPr algn="ctr" indent="0" marL="0">
              <a:buNone/>
            </a:pPr>
            <a:r>
              <a:rPr lang="en-US" sz="1400" dirty="0" b="1">
                <a:solidFill>
                  <a:srgbClr val="1B2236"/>
                </a:solidFill>
                <a:latin typeface="Lexend Deca" pitchFamily="34" charset="0"/>
                <a:ea typeface="Lexend Deca" pitchFamily="34" charset="-122"/>
                <a:cs typeface="Lexend Deca" pitchFamily="34" charset="-120"/>
              </a:rPr>
              <a:t>In an envelope under Ms. Lee's door (on Sunday).</a:t>
            </a:r>
            <a:endParaRPr lang="en-US" sz="1400" dirty="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4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4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4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4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name="L4:go">
    <p:bg>
      <p:bgPr>
        <a:solidFill>
          <a:srgbClr val="F1F5FB"/>
        </a:solidFill>
      </p:bgPr>
    </p:bg>
    <p:spTree>
      <p:nvGrpSpPr>
        <p:cNvPr id="1" name=""/>
        <p:cNvGrpSpPr/>
        <p:nvPr/>
      </p:nvGrpSpPr>
      <p:grpSpPr/>
      <p:sp>
        <p:nvSpPr>
          <p:cNvPr id="2" name="Shape 0"/>
          <p:cNvSpPr/>
          <p:nvPr/>
        </p:nvSpPr>
        <p:spPr>
          <a:xfrm>
            <a:off x="544982" y="786384"/>
            <a:ext cx="5486400" cy="5731459"/>
          </a:xfrm>
          <a:prstGeom prst="rect">
            <a:avLst/>
          </a:prstGeom>
          <a:solidFill>
            <a:srgbClr val="B9D2F7"/>
          </a:solidFill>
          <a:ln/>
        </p:spPr>
        <p:txBody>
          <a:bodyPr/>
          <a:p/>
        </p:txBody>
      </p:sp>
      <p:sp>
        <p:nvSpPr>
          <p:cNvPr id="4" name="Shape 2"/>
          <p:cNvSpPr/>
          <p:nvPr/>
        </p:nvSpPr>
        <p:spPr>
          <a:xfrm>
            <a:off x="4147718" y="2196389"/>
            <a:ext cx="7699248" cy="4160520"/>
          </a:xfrm>
          <a:prstGeom prst="round1Rect">
            <a:avLst>
              <a:gd name="adj" fmla="val 23087"/>
            </a:avLst>
          </a:prstGeom>
          <a:solidFill>
            <a:srgbClr val="8FAFE3"/>
          </a:solidFill>
          <a:ln/>
        </p:spPr>
        <p:txBody>
          <a:bodyPr/>
          <a:p/>
        </p:txBody>
      </p:sp>
      <p:sp>
        <p:nvSpPr>
          <p:cNvPr id="5" name="Shape 3"/>
          <p:cNvSpPr/>
          <p:nvPr/>
        </p:nvSpPr>
        <p:spPr>
          <a:xfrm>
            <a:off x="3992270" y="1937614"/>
            <a:ext cx="7699248" cy="4160520"/>
          </a:xfrm>
          <a:prstGeom prst="round1Rect">
            <a:avLst>
              <a:gd name="adj" fmla="val 23087"/>
            </a:avLst>
          </a:prstGeom>
          <a:solidFill>
            <a:srgbClr val="FFFFFF"/>
          </a:solidFill>
          <a:ln/>
        </p:spPr>
        <p:txBody>
          <a:bodyPr/>
          <a:p/>
        </p:txBody>
      </p:sp>
      <p:sp>
        <p:nvSpPr>
          <p:cNvPr id="6" name="title"/>
          <p:cNvSpPr/>
          <p:nvPr/>
        </p:nvSpPr>
        <p:spPr>
          <a:xfrm>
            <a:off x="4343400" y="2103120"/>
            <a:ext cx="7315200" cy="822960"/>
          </a:xfrm>
          <a:prstGeom prst="rect">
            <a:avLst/>
          </a:prstGeom>
          <a:noFill/>
          <a:ln/>
        </p:spPr>
        <p:txBody>
          <a:bodyPr wrap="square" rtlCol="0" anchor="ctr"/>
          <a:lstStyle/>
          <a:p>
            <a:pPr algn="l" indent="0" marL="0">
              <a:buNone/>
            </a:pPr>
            <a:r>
              <a:rPr lang="en-US" sz="3800" dirty="0" b="1">
                <a:solidFill>
                  <a:srgbClr val="1B2236"/>
                </a:solidFill>
                <a:latin typeface="Lexend Deca" pitchFamily="34" charset="0"/>
                <a:ea typeface="Lexend Deca" pitchFamily="34" charset="-122"/>
                <a:cs typeface="Lexend Deca" pitchFamily="34" charset="-120"/>
              </a:rPr>
              <a:t>Before You Go   </a:t>
            </a:r>
            <a:r>
              <a:rPr lang="en-US" sz="2200" dirty="0" b="1">
                <a:solidFill>
                  <a:srgbClr val="5B3FC4"/>
                </a:solidFill>
                <a:latin typeface="Lexend Deca" pitchFamily="34" charset="0"/>
                <a:ea typeface="Lexend Deca" pitchFamily="34" charset="-122"/>
                <a:cs typeface="Lexend Deca" pitchFamily="34" charset="-120"/>
              </a:rPr>
              <a:t>7:25–7:30</a:t>
            </a:r>
            <a:endParaRPr lang="en-US" sz="4000" dirty="0"/>
          </a:p>
        </p:txBody>
      </p:sp>
      <p:pic>
        <p:nvPicPr>
          <p:cNvPr id="16" name="pic" descr="Spare key: two keys [sign: SPARE]"/>
          <p:cNvPicPr>
            <a:picLocks noChangeAspect="1"/>
          </p:cNvPicPr>
          <p:nvPr/>
        </p:nvPicPr>
        <p:blipFill>
          <a:blip r:embed="rId3"/>
          <a:stretch>
            <a:fillRect/>
          </a:stretch>
        </p:blipFill>
        <p:spPr>
          <a:xfrm>
            <a:off x="777240" y="2651760"/>
            <a:ext cx="3017520" cy="2112264"/>
          </a:xfrm>
          <a:prstGeom prst="rect">
            <a:avLst/>
          </a:prstGeom>
        </p:spPr>
      </p:pic>
      <p:sp>
        <p:nvSpPr>
          <p:cNvPr id="17" name="Num 01"/>
          <p:cNvSpPr/>
          <p:nvPr/>
        </p:nvSpPr>
        <p:spPr>
          <a:xfrm>
            <a:off x="4343400" y="297180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01</a:t>
            </a:r>
            <a:endParaRPr lang="en-US" sz="3000" dirty="0"/>
          </a:p>
        </p:txBody>
      </p:sp>
      <p:sp>
        <p:nvSpPr>
          <p:cNvPr id="18" name="Label 01"/>
          <p:cNvSpPr/>
          <p:nvPr/>
        </p:nvSpPr>
        <p:spPr>
          <a:xfrm>
            <a:off x="5120640" y="297180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Exit ticket</a:t>
            </a:r>
            <a:endParaRPr lang="en-US" sz="2200" dirty="0" b="1"/>
          </a:p>
        </p:txBody>
      </p:sp>
      <p:sp>
        <p:nvSpPr>
          <p:cNvPr id="19" name="Body 01"/>
          <p:cNvSpPr/>
          <p:nvPr/>
        </p:nvSpPr>
        <p:spPr>
          <a:xfrm>
            <a:off x="4343400" y="3520440"/>
            <a:ext cx="3520440" cy="24688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600" dirty="0" b="1">
                <a:solidFill>
                  <a:srgbClr val="1B2236"/>
                </a:solidFill>
                <a:latin typeface="Lexend Deca" pitchFamily="34" charset="0"/>
                <a:ea typeface="Lexend Deca" pitchFamily="34" charset="-122"/>
                <a:cs typeface="Lexend Deca" pitchFamily="34" charset="-120"/>
              </a:rPr>
              <a:t>Ask a classmate for a favor with Would you mind…?</a:t>
            </a:r>
            <a:endParaRPr lang="en-US" sz="1600" dirty="0" b="1"/>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1. Your question (Would you mind…?).</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2. Their answer.</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3. The reason, with because.</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Give it to me at the door.</a:t>
            </a:r>
            <a:endParaRPr lang="en-US" sz="1600" dirty="0" b="0"/>
          </a:p>
        </p:txBody>
      </p:sp>
      <p:sp>
        <p:nvSpPr>
          <p:cNvPr id="20" name="Num 02"/>
          <p:cNvSpPr/>
          <p:nvPr/>
        </p:nvSpPr>
        <p:spPr>
          <a:xfrm>
            <a:off x="8001000" y="2971800"/>
            <a:ext cx="731520" cy="548640"/>
          </a:xfrm>
          <a:prstGeom prst="rect">
            <a:avLst/>
          </a:prstGeom>
          <a:noFill/>
          <a:ln w="38100">
            <a:noFill/>
          </a:ln>
        </p:spPr>
        <p:txBody>
          <a:bodyPr wrap="square" lIns="0" tIns="36576" rIns="0" bIns="36576" rtlCol="0" anchor="ctr">
            <a:noAutofit/>
          </a:bodyPr>
          <a:lstStyle/>
          <a:p>
            <a:pPr algn="l" indent="0" marL="0">
              <a:buNone/>
            </a:pPr>
            <a:r>
              <a:rPr lang="en-US" sz="3000" dirty="0" b="1">
                <a:solidFill>
                  <a:srgbClr val="8FAFE3"/>
                </a:solidFill>
                <a:latin typeface="Lexend Deca" pitchFamily="34" charset="0"/>
                <a:ea typeface="Lexend Deca" pitchFamily="34" charset="-122"/>
                <a:cs typeface="Lexend Deca" pitchFamily="34" charset="-120"/>
              </a:rPr>
              <a:t>02</a:t>
            </a:r>
            <a:endParaRPr lang="en-US" sz="3000" dirty="0"/>
          </a:p>
        </p:txBody>
      </p:sp>
      <p:sp>
        <p:nvSpPr>
          <p:cNvPr id="21" name="Label 02"/>
          <p:cNvSpPr/>
          <p:nvPr/>
        </p:nvSpPr>
        <p:spPr>
          <a:xfrm>
            <a:off x="8778240" y="2971800"/>
            <a:ext cx="2651760" cy="548640"/>
          </a:xfrm>
          <a:prstGeom prst="rect">
            <a:avLst/>
          </a:prstGeom>
          <a:noFill/>
          <a:ln w="38100">
            <a:noFill/>
          </a:ln>
        </p:spPr>
        <p:txBody>
          <a:bodyPr wrap="square" lIns="73152" tIns="36576" rIns="73152" bIns="36576" rtlCol="0" anchor="ctr">
            <a:noAutofit/>
          </a:bodyPr>
          <a:lstStyle/>
          <a:p>
            <a:pPr algn="l" indent="0" marL="0">
              <a:buNone/>
            </a:pPr>
            <a:r>
              <a:rPr lang="en-US" sz="2200" dirty="0" b="1">
                <a:solidFill>
                  <a:srgbClr val="1B2236"/>
                </a:solidFill>
                <a:latin typeface="Lexend Deca" pitchFamily="34" charset="0"/>
                <a:ea typeface="Lexend Deca" pitchFamily="34" charset="-122"/>
                <a:cs typeface="Lexend Deca" pitchFamily="34" charset="-120"/>
              </a:rPr>
              <a:t>Homework</a:t>
            </a:r>
            <a:endParaRPr lang="en-US" sz="2200" dirty="0" b="1"/>
          </a:p>
        </p:txBody>
      </p:sp>
      <p:sp>
        <p:nvSpPr>
          <p:cNvPr id="22" name="Body 02"/>
          <p:cNvSpPr/>
          <p:nvPr/>
        </p:nvSpPr>
        <p:spPr>
          <a:xfrm>
            <a:off x="8001000" y="3520440"/>
            <a:ext cx="3657600" cy="2468880"/>
          </a:xfrm>
          <a:prstGeom prst="rect">
            <a:avLst/>
          </a:prstGeom>
          <a:noFill/>
          <a:ln w="38100">
            <a:noFill/>
          </a:ln>
        </p:spPr>
        <p:txBody>
          <a:bodyPr wrap="square" lIns="73152" tIns="36576" rIns="73152" bIns="36576" rtlCol="0" anchor="t">
            <a:noAutofit/>
          </a:bodyPr>
          <a:lstStyle/>
          <a:p>
            <a:pPr algn="l" indent="0" marL="0">
              <a:spcAft>
                <a:spcPts val="200"/>
              </a:spcAft>
              <a:buNone/>
            </a:pPr>
            <a:r>
              <a:rPr lang="en-US" sz="1600" dirty="0" b="1">
                <a:solidFill>
                  <a:srgbClr val="1B2236"/>
                </a:solidFill>
                <a:latin typeface="Lexend Deca" pitchFamily="34" charset="0"/>
                <a:ea typeface="Lexend Deca" pitchFamily="34" charset="-122"/>
                <a:cs typeface="Lexend Deca" pitchFamily="34" charset="-120"/>
              </a:rPr>
              <a:t>About 15–20 minutes.</a:t>
            </a:r>
            <a:endParaRPr lang="en-US" sz="1600" dirty="0" b="1"/>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1. Write the question or answer.</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2. Finish your note (Read &amp; Write C).</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3. Write 3 favors and polite answers.</a:t>
            </a:r>
            <a:endParaRPr lang="en-US" sz="1600" dirty="0" b="0"/>
          </a:p>
          <a:p>
            <a:pPr algn="l" indent="0" marL="0">
              <a:spcAft>
                <a:spcPts val="200"/>
              </a:spcAft>
              <a:buNone/>
            </a:pPr>
            <a:r>
              <a:rPr lang="en-US" sz="1600" dirty="0" b="0">
                <a:solidFill>
                  <a:srgbClr val="1B2236"/>
                </a:solidFill>
                <a:latin typeface="Lexend Deca" pitchFamily="34" charset="0"/>
                <a:ea typeface="Lexend Deca" pitchFamily="34" charset="-122"/>
                <a:cs typeface="Lexend Deca" pitchFamily="34" charset="-120"/>
              </a:rPr>
              <a:t>4. Review: Lesson 4.</a:t>
            </a:r>
            <a:endParaRPr lang="en-US" sz="1600" dirty="0" b="0"/>
          </a:p>
          <a:p>
            <a:pPr algn="l" indent="0" marL="0">
              <a:spcAft>
                <a:spcPts val="200"/>
              </a:spcAft>
              <a:buNone/>
            </a:pPr>
            <a:r>
              <a:rPr lang="en-US" sz="1600" dirty="0" b="1">
                <a:solidFill>
                  <a:srgbClr val="1B2236"/>
                </a:solidFill>
                <a:latin typeface="Lexend Deca" pitchFamily="34" charset="0"/>
                <a:ea typeface="Lexend Deca" pitchFamily="34" charset="-122"/>
                <a:cs typeface="Lexend Deca" pitchFamily="34" charset="-120"/>
              </a:rPr>
              <a:t>Bring it next week!</a:t>
            </a:r>
            <a:endParaRPr lang="en-US" sz="1600" dirty="0" b="1"/>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name="L4:goodbye">
    <p:bg>
      <p:bgPr>
        <a:solidFill>
          <a:srgbClr val="F1F5FB"/>
        </a:solidFill>
      </p:bgPr>
    </p:bg>
    <p:spTree>
      <p:nvGrpSpPr>
        <p:cNvPr id="1" name=""/>
        <p:cNvGrpSpPr/>
        <p:nvPr/>
      </p:nvGrpSpPr>
      <p:grpSpPr/>
      <p:sp>
        <p:nvSpPr>
          <p:cNvPr id="2" name="Shape 0"/>
          <p:cNvSpPr/>
          <p:nvPr/>
        </p:nvSpPr>
        <p:spPr>
          <a:xfrm>
            <a:off x="7223760" y="914400"/>
            <a:ext cx="4480560" cy="5120640"/>
          </a:xfrm>
          <a:prstGeom prst="round1Rect">
            <a:avLst>
              <a:gd name="adj" fmla="val 23087"/>
            </a:avLst>
          </a:prstGeom>
          <a:solidFill>
            <a:srgbClr val="B9D2F7"/>
          </a:solidFill>
          <a:ln/>
        </p:spPr>
        <p:txBody>
          <a:bodyPr/>
          <a:p/>
        </p:txBody>
      </p:sp>
      <p:pic>
        <p:nvPicPr>
          <p:cNvPr id="4" name="pic" descr="Thank-you note: a note and flowers [sign: THANK YOU!]">    </p:cNvPr>
          <p:cNvPicPr>
            <a:picLocks noChangeAspect="1"/>
          </p:cNvPicPr>
          <p:nvPr/>
        </p:nvPicPr>
        <p:blipFill>
          <a:blip r:embed="rId3"/>
          <a:stretch>
            <a:fillRect/>
          </a:stretch>
        </p:blipFill>
        <p:spPr>
          <a:xfrm>
            <a:off x="7726680" y="1664208"/>
            <a:ext cx="3474720" cy="2432304"/>
          </a:xfrm>
          <a:prstGeom prst="rect">
            <a:avLst/>
          </a:prstGeom>
        </p:spPr>
      </p:pic>
      <p:sp>
        <p:nvSpPr>
          <p:cNvPr id="5" name="lesson"/>
          <p:cNvSpPr/>
          <p:nvPr/>
        </p:nvSpPr>
        <p:spPr>
          <a:xfrm>
            <a:off x="7635240" y="4434840"/>
            <a:ext cx="3657600" cy="548640"/>
          </a:xfrm>
          <a:prstGeom prst="rect">
            <a:avLst/>
          </a:prstGeom>
          <a:noFill/>
          <a:ln/>
        </p:spPr>
        <p:txBody>
          <a:bodyPr wrap="square" rtlCol="0" anchor="ctr"/>
          <a:lstStyle/>
          <a:p>
            <a:pPr algn="ctr" indent="0" marL="0">
              <a:buNone/>
            </a:pPr>
            <a:r>
              <a:rPr lang="en-US" sz="2200" b="1" dirty="0">
                <a:solidFill>
                  <a:srgbClr val="1B2236"/>
                </a:solidFill>
                <a:latin typeface="Lexend Deca" pitchFamily="34" charset="0"/>
                <a:ea typeface="Lexend Deca" pitchFamily="34" charset="-122"/>
                <a:cs typeface="Lexend Deca" pitchFamily="34" charset="-120"/>
              </a:rPr>
              <a:t>Lesson 5  ·  Level 4</a:t>
            </a:r>
            <a:endParaRPr lang="en-US" sz="2200" b="1" dirty="0"/>
          </a:p>
        </p:txBody>
      </p:sp>
      <p:sp>
        <p:nvSpPr>
          <p:cNvPr id="6" name="Shape 3"/>
          <p:cNvSpPr/>
          <p:nvPr/>
        </p:nvSpPr>
        <p:spPr>
          <a:xfrm>
            <a:off x="661111" y="1146658"/>
            <a:ext cx="6035040" cy="2468880"/>
          </a:xfrm>
          <a:prstGeom prst="roundRect">
            <a:avLst>
              <a:gd name="adj" fmla="val 16667"/>
            </a:avLst>
          </a:prstGeom>
          <a:solidFill>
            <a:srgbClr val="8FAFE3"/>
          </a:solidFill>
          <a:ln/>
        </p:spPr>
        <p:txBody>
          <a:bodyPr/>
          <a:p/>
        </p:txBody>
      </p:sp>
      <p:sp>
        <p:nvSpPr>
          <p:cNvPr id="7" name="Shape 4"/>
          <p:cNvSpPr/>
          <p:nvPr/>
        </p:nvSpPr>
        <p:spPr>
          <a:xfrm>
            <a:off x="685800" y="1097280"/>
            <a:ext cx="6035040" cy="2468880"/>
          </a:xfrm>
          <a:prstGeom prst="roundRect">
            <a:avLst>
              <a:gd name="adj" fmla="val 16667"/>
            </a:avLst>
          </a:prstGeom>
          <a:solidFill>
            <a:srgbClr val="FFFFFF"/>
          </a:solidFill>
          <a:ln/>
        </p:spPr>
        <p:txBody>
          <a:bodyPr/>
          <a:p/>
        </p:txBody>
      </p:sp>
      <p:sp>
        <p:nvSpPr>
          <p:cNvPr id="8" name="title"/>
          <p:cNvSpPr/>
          <p:nvPr/>
        </p:nvSpPr>
        <p:spPr>
          <a:xfrm>
            <a:off x="868680" y="1325880"/>
            <a:ext cx="5806440" cy="2011680"/>
          </a:xfrm>
          <a:prstGeom prst="rect">
            <a:avLst/>
          </a:prstGeom>
          <a:noFill/>
          <a:ln/>
        </p:spPr>
        <p:txBody>
          <a:bodyPr wrap="square" rtlCol="0" anchor="ctr"/>
          <a:lstStyle/>
          <a:p>
            <a:pPr algn="l" indent="0" marL="0">
              <a:lnSpc>
                <a:spcPct val="90000"/>
              </a:lnSpc>
              <a:buNone/>
            </a:pPr>
            <a:r>
              <a:rPr lang="en-US" sz="4400" b="1" dirty="0">
                <a:solidFill>
                  <a:srgbClr val="1B2236"/>
                </a:solidFill>
                <a:latin typeface="Lexend Deca" pitchFamily="34" charset="0"/>
                <a:ea typeface="Lexend Deca" pitchFamily="34" charset="-122"/>
                <a:cs typeface="Lexend Deca" pitchFamily="34" charset="-120"/>
              </a:rPr>
              <a:t>Goodbye! See You Next Week!</a:t>
            </a:r>
            <a:endParaRPr lang="en-US" sz="4400" b="1" dirty="0"/>
          </a:p>
        </p:txBody>
      </p:sp>
      <p:sp>
        <p:nvSpPr>
          <p:cNvPr id="9" name="lead"/>
          <p:cNvSpPr/>
          <p:nvPr/>
        </p:nvSpPr>
        <p:spPr>
          <a:xfrm>
            <a:off x="777240" y="3977640"/>
            <a:ext cx="5852160" cy="502920"/>
          </a:xfrm>
          <a:prstGeom prst="rect">
            <a:avLst/>
          </a:prstGeom>
          <a:noFill/>
          <a:ln/>
        </p:spPr>
        <p:txBody>
          <a:bodyPr wrap="square" rtlCol="0" anchor="t"/>
          <a:lstStyle/>
          <a:p>
            <a:pPr algn="l" indent="0" marL="0">
              <a:buNone/>
            </a:pPr>
            <a:r>
              <a:rPr lang="en-US" sz="2400" b="1" dirty="0">
                <a:solidFill>
                  <a:srgbClr val="1B2236"/>
                </a:solidFill>
                <a:latin typeface="Lexend Deca" pitchFamily="34" charset="0"/>
                <a:ea typeface="Lexend Deca" pitchFamily="34" charset="-122"/>
                <a:cs typeface="Lexend Deca" pitchFamily="34" charset="-120"/>
              </a:rPr>
              <a:t>Now you can:</a:t>
            </a:r>
            <a:endParaRPr lang="en-US" sz="2400" b="1" dirty="0"/>
          </a:p>
        </p:txBody>
      </p:sp>
      <p:sp>
        <p:nvSpPr>
          <p:cNvPr id="10" name="bullets"/>
          <p:cNvSpPr/>
          <p:nvPr/>
        </p:nvSpPr>
        <p:spPr>
          <a:xfrm>
            <a:off x="777240" y="4480560"/>
            <a:ext cx="6035040" cy="1737360"/>
          </a:xfrm>
          <a:prstGeom prst="rect">
            <a:avLst/>
          </a:prstGeom>
          <a:noFill/>
          <a:ln/>
        </p:spPr>
        <p:txBody>
          <a:bodyPr wrap="square" rtlCol="0" anchor="t"/>
          <a:lstStyle/>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Ask for a favor</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Say yes or no politely</a:t>
            </a:r>
            <a:endParaRPr lang="en-US" sz="2200" dirty="0"/>
          </a:p>
          <a:p>
            <a:pPr algn="l" indent="0" marL="0">
              <a:lnSpc>
                <a:spcPct val="115000"/>
              </a:lnSpc>
              <a:buNone/>
            </a:pPr>
            <a:r>
              <a:rPr lang="en-US" sz="2200" dirty="0">
                <a:solidFill>
                  <a:srgbClr val="1B2236"/>
                </a:solidFill>
                <a:latin typeface="Lexend Deca" pitchFamily="34" charset="0"/>
                <a:ea typeface="Lexend Deca" pitchFamily="34" charset="-122"/>
                <a:cs typeface="Lexend Deca" pitchFamily="34" charset="-120"/>
              </a:rPr>
              <a:t>•  Ask permission</a:t>
            </a:r>
            <a:endParaRPr lang="en-US" sz="2200" dirty="0"/>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name="L4:credits">
    <p:bg>
      <p:bgPr>
        <a:solidFill>
          <a:srgbClr val="C9B8F2"/>
        </a:solidFill>
      </p:bgPr>
    </p:bg>
    <p:spTree>
      <p:nvGrpSpPr>
        <p:cNvPr id="1" name=""/>
        <p:cNvGrpSpPr/>
        <p:nvPr/>
      </p:nvGrpSpPr>
      <p:grpSpPr/>
      <p:sp>
        <p:nvSpPr>
          <p:cNvPr id="2" name="Shape 0"/>
          <p:cNvSpPr/>
          <p:nvPr/>
        </p:nvSpPr>
        <p:spPr>
          <a:xfrm>
            <a:off x="0" y="0"/>
            <a:ext cx="12191695" cy="6858000"/>
          </a:xfrm>
          <a:prstGeom prst="rect">
            <a:avLst/>
          </a:prstGeom>
          <a:solidFill>
            <a:srgbClr val="DCE6F5"/>
          </a:solidFill>
          <a:ln/>
        </p:spPr>
        <p:txBody>
          <a:bodyPr/>
          <a:p/>
        </p:txBody>
      </p:sp>
      <p:sp>
        <p:nvSpPr>
          <p:cNvPr id="4" name="Shape 2"/>
          <p:cNvSpPr/>
          <p:nvPr/>
        </p:nvSpPr>
        <p:spPr>
          <a:xfrm>
            <a:off x="0" y="1371600"/>
            <a:ext cx="12191695" cy="5486400"/>
          </a:xfrm>
          <a:prstGeom prst="round1Rect">
            <a:avLst>
              <a:gd name="adj" fmla="val 23087"/>
            </a:avLst>
          </a:prstGeom>
          <a:solidFill>
            <a:srgbClr val="B9D2F7"/>
          </a:solidFill>
          <a:ln/>
        </p:spPr>
        <p:txBody>
          <a:bodyPr/>
          <a:p/>
        </p:txBody>
      </p:sp>
      <p:sp>
        <p:nvSpPr>
          <p:cNvPr id="5" name="Shape 3"/>
          <p:cNvSpPr/>
          <p:nvPr/>
        </p:nvSpPr>
        <p:spPr>
          <a:xfrm>
            <a:off x="518465" y="431597"/>
            <a:ext cx="5361127" cy="1595628"/>
          </a:xfrm>
          <a:prstGeom prst="roundRect">
            <a:avLst>
              <a:gd name="adj" fmla="val 16667"/>
            </a:avLst>
          </a:prstGeom>
          <a:solidFill>
            <a:srgbClr val="8FAFE3"/>
          </a:solidFill>
          <a:ln/>
        </p:spPr>
        <p:txBody>
          <a:bodyPr/>
          <a:p/>
        </p:txBody>
      </p:sp>
      <p:sp>
        <p:nvSpPr>
          <p:cNvPr id="6" name="Shape 4"/>
          <p:cNvSpPr/>
          <p:nvPr/>
        </p:nvSpPr>
        <p:spPr>
          <a:xfrm>
            <a:off x="550469" y="365760"/>
            <a:ext cx="5361127" cy="1595628"/>
          </a:xfrm>
          <a:prstGeom prst="roundRect">
            <a:avLst>
              <a:gd name="adj" fmla="val 16667"/>
            </a:avLst>
          </a:prstGeom>
          <a:solidFill>
            <a:srgbClr val="FFFFFF"/>
          </a:solidFill>
          <a:ln/>
        </p:spPr>
        <p:txBody>
          <a:bodyPr/>
          <a:p/>
        </p:txBody>
      </p:sp>
      <p:sp>
        <p:nvSpPr>
          <p:cNvPr id="7" name="title"/>
          <p:cNvSpPr/>
          <p:nvPr/>
        </p:nvSpPr>
        <p:spPr>
          <a:xfrm>
            <a:off x="674827" y="640080"/>
            <a:ext cx="5120640" cy="1024128"/>
          </a:xfrm>
          <a:prstGeom prst="rect">
            <a:avLst/>
          </a:prstGeom>
          <a:noFill/>
          <a:ln/>
        </p:spPr>
        <p:txBody>
          <a:bodyPr wrap="square" lIns="50800" tIns="50800" rIns="50800" bIns="50800" rtlCol="0" anchor="ctr"/>
          <a:lstStyle/>
          <a:p>
            <a:pPr algn="l" indent="0" marL="0">
              <a:buNone/>
            </a:pPr>
            <a:r>
              <a:rPr lang="en-US" sz="5400" dirty="0" b="1">
                <a:solidFill>
                  <a:srgbClr val="1B2236"/>
                </a:solidFill>
                <a:latin typeface="Lexend Deca" pitchFamily="34" charset="0"/>
                <a:ea typeface="Lexend Deca" pitchFamily="34" charset="-122"/>
                <a:cs typeface="Lexend Deca" pitchFamily="34" charset="-120"/>
              </a:rPr>
              <a:t>Credits</a:t>
            </a:r>
            <a:endParaRPr lang="en-US" sz="5400" dirty="0"/>
          </a:p>
        </p:txBody>
      </p:sp>
      <p:sp>
        <p:nvSpPr>
          <p:cNvPr id="15" name="pictures"/>
          <p:cNvSpPr/>
          <p:nvPr/>
        </p:nvSpPr>
        <p:spPr>
          <a:xfrm>
            <a:off x="411480" y="2240280"/>
            <a:ext cx="11365992" cy="22402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Pictures</a:t>
            </a:r>
            <a:endParaRPr lang="en-US" sz="2000" dirty="0" b="1"/>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Vocabulary pictures use Twemoji graphics by Twitter, Inc. and other contributors (https://github.com/jdecked/twemoji), licensed under CC BY 4.0 (https://creativecommons.org/licenses/by/4.0/). The graphics were resized and combined, and signs and labels were added.</a:t>
            </a:r>
            <a:endParaRPr lang="en-US" sz="1600" dirty="0" b="0"/>
          </a:p>
        </p:txBody>
      </p:sp>
      <p:sp>
        <p:nvSpPr>
          <p:cNvPr id="16" name="names"/>
          <p:cNvSpPr/>
          <p:nvPr/>
        </p:nvSpPr>
        <p:spPr>
          <a:xfrm>
            <a:off x="411480" y="4709160"/>
            <a:ext cx="4206240"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Names and story</a:t>
            </a:r>
            <a:endParaRPr lang="en-US" sz="2000" dirty="0" b="1"/>
          </a:p>
          <a:p>
            <a:pPr algn="l" indent="0" marL="0">
              <a:spcAft>
                <a:spcPts val="600"/>
              </a:spcAft>
              <a:buNone/>
            </a:pPr>
            <a:r>
              <a:rPr lang="en-US" sz="1600" dirty="0" b="0">
                <a:solidFill>
                  <a:srgbClr val="1B2236"/>
                </a:solidFill>
                <a:latin typeface="Lexend Deca" pitchFamily="34" charset="0"/>
                <a:ea typeface="Lexend Deca" pitchFamily="34" charset="-122"/>
                <a:cs typeface="Lexend Deca" pitchFamily="34" charset="-120"/>
              </a:rPr>
              <a:t>Patricia, Mr. Wilson, Omar, Lina, Ana, Ms. Diaz, Tomás, Ms. Lee, and Mr. Ruiz are invented names. The listening story is invented.</a:t>
            </a:r>
            <a:endParaRPr lang="en-US" sz="1600" dirty="0" b="0"/>
          </a:p>
        </p:txBody>
      </p:sp>
      <p:sp>
        <p:nvSpPr>
          <p:cNvPr id="17" name="audio"/>
          <p:cNvSpPr/>
          <p:nvPr/>
        </p:nvSpPr>
        <p:spPr>
          <a:xfrm>
            <a:off x="4846320" y="4709160"/>
            <a:ext cx="6931152" cy="1783080"/>
          </a:xfrm>
          <a:prstGeom prst="roundRect">
            <a:avLst>
              <a:gd name="adj" fmla="val 22000"/>
            </a:avLst>
          </a:prstGeom>
          <a:solidFill>
            <a:srgbClr val="FFFFFF"/>
          </a:solidFill>
          <a:ln w="38100">
            <a:noFill/>
          </a:ln>
        </p:spPr>
        <p:txBody>
          <a:bodyPr wrap="square" lIns="274320" tIns="36576" rIns="274320" bIns="36576" rtlCol="0" anchor="ctr">
            <a:noAutofit/>
          </a:bodyPr>
          <a:lstStyle/>
          <a:p>
            <a:pPr algn="l" indent="0" marL="0">
              <a:spcAft>
                <a:spcPts val="600"/>
              </a:spcAft>
              <a:buNone/>
            </a:pPr>
            <a:r>
              <a:rPr lang="en-US" sz="2000" dirty="0" b="1">
                <a:solidFill>
                  <a:srgbClr val="5B3FC4"/>
                </a:solidFill>
                <a:latin typeface="Lexend Deca" pitchFamily="34" charset="0"/>
                <a:ea typeface="Lexend Deca" pitchFamily="34" charset="-122"/>
                <a:cs typeface="Lexend Deca" pitchFamily="34" charset="-120"/>
              </a:rPr>
              <a:t>Audio and font</a:t>
            </a:r>
            <a:endParaRPr lang="en-US" sz="2000" dirty="0" b="1"/>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Audio (coming soon): synthetic voices made with Chatterbox TTS (MIT License), cloned from short synthetic reference clips made with Kokoro-82M (Apache License 2.0). No recordings of real people. Each file will carry an inaudible Perth watermark marking it as AI-generated. Font: Lexend Deca (OFL 1.1).</a:t>
            </a:r>
            <a:endParaRPr lang="en-US" sz="1350" dirty="0" b="0"/>
          </a:p>
          <a:p>
            <a:pPr algn="l" indent="0" marL="0">
              <a:spcAft>
                <a:spcPts val="600"/>
              </a:spcAft>
              <a:buNone/>
            </a:pPr>
            <a:r>
              <a:rPr lang="en-US" sz="1350" dirty="0" b="0">
                <a:solidFill>
                  <a:srgbClr val="1B2236"/>
                </a:solidFill>
                <a:latin typeface="Lexend Deca" pitchFamily="34" charset="0"/>
                <a:ea typeface="Lexend Deca" pitchFamily="34" charset="-122"/>
                <a:cs typeface="Lexend Deca" pitchFamily="34" charset="-120"/>
              </a:rPr>
              <a:t>© 2026 the authors. The authors license this deck under CC BY-NC-SA 4.0.</a:t>
            </a:r>
            <a:endParaRPr lang="en-US" sz="1350" dirty="0" b="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4 Lesson 5: Would You Mind…?</dc:title>
  <dc:subject>PptxGenJS Presentation</dc:subject>
  <dc:creator>Level 1 ESL</dc:creator>
  <cp:lastModifiedBy>Level 1 ESL</cp:lastModifiedBy>
  <cp:revision>1</cp:revision>
  <dcterms:created xsi:type="dcterms:W3CDTF">2026-10-15T20:54:31Z</dcterms:created>
  <dcterms:modified xsi:type="dcterms:W3CDTF">2026-10-15T20:54:31Z</dcterms:modified>
</cp:coreProperties>
</file>