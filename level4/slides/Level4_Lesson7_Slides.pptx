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757" r:id="rId32"/>
    <p:sldId id="758" r:id="rId21"/>
    <p:sldId id="759" r:id="rId19"/>
    <p:sldId id="760" r:id="rId15"/>
    <p:sldId id="761" r:id="rId37"/>
    <p:sldId id="762" r:id="rId38"/>
    <p:sldId id="763" r:id="rId39"/>
    <p:sldId id="764" r:id="rId40"/>
    <p:sldId id="765" r:id="rId41"/>
    <p:sldId id="766" r:id="rId42"/>
    <p:sldId id="767" r:id="rId43"/>
    <p:sldId id="768" r:id="rId44"/>
    <p:sldId id="769" r:id="rId45"/>
    <p:sldId id="770" r:id="rId46"/>
    <p:sldId id="771" r:id="rId47"/>
    <p:sldId id="772" r:id="rId48"/>
    <p:sldId id="773" r:id="rId49"/>
    <p:sldId id="774" r:id="rId50"/>
    <p:sldId id="775" r:id="rId51"/>
    <p:sldId id="776" r:id="rId52"/>
    <p:sldId id="777" r:id="rId53"/>
    <p:sldId id="778" r:id="rId54"/>
    <p:sldId id="779" r:id="rId55"/>
    <p:sldId id="780" r:id="rId56"/>
    <p:sldId id="781" r:id="rId9"/>
    <p:sldId id="782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in 3 sentences. A asks one follow-up question (follow-ups on the right). Then switch.</a:t>
            </a:r>
          </a:p>
          <a:p>
            <a:r>
              <a:t>Homework Check (3 min, last click): Pairs compare Homework item 1 (If I had…, I'd…) and read their 3 dreams (item 3) to each other. Then they fill in the box on the Opening Talk page. Walk around. Write 2 common errors on the board (often If I would have time… (→ If I had time…) and If I found $50, I will… (→ I'd…)) and correct them together. Also put up 2 corrections from last week's exit tickets.</a:t>
            </a:r>
          </a:p>
          <a:p>
            <a:r>
              <a:t>Lesson plan: Step 1; Opening Talk page: cards, follow-ups;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6:00–6:08 · Opening Talk + Homework Check · 8 min. Pairs (7 pairs + 1 trio with 15 learners; 3–4 pairs with 7–8).</a:t>
            </a:r>
          </a:p>
          <a:p>
            <a:r>
              <a:t>Before class, write on the board: imaginary situations: What would you do if…? / If I had…, I'd…</a:t>
            </a:r>
          </a:p>
          <a:p>
            <a:r>
              <a:t>Model with one learner: you say, "What would you do if you found $50 at work?" The learner answers with If I found…, I'd… Then you ask, "Why?" Help them say 3 sentences. (Click to show the follow-up.)</a:t>
            </a:r>
          </a:p>
          <a:p>
            <a:r>
              <a:t>Opening Talk (5 min): learners open the Opening Talk page. A asks a card question; B answers in 3 sentences (the answer, a reason, a detail); A asks one follow-up. Switch after each card. The cards are on the next slide.</a:t>
            </a:r>
          </a:p>
          <a:p>
            <a:r>
              <a:t>If behind: one card only.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"Too Early or On Time?" Say: "Expectations at work and in the community: being on time, dress codes and safety rules, invitations (RSVP, what to bring), and comparing customs respectfully. Learners use too and enough, too much / too many, and must / mustn't / don't have to. The company, the rules, and the people are invented."</a:t>
            </a:r>
          </a:p>
          <a:p>
            <a:r>
              <a:t>Read the three lines under "Today you will".</a:t>
            </a:r>
          </a:p>
          <a:p>
            <a:r>
              <a:t>Describe, don't judge: customs vary inside every country, including the U.S., and inside every family. No place is "better." Model It's different and I like both.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6:08–6:15 · New Words · 7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the hard words: on time, early, late (draw a clock: 6:50, 7:00, 7:20); dress code (the rules about clothes); uniform; casual (T-shirt, jeans) vs. formal (a shirt and tie); closed-toe shoes (point to a sneaker, then mime a sandal: "no"); name badge; invitation (a party card); RSVP (tell the host "yes" or "no"); host (the person who has the party).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points to a picture and asks, "Are sandals OK for the kitchen?" B answers with too or enough and a rule: "No, they aren't safe enough. You must wear closed-toe shoes." Switch. 15 learners: finish with a quick team round (3 teams; you say a clue, the first team with the word gets a point). 7–8: 2 teams. 5 or fewer: one team against the clock.</a:t>
            </a:r>
          </a:p>
          <a:p>
            <a:r>
              <a:t>My Words: "Write any word you want in your language on the My Words page. It's your personal list. It's optional." Learners do it at home.</a:t>
            </a:r>
          </a:p>
          <a:p>
            <a:r>
              <a:t>If behind: teach the ★ words only.</a:t>
            </a:r>
          </a:p>
          <a:p>
            <a:r>
              <a:t>Lesson plan: Step 2; New Words page; Partner game; My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"Is a T-shirt casual or formal?" (casual) • 2. "Are sandals closed-toe shoes?" (no) • 3. "If an invitation says RSVP by Friday, what do you do?" (tell the host by Friday)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6:15–6:30 · Listening + "Hear it, say it" · 15 min (slides 8 to 12). Individuals, then pairs check.</a:t>
            </a:r>
          </a:p>
          <a:p>
            <a:r>
              <a:t>Before you listen (2 min). Say: "It's Nadia's first week at a bakery. She asks her coworker, Carmen, about the rules. Then the supervisor, Mr. Brooks, comes in. Listen: what are they talking about?"</a:t>
            </a:r>
          </a:p>
          <a:p>
            <a:r>
              <a:t>There are 3 people: Nadia, Carmen and Mr. Brooks. A narrator starts and ends the listening. Each click highlights the next person.</a:t>
            </a:r>
          </a:p>
          <a:p>
            <a:r>
              <a:t>The audio (L4_L7_listening.mp3, about 1:52) plays the conversation once. Press play again for play 2. A third play is fine if the class needs it.</a:t>
            </a:r>
          </a:p>
          <a:p>
            <a:r>
              <a:t>No speaker? Read the script with a volunteer at a natural, friendly speed, two times. The script says going to and want to. People often say gonna and wanna; learners only need to recognize those words.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(the main idea). Pairs compare. Check together.</a:t>
            </a:r>
          </a:p>
          <a:p>
            <a:r>
              <a:t>Click to circle the answer: a (the rules at work).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1 five minutes early • 2 must • 3 don't have to • 4 mustn't • 5 must • 6 call Mr. Brooks.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enough, 2 too, 3 enough, 4 too, 5 too, 6 much.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"Hear it, say it" (3 min): Point to the script lines. wanna = want to: "What do you want to know?" gonna = going to: "I'm going to buy some today." Then practice too / two / to (the same sound) and the stress in TOO late and not eNOUGH. The class repeats the two lines twice.</a:t>
            </a:r>
          </a:p>
          <a:p>
            <a:r>
              <a:t>Reductions: the listening says going to and want to. People often say gonna and wanna. Learners only need to recognize the short forms.</a:t>
            </a:r>
          </a:p>
          <a:p>
            <a:r>
              <a:t>Lesson plan: Step 3: "Hear it, say it"; Listening page: Hear it, say it; Teacher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draw a clock at 7:10. Say, "My shift starts at 7:00. 7:10 is too late." Draw 6:55: "6:55 is early enough." Write: too = more than OK (a problem); enough = OK. Then show a sandal or mime one: "In a kitchen, you must wear closed-toe shoes. You mustn't wear sandals. You don't have to wear a tie."</a:t>
            </a:r>
          </a:p>
          <a:p>
            <a:r>
              <a:t>Box 1: read across: Are jeans OK for the interview? → No, they're too casual. / They aren't formal enough. Each click shows the answer side of one row.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too much / too many / enough + a noun. Each click shows the answer side of one row.</a:t>
            </a:r>
          </a:p>
          <a:p>
            <a:r>
              <a:t>Rule of thumb (read it aloud): too = more than OK (a problem). enough = OK. enough goes after an adjective (early enough) and before a noun (enough time). too many + things you can count; too much + things you can't count.</a:t>
            </a:r>
          </a:p>
          <a:p>
            <a:r>
              <a:t>Lesson plan: Step 4; Grammar Box 2; Rule of thumb.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must / mustn't / don't have to. Each click shows the answer side of one row.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comparing customs. Each click shows the answer side of one row.</a:t>
            </a:r>
          </a:p>
          <a:p>
            <a:r>
              <a:t>Questions and answers (2 min): Q: enough early or early enough? A: After an adjective: early enough. Before a noun: enough time. • Q: Are mustn't and don't have to the same? A: No! mustn't = don't do it (it's a rule). don't have to = not necessary (you can if you want). • Q: too much or too many? A: too many + things you can count (people, chairs). too much + things you can't count (work, time, noise).</a:t>
            </a:r>
          </a:p>
          <a:p>
            <a:r>
              <a:t>Check questions: "enough early or early enough?" (early enough) • "too much people or too many people?" (too many people) • "Is a tie a rule here?" (no) "So: You mustn't wear a tie or You don't have to wear a tie?" (don't have to).</a:t>
            </a:r>
          </a:p>
          <a:p>
            <a:r>
              <a:t>Lesson plan: Step 4; Grammar Box 4; Questions and answers.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too, 2 enough, 3 many, 4 much, 5 enough, 6 too.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correct words. Pairs check.</a:t>
            </a:r>
          </a:p>
          <a:p>
            <a:r>
              <a:t>Click to circle each answer (one click per item, 1 to 6): 1 mustn't, 2 don't have to, 3 early enough, 4 many, 5 enough time, 6 aren't safe enough.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mistakes. Read the table together: "Don't say… Say…". Read a line from Don't say. Ask: "What's the right way?" Learners try first. Then click to show the right form. Each click shows one line, in order 1 to 5.</a:t>
            </a:r>
          </a:p>
          <a:p>
            <a:r>
              <a:t>Learners can read the contrast tip on their Grammar page on their own; it is optional. You never need to read, translate, or explain it.</a:t>
            </a:r>
          </a:p>
          <a:p>
            <a:r>
              <a:t>Lesson plan: Grammar: Common mistakes;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check (last 3 min of Step 4). Pairs.</a:t>
            </a:r>
          </a:p>
          <a:p>
            <a:r>
              <a:t>A points to a picture and asks, "Are sandals OK for the kitchen?" B answers with too or enough and a rule with must / mustn't. Switch. 15 learners: swap partners once. 5 or fewer: you join one pair.</a:t>
            </a:r>
          </a:p>
          <a:p>
            <a:r>
              <a:t>If behind: skip the pair check. Talk Time practices it.</a:t>
            </a:r>
          </a:p>
          <a:p>
            <a:r>
              <a:t>Break · 6:45–7:00 · 15 min. Write on the board: too late / early enough • too much work / too many people / enough time • must / mustn't (a rule) / don't have to (not necessary)</a:t>
            </a:r>
          </a:p>
          <a:p>
            <a:r>
              <a:t>Lesson plan: Step 4: Pair check; Break.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7:00–7:15 · Talk Time: Customs Compare + Dress Code Check · 15 min.</a:t>
            </a:r>
          </a:p>
          <a:p>
            <a:r>
              <a:t>Model it first (1 min): read a card: "A party starts at 7:00. When do people arrive in your hometown?" Help a learner say, "In my hometown, people usually arrive at 8:00, but here many people arrive at 7:15." Say: "Describe; don't judge. No place is better."</a:t>
            </a:r>
          </a:p>
          <a:p>
            <a:r>
              <a:t>Round 1 (7 min): Customs Compare (groups). One person reads a question card. Each person answers. The group writes 2 sentences with In my hometown…, but here… No place is "better." Each click shows the next step.</a:t>
            </a:r>
          </a:p>
          <a:p>
            <a:r>
              <a:t>15 learners: 5 groups of 3 for round 1; then pairs. 7–8 learners: 2 groups for round 1; then pairs. 5 or fewer: one group for round 1; then pairs (you join if there is an odd number).</a:t>
            </a:r>
          </a:p>
          <a:p>
            <a:r>
              <a:t>Lesson plan: Step 5; Talk Time: Customs Compare.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 (6 min): Dress Code Check (pairs). Pairs read the rule card and the 6 workers. For each worker, they say too casual, not safe enough, or OK, and the rule with must / mustn't / don't have to. Each click shows the next step.</a:t>
            </a:r>
          </a:p>
          <a:p>
            <a:r>
              <a:t>15 learners: 5 groups of 3 for round 1; then pairs. 7–8 learners: 2 groups for round 1; then pairs. 5 or fewer: one group for round 1; then pairs (you join if there is an odd number).</a:t>
            </a:r>
          </a:p>
          <a:p>
            <a:r>
              <a:t>Every answer needs a reason; every partner asks a follow-up. Walk around and listen. Note 2 good sentences to praise and 1 common error for next week.</a:t>
            </a:r>
          </a:p>
          <a:p>
            <a:r>
              <a:t>If behind: round 1 only.</a:t>
            </a:r>
          </a:p>
          <a:p>
            <a:r>
              <a:t>Lesson plan: Step 5; Talk Time: Dress Code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7:15–7:25 · Read &amp; Write: An employee handbook page · 10 min. Pairs read, then individual writing.</a:t>
            </a:r>
          </a:p>
          <a:p>
            <a:r>
              <a:t>Read (4 min): Learners read the handbook page on the Read &amp; Write page and answer the questions. Say: "Read fast first. Then find the answers." Pairs answer questions 1–5 together.</a:t>
            </a:r>
          </a:p>
          <a:p>
            <a:r>
              <a:t>Check (1 min): click to show each answer (one click per question, 1 to 5): 1 5 to 10 minutes before your shift. • 2 Call your supervisor at least one hour before your shift. • 3 No. A text is not enough. • 4 No, but they must wear a name badge. • 5 In the break room.</a:t>
            </a:r>
          </a:p>
          <a:p>
            <a:r>
              <a:t>Write (5 min): Learners write "Tips for your first week" for a new coworker (5–8 sentences) with must, don't have to, too, and enough. Show the example. Writing check 2: collect this writing and write one strength and one fix. Learners start in class and finish at home (Homework item 2).</a:t>
            </a:r>
          </a:p>
          <a:p>
            <a:r>
              <a:t>If behind: questions 1–5 only; the writing becomes homework.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+ Homework · 5 min · NEVER SKIP.</a:t>
            </a:r>
          </a:p>
          <a:p>
            <a:r>
              <a:t>Exit ticket (3 min): learners open the Exit Ticket page and answer in 3 sentences with a reason: What is one custom here that is different from your hometown (or another place you know)? Example on the board: Here, people usually arrive on time for a doctor's appointment. In my hometown, people often arrive a little late. I like the custom here because I don't wait a long time. With 5 or fewer, a learner can say it to you first and then write it.</a:t>
            </a:r>
          </a:p>
          <a:p>
            <a:r>
              <a:t>Collect the pages. After class, sort them into ✓ / almost / not yet. Start next week with 2 corrections on the board (no names).</a:t>
            </a:r>
          </a:p>
          <a:p>
            <a:r>
              <a:t>Homework (2 min): open the Homework page. Do item 1 together (item 1: 6:55 / early / for a 7:00 shift? (enough) → Is 6:55 early enough for a 7:00 shift?). Say: "About 15–20 minutes. Finish your Read &amp; Write writing at home."</a:t>
            </a:r>
          </a:p>
          <a:p>
            <a:r>
              <a:t>Homework items: 1. Write the sentence. Use the words. • 2. Finish your writing from Read &amp; Write C (your tips). Read it one more time. Check ✓ the list in D. • 3. Write 3 rules from a job, a school, or a place you know. Use must, mustn't, or don't have to. Then write why. • 4. Review (Lesson 6). Write one word.</a:t>
            </a:r>
          </a:p>
          <a:p>
            <a:r>
              <a:t>Writing check 2 (Week 7): collect the first-week tips. Write one strength and one fix on each. Learners keep them in their writing folder.</a:t>
            </a:r>
          </a:p>
          <a:p>
            <a:r>
              <a:t>Week 8 is the midterm. It covers Lessons 1–7. Remind learners to bring their workbook.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On time: an alarm clock and a check mark [sign: 7:00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7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Early or On Time?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too early, too late, or on time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too and enough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Explain a workplace rule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goal is a good goal.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678668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51548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is too early, too late, or on time.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22936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22936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39029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22936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adjective and adjective +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casual, safe enough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5643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10417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10417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62651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10417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much / too many / enough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a noun.</a:t>
            </a:r>
            <a:endParaRPr lang="en-US" sz="15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74391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397898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397898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413992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397898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explain a workplace rule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 / mustn't / don't have to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5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53140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185380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185380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01473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185380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compare customs politely and write first-week tips for a new coworker (5–8 sentences).</a:t>
            </a:r>
            <a:endParaRPr lang="en-US" sz="15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188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Early: a sunrise and an alarm clock [sign: 6:50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 if you found $50 at work?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sentences: the answer, a reason, and a detail.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 Would you tell anyone? What would your family do?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 if you found $50 at work?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 if you had a free week?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you had a magic wand, what would you do?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 if a cashier gave you too much change?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6, items 1 and 3.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On time: an alarm clock and a check mark [sign: 7:00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time</a:t>
            </a:r>
            <a:endParaRPr lang="en-US" sz="2000" dirty="0" b="1"/>
          </a:p>
        </p:txBody>
      </p:sp>
      <p:pic>
        <p:nvPicPr>
          <p:cNvPr id="19" name="Word picture 2" descr="Early: a sunrise and an alarm clock [sign: 6:50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early</a:t>
            </a:r>
            <a:endParaRPr lang="en-US" sz="2000" dirty="0" b="1"/>
          </a:p>
        </p:txBody>
      </p:sp>
      <p:pic>
        <p:nvPicPr>
          <p:cNvPr id="21" name="Word picture 3" descr="Late: a person running and an alarm clock [sign: 7:20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late</a:t>
            </a:r>
            <a:endParaRPr lang="en-US" sz="2000" dirty="0" b="1"/>
          </a:p>
        </p:txBody>
      </p:sp>
      <p:pic>
        <p:nvPicPr>
          <p:cNvPr id="23" name="Word picture 4" descr="Dress code: a clipboard and a shirt with a tie [sign: DRESS CODE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dress code</a:t>
            </a:r>
            <a:endParaRPr lang="en-US" sz="2000" dirty="0" b="1"/>
          </a:p>
        </p:txBody>
      </p:sp>
      <p:pic>
        <p:nvPicPr>
          <p:cNvPr id="25" name="Word picture 5" descr="Uniform: a safety vest and a cap [sign: UNIFORM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uniform</a:t>
            </a:r>
            <a:endParaRPr lang="en-US" sz="2000" dirty="0" b="1"/>
          </a:p>
        </p:txBody>
      </p:sp>
      <p:pic>
        <p:nvPicPr>
          <p:cNvPr id="27" name="Word picture 6" descr="Casual: a T-shirt and jean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casual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29184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Too, enough, or OK?</a:t>
            </a:r>
            <a:endParaRPr lang="en-US" sz="2200" dirty="0" b="1"/>
          </a:p>
        </p:txBody>
      </p:sp>
      <p:pic>
        <p:nvPicPr>
          <p:cNvPr id="17" name="Word picture 1" descr="Formal: a shirt with a tie and dress sho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formal</a:t>
            </a:r>
            <a:endParaRPr lang="en-US" sz="2000" dirty="0" b="1"/>
          </a:p>
        </p:txBody>
      </p:sp>
      <p:pic>
        <p:nvPicPr>
          <p:cNvPr id="19" name="Word picture 2" descr="Closed-toe shoes: a sneaker and a check mark [sign: CLOSED-TOE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closed-toe shoes</a:t>
            </a:r>
            <a:endParaRPr lang="en-US" sz="1800" dirty="0" b="1"/>
          </a:p>
        </p:txBody>
      </p:sp>
      <p:pic>
        <p:nvPicPr>
          <p:cNvPr id="21" name="Word picture 3" descr="Name badge: a name badge [sign: HI, I'M NADIA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name badge</a:t>
            </a:r>
            <a:endParaRPr lang="en-US" sz="2000" dirty="0" b="1"/>
          </a:p>
        </p:txBody>
      </p:sp>
      <p:pic>
        <p:nvPicPr>
          <p:cNvPr id="23" name="Word picture 4" descr="Invitation: an envelope and a party popper [sign: PARTY SAT 7:00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invitation</a:t>
            </a:r>
            <a:endParaRPr lang="en-US" sz="2000" dirty="0" b="1"/>
          </a:p>
        </p:txBody>
      </p:sp>
      <p:pic>
        <p:nvPicPr>
          <p:cNvPr id="25" name="Word picture 5" descr="RSVP: a phone and a check mark [sign: RSVP BY FRI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RSVP</a:t>
            </a:r>
            <a:endParaRPr lang="en-US" sz="2000" dirty="0" b="1"/>
          </a:p>
        </p:txBody>
      </p:sp>
      <p:pic>
        <p:nvPicPr>
          <p:cNvPr id="27" name="Word picture 6" descr="Host: a person and a house [sign: HOST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host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T-shirt casual or formal?</a:t>
            </a:r>
            <a:endParaRPr lang="en-US" sz="1600" dirty="0" b="1"/>
          </a:p>
        </p:txBody>
      </p:sp>
      <p:pic>
        <p:nvPicPr>
          <p:cNvPr id="101" name="R1 pic" descr="Casual: a T-shirt and jea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sandals closed-toe shoes?</a:t>
            </a:r>
            <a:endParaRPr lang="en-US" sz="1600" dirty="0" b="1"/>
          </a:p>
        </p:txBody>
      </p:sp>
      <p:pic>
        <p:nvPicPr>
          <p:cNvPr id="102" name="R2 pic" descr="Closed-toe shoes: a sneaker and a check mark [sign: CLOSED-TOE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an invitation says RSVP by Friday, what do you do?</a:t>
            </a:r>
            <a:endParaRPr lang="en-US" sz="1600" dirty="0" b="1"/>
          </a:p>
        </p:txBody>
      </p:sp>
      <p:pic>
        <p:nvPicPr>
          <p:cNvPr id="103" name="R3 pic" descr="Invitation: an envelope and a party popper [sign: PARTY SAT 7:00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casual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the host by Friday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Nadia's first week at a bakery. She asks her coworker, Carmen, about the rules. Then the supervisor, Mr. Brooks, comes in.</a:t>
            </a:r>
            <a:endParaRPr lang="en-US" sz="16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Casual: a T-shirt and jea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Nadia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Carmen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Brooks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they talking about?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2: Tasks B and C.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1:52.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are they talking about?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7830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246888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the rules at work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4924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a party invitation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22960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a job interview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2340864" y="3054096"/>
            <a:ext cx="29992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rules.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answer.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On time means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62940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five minutes early</a:t>
            </a:r>
            <a:endParaRPr lang="en-US" sz="1400" dirty="0" b="1"/>
          </a:p>
        </p:txBody>
      </p:sp>
      <p:sp>
        <p:nvSpPr>
          <p:cNvPr id="10" name="R1 opt2"/>
          <p:cNvSpPr/>
          <p:nvPr/>
        </p:nvSpPr>
        <p:spPr>
          <a:xfrm>
            <a:off x="886968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exactly seven o'clock</a:t>
            </a:r>
            <a:endParaRPr lang="en-US" sz="1400" dirty="0" b="1"/>
          </a:p>
        </p:txBody>
      </p:sp>
      <p:sp>
        <p:nvSpPr>
          <p:cNvPr id="11" name="R1 circle"/>
          <p:cNvSpPr/>
          <p:nvPr/>
        </p:nvSpPr>
        <p:spPr>
          <a:xfrm>
            <a:off x="6501384" y="30540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In the kitchen, you ____ wear the hat and the apron.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62940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400" dirty="0" b="1"/>
          </a:p>
        </p:txBody>
      </p:sp>
      <p:sp>
        <p:nvSpPr>
          <p:cNvPr id="14" name="R2 opt2"/>
          <p:cNvSpPr/>
          <p:nvPr/>
        </p:nvSpPr>
        <p:spPr>
          <a:xfrm>
            <a:off x="886968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 to</a:t>
            </a:r>
            <a:endParaRPr lang="en-US" sz="1400" dirty="0" b="1"/>
          </a:p>
        </p:txBody>
      </p:sp>
      <p:sp>
        <p:nvSpPr>
          <p:cNvPr id="15" name="R2 circle"/>
          <p:cNvSpPr/>
          <p:nvPr/>
        </p:nvSpPr>
        <p:spPr>
          <a:xfrm>
            <a:off x="6501384" y="360273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In the break room, you ____ wear them.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62940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400" dirty="0" b="1"/>
          </a:p>
        </p:txBody>
      </p:sp>
      <p:sp>
        <p:nvSpPr>
          <p:cNvPr id="18" name="R3 opt2"/>
          <p:cNvSpPr/>
          <p:nvPr/>
        </p:nvSpPr>
        <p:spPr>
          <a:xfrm>
            <a:off x="886968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 to</a:t>
            </a:r>
            <a:endParaRPr lang="en-US" sz="1400" dirty="0" b="1"/>
          </a:p>
        </p:txBody>
      </p:sp>
      <p:sp>
        <p:nvSpPr>
          <p:cNvPr id="19" name="R3 circle"/>
          <p:cNvSpPr/>
          <p:nvPr/>
        </p:nvSpPr>
        <p:spPr>
          <a:xfrm>
            <a:off x="8741664" y="415137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You ____ use your phone in the kitchen.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62940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400" dirty="0" b="1"/>
          </a:p>
        </p:txBody>
      </p:sp>
      <p:sp>
        <p:nvSpPr>
          <p:cNvPr id="22" name="R4 opt2"/>
          <p:cNvSpPr/>
          <p:nvPr/>
        </p:nvSpPr>
        <p:spPr>
          <a:xfrm>
            <a:off x="886968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mustn't</a:t>
            </a:r>
            <a:endParaRPr lang="en-US" sz="1400" dirty="0" b="1"/>
          </a:p>
        </p:txBody>
      </p:sp>
      <p:sp>
        <p:nvSpPr>
          <p:cNvPr id="23" name="R4 circle"/>
          <p:cNvSpPr/>
          <p:nvPr/>
        </p:nvSpPr>
        <p:spPr>
          <a:xfrm>
            <a:off x="8741664" y="470001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You ____ wear closed-toe shoes.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62940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400" dirty="0" b="1"/>
          </a:p>
        </p:txBody>
      </p:sp>
      <p:sp>
        <p:nvSpPr>
          <p:cNvPr id="26" name="R5 opt2"/>
          <p:cNvSpPr/>
          <p:nvPr/>
        </p:nvSpPr>
        <p:spPr>
          <a:xfrm>
            <a:off x="886968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 to</a:t>
            </a:r>
            <a:endParaRPr lang="en-US" sz="1400" dirty="0" b="1"/>
          </a:p>
        </p:txBody>
      </p:sp>
      <p:sp>
        <p:nvSpPr>
          <p:cNvPr id="27" name="R5 circle"/>
          <p:cNvSpPr/>
          <p:nvPr/>
        </p:nvSpPr>
        <p:spPr>
          <a:xfrm>
            <a:off x="6501384" y="524865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If you're going to be late, you must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62940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Mr. Brooks</a:t>
            </a:r>
            <a:endParaRPr lang="en-US" sz="1400" dirty="0" b="1"/>
          </a:p>
        </p:txBody>
      </p:sp>
      <p:sp>
        <p:nvSpPr>
          <p:cNvPr id="30" name="R6 opt2"/>
          <p:cNvSpPr/>
          <p:nvPr/>
        </p:nvSpPr>
        <p:spPr>
          <a:xfrm>
            <a:off x="886968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text Carmen</a:t>
            </a:r>
            <a:endParaRPr lang="en-US" sz="1400" dirty="0" b="1"/>
          </a:p>
        </p:txBody>
      </p:sp>
      <p:sp>
        <p:nvSpPr>
          <p:cNvPr id="31" name="R6 circle"/>
          <p:cNvSpPr/>
          <p:nvPr/>
        </p:nvSpPr>
        <p:spPr>
          <a:xfrm>
            <a:off x="6501384" y="57972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six fifty-five early ____?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Seven ten is ____ late.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aren't safe ____ for the kitchen.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trays are ____ hot, and the floor is sometimes wet.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Maybe they're ____ big, but they're safe.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There's too ____ to remember!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= going to, wanna = want to</a:t>
            </a:r>
            <a:endParaRPr lang="en-US" sz="18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too / two / to, and the stress</a:t>
            </a:r>
            <a:endParaRPr lang="en-US" sz="18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sound the same.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know?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buy some today.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•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•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late • not e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NOUGH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Formal: a shirt with a tie and dress sho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+ adjective, adjective + enough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jeans OK for the interview?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they're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casual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They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aren't formal 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6:55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early 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it's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early 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That's perfect.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7:10 OK for a 7:00 shift?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it's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late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Come at 6:55.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sandals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safe 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aren't safe 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Wear closed-toe shoes.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losed-toe shoes: a sneaker and a check mark [sign: CLOSED-TO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much / too many / enough + a noun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time?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have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much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work. I don't have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 time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there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chairs?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there are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many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people. We need more chairs.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we have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food?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we have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food. Don't buy more.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Name badge: a name badge [sign: HI, I'M NADIA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 / mustn't / don't have to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MEANING  ·  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a rule; do it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 wear closed-toe shoes.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mustn't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against the rules; don't do it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mustn't use your phone in the kitchen.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 to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not necessary; you choose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don't have to wear a tie.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Invitation: an envelope and a party popper [sign: PARTY SAT 7:00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comparing customs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SAY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hometown…, but here…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hometown, guests usually bring food, but here people often ask the host first.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usually / often / sometimes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People usually arrive on time for work.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describe; don't judge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different. I like both.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7:10 is ____ late for a 7:00 shift.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925312" y="2222144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room isn't big ____ for 30 people.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925312" y="2950312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are too ____ cars in the parking lot.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925312" y="367847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too ____ work today.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925312" y="4406646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don't have ____ chairs.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925312" y="513481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Jeans are ____ casual for an interview.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925312" y="5862980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You ____ smoke in the building. (It's a rule.)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76656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mustn't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896112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 to</a:t>
            </a:r>
            <a:endParaRPr lang="en-US" sz="1500" dirty="0" b="1"/>
          </a:p>
        </p:txBody>
      </p:sp>
      <p:sp>
        <p:nvSpPr>
          <p:cNvPr id="11" name="R1 circle"/>
          <p:cNvSpPr/>
          <p:nvPr/>
        </p:nvSpPr>
        <p:spPr>
          <a:xfrm>
            <a:off x="6638544" y="30540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It's Friday. You ____ wear a tie. (It's not necessary.)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76656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mustn't</a:t>
            </a:r>
            <a:endParaRPr lang="en-US" sz="1500" dirty="0" b="1"/>
          </a:p>
        </p:txBody>
      </p:sp>
      <p:sp>
        <p:nvSpPr>
          <p:cNvPr id="14" name="R2 opt2"/>
          <p:cNvSpPr/>
          <p:nvPr/>
        </p:nvSpPr>
        <p:spPr>
          <a:xfrm>
            <a:off x="896112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 to</a:t>
            </a:r>
            <a:endParaRPr lang="en-US" sz="1500" dirty="0" b="1"/>
          </a:p>
        </p:txBody>
      </p:sp>
      <p:sp>
        <p:nvSpPr>
          <p:cNvPr id="15" name="R2 circle"/>
          <p:cNvSpPr/>
          <p:nvPr/>
        </p:nvSpPr>
        <p:spPr>
          <a:xfrm>
            <a:off x="8833104" y="360273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Is 6:55 ____?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76656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early enough</a:t>
            </a:r>
            <a:endParaRPr lang="en-US" sz="1500" dirty="0" b="1"/>
          </a:p>
        </p:txBody>
      </p:sp>
      <p:sp>
        <p:nvSpPr>
          <p:cNvPr id="18" name="R3 opt2"/>
          <p:cNvSpPr/>
          <p:nvPr/>
        </p:nvSpPr>
        <p:spPr>
          <a:xfrm>
            <a:off x="896112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 early</a:t>
            </a:r>
            <a:endParaRPr lang="en-US" sz="1500" dirty="0" b="1"/>
          </a:p>
        </p:txBody>
      </p:sp>
      <p:sp>
        <p:nvSpPr>
          <p:cNvPr id="19" name="R3 circle"/>
          <p:cNvSpPr/>
          <p:nvPr/>
        </p:nvSpPr>
        <p:spPr>
          <a:xfrm>
            <a:off x="6638544" y="415137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There are too ____ people here.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76656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</a:t>
            </a:r>
            <a:endParaRPr lang="en-US" sz="1500" dirty="0" b="1"/>
          </a:p>
        </p:txBody>
      </p:sp>
      <p:sp>
        <p:nvSpPr>
          <p:cNvPr id="22" name="R4 opt2"/>
          <p:cNvSpPr/>
          <p:nvPr/>
        </p:nvSpPr>
        <p:spPr>
          <a:xfrm>
            <a:off x="896112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endParaRPr lang="en-US" sz="1500" dirty="0" b="1"/>
          </a:p>
        </p:txBody>
      </p:sp>
      <p:sp>
        <p:nvSpPr>
          <p:cNvPr id="23" name="R4 circle"/>
          <p:cNvSpPr/>
          <p:nvPr/>
        </p:nvSpPr>
        <p:spPr>
          <a:xfrm>
            <a:off x="6638544" y="470001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I don't have ____.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76656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 time</a:t>
            </a:r>
            <a:endParaRPr lang="en-US" sz="1500" dirty="0" b="1"/>
          </a:p>
        </p:txBody>
      </p:sp>
      <p:sp>
        <p:nvSpPr>
          <p:cNvPr id="26" name="R5 opt2"/>
          <p:cNvSpPr/>
          <p:nvPr/>
        </p:nvSpPr>
        <p:spPr>
          <a:xfrm>
            <a:off x="896112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 enough</a:t>
            </a:r>
            <a:endParaRPr lang="en-US" sz="1500" dirty="0" b="1"/>
          </a:p>
        </p:txBody>
      </p:sp>
      <p:sp>
        <p:nvSpPr>
          <p:cNvPr id="27" name="R5 circle"/>
          <p:cNvSpPr/>
          <p:nvPr/>
        </p:nvSpPr>
        <p:spPr>
          <a:xfrm>
            <a:off x="6638544" y="524865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Sandals ____ for the kitchen.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76656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aren't safe enough</a:t>
            </a:r>
            <a:endParaRPr lang="en-US" sz="1500" dirty="0" b="1"/>
          </a:p>
        </p:txBody>
      </p:sp>
      <p:sp>
        <p:nvSpPr>
          <p:cNvPr id="30" name="R6 opt2"/>
          <p:cNvSpPr/>
          <p:nvPr/>
        </p:nvSpPr>
        <p:spPr>
          <a:xfrm>
            <a:off x="896112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too safe</a:t>
            </a:r>
            <a:endParaRPr lang="en-US" sz="1500" dirty="0" b="1"/>
          </a:p>
        </p:txBody>
      </p:sp>
      <p:sp>
        <p:nvSpPr>
          <p:cNvPr id="31" name="R6 circle"/>
          <p:cNvSpPr/>
          <p:nvPr/>
        </p:nvSpPr>
        <p:spPr>
          <a:xfrm>
            <a:off x="6638544" y="57972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RSVP: a phone and a check mark [sign: RSVP BY FRI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enough big.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big 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are too much people.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are too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people.</a:t>
            </a:r>
            <a:endParaRPr lang="en-US" sz="17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10515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don't have to use your phone on the floor. (It's a rule.)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10515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mustn't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use your phone on the floor.</a:t>
            </a:r>
            <a:endParaRPr lang="en-US" sz="17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71830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 to wear a badge.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71830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wear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badge.</a:t>
            </a:r>
            <a:endParaRPr lang="en-US" sz="1700" dirty="0" b="1"/>
          </a:p>
        </p:txBody>
      </p:sp>
      <p:sp>
        <p:nvSpPr>
          <p:cNvPr id="32" name="Bad 5"/>
          <p:cNvSpPr/>
          <p:nvPr/>
        </p:nvSpPr>
        <p:spPr>
          <a:xfrm>
            <a:off x="914400" y="5285232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too many work.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285232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too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Host: a person and a house [sign: HOS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a rule.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sandals OK for the kitchen?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No, they aren't safe enough.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 wear closed-toe shoes.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 to a picture and asks.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On time: an alarm clock and a check mark [sign: 7:00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Customs Compare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a question card.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person reads a question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do people arrive in your hometown?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Each person answers.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hometown…, but here…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2 sentences.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place is "better."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Dress code: a clipboard and a shirt with a tie [sign: DRESS COD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Dress Code Check</a:t>
            </a:r>
            <a:endParaRPr lang="en-US" sz="28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rule card.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rule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casual • not safe enough • OK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 each worker, say what is wrong.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 1: sandals aren't safe enough.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say the rule.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must… • You mustn't…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fast first.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SUNRISE BAKERY · Employee Handbook, page 4 (invented company)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should you arrive?</a:t>
            </a:r>
            <a:endParaRPr lang="en-US" sz="1500" dirty="0"/>
          </a:p>
        </p:txBody>
      </p:sp>
      <p:sp>
        <p:nvSpPr>
          <p:cNvPr id="35" name="R1 ans"/>
          <p:cNvSpPr/>
          <p:nvPr/>
        </p:nvSpPr>
        <p:spPr>
          <a:xfrm>
            <a:off x="4187952" y="2525573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 to 10 minutes before your shift.</a:t>
            </a:r>
            <a:endParaRPr lang="en-US" sz="14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must you do if you're going to be late?</a:t>
            </a:r>
            <a:endParaRPr lang="en-US" sz="1500" dirty="0"/>
          </a:p>
        </p:txBody>
      </p:sp>
      <p:sp>
        <p:nvSpPr>
          <p:cNvPr id="40" name="R2 ans"/>
          <p:cNvSpPr/>
          <p:nvPr/>
        </p:nvSpPr>
        <p:spPr>
          <a:xfrm>
            <a:off x="4187952" y="3311957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your supervisor at least one hour before your shift.</a:t>
            </a:r>
            <a:endParaRPr lang="en-US" sz="14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text OK? Why or why not?</a:t>
            </a:r>
            <a:endParaRPr lang="en-US" sz="1500" dirty="0"/>
          </a:p>
        </p:txBody>
      </p:sp>
      <p:sp>
        <p:nvSpPr>
          <p:cNvPr id="45" name="R3 ans"/>
          <p:cNvSpPr/>
          <p:nvPr/>
        </p:nvSpPr>
        <p:spPr>
          <a:xfrm>
            <a:off x="4187952" y="4098341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No. A text is not enough.</a:t>
            </a:r>
            <a:endParaRPr lang="en-US" sz="14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front counter workers have to wear a hat?</a:t>
            </a:r>
            <a:endParaRPr lang="en-US" sz="1500" dirty="0"/>
          </a:p>
        </p:txBody>
      </p:sp>
      <p:sp>
        <p:nvSpPr>
          <p:cNvPr id="50" name="R4 ans"/>
          <p:cNvSpPr/>
          <p:nvPr/>
        </p:nvSpPr>
        <p:spPr>
          <a:xfrm>
            <a:off x="4187952" y="4884725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but they must wear a name badge.</a:t>
            </a:r>
            <a:endParaRPr lang="en-US" sz="14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can you use your phone?</a:t>
            </a:r>
            <a:endParaRPr lang="en-US" sz="1500" dirty="0"/>
          </a:p>
        </p:txBody>
      </p:sp>
      <p:sp>
        <p:nvSpPr>
          <p:cNvPr id="55" name="R5 ans"/>
          <p:cNvSpPr/>
          <p:nvPr/>
        </p:nvSpPr>
        <p:spPr>
          <a:xfrm>
            <a:off x="4187952" y="5671109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break room.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Late: a person running and an alarm clock [sign: 7:20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one custom here that is different from your hometown (or another place you know)?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Here (Here, people…).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There (In my hometown, people…).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What you think, with because.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6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15–20 minutes.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writing from Read &amp; Write C (your tips).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3 rules from a job, a school, or a place you know.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(Lesson 6).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6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Uniform: a safety vest and a cap [sign: UNIFORM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7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too early, too late, or on time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too and enough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Explain a workplace rule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Nadia, Carmen, and Mr. Brooks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Lesson 7: Too Early or On Time?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