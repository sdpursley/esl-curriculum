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4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757" r:id="rId32"/>
    <p:sldId id="758" r:id="rId21"/>
    <p:sldId id="759" r:id="rId19"/>
    <p:sldId id="760" r:id="rId15"/>
    <p:sldId id="761" r:id="rId37"/>
    <p:sldId id="762" r:id="rId38"/>
    <p:sldId id="763" r:id="rId39"/>
    <p:sldId id="764" r:id="rId40"/>
    <p:sldId id="765" r:id="rId41"/>
    <p:sldId id="766" r:id="rId42"/>
    <p:sldId id="767" r:id="rId43"/>
    <p:sldId id="768" r:id="rId44"/>
    <p:sldId id="769" r:id="rId45"/>
    <p:sldId id="770" r:id="rId46"/>
    <p:sldId id="771" r:id="rId47"/>
    <p:sldId id="772" r:id="rId48"/>
    <p:sldId id="773" r:id="rId49"/>
    <p:sldId id="774" r:id="rId50"/>
    <p:sldId id="775" r:id="rId51"/>
    <p:sldId id="776" r:id="rId52"/>
    <p:sldId id="777" r:id="rId53"/>
    <p:sldId id="778" r:id="rId54"/>
    <p:sldId id="779" r:id="rId55"/>
    <p:sldId id="780" r:id="rId56"/>
    <p:sldId id="781" r:id="rId9"/>
    <p:sldId id="782" r:id="rId5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9" Type="http://schemas.openxmlformats.org/officeDocument/2006/relationships/slide" Target="slides/slide51.xml"/><Relationship Id="rId15" Type="http://schemas.openxmlformats.org/officeDocument/2006/relationships/slide" Target="slides/slide30.xml"/><Relationship Id="rId19" Type="http://schemas.openxmlformats.org/officeDocument/2006/relationships/slide" Target="slides/slide29.xml"/><Relationship Id="rId21" Type="http://schemas.openxmlformats.org/officeDocument/2006/relationships/slide" Target="slides/slide28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32" Type="http://schemas.openxmlformats.org/officeDocument/2006/relationships/slide" Target="slides/slide27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8" Type="http://schemas.openxmlformats.org/officeDocument/2006/relationships/slide" Target="slides/slide5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title: "Goodbye! See you next week!" Learners repeat.</a:t>
            </a:r>
          </a:p>
          <a:p>
            <a:r>
              <a:t>Read the three "Now you can" lines.</a:t>
            </a:r>
          </a:p>
          <a:p>
            <a:r>
              <a:t>Lesson plan: At a glance: Objectives; Step 7.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1, continued. The four cards from the Opening Talk page. Each click shows the next card.</a:t>
            </a:r>
          </a:p>
          <a:p>
            <a:r>
              <a:t>A asks a card question. B answers in 3 sentences. A asks one follow-up question (follow-ups on the right). Then switch.</a:t>
            </a:r>
          </a:p>
          <a:p>
            <a:r>
              <a:t>Homework Check (3 min, last click): Pairs compare Homework item 1 (If I had…, I'd…) and read their 3 dreams (item 3) to each other. Then they fill in the box on the Opening Talk page. Walk around. Write 2 common errors on the board (often If I would have time… (→ If I had time…) and If I found $50, I will… (→ I'd…)) and correct them together. Also put up 2 corrections from last week's exit tickets.</a:t>
            </a:r>
          </a:p>
          <a:p>
            <a:r>
              <a:t>Lesson plan: Step 1; Opening Talk page: cards, follow-ups; Homework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1 · 6:00–6:08 · Opening Talk + Homework Check · 8 min. Pairs (7 pairs + 1 trio with 15 learners; 3–4 pairs with 7–8).</a:t>
            </a:r>
          </a:p>
          <a:p>
            <a:r>
              <a:t>Before class, write on the board: imaginary situations: What would you do if…? / If I had…, I'd…</a:t>
            </a:r>
          </a:p>
          <a:p>
            <a:r>
              <a:t>Model with one learner: you say, "What would you do if you found $50 at work?" The learner answers with If I found…, I'd… Then you ask, "Why?" Help them say 3 sentences. (Click to show the follow-up.)</a:t>
            </a:r>
          </a:p>
          <a:p>
            <a:r>
              <a:t>Opening Talk (5 min): learners open the Opening Talk page. A asks a card question; B answers in 3 sentences (the answer, a reason, a detail); A asks one follow-up. Switch after each card. The cards are on the next slide.</a:t>
            </a:r>
          </a:p>
          <a:p>
            <a:r>
              <a:t>If behind: one card only.</a:t>
            </a:r>
          </a:p>
          <a:p>
            <a:r>
              <a:t>Lesson plan: Step 1; Opening Talk page.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each goal slowly. Learners repeat.</a:t>
            </a:r>
          </a:p>
          <a:p>
            <a:r>
              <a:t>Lesson plan: At a glance: Objectives.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learners as they arrive.</a:t>
            </a:r>
          </a:p>
          <a:p>
            <a:r>
              <a:t>Point to the title and read it: "Too Early or On Time?" Say: "Expectations at work and in the community: being on time, dress codes and safety rules, invitations (RSVP, what to bring), and comparing customs respectfully. Learners use too and enough, too much / too many, and must / mustn't / don't have to. The company, the rules, and the people are invented."</a:t>
            </a:r>
          </a:p>
          <a:p>
            <a:r>
              <a:t>Read the three lines under "Today you will".</a:t>
            </a:r>
          </a:p>
          <a:p>
            <a:r>
              <a:t>Describe, don't judge: customs vary inside every country, including the U.S., and inside every family. No place is "better." Model It's different and I like both.</a:t>
            </a:r>
          </a:p>
          <a:p>
            <a:r>
              <a:t>Lesson plan: Topic; At a glance: Objectives; Teacher notes.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2 · 6:08–6:15 · New Words · 7 min (this slide and the next). Whole class, then pairs.</a:t>
            </a:r>
          </a:p>
          <a:p>
            <a:r>
              <a:t>Point to each picture and say the word. Learners repeat once. ★ = the most important words. Each click shows the next word.</a:t>
            </a:r>
          </a:p>
          <a:p>
            <a:r>
              <a:t>Show the hard words: on time, early, late (draw a clock: 6:50, 7:00, 7:20); dress code (the rules about clothes); uniform; casual (T-shirt, jeans) vs. formal (a shirt and tie); closed-toe shoes (point to a sneaker, then mime a sandal: "no"); name badge; invitation (a party card); RSVP (tell the host "yes" or "no"); host (the person who has the party).</a:t>
            </a:r>
          </a:p>
          <a:p>
            <a:r>
              <a:t>If behind: teach the ★ words only.</a:t>
            </a:r>
          </a:p>
          <a:p>
            <a:r>
              <a:t>Lesson plan: Step 2; Key vocabulary; New Words page.</a:t>
            </a:r>
          </a:p>
          <a:p>
            <a:r>
              <a:t>Pictures: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2, continued. Point to each picture and say the word. Learners repeat once.</a:t>
            </a:r>
          </a:p>
          <a:p>
            <a:r>
              <a:t>Partner game (2 min): A points to a picture and asks, "Are sandals OK for the kitchen?" B answers with too or enough and a rule: "No, they aren't safe enough. You must wear closed-toe shoes." Switch. 15 learners: finish with a quick team round (3 teams; you say a clue, the first team with the word gets a point). 7–8: 2 teams. 5 or fewer: one team against the clock.</a:t>
            </a:r>
          </a:p>
          <a:p>
            <a:r>
              <a:t>My Words: "Write any word you want in your language on the My Words page. It's your personal list. It's optional." Learners do it at home.</a:t>
            </a:r>
          </a:p>
          <a:p>
            <a:r>
              <a:t>If behind: teach the ★ words only.</a:t>
            </a:r>
          </a:p>
          <a:p>
            <a:r>
              <a:t>Lesson plan: Step 2; New Words page; Partner game; My Words page.</a:t>
            </a:r>
          </a:p>
          <a:p>
            <a:r>
              <a:t>Pictures: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2 · Check meaning · 1 min. Whole class.</a:t>
            </a:r>
          </a:p>
          <a:p>
            <a:r>
              <a:t>The answers are hidden. Ask each question and wait for the class to answer. Then click to show the answer. Each click shows one answer, in order: 1, 2, 3.</a:t>
            </a:r>
          </a:p>
          <a:p>
            <a:r>
              <a:t>1. "Is a T-shirt casual or formal?" (casual) • 2. "Are sandals closed-toe shoes?" (no) • 3. "If an invitation says RSVP by Friday, what do you do?" (tell the host by Friday)</a:t>
            </a:r>
          </a:p>
          <a:p>
            <a:r>
              <a:t>Lesson plan: Step 2: Check meaning.</a:t>
            </a:r>
          </a:p>
          <a:p>
            <a:r>
              <a:t>Pictures: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3 · 6:15–6:30 · Listening + "Hear it, say it" · 15 min (slides 8 to 12). Individuals, then pairs check.</a:t>
            </a:r>
          </a:p>
          <a:p>
            <a:r>
              <a:t>Before you listen (2 min). Say: "It's Nadia's first week at a bakery. She asks her coworker, Carmen, about the rules. Then the supervisor, Mr. Brooks, comes in. Listen: what are they talking about?"</a:t>
            </a:r>
          </a:p>
          <a:p>
            <a:r>
              <a:t>There are 3 people: Nadia, Carmen and Mr. Brooks. A narrator starts and ends the listening. Each click highlights the next person.</a:t>
            </a:r>
          </a:p>
          <a:p>
            <a:r>
              <a:t>The audio (L4_L7_listening.mp3, about 1:52) plays the conversation once. Press play again for play 2. A third play is fine if the class needs it.</a:t>
            </a:r>
          </a:p>
          <a:p>
            <a:r>
              <a:t>No speaker? Read the script with a volunteer at a natural, friendly speed, two times. The script says going to and want to. People often say gonna and wanna; learners only need to recognize those words.</a:t>
            </a:r>
          </a:p>
          <a:p>
            <a:r>
              <a:t>Audio: synthetic voices, computer-generated (Chatterbox TTS cloned from Kokoro-82M reference clips). No recordings of real people. The names and the story are invented.</a:t>
            </a:r>
          </a:p>
          <a:p>
            <a:r>
              <a:t>Lesson plan: Step 3; Listening script; Listening page.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Play 1 → Task A (the main idea). Pairs compare. Check together.</a:t>
            </a:r>
          </a:p>
          <a:p>
            <a:r>
              <a:t>Click to circle the answer: a (the rules at work).</a:t>
            </a:r>
          </a:p>
          <a:p>
            <a:r>
              <a:t>Then read Tasks B and C together (1 min) so learners know what to listen for.</a:t>
            </a:r>
          </a:p>
          <a:p>
            <a:r>
              <a:t>Lesson plan: Step 3; Listening Task A;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Play 2 → Tasks B and C. Pairs compare. Then show the answers.</a:t>
            </a:r>
          </a:p>
          <a:p>
            <a:r>
              <a:t>Click to circle each answer (one click per item, 1 to 6): 1 five minutes early • 2 must • 3 don't have to • 4 mustn't • 5 must • 6 call Mr. Brooks.</a:t>
            </a:r>
          </a:p>
          <a:p>
            <a:r>
              <a:t>Lesson plan: Step 3; Listening Task B;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Task C (play 2). Click to show each answer (one click per item, 1 to 6): 1 enough, 2 too, 3 enough, 4 too, 5 too, 6 much.</a:t>
            </a:r>
          </a:p>
          <a:p>
            <a:r>
              <a:t>If behind: do Task C together on the board, reading the lines yourself.</a:t>
            </a:r>
          </a:p>
          <a:p>
            <a:r>
              <a:t>Lesson plan: Step 3; Listening Task C;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"Hear it, say it" (3 min): Point to the script lines. wanna = want to: "What do you want to know?" gonna = going to: "I'm going to buy some today." Then practice too / two / to (the same sound) and the stress in TOO late and not eNOUGH. The class repeats the two lines twice.</a:t>
            </a:r>
          </a:p>
          <a:p>
            <a:r>
              <a:t>Reductions: the listening says going to and want to. People often say gonna and wanna. Learners only need to recognize the short forms.</a:t>
            </a:r>
          </a:p>
          <a:p>
            <a:r>
              <a:t>Everyday English: people often say gonna (going to) and wanna (want to). Learners will hear them often. They are fine in casual talk; in writing, at a job interview, or in a formal email, use going to and want to. The listening uses the full forms.</a:t>
            </a:r>
          </a:p>
          <a:p>
            <a:r>
              <a:t>Lesson plan: Step 3: "Hear it, say it"; Listening page: Hear it, say it; Teacher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4 · 6:30–6:45 · Grammar Q&amp;A · 15 min (slides 13 to 20). Whole class, then pairs. Show the Grammar page. The left side is the question. The right side is the answer.</a:t>
            </a:r>
          </a:p>
          <a:p>
            <a:r>
              <a:t>Show it (2 min): draw a clock at 7:10. Say, "My shift starts at 7:00. 7:10 is too late." Draw 6:55: "6:55 is early enough." Write: too = more than OK (a problem); enough = OK. Then show a sandal or mime one: "In a kitchen, you must wear closed-toe shoes. You mustn't wear sandals. You don't have to wear a tie."</a:t>
            </a:r>
          </a:p>
          <a:p>
            <a:r>
              <a:t>Box 1: read across: Are jeans OK for the interview? → No, they're too casual. / They aren't formal enough. Each click shows the answer side of one row.</a:t>
            </a:r>
          </a:p>
          <a:p>
            <a:r>
              <a:t>Lesson plan: Step 4; Grammar Box 1.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Box 2: too much / too many / enough + a noun. Each click shows the answer side of one row.</a:t>
            </a:r>
          </a:p>
          <a:p>
            <a:r>
              <a:t>Rule of thumb (read it aloud): too = more than OK (a problem). enough = OK. enough goes after an adjective (early enough) and before a noun (enough time). too many + things you can count; too much + things you can't count.</a:t>
            </a:r>
          </a:p>
          <a:p>
            <a:r>
              <a:t>Lesson plan: Step 4; Grammar Box 2; Rule of thumb.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Box 3: must / mustn't / don't have to. Each click shows the answer side of one row.</a:t>
            </a:r>
          </a:p>
          <a:p>
            <a:r>
              <a:t>Lesson plan: Step 4; Grammar Box 3.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Box 4: comparing customs. Each click shows the answer side of one row.</a:t>
            </a:r>
          </a:p>
          <a:p>
            <a:r>
              <a:t>Questions and answers (2 min): Q: enough early or early enough? A: After an adjective: early enough. Before a noun: enough time. • Q: Are mustn't and don't have to the same? A: No! mustn't = don't do it (it's a rule). don't have to = not necessary (you can if you want). • Q: too much or too many? A: too many + things you can count (people, chairs). too much + things you can't count (work, time, noise).</a:t>
            </a:r>
          </a:p>
          <a:p>
            <a:r>
              <a:t>Check questions: "enough early or early enough?" (early enough) • "too much people or too many people?" (too many people) • "Is a tie a rule here?" (no) "So: You mustn't wear a tie or You don't have to wear a tie?" (don't have to).</a:t>
            </a:r>
          </a:p>
          <a:p>
            <a:r>
              <a:t>Lesson plan: Step 4; Grammar Box 4; Questions and answers.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Practice A and B (3 min): learners write, then pairs check. Go over the answers.</a:t>
            </a:r>
          </a:p>
          <a:p>
            <a:r>
              <a:t>Click to show each answer (one click per item, 1 to 6): 1 too, 2 enough, 3 many, 4 much, 5 enough, 6 too.</a:t>
            </a:r>
          </a:p>
          <a:p>
            <a:r>
              <a:t>Lesson plan: Step 4; Grammar Practice A;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Practice B. Learners circle the correct words. Pairs check.</a:t>
            </a:r>
          </a:p>
          <a:p>
            <a:r>
              <a:t>Click to circle each answer (one click per item, 1 to 6): 1 mustn't, 2 don't have to, 3 early enough, 4 many, 5 enough time, 6 aren't safe enough.</a:t>
            </a:r>
          </a:p>
          <a:p>
            <a:r>
              <a:t>Lesson plan: Step 4; Grammar Practice B;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Common mistakes. Read the table together: "Don't say… Say…". Read a line from Don't say. Ask: "What's the right way?" Learners try first. Then click to show the right form. Each click shows one line, in order 1 to 5.</a:t>
            </a:r>
          </a:p>
          <a:p>
            <a:r>
              <a:t>Learners can read the contrast tip on their Grammar page on their own; it is optional. You never need to read, translate, or explain it.</a:t>
            </a:r>
          </a:p>
          <a:p>
            <a:r>
              <a:t>Lesson plan: Grammar: Common mistakes; Teacher notes.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Pair check (last 3 min of Step 4). Pairs.</a:t>
            </a:r>
          </a:p>
          <a:p>
            <a:r>
              <a:t>A points to a picture and asks, "Are sandals OK for the kitchen?" B answers with too or enough and a rule with must / mustn't. Switch. 15 learners: swap partners once. 5 or fewer: you join one pair.</a:t>
            </a:r>
          </a:p>
          <a:p>
            <a:r>
              <a:t>If behind: skip the pair check. Talk Time practices it.</a:t>
            </a:r>
          </a:p>
          <a:p>
            <a:r>
              <a:t>Break · 6:45–7:00 · 15 min. Write on the board: too late / early enough • too much work / too many people / enough time • must / mustn't (a rule) / don't have to (not necessary)</a:t>
            </a:r>
          </a:p>
          <a:p>
            <a:r>
              <a:t>Lesson plan: Step 4: Pair check; Break.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5 · 7:00–7:15 · Talk Time: Customs Compare + Dress Code Check · 15 min.</a:t>
            </a:r>
          </a:p>
          <a:p>
            <a:r>
              <a:t>Model it first (1 min): read a card: "A party starts at 7:00. When do people arrive in your hometown?" Help a learner say, "In my hometown, people usually arrive at 8:00, but here many people arrive at 7:15." Say: "Describe; don't judge. No place is better."</a:t>
            </a:r>
          </a:p>
          <a:p>
            <a:r>
              <a:t>Round 1 (7 min): Customs Compare (groups). One person reads a question card. Each person answers. The group writes 2 sentences with In my hometown…, but here… No place is "better." Each click shows the next step.</a:t>
            </a:r>
          </a:p>
          <a:p>
            <a:r>
              <a:t>15 learners: 5 groups of 3 for round 1; then pairs. 7–8 learners: 2 groups for round 1; then pairs. 5 or fewer: one group for round 1; then pairs (you join if there is an odd number).</a:t>
            </a:r>
          </a:p>
          <a:p>
            <a:r>
              <a:t>Lesson plan: Step 5; Talk Time: Customs Compare.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Round 2 (6 min): Dress Code Check (pairs). Pairs read the rule card and the 6 workers. For each worker, they say too casual, not safe enough, or OK, and the rule with must / mustn't / don't have to. Each click shows the next step.</a:t>
            </a:r>
          </a:p>
          <a:p>
            <a:r>
              <a:t>15 learners: 5 groups of 3 for round 1; then pairs. 7–8 learners: 2 groups for round 1; then pairs. 5 or fewer: one group for round 1; then pairs (you join if there is an odd number).</a:t>
            </a:r>
          </a:p>
          <a:p>
            <a:r>
              <a:t>Every answer needs a reason; every partner asks a follow-up. Walk around and listen. Note 2 good sentences to praise and 1 common error for next week.</a:t>
            </a:r>
          </a:p>
          <a:p>
            <a:r>
              <a:t>If behind: round 1 only.</a:t>
            </a:r>
          </a:p>
          <a:p>
            <a:r>
              <a:t>Lesson plan: Step 5; Talk Time: Dress Code Check.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6 · 7:15–7:25 · Read &amp; Write: An employee handbook page · 10 min. Pairs read, then individual writing.</a:t>
            </a:r>
          </a:p>
          <a:p>
            <a:r>
              <a:t>Read (4 min): Learners read the handbook page on the Read &amp; Write page and answer the questions. Say: "Read fast first. Then find the answers." Pairs answer questions 1–5 together.</a:t>
            </a:r>
          </a:p>
          <a:p>
            <a:r>
              <a:t>Check (1 min): click to show each answer (one click per question, 1 to 5): 1 5 to 10 minutes before your shift. • 2 Call your supervisor at least one hour before your shift. • 3 No. A text is not enough. • 4 No, but they must wear a name badge. • 5 In the break room.</a:t>
            </a:r>
          </a:p>
          <a:p>
            <a:r>
              <a:t>Write (5 min): Learners write "Tips for your first week" for a new coworker (5–8 sentences) with must, don't have to, too, and enough. Show the example. Writing check 2: collect this writing and write one strength and one fix. Learners start in class and finish at home (Homework item 2).</a:t>
            </a:r>
          </a:p>
          <a:p>
            <a:r>
              <a:t>If behind: questions 1–5 only; the writing becomes homework.</a:t>
            </a:r>
          </a:p>
          <a:p>
            <a:r>
              <a:t>Lesson plan: Step 6; Read &amp; Write page;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7 · 7:25–7:30 · Exit Ticket + Homework · 5 min · NEVER SKIP.</a:t>
            </a:r>
          </a:p>
          <a:p>
            <a:r>
              <a:t>Exit ticket (3 min): learners open the Exit Ticket page and answer in 3 sentences with a reason: What is one custom here that is different from your hometown (or another place you know)? Example on the board: Here, people usually arrive on time for a doctor's appointment. In my hometown, people often arrive a little late. I like the custom here because I don't wait a long time. With 5 or fewer, a learner can say it to you first and then write it.</a:t>
            </a:r>
          </a:p>
          <a:p>
            <a:r>
              <a:t>Collect the pages. After class, sort them into ✓ / almost / not yet. Start next week with 2 corrections on the board (no names).</a:t>
            </a:r>
          </a:p>
          <a:p>
            <a:r>
              <a:t>Homework (2 min): open the Homework page. Do item 1 together (item 1: 6:55 / early / for a 7:00 shift? (enough) → Is 6:55 early enough for a 7:00 shift?). Say: "About 15–20 minutes. Finish your Read &amp; Write writing at home."</a:t>
            </a:r>
          </a:p>
          <a:p>
            <a:r>
              <a:t>Homework items: 1. Write the sentence. Use the words. • 2. Finish your writing from Read &amp; Write C (your tips). Read it one more time. Check ✓ the list in D. • 3. Write 3 rules from a job, a school, or a place you know. Use must, mustn't, or don't have to. Then write why. • 4. Review (Lesson 6). Write one word.</a:t>
            </a:r>
          </a:p>
          <a:p>
            <a:r>
              <a:t>Writing check 2 (Week 7): collect the first-week tips. Write one strength and one fix on each. Learners keep them in their writing folder.</a:t>
            </a:r>
          </a:p>
          <a:p>
            <a:r>
              <a:t>Week 8 is the midterm. It covers Lessons 1–7. Remind learners to bring their workbook.</a:t>
            </a:r>
          </a:p>
          <a:p>
            <a:r>
              <a:t>Lesson plan: Step 7; Exit Ticket page; Homework page.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Credits. You don't need to read this slide in class.</a:t>
            </a:r>
          </a:p>
          <a:p>
            <a:r>
              <a:t>Pictures: Twemoji graphics by Twitter, Inc. and other contributors, CC BY 4.0; the file-by-file list is in images/CREDITS.md.</a:t>
            </a:r>
          </a:p>
          <a:p>
            <a:r>
              <a:t>Audio: synthetic voices, computer-generated (Chatterbox TTS cloned from Kokoro-82M reference clips). No recordings of real people. The names and the story are invented.</a:t>
            </a:r>
          </a:p>
          <a:p>
            <a:r>
              <a:t>Course materials: © 2026 the authors, licensed under CC BY-NC-SA 4.0 (https://creativecommons.org/licenses/by-nc-sa/4.0/).</a:t>
            </a:r>
          </a:p>
          <a:p>
            <a:r>
              <a:t>Lesson plan: Picture Credits. Picture list: images/CREDITS.md.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8" Type="http://schemas.openxmlformats.org/officeDocument/2006/relationships/image" Target="../media/image1.png"/><Relationship Id="rId9" Type="http://schemas.openxmlformats.org/officeDocument/2006/relationships/image" Target="../media/image2.png"/><Relationship Id="rId10" Type="http://schemas.openxmlformats.org/officeDocument/2006/relationships/image" Target="../media/image3.png"/><Relationship Id="rId11" Type="http://schemas.openxmlformats.org/officeDocument/2006/relationships/image" Target="../media/image4.png"/><Relationship Id="rId12" Type="http://schemas.openxmlformats.org/officeDocument/2006/relationships/image" Target="../media/image5.png"/><Relationship Id="rId13" Type="http://schemas.openxmlformats.org/officeDocument/2006/relationships/image" Target="../media/image6.png"/><Relationship Id="rId14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6" Type="http://schemas.openxmlformats.org/officeDocument/2006/relationships/image" Target="../media/image8.png"/><Relationship Id="rId7" Type="http://schemas.openxmlformats.org/officeDocument/2006/relationships/image" Target="../media/image10.png"/><Relationship Id="rId8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8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tit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7223760" y="914400"/>
            <a:ext cx="4480560" cy="512064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pic>
        <p:nvPicPr>
          <p:cNvPr id="4" name="pic" descr="On time: an alarm clock and a check mark [sign: 7:00]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0" y="1664208"/>
            <a:ext cx="3474720" cy="2432304"/>
          </a:xfrm>
          <a:prstGeom prst="rect">
            <a:avLst/>
          </a:prstGeom>
        </p:spPr>
      </p:pic>
      <p:sp>
        <p:nvSpPr>
          <p:cNvPr id="5" name="lesson"/>
          <p:cNvSpPr/>
          <p:nvPr/>
        </p:nvSpPr>
        <p:spPr>
          <a:xfrm>
            <a:off x="7635240" y="44348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Lesson 7  ·  Level 4</a:t>
            </a:r>
            <a:endParaRPr lang="en-US" sz="2200" b="1" dirty="0"/>
          </a:p>
        </p:txBody>
      </p:sp>
      <p:sp>
        <p:nvSpPr>
          <p:cNvPr id="6" name="Shape 3"/>
          <p:cNvSpPr/>
          <p:nvPr/>
        </p:nvSpPr>
        <p:spPr>
          <a:xfrm>
            <a:off x="661111" y="1146658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685800" y="1097280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868680" y="1325880"/>
            <a:ext cx="58064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4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Too Early or On Time?</a:t>
            </a:r>
            <a:endParaRPr lang="en-US" sz="4400" b="1" dirty="0"/>
          </a:p>
        </p:txBody>
      </p:sp>
      <p:sp>
        <p:nvSpPr>
          <p:cNvPr id="9" name="lead"/>
          <p:cNvSpPr/>
          <p:nvPr/>
        </p:nvSpPr>
        <p:spPr>
          <a:xfrm>
            <a:off x="777240" y="3977640"/>
            <a:ext cx="5852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Today you will:</a:t>
            </a:r>
            <a:endParaRPr lang="en-US" sz="2400" b="1" dirty="0"/>
          </a:p>
        </p:txBody>
      </p:sp>
      <p:sp>
        <p:nvSpPr>
          <p:cNvPr id="10" name="bullets"/>
          <p:cNvSpPr/>
          <p:nvPr/>
        </p:nvSpPr>
        <p:spPr>
          <a:xfrm>
            <a:off x="777240" y="4480560"/>
            <a:ext cx="60350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Say too early, too late, or on time</a:t>
            </a:r>
            <a:endParaRPr lang="en-US" sz="2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Use too and enough</a:t>
            </a:r>
            <a:endParaRPr lang="en-US" sz="2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Explain a workplace rule</a:t>
            </a:r>
            <a:endParaRPr lang="en-US" sz="2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goal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9" name="title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Today's</a:t>
            </a:r>
            <a:endParaRPr lang="en-US" sz="4000" dirty="0" b="1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Goals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By the end of class, you can do these five things.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Every goal is a good goal.</a:t>
            </a:r>
            <a:endParaRPr lang="en-US" sz="2000" dirty="0" b="1"/>
          </a:p>
        </p:txBody>
      </p:sp>
      <p:sp>
        <p:nvSpPr>
          <p:cNvPr id="31" name="R1 shadow"/>
          <p:cNvSpPr/>
          <p:nvPr/>
        </p:nvSpPr>
        <p:spPr>
          <a:xfrm>
            <a:off x="544982" y="2093062"/>
            <a:ext cx="6227064" cy="678668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2" name="R1 card"/>
          <p:cNvSpPr/>
          <p:nvPr/>
        </p:nvSpPr>
        <p:spPr>
          <a:xfrm>
            <a:off x="1583741" y="2035454"/>
            <a:ext cx="5130698" cy="678668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3" name="R1 chip"/>
          <p:cNvSpPr/>
          <p:nvPr/>
        </p:nvSpPr>
        <p:spPr>
          <a:xfrm>
            <a:off x="544982" y="2035454"/>
            <a:ext cx="1039673" cy="678668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4" name="R1 num"/>
          <p:cNvSpPr/>
          <p:nvPr/>
        </p:nvSpPr>
        <p:spPr>
          <a:xfrm>
            <a:off x="686714" y="2051548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600" b="1" dirty="0"/>
          </a:p>
        </p:txBody>
      </p:sp>
      <p:sp>
        <p:nvSpPr>
          <p:cNvPr id="35" name="R1 text"/>
          <p:cNvSpPr/>
          <p:nvPr/>
        </p:nvSpPr>
        <p:spPr>
          <a:xfrm>
            <a:off x="1810512" y="2035454"/>
            <a:ext cx="4434840" cy="678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say what is too early, too late, or on time.</a:t>
            </a:r>
            <a:endParaRPr lang="en-US" sz="1500" dirty="0"/>
          </a:p>
        </p:txBody>
      </p:sp>
      <p:sp>
        <p:nvSpPr>
          <p:cNvPr id="36" name="R1 dot"/>
          <p:cNvSpPr/>
          <p:nvPr/>
        </p:nvSpPr>
        <p:spPr>
          <a:xfrm rot="10800000">
            <a:off x="6361481" y="2168957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7" name="R2 card"/>
          <p:cNvSpPr/>
          <p:nvPr/>
        </p:nvSpPr>
        <p:spPr>
          <a:xfrm>
            <a:off x="1583741" y="2822936"/>
            <a:ext cx="5130698" cy="678668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8" name="R2 chip"/>
          <p:cNvSpPr/>
          <p:nvPr/>
        </p:nvSpPr>
        <p:spPr>
          <a:xfrm>
            <a:off x="544982" y="2822936"/>
            <a:ext cx="1039673" cy="678668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9" name="R2 num"/>
          <p:cNvSpPr/>
          <p:nvPr/>
        </p:nvSpPr>
        <p:spPr>
          <a:xfrm>
            <a:off x="686714" y="2839029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200" b="1" dirty="0"/>
          </a:p>
        </p:txBody>
      </p:sp>
      <p:sp>
        <p:nvSpPr>
          <p:cNvPr id="40" name="R2 text"/>
          <p:cNvSpPr/>
          <p:nvPr/>
        </p:nvSpPr>
        <p:spPr>
          <a:xfrm>
            <a:off x="1810512" y="2822936"/>
            <a:ext cx="4434840" cy="678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use </a:t>
            </a:r>
            <a:r>
              <a:rPr lang="en-US" sz="15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too</a:t>
            </a: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+ adjective and adjective + </a:t>
            </a:r>
            <a:r>
              <a:rPr lang="en-US" sz="15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enough</a:t>
            </a: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(</a:t>
            </a:r>
            <a:r>
              <a:rPr lang="en-US" sz="15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too casual, safe enough</a:t>
            </a: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).</a:t>
            </a:r>
            <a:endParaRPr lang="en-US" sz="1500" dirty="0"/>
          </a:p>
        </p:txBody>
      </p:sp>
      <p:sp>
        <p:nvSpPr>
          <p:cNvPr id="41" name="R2 dot"/>
          <p:cNvSpPr/>
          <p:nvPr/>
        </p:nvSpPr>
        <p:spPr>
          <a:xfrm rot="10800000">
            <a:off x="6361481" y="2956438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2" name="R3 card"/>
          <p:cNvSpPr/>
          <p:nvPr/>
        </p:nvSpPr>
        <p:spPr>
          <a:xfrm>
            <a:off x="1583741" y="3610417"/>
            <a:ext cx="5130698" cy="678668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3" name="R3 chip"/>
          <p:cNvSpPr/>
          <p:nvPr/>
        </p:nvSpPr>
        <p:spPr>
          <a:xfrm>
            <a:off x="544982" y="3610417"/>
            <a:ext cx="1039673" cy="678668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4" name="R3 num"/>
          <p:cNvSpPr/>
          <p:nvPr/>
        </p:nvSpPr>
        <p:spPr>
          <a:xfrm>
            <a:off x="686714" y="3626510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03</a:t>
            </a:r>
            <a:endParaRPr lang="en-US" sz="3200" b="1" dirty="0"/>
          </a:p>
        </p:txBody>
      </p:sp>
      <p:sp>
        <p:nvSpPr>
          <p:cNvPr id="45" name="R3 text"/>
          <p:cNvSpPr/>
          <p:nvPr/>
        </p:nvSpPr>
        <p:spPr>
          <a:xfrm>
            <a:off x="1810512" y="3610417"/>
            <a:ext cx="4434840" cy="678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use </a:t>
            </a:r>
            <a:r>
              <a:rPr lang="en-US" sz="15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too much / too many / enough</a:t>
            </a: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+ a noun.</a:t>
            </a:r>
            <a:endParaRPr lang="en-US" sz="1500" dirty="0"/>
          </a:p>
        </p:txBody>
      </p:sp>
      <p:sp>
        <p:nvSpPr>
          <p:cNvPr id="46" name="R3 dot"/>
          <p:cNvSpPr/>
          <p:nvPr/>
        </p:nvSpPr>
        <p:spPr>
          <a:xfrm rot="10800000">
            <a:off x="6361481" y="3743919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7" name="R4 card"/>
          <p:cNvSpPr/>
          <p:nvPr/>
        </p:nvSpPr>
        <p:spPr>
          <a:xfrm>
            <a:off x="1583741" y="4397898"/>
            <a:ext cx="5130698" cy="678668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8" name="R4 chip"/>
          <p:cNvSpPr/>
          <p:nvPr/>
        </p:nvSpPr>
        <p:spPr>
          <a:xfrm>
            <a:off x="544982" y="4397898"/>
            <a:ext cx="1039673" cy="678668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9" name="R4 num"/>
          <p:cNvSpPr/>
          <p:nvPr/>
        </p:nvSpPr>
        <p:spPr>
          <a:xfrm>
            <a:off x="686714" y="4413992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04</a:t>
            </a:r>
            <a:endParaRPr lang="en-US" sz="3200" b="1" dirty="0"/>
          </a:p>
        </p:txBody>
      </p:sp>
      <p:sp>
        <p:nvSpPr>
          <p:cNvPr id="50" name="R4 text"/>
          <p:cNvSpPr/>
          <p:nvPr/>
        </p:nvSpPr>
        <p:spPr>
          <a:xfrm>
            <a:off x="1810512" y="4397898"/>
            <a:ext cx="4434840" cy="678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explain a workplace rule with </a:t>
            </a:r>
            <a:r>
              <a:rPr lang="en-US" sz="15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must / mustn't / don't have to</a:t>
            </a: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1500" dirty="0"/>
          </a:p>
        </p:txBody>
      </p:sp>
      <p:sp>
        <p:nvSpPr>
          <p:cNvPr id="51" name="R4 dot"/>
          <p:cNvSpPr/>
          <p:nvPr/>
        </p:nvSpPr>
        <p:spPr>
          <a:xfrm rot="10800000">
            <a:off x="6361481" y="4531401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2" name="R5 card"/>
          <p:cNvSpPr/>
          <p:nvPr/>
        </p:nvSpPr>
        <p:spPr>
          <a:xfrm>
            <a:off x="1583741" y="5185380"/>
            <a:ext cx="5130698" cy="678668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3" name="R5 chip"/>
          <p:cNvSpPr/>
          <p:nvPr/>
        </p:nvSpPr>
        <p:spPr>
          <a:xfrm>
            <a:off x="544982" y="5185380"/>
            <a:ext cx="1039673" cy="678668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4" name="R5 num"/>
          <p:cNvSpPr/>
          <p:nvPr/>
        </p:nvSpPr>
        <p:spPr>
          <a:xfrm>
            <a:off x="686714" y="5201473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05</a:t>
            </a:r>
            <a:endParaRPr lang="en-US" sz="3200" b="1" dirty="0"/>
          </a:p>
        </p:txBody>
      </p:sp>
      <p:sp>
        <p:nvSpPr>
          <p:cNvPr id="55" name="R5 text"/>
          <p:cNvSpPr/>
          <p:nvPr/>
        </p:nvSpPr>
        <p:spPr>
          <a:xfrm>
            <a:off x="1810512" y="5185380"/>
            <a:ext cx="4434840" cy="678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compare customs politely and write first-week tips for a new coworker (5–8 sentences).</a:t>
            </a:r>
            <a:endParaRPr lang="en-US" sz="1500" dirty="0"/>
          </a:p>
        </p:txBody>
      </p:sp>
      <p:sp>
        <p:nvSpPr>
          <p:cNvPr id="56" name="R5 dot"/>
          <p:cNvSpPr/>
          <p:nvPr/>
        </p:nvSpPr>
        <p:spPr>
          <a:xfrm rot="10800000">
            <a:off x="6361481" y="5318882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warmup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487604" y="1352535"/>
            <a:ext cx="5246827" cy="178308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8465" y="1300277"/>
            <a:ext cx="5246827" cy="1783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 flipH="1">
            <a:off x="5503774" y="3276295"/>
            <a:ext cx="6847942" cy="3931006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5" name="pic" descr="Early: a sunrise and an alarm clock [sign: 6:50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0393" y="2104034"/>
            <a:ext cx="4754880" cy="3328416"/>
          </a:xfrm>
          <a:prstGeom prst="rect">
            <a:avLst/>
          </a:prstGeom>
        </p:spPr>
      </p:pic>
      <p:sp>
        <p:nvSpPr>
          <p:cNvPr id="7" name="title"/>
          <p:cNvSpPr/>
          <p:nvPr/>
        </p:nvSpPr>
        <p:spPr>
          <a:xfrm>
            <a:off x="548640" y="1764792"/>
            <a:ext cx="51206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Opening Talk</a:t>
            </a:r>
            <a:endParaRPr lang="en-US" sz="4000" dirty="0" b="1"/>
          </a:p>
        </p:txBody>
      </p:sp>
      <p:sp>
        <p:nvSpPr>
          <p:cNvPr id="8" name="kicker"/>
          <p:cNvSpPr/>
          <p:nvPr/>
        </p:nvSpPr>
        <p:spPr>
          <a:xfrm>
            <a:off x="599846" y="1371600"/>
            <a:ext cx="484632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OPENING TALK  ·  6:00</a:t>
            </a:r>
            <a:endParaRPr lang="en-US" sz="2000" dirty="0" b="1"/>
          </a:p>
        </p:txBody>
      </p:sp>
      <p:sp>
        <p:nvSpPr>
          <p:cNvPr id="9" name="box1"/>
          <p:cNvSpPr/>
          <p:nvPr/>
        </p:nvSpPr>
        <p:spPr>
          <a:xfrm>
            <a:off x="599846" y="338328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asks a card question.</a:t>
            </a:r>
            <a:endParaRPr lang="en-US" sz="2000" dirty="0" b="1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would you do if you found $50 at work?</a:t>
            </a:r>
            <a:endParaRPr lang="en-US" sz="2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 answers in 3 sentences.</a:t>
            </a:r>
            <a:endParaRPr lang="en-US" sz="2000" dirty="0" b="1"/>
          </a:p>
        </p:txBody>
      </p:sp>
      <p:sp>
        <p:nvSpPr>
          <p:cNvPr id="14" name="box2"/>
          <p:cNvSpPr/>
          <p:nvPr/>
        </p:nvSpPr>
        <p:spPr>
          <a:xfrm>
            <a:off x="599846" y="4754880"/>
            <a:ext cx="48463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asks one follow-up.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Why?</a:t>
            </a:r>
            <a:endParaRPr lang="en-US" sz="2000" dirty="0" b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Then switch.</a:t>
            </a:r>
            <a:endParaRPr lang="en-US" sz="20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numlist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9" name="title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Opening Talk</a:t>
            </a:r>
            <a:endParaRPr lang="en-US" sz="4000" dirty="0" b="1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Cards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 answers in 3 sentences: the answer, a reason, and a detail.</a:t>
            </a:r>
            <a:endParaRPr lang="en-US" sz="1800" dirty="0"/>
          </a:p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Follow-ups:</a:t>
            </a:r>
            <a:endParaRPr lang="en-US" sz="1800" dirty="0" b="1"/>
          </a:p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Why? Would you tell anyone? What would your family do?</a:t>
            </a:r>
            <a:endParaRPr lang="en-US" sz="1800" dirty="0" b="1"/>
          </a:p>
        </p:txBody>
      </p:sp>
      <p:sp>
        <p:nvSpPr>
          <p:cNvPr id="31" name="R1 shadow"/>
          <p:cNvSpPr/>
          <p:nvPr/>
        </p:nvSpPr>
        <p:spPr>
          <a:xfrm>
            <a:off x="544982" y="2471623"/>
            <a:ext cx="6227064" cy="60259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2" name="R1 card"/>
          <p:cNvSpPr/>
          <p:nvPr/>
        </p:nvSpPr>
        <p:spPr>
          <a:xfrm>
            <a:off x="1583741" y="2414016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3" name="R1 chip"/>
          <p:cNvSpPr/>
          <p:nvPr/>
        </p:nvSpPr>
        <p:spPr>
          <a:xfrm>
            <a:off x="544982" y="2414016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4" name="R1 num"/>
          <p:cNvSpPr/>
          <p:nvPr/>
        </p:nvSpPr>
        <p:spPr>
          <a:xfrm>
            <a:off x="686714" y="2414016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600" b="1" dirty="0"/>
          </a:p>
        </p:txBody>
      </p:sp>
      <p:sp>
        <p:nvSpPr>
          <p:cNvPr id="35" name="R1 text"/>
          <p:cNvSpPr/>
          <p:nvPr/>
        </p:nvSpPr>
        <p:spPr>
          <a:xfrm>
            <a:off x="1810512" y="2414016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would you do if you found $50 at work?</a:t>
            </a:r>
            <a:endParaRPr lang="en-US" sz="1800" dirty="0"/>
          </a:p>
        </p:txBody>
      </p:sp>
      <p:sp>
        <p:nvSpPr>
          <p:cNvPr id="36" name="R1 dot"/>
          <p:cNvSpPr/>
          <p:nvPr/>
        </p:nvSpPr>
        <p:spPr>
          <a:xfrm rot="10800000">
            <a:off x="6361481" y="2547518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7" name="R2 card"/>
          <p:cNvSpPr/>
          <p:nvPr/>
        </p:nvSpPr>
        <p:spPr>
          <a:xfrm>
            <a:off x="1583741" y="3125419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8" name="R2 chip"/>
          <p:cNvSpPr/>
          <p:nvPr/>
        </p:nvSpPr>
        <p:spPr>
          <a:xfrm>
            <a:off x="544982" y="3125419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9" name="R2 num"/>
          <p:cNvSpPr/>
          <p:nvPr/>
        </p:nvSpPr>
        <p:spPr>
          <a:xfrm>
            <a:off x="686714" y="3125419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200" b="1" dirty="0"/>
          </a:p>
        </p:txBody>
      </p:sp>
      <p:sp>
        <p:nvSpPr>
          <p:cNvPr id="40" name="R2 text"/>
          <p:cNvSpPr/>
          <p:nvPr/>
        </p:nvSpPr>
        <p:spPr>
          <a:xfrm>
            <a:off x="1810512" y="3125419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would you do if you had a free week?</a:t>
            </a:r>
            <a:endParaRPr lang="en-US" sz="1800" dirty="0"/>
          </a:p>
        </p:txBody>
      </p:sp>
      <p:sp>
        <p:nvSpPr>
          <p:cNvPr id="41" name="R2 dot"/>
          <p:cNvSpPr/>
          <p:nvPr/>
        </p:nvSpPr>
        <p:spPr>
          <a:xfrm rot="10800000">
            <a:off x="6361481" y="3258922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2" name="R3 card"/>
          <p:cNvSpPr/>
          <p:nvPr/>
        </p:nvSpPr>
        <p:spPr>
          <a:xfrm>
            <a:off x="1583741" y="3836822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3" name="R3 chip"/>
          <p:cNvSpPr/>
          <p:nvPr/>
        </p:nvSpPr>
        <p:spPr>
          <a:xfrm>
            <a:off x="544982" y="3836822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4" name="R3 num"/>
          <p:cNvSpPr/>
          <p:nvPr/>
        </p:nvSpPr>
        <p:spPr>
          <a:xfrm>
            <a:off x="686714" y="3836822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03</a:t>
            </a:r>
            <a:endParaRPr lang="en-US" sz="3200" b="1" dirty="0"/>
          </a:p>
        </p:txBody>
      </p:sp>
      <p:sp>
        <p:nvSpPr>
          <p:cNvPr id="45" name="R3 text"/>
          <p:cNvSpPr/>
          <p:nvPr/>
        </p:nvSpPr>
        <p:spPr>
          <a:xfrm>
            <a:off x="1810512" y="3836822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If you had a magic wand, what would you do?</a:t>
            </a:r>
            <a:endParaRPr lang="en-US" sz="1800" dirty="0"/>
          </a:p>
        </p:txBody>
      </p:sp>
      <p:sp>
        <p:nvSpPr>
          <p:cNvPr id="46" name="R3 dot"/>
          <p:cNvSpPr/>
          <p:nvPr/>
        </p:nvSpPr>
        <p:spPr>
          <a:xfrm rot="10800000">
            <a:off x="6361481" y="3970325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7" name="R4 card"/>
          <p:cNvSpPr/>
          <p:nvPr/>
        </p:nvSpPr>
        <p:spPr>
          <a:xfrm>
            <a:off x="1583741" y="4548226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8" name="R4 chip"/>
          <p:cNvSpPr/>
          <p:nvPr/>
        </p:nvSpPr>
        <p:spPr>
          <a:xfrm>
            <a:off x="544982" y="4548226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9" name="R4 num"/>
          <p:cNvSpPr/>
          <p:nvPr/>
        </p:nvSpPr>
        <p:spPr>
          <a:xfrm>
            <a:off x="686714" y="4548226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04</a:t>
            </a:r>
            <a:endParaRPr lang="en-US" sz="3200" b="1" dirty="0"/>
          </a:p>
        </p:txBody>
      </p:sp>
      <p:sp>
        <p:nvSpPr>
          <p:cNvPr id="50" name="R4 text"/>
          <p:cNvSpPr/>
          <p:nvPr/>
        </p:nvSpPr>
        <p:spPr>
          <a:xfrm>
            <a:off x="1810512" y="4548226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would you do if a cashier gave you too much change?</a:t>
            </a:r>
            <a:endParaRPr lang="en-US" sz="1800" dirty="0"/>
          </a:p>
        </p:txBody>
      </p:sp>
      <p:sp>
        <p:nvSpPr>
          <p:cNvPr id="51" name="R4 dot"/>
          <p:cNvSpPr/>
          <p:nvPr/>
        </p:nvSpPr>
        <p:spPr>
          <a:xfrm rot="10800000">
            <a:off x="6361481" y="4681728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2" name="R5 card"/>
          <p:cNvSpPr/>
          <p:nvPr/>
        </p:nvSpPr>
        <p:spPr>
          <a:xfrm>
            <a:off x="1583741" y="5259629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3" name="R5 chip"/>
          <p:cNvSpPr/>
          <p:nvPr/>
        </p:nvSpPr>
        <p:spPr>
          <a:xfrm>
            <a:off x="544982" y="5259629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4" name="R5 num"/>
          <p:cNvSpPr/>
          <p:nvPr/>
        </p:nvSpPr>
        <p:spPr>
          <a:xfrm>
            <a:off x="686714" y="5259629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05</a:t>
            </a:r>
            <a:endParaRPr lang="en-US" sz="3200" b="1" dirty="0"/>
          </a:p>
        </p:txBody>
      </p:sp>
      <p:sp>
        <p:nvSpPr>
          <p:cNvPr id="55" name="R5 text"/>
          <p:cNvSpPr/>
          <p:nvPr/>
        </p:nvSpPr>
        <p:spPr>
          <a:xfrm>
            <a:off x="1810512" y="5259629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Homework check: Lesson 6, items 1 and 3.</a:t>
            </a:r>
            <a:endParaRPr lang="en-US" sz="1800" dirty="0"/>
          </a:p>
        </p:txBody>
      </p:sp>
      <p:sp>
        <p:nvSpPr>
          <p:cNvPr id="56" name="R5 dot"/>
          <p:cNvSpPr/>
          <p:nvPr/>
        </p:nvSpPr>
        <p:spPr>
          <a:xfrm rot="10800000">
            <a:off x="6361481" y="5393131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word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 flipH="1" flipV="1">
            <a:off x="541325" y="2231136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 flipH="1" flipV="1">
            <a:off x="541325" y="2090318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630738" y="517002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666537" y="462686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5938114" y="594360"/>
            <a:ext cx="5669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New Words</a:t>
            </a:r>
            <a:endParaRPr lang="en-US" sz="4900" dirty="0" b="1"/>
          </a:p>
        </p:txBody>
      </p:sp>
      <p:sp>
        <p:nvSpPr>
          <p:cNvPr id="9" name="instr card"/>
          <p:cNvSpPr/>
          <p:nvPr/>
        </p:nvSpPr>
        <p:spPr>
          <a:xfrm>
            <a:off x="1121969" y="587045"/>
            <a:ext cx="3557930" cy="114300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" name="instr"/>
          <p:cNvSpPr/>
          <p:nvPr/>
        </p:nvSpPr>
        <p:spPr>
          <a:xfrm>
            <a:off x="1325880" y="68580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Look. Listen.</a:t>
            </a:r>
            <a:endParaRPr lang="en-US" sz="2200" dirty="0" b="1"/>
          </a:p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Repeat.</a:t>
            </a:r>
            <a:endParaRPr lang="en-US" sz="2200" dirty="0" b="1"/>
          </a:p>
        </p:txBody>
      </p:sp>
      <p:pic>
        <p:nvPicPr>
          <p:cNvPr id="17" name="Word picture 1" descr="On time: an alarm clock and a check mark [sign: 7:00]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48410" y="2286000"/>
            <a:ext cx="1920240" cy="1344168"/>
          </a:xfrm>
          <a:prstGeom prst="rect">
            <a:avLst/>
          </a:prstGeom>
        </p:spPr>
      </p:pic>
      <p:sp>
        <p:nvSpPr>
          <p:cNvPr id="18" name="Word label 1"/>
          <p:cNvSpPr/>
          <p:nvPr/>
        </p:nvSpPr>
        <p:spPr>
          <a:xfrm>
            <a:off x="85405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on time</a:t>
            </a:r>
            <a:endParaRPr lang="en-US" sz="2000" dirty="0" b="1"/>
          </a:p>
        </p:txBody>
      </p:sp>
      <p:pic>
        <p:nvPicPr>
          <p:cNvPr id="19" name="Word picture 2" descr="Early: a sunrise and an alarm clock [sign: 6:50]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60290" y="2286000"/>
            <a:ext cx="1920240" cy="1344168"/>
          </a:xfrm>
          <a:prstGeom prst="rect">
            <a:avLst/>
          </a:prstGeom>
        </p:spPr>
      </p:pic>
      <p:sp>
        <p:nvSpPr>
          <p:cNvPr id="20" name="Word label 2"/>
          <p:cNvSpPr/>
          <p:nvPr/>
        </p:nvSpPr>
        <p:spPr>
          <a:xfrm>
            <a:off x="446593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early</a:t>
            </a:r>
            <a:endParaRPr lang="en-US" sz="2000" dirty="0" b="1"/>
          </a:p>
        </p:txBody>
      </p:sp>
      <p:pic>
        <p:nvPicPr>
          <p:cNvPr id="21" name="Word picture 3" descr="Late: a person running and an alarm clock [sign: 7:20]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72170" y="2286000"/>
            <a:ext cx="1920240" cy="1344168"/>
          </a:xfrm>
          <a:prstGeom prst="rect">
            <a:avLst/>
          </a:prstGeom>
        </p:spPr>
      </p:pic>
      <p:sp>
        <p:nvSpPr>
          <p:cNvPr id="22" name="Word label 3"/>
          <p:cNvSpPr/>
          <p:nvPr/>
        </p:nvSpPr>
        <p:spPr>
          <a:xfrm>
            <a:off x="807781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late</a:t>
            </a:r>
            <a:endParaRPr lang="en-US" sz="2000" dirty="0" b="1"/>
          </a:p>
        </p:txBody>
      </p:sp>
      <p:pic>
        <p:nvPicPr>
          <p:cNvPr id="23" name="Word picture 4" descr="Dress code: a clipboard and a shirt with a tie [sign: DRESS CODE]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48410" y="4315968"/>
            <a:ext cx="1920240" cy="1344168"/>
          </a:xfrm>
          <a:prstGeom prst="rect">
            <a:avLst/>
          </a:prstGeom>
        </p:spPr>
      </p:pic>
      <p:sp>
        <p:nvSpPr>
          <p:cNvPr id="24" name="Word label 4"/>
          <p:cNvSpPr/>
          <p:nvPr/>
        </p:nvSpPr>
        <p:spPr>
          <a:xfrm>
            <a:off x="85405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dress code</a:t>
            </a:r>
            <a:endParaRPr lang="en-US" sz="2000" dirty="0" b="1"/>
          </a:p>
        </p:txBody>
      </p:sp>
      <p:pic>
        <p:nvPicPr>
          <p:cNvPr id="25" name="Word picture 5" descr="Uniform: a safety vest and a cap [sign: UNIFORM]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60290" y="4315968"/>
            <a:ext cx="1920240" cy="1344168"/>
          </a:xfrm>
          <a:prstGeom prst="rect">
            <a:avLst/>
          </a:prstGeom>
        </p:spPr>
      </p:pic>
      <p:sp>
        <p:nvSpPr>
          <p:cNvPr id="26" name="Word label 5"/>
          <p:cNvSpPr/>
          <p:nvPr/>
        </p:nvSpPr>
        <p:spPr>
          <a:xfrm>
            <a:off x="446593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uniform</a:t>
            </a:r>
            <a:endParaRPr lang="en-US" sz="2000" dirty="0" b="1"/>
          </a:p>
        </p:txBody>
      </p:sp>
      <p:pic>
        <p:nvPicPr>
          <p:cNvPr id="27" name="Word picture 6" descr="Casual: a T-shirt and jeans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72170" y="4315968"/>
            <a:ext cx="1920240" cy="1344168"/>
          </a:xfrm>
          <a:prstGeom prst="rect">
            <a:avLst/>
          </a:prstGeom>
        </p:spPr>
      </p:pic>
      <p:sp>
        <p:nvSpPr>
          <p:cNvPr id="28" name="Word label 6"/>
          <p:cNvSpPr/>
          <p:nvPr/>
        </p:nvSpPr>
        <p:spPr>
          <a:xfrm>
            <a:off x="807781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casual</a:t>
            </a:r>
            <a:endParaRPr lang="en-US" sz="20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word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 flipH="1" flipV="1">
            <a:off x="541325" y="2231136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 flipH="1" flipV="1">
            <a:off x="541325" y="2090318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630738" y="517002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666537" y="462686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5938114" y="594360"/>
            <a:ext cx="5669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More New Words</a:t>
            </a:r>
            <a:endParaRPr lang="en-US" sz="4900" dirty="0" b="1"/>
          </a:p>
        </p:txBody>
      </p:sp>
      <p:sp>
        <p:nvSpPr>
          <p:cNvPr id="9" name="instr card"/>
          <p:cNvSpPr/>
          <p:nvPr/>
        </p:nvSpPr>
        <p:spPr>
          <a:xfrm>
            <a:off x="1121969" y="587045"/>
            <a:ext cx="3291840" cy="114300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" name="instr"/>
          <p:cNvSpPr/>
          <p:nvPr/>
        </p:nvSpPr>
        <p:spPr>
          <a:xfrm>
            <a:off x="1325880" y="68580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Partner game:</a:t>
            </a:r>
            <a:endParaRPr lang="en-US" sz="2200" dirty="0" b="1"/>
          </a:p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Too, enough, or OK?</a:t>
            </a:r>
            <a:endParaRPr lang="en-US" sz="2200" dirty="0" b="1"/>
          </a:p>
        </p:txBody>
      </p:sp>
      <p:pic>
        <p:nvPicPr>
          <p:cNvPr id="17" name="Word picture 1" descr="Formal: a shirt with a tie and dress shoes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48410" y="2286000"/>
            <a:ext cx="1920240" cy="1344168"/>
          </a:xfrm>
          <a:prstGeom prst="rect">
            <a:avLst/>
          </a:prstGeom>
        </p:spPr>
      </p:pic>
      <p:sp>
        <p:nvSpPr>
          <p:cNvPr id="18" name="Word label 1"/>
          <p:cNvSpPr/>
          <p:nvPr/>
        </p:nvSpPr>
        <p:spPr>
          <a:xfrm>
            <a:off x="85405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formal</a:t>
            </a:r>
            <a:endParaRPr lang="en-US" sz="2000" dirty="0" b="1"/>
          </a:p>
        </p:txBody>
      </p:sp>
      <p:pic>
        <p:nvPicPr>
          <p:cNvPr id="19" name="Word picture 2" descr="Closed-toe shoes: a sneaker and a check mark [sign: CLOSED-TOE]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60290" y="2286000"/>
            <a:ext cx="1920240" cy="1344168"/>
          </a:xfrm>
          <a:prstGeom prst="rect">
            <a:avLst/>
          </a:prstGeom>
        </p:spPr>
      </p:pic>
      <p:sp>
        <p:nvSpPr>
          <p:cNvPr id="20" name="Word label 2"/>
          <p:cNvSpPr/>
          <p:nvPr/>
        </p:nvSpPr>
        <p:spPr>
          <a:xfrm>
            <a:off x="446593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closed-toe shoes</a:t>
            </a:r>
            <a:endParaRPr lang="en-US" sz="1800" dirty="0" b="1"/>
          </a:p>
        </p:txBody>
      </p:sp>
      <p:pic>
        <p:nvPicPr>
          <p:cNvPr id="21" name="Word picture 3" descr="Name badge: a name badge [sign: HI, I'M NADIA]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72170" y="2286000"/>
            <a:ext cx="1920240" cy="1344168"/>
          </a:xfrm>
          <a:prstGeom prst="rect">
            <a:avLst/>
          </a:prstGeom>
        </p:spPr>
      </p:pic>
      <p:sp>
        <p:nvSpPr>
          <p:cNvPr id="22" name="Word label 3"/>
          <p:cNvSpPr/>
          <p:nvPr/>
        </p:nvSpPr>
        <p:spPr>
          <a:xfrm>
            <a:off x="807781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name badge</a:t>
            </a:r>
            <a:endParaRPr lang="en-US" sz="2000" dirty="0" b="1"/>
          </a:p>
        </p:txBody>
      </p:sp>
      <p:pic>
        <p:nvPicPr>
          <p:cNvPr id="23" name="Word picture 4" descr="Invitation: an envelope and a party popper [sign: PARTY SAT 7:00]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48410" y="4315968"/>
            <a:ext cx="1920240" cy="1344168"/>
          </a:xfrm>
          <a:prstGeom prst="rect">
            <a:avLst/>
          </a:prstGeom>
        </p:spPr>
      </p:pic>
      <p:sp>
        <p:nvSpPr>
          <p:cNvPr id="24" name="Word label 4"/>
          <p:cNvSpPr/>
          <p:nvPr/>
        </p:nvSpPr>
        <p:spPr>
          <a:xfrm>
            <a:off x="85405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invitation</a:t>
            </a:r>
            <a:endParaRPr lang="en-US" sz="2000" dirty="0" b="1"/>
          </a:p>
        </p:txBody>
      </p:sp>
      <p:pic>
        <p:nvPicPr>
          <p:cNvPr id="25" name="Word picture 5" descr="RSVP: a phone and a check mark [sign: RSVP BY FRI]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60290" y="4315968"/>
            <a:ext cx="1920240" cy="1344168"/>
          </a:xfrm>
          <a:prstGeom prst="rect">
            <a:avLst/>
          </a:prstGeom>
        </p:spPr>
      </p:pic>
      <p:sp>
        <p:nvSpPr>
          <p:cNvPr id="26" name="Word label 5"/>
          <p:cNvSpPr/>
          <p:nvPr/>
        </p:nvSpPr>
        <p:spPr>
          <a:xfrm>
            <a:off x="446593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RSVP</a:t>
            </a:r>
            <a:endParaRPr lang="en-US" sz="2000" dirty="0" b="1"/>
          </a:p>
        </p:txBody>
      </p:sp>
      <p:pic>
        <p:nvPicPr>
          <p:cNvPr id="27" name="Word picture 6" descr="Host: a person and a house [sign: HOST]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72170" y="4315968"/>
            <a:ext cx="1920240" cy="1344168"/>
          </a:xfrm>
          <a:prstGeom prst="rect">
            <a:avLst/>
          </a:prstGeom>
        </p:spPr>
      </p:pic>
      <p:sp>
        <p:nvSpPr>
          <p:cNvPr id="28" name="Word label 6"/>
          <p:cNvSpPr/>
          <p:nvPr/>
        </p:nvSpPr>
        <p:spPr>
          <a:xfrm>
            <a:off x="807781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host</a:t>
            </a:r>
            <a:endParaRPr lang="en-US" sz="20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check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/>
          <p:nvPr/>
        </p:nvSpPr>
        <p:spPr>
          <a:xfrm>
            <a:off x="685800" y="502920"/>
            <a:ext cx="10789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Check the Meaning</a:t>
            </a:r>
            <a:endParaRPr lang="en-US" sz="4300" dirty="0" b="1"/>
          </a:p>
        </p:txBody>
      </p:sp>
      <p:sp>
        <p:nvSpPr>
          <p:cNvPr id="3" name="sub"/>
          <p:cNvSpPr/>
          <p:nvPr/>
        </p:nvSpPr>
        <p:spPr>
          <a:xfrm>
            <a:off x="685800" y="155448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Look at the picture. Answer the question.</a:t>
            </a:r>
            <a:endParaRPr lang="en-US" sz="2400" dirty="0"/>
          </a:p>
        </p:txBody>
      </p:sp>
      <p:sp>
        <p:nvSpPr>
          <p:cNvPr id="4" name="R1 shadow"/>
          <p:cNvSpPr/>
          <p:nvPr/>
        </p:nvSpPr>
        <p:spPr>
          <a:xfrm>
            <a:off x="7589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R1 card"/>
          <p:cNvSpPr/>
          <p:nvPr/>
        </p:nvSpPr>
        <p:spPr>
          <a:xfrm>
            <a:off x="6858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6" name="R1 circle"/>
          <p:cNvSpPr/>
          <p:nvPr/>
        </p:nvSpPr>
        <p:spPr>
          <a:xfrm>
            <a:off x="9601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7" name="R1 num"/>
          <p:cNvSpPr/>
          <p:nvPr/>
        </p:nvSpPr>
        <p:spPr>
          <a:xfrm>
            <a:off x="9601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500" dirty="0"/>
          </a:p>
        </p:txBody>
      </p:sp>
      <p:sp>
        <p:nvSpPr>
          <p:cNvPr id="8" name="R1 q"/>
          <p:cNvSpPr/>
          <p:nvPr/>
        </p:nvSpPr>
        <p:spPr>
          <a:xfrm>
            <a:off x="960120" y="3931920"/>
            <a:ext cx="2788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 a T-shirt casual or formal?</a:t>
            </a:r>
            <a:endParaRPr lang="en-US" sz="1600" dirty="0" b="1"/>
          </a:p>
        </p:txBody>
      </p:sp>
      <p:pic>
        <p:nvPicPr>
          <p:cNvPr id="101" name="R1 pic" descr="Casual: a T-shirt and jeans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83080" y="2560320"/>
            <a:ext cx="1920240" cy="1344168"/>
          </a:xfrm>
          <a:prstGeom prst="rect">
            <a:avLst/>
          </a:prstGeom>
        </p:spPr>
      </p:pic>
      <p:sp>
        <p:nvSpPr>
          <p:cNvPr id="10" name="R2 shadow"/>
          <p:cNvSpPr/>
          <p:nvPr/>
        </p:nvSpPr>
        <p:spPr>
          <a:xfrm>
            <a:off x="44165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1" name="R2 card"/>
          <p:cNvSpPr/>
          <p:nvPr/>
        </p:nvSpPr>
        <p:spPr>
          <a:xfrm>
            <a:off x="43434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C9B8F2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12" name="R2 circle"/>
          <p:cNvSpPr/>
          <p:nvPr/>
        </p:nvSpPr>
        <p:spPr>
          <a:xfrm>
            <a:off x="46177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3" name="R2 num"/>
          <p:cNvSpPr/>
          <p:nvPr/>
        </p:nvSpPr>
        <p:spPr>
          <a:xfrm>
            <a:off x="46177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500" dirty="0"/>
          </a:p>
        </p:txBody>
      </p:sp>
      <p:sp>
        <p:nvSpPr>
          <p:cNvPr id="14" name="R2 q"/>
          <p:cNvSpPr/>
          <p:nvPr/>
        </p:nvSpPr>
        <p:spPr>
          <a:xfrm>
            <a:off x="4617720" y="3931920"/>
            <a:ext cx="2788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Are sandals closed-toe shoes?</a:t>
            </a:r>
            <a:endParaRPr lang="en-US" sz="1600" dirty="0" b="1"/>
          </a:p>
        </p:txBody>
      </p:sp>
      <p:pic>
        <p:nvPicPr>
          <p:cNvPr id="102" name="R2 pic" descr="Closed-toe shoes: a sneaker and a check mark [sign: CLOSED-TOE]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40680" y="2560320"/>
            <a:ext cx="1920240" cy="1344168"/>
          </a:xfrm>
          <a:prstGeom prst="rect">
            <a:avLst/>
          </a:prstGeom>
        </p:spPr>
      </p:pic>
      <p:sp>
        <p:nvSpPr>
          <p:cNvPr id="16" name="R3 shadow"/>
          <p:cNvSpPr/>
          <p:nvPr/>
        </p:nvSpPr>
        <p:spPr>
          <a:xfrm>
            <a:off x="80741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7" name="R3 card"/>
          <p:cNvSpPr/>
          <p:nvPr/>
        </p:nvSpPr>
        <p:spPr>
          <a:xfrm>
            <a:off x="80010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18" name="R3 circle"/>
          <p:cNvSpPr/>
          <p:nvPr/>
        </p:nvSpPr>
        <p:spPr>
          <a:xfrm>
            <a:off x="82753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9" name="R3 num"/>
          <p:cNvSpPr/>
          <p:nvPr/>
        </p:nvSpPr>
        <p:spPr>
          <a:xfrm>
            <a:off x="82753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500" dirty="0"/>
          </a:p>
        </p:txBody>
      </p:sp>
      <p:sp>
        <p:nvSpPr>
          <p:cNvPr id="20" name="R3 q"/>
          <p:cNvSpPr/>
          <p:nvPr/>
        </p:nvSpPr>
        <p:spPr>
          <a:xfrm>
            <a:off x="8275320" y="3931920"/>
            <a:ext cx="2788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If an invitation says RSVP by Friday, what do you do?</a:t>
            </a:r>
            <a:endParaRPr lang="en-US" sz="1600" dirty="0" b="1"/>
          </a:p>
        </p:txBody>
      </p:sp>
      <p:pic>
        <p:nvPicPr>
          <p:cNvPr id="103" name="R3 pic" descr="Invitation: an envelope and a party popper [sign: PARTY SAT 7:00]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98280" y="2560320"/>
            <a:ext cx="1920240" cy="1344168"/>
          </a:xfrm>
          <a:prstGeom prst="rect">
            <a:avLst/>
          </a:prstGeom>
        </p:spPr>
      </p:pic>
      <p:sp>
        <p:nvSpPr>
          <p:cNvPr id="25" name="R1 ans"/>
          <p:cNvSpPr/>
          <p:nvPr/>
        </p:nvSpPr>
        <p:spPr>
          <a:xfrm>
            <a:off x="960120" y="4709160"/>
            <a:ext cx="228600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casual</a:t>
            </a:r>
            <a:endParaRPr lang="en-US" sz="2800" dirty="0" b="1"/>
          </a:p>
        </p:txBody>
      </p:sp>
      <p:sp>
        <p:nvSpPr>
          <p:cNvPr id="26" name="R2 ans"/>
          <p:cNvSpPr/>
          <p:nvPr/>
        </p:nvSpPr>
        <p:spPr>
          <a:xfrm>
            <a:off x="4617720" y="4709160"/>
            <a:ext cx="228600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</a:t>
            </a:r>
            <a:endParaRPr lang="en-US" sz="2800" dirty="0" b="1"/>
          </a:p>
        </p:txBody>
      </p:sp>
      <p:sp>
        <p:nvSpPr>
          <p:cNvPr id="27" name="R3 ans"/>
          <p:cNvSpPr/>
          <p:nvPr/>
        </p:nvSpPr>
        <p:spPr>
          <a:xfrm>
            <a:off x="8275320" y="4709160"/>
            <a:ext cx="228600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tell the host by Friday</a:t>
            </a:r>
            <a:endParaRPr lang="en-US" sz="18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befor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3063240" cy="685800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8156448" y="1289304"/>
            <a:ext cx="3429000" cy="49834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321040" y="1097280"/>
            <a:ext cx="3429000" cy="498348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394847" y="1032586"/>
            <a:ext cx="4424782" cy="186354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3420770" y="956462"/>
            <a:ext cx="4424782" cy="186354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1"/>
          <p:cNvSpPr/>
          <p:nvPr/>
        </p:nvSpPr>
        <p:spPr>
          <a:xfrm>
            <a:off x="3566160" y="1078992"/>
            <a:ext cx="4114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Before You</a:t>
            </a:r>
            <a:endParaRPr lang="en-US" sz="4400" dirty="0" b="1"/>
          </a:p>
        </p:txBody>
      </p:sp>
      <p:sp>
        <p:nvSpPr>
          <p:cNvPr id="9" name="title2"/>
          <p:cNvSpPr/>
          <p:nvPr/>
        </p:nvSpPr>
        <p:spPr>
          <a:xfrm>
            <a:off x="3566160" y="1828800"/>
            <a:ext cx="4114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</a:t>
            </a:r>
            <a:endParaRPr lang="en-US" sz="4400" dirty="0" b="1"/>
          </a:p>
        </p:txBody>
      </p:sp>
      <p:sp>
        <p:nvSpPr>
          <p:cNvPr id="10" name="context"/>
          <p:cNvSpPr/>
          <p:nvPr/>
        </p:nvSpPr>
        <p:spPr>
          <a:xfrm>
            <a:off x="3487522" y="310896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It's Nadia's first week at a bakery. She asks her coworker, Carmen, about the rules. Then the supervisor, Mr. Brooks, comes in.</a:t>
            </a:r>
            <a:endParaRPr lang="en-US" sz="1600" dirty="0"/>
          </a:p>
        </p:txBody>
      </p:sp>
      <p:sp>
        <p:nvSpPr>
          <p:cNvPr id="11" name="R1 num"/>
          <p:cNvSpPr/>
          <p:nvPr/>
        </p:nvSpPr>
        <p:spPr>
          <a:xfrm>
            <a:off x="3383280" y="4114800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600" dirty="0"/>
          </a:p>
        </p:txBody>
      </p:sp>
      <p:sp>
        <p:nvSpPr>
          <p:cNvPr id="13" name="R2 num"/>
          <p:cNvSpPr/>
          <p:nvPr/>
        </p:nvSpPr>
        <p:spPr>
          <a:xfrm>
            <a:off x="3383280" y="4919472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600" dirty="0"/>
          </a:p>
        </p:txBody>
      </p:sp>
      <p:sp>
        <p:nvSpPr>
          <p:cNvPr id="15" name="R3 num"/>
          <p:cNvSpPr/>
          <p:nvPr/>
        </p:nvSpPr>
        <p:spPr>
          <a:xfrm>
            <a:off x="3383280" y="5724144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03</a:t>
            </a:r>
            <a:endParaRPr lang="en-US" sz="3600" dirty="0"/>
          </a:p>
        </p:txBody>
      </p:sp>
      <p:sp>
        <p:nvSpPr>
          <p:cNvPr id="17" name="line 1"/>
          <p:cNvSpPr/>
          <p:nvPr/>
        </p:nvSpPr>
        <p:spPr>
          <a:xfrm>
            <a:off x="3503066" y="4928616"/>
            <a:ext cx="4480560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8" name="line 2"/>
          <p:cNvSpPr/>
          <p:nvPr/>
        </p:nvSpPr>
        <p:spPr>
          <a:xfrm>
            <a:off x="3503066" y="5733288"/>
            <a:ext cx="4480560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pic>
        <p:nvPicPr>
          <p:cNvPr id="24" name="pic" descr="Casual: a T-shirt and jean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" y="2423160"/>
            <a:ext cx="2743200" cy="1920240"/>
          </a:xfrm>
          <a:prstGeom prst="rect">
            <a:avLst/>
          </a:prstGeom>
        </p:spPr>
      </p:pic>
      <p:sp>
        <p:nvSpPr>
          <p:cNvPr id="25" name="R1 hl"/>
          <p:cNvSpPr/>
          <p:nvPr/>
        </p:nvSpPr>
        <p:spPr>
          <a:xfrm>
            <a:off x="4389120" y="4251960"/>
            <a:ext cx="356616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7" name="R1 voice"/>
          <p:cNvSpPr/>
          <p:nvPr/>
        </p:nvSpPr>
        <p:spPr>
          <a:xfrm>
            <a:off x="4389120" y="4251960"/>
            <a:ext cx="35661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Nadia</a:t>
            </a:r>
            <a:endParaRPr lang="en-US" sz="2200" dirty="0" b="1"/>
          </a:p>
        </p:txBody>
      </p:sp>
      <p:sp>
        <p:nvSpPr>
          <p:cNvPr id="29" name="R2 hl"/>
          <p:cNvSpPr/>
          <p:nvPr/>
        </p:nvSpPr>
        <p:spPr>
          <a:xfrm>
            <a:off x="4389120" y="5056632"/>
            <a:ext cx="356616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1" name="R2 voice"/>
          <p:cNvSpPr/>
          <p:nvPr/>
        </p:nvSpPr>
        <p:spPr>
          <a:xfrm>
            <a:off x="4389120" y="5056632"/>
            <a:ext cx="35661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Carmen</a:t>
            </a:r>
            <a:endParaRPr lang="en-US" sz="2200" dirty="0" b="1"/>
          </a:p>
        </p:txBody>
      </p:sp>
      <p:sp>
        <p:nvSpPr>
          <p:cNvPr id="33" name="R3 hl"/>
          <p:cNvSpPr/>
          <p:nvPr/>
        </p:nvSpPr>
        <p:spPr>
          <a:xfrm>
            <a:off x="4389120" y="5861304"/>
            <a:ext cx="356616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5" name="R3 voice"/>
          <p:cNvSpPr/>
          <p:nvPr/>
        </p:nvSpPr>
        <p:spPr>
          <a:xfrm>
            <a:off x="4389120" y="5861304"/>
            <a:ext cx="35661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Mr. Brooks</a:t>
            </a:r>
            <a:endParaRPr lang="en-US" sz="2200" dirty="0" b="1"/>
          </a:p>
        </p:txBody>
      </p:sp>
      <p:sp>
        <p:nvSpPr>
          <p:cNvPr id="37" name="listen head"/>
          <p:cNvSpPr/>
          <p:nvPr/>
        </p:nvSpPr>
        <p:spPr>
          <a:xfrm>
            <a:off x="8549640" y="1280160"/>
            <a:ext cx="3017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for:</a:t>
            </a:r>
            <a:endParaRPr lang="en-US" sz="2400" dirty="0" b="1"/>
          </a:p>
        </p:txBody>
      </p:sp>
      <p:sp>
        <p:nvSpPr>
          <p:cNvPr id="39" name="listen 1"/>
          <p:cNvSpPr/>
          <p:nvPr/>
        </p:nvSpPr>
        <p:spPr>
          <a:xfrm>
            <a:off x="8549640" y="1965960"/>
            <a:ext cx="3063240" cy="9144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are they talking about?</a:t>
            </a:r>
            <a:endParaRPr lang="en-US" sz="2200" dirty="0"/>
          </a:p>
        </p:txBody>
      </p:sp>
      <p:sp>
        <p:nvSpPr>
          <p:cNvPr id="41" name="listen 2"/>
          <p:cNvSpPr/>
          <p:nvPr/>
        </p:nvSpPr>
        <p:spPr>
          <a:xfrm>
            <a:off x="8549640" y="3017520"/>
            <a:ext cx="3063240" cy="9144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Play 2: Tasks B and C.</a:t>
            </a:r>
            <a:endParaRPr lang="en-US" sz="2200" dirty="0"/>
          </a:p>
        </p:txBody>
      </p:sp>
      <p:sp>
        <p:nvSpPr>
          <p:cNvPr id="43" name="audio"/>
          <p:cNvSpPr/>
          <p:nvPr/>
        </p:nvSpPr>
        <p:spPr>
          <a:xfrm>
            <a:off x="8549640" y="4069080"/>
            <a:ext cx="3063240" cy="9144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Audio: about 1:52. It plays once.</a:t>
            </a:r>
            <a:endParaRPr lang="en-US" sz="2200" dirty="0"/>
          </a:p>
        </p:txBody>
      </p:sp>
      <p:sp>
        <p:nvSpPr>
          <p:cNvPr id="46" name="play"/>
          <p:cNvSpPr/>
          <p:nvPr/>
        </p:nvSpPr>
        <p:spPr>
          <a:xfrm>
            <a:off x="8549640" y="5029200"/>
            <a:ext cx="3017520" cy="7315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Play 1: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Task A</a:t>
            </a:r>
            <a:endParaRPr lang="en-US" sz="2200" dirty="0" b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choic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164592" y="2980944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33172" y="1137194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66090" y="1080821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0" y="2856586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416052" y="1452067"/>
            <a:ext cx="5680253" cy="94731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4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A</a:t>
            </a:r>
            <a:endParaRPr lang="en-US" sz="4800" dirty="0" b="1"/>
          </a:p>
        </p:txBody>
      </p:sp>
      <p:sp>
        <p:nvSpPr>
          <p:cNvPr id="7" name="instr"/>
          <p:cNvSpPr/>
          <p:nvPr/>
        </p:nvSpPr>
        <p:spPr>
          <a:xfrm>
            <a:off x="6745529" y="123444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Listen. What are they talking about?</a:t>
            </a:r>
            <a:endParaRPr lang="en-US" sz="20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Circle.</a:t>
            </a:r>
            <a:endParaRPr lang="en-US" sz="2000" dirty="0"/>
          </a:p>
        </p:txBody>
      </p:sp>
      <p:sp>
        <p:nvSpPr>
          <p:cNvPr id="8" name="R1 stmt"/>
          <p:cNvSpPr/>
          <p:nvPr/>
        </p:nvSpPr>
        <p:spPr>
          <a:xfrm>
            <a:off x="502920" y="3108960"/>
            <a:ext cx="178308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9" name="R1 opt1"/>
          <p:cNvSpPr/>
          <p:nvPr/>
        </p:nvSpPr>
        <p:spPr>
          <a:xfrm>
            <a:off x="2468880" y="3108960"/>
            <a:ext cx="27432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a. the rules at work</a:t>
            </a:r>
            <a:endParaRPr lang="en-US" sz="1500" dirty="0" b="1"/>
          </a:p>
        </p:txBody>
      </p:sp>
      <p:sp>
        <p:nvSpPr>
          <p:cNvPr id="10" name="R1 opt2"/>
          <p:cNvSpPr/>
          <p:nvPr/>
        </p:nvSpPr>
        <p:spPr>
          <a:xfrm>
            <a:off x="5349240" y="3108960"/>
            <a:ext cx="27432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b. a party invitation</a:t>
            </a:r>
            <a:endParaRPr lang="en-US" sz="1500" dirty="0" b="1"/>
          </a:p>
        </p:txBody>
      </p:sp>
      <p:sp>
        <p:nvSpPr>
          <p:cNvPr id="11" name="R1 opt3"/>
          <p:cNvSpPr/>
          <p:nvPr/>
        </p:nvSpPr>
        <p:spPr>
          <a:xfrm>
            <a:off x="8229600" y="3108960"/>
            <a:ext cx="27432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c. a job interview</a:t>
            </a:r>
            <a:endParaRPr lang="en-US" sz="1500" dirty="0" b="1"/>
          </a:p>
        </p:txBody>
      </p:sp>
      <p:sp>
        <p:nvSpPr>
          <p:cNvPr id="12" name="R1 circle"/>
          <p:cNvSpPr/>
          <p:nvPr/>
        </p:nvSpPr>
        <p:spPr>
          <a:xfrm>
            <a:off x="2340864" y="3054096"/>
            <a:ext cx="2999232" cy="640080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choic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164592" y="2980944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33172" y="1137194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66090" y="1080821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0" y="2856586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416052" y="1452067"/>
            <a:ext cx="5680253" cy="94731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4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B</a:t>
            </a:r>
            <a:endParaRPr lang="en-US" sz="4800" dirty="0" b="1"/>
          </a:p>
        </p:txBody>
      </p:sp>
      <p:sp>
        <p:nvSpPr>
          <p:cNvPr id="7" name="instr"/>
          <p:cNvSpPr/>
          <p:nvPr/>
        </p:nvSpPr>
        <p:spPr>
          <a:xfrm>
            <a:off x="6745529" y="123444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again.</a:t>
            </a:r>
            <a:endParaRPr lang="en-US" sz="20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Check the rules.</a:t>
            </a:r>
            <a:endParaRPr lang="en-US" sz="20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Circle the answer.</a:t>
            </a:r>
            <a:endParaRPr lang="en-US" sz="2000" dirty="0"/>
          </a:p>
        </p:txBody>
      </p:sp>
      <p:sp>
        <p:nvSpPr>
          <p:cNvPr id="8" name="R1 stmt"/>
          <p:cNvSpPr/>
          <p:nvPr/>
        </p:nvSpPr>
        <p:spPr>
          <a:xfrm>
            <a:off x="502920" y="3108960"/>
            <a:ext cx="594360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1. On time means</a:t>
            </a:r>
            <a:endParaRPr lang="en-US" sz="1600" dirty="0"/>
          </a:p>
        </p:txBody>
      </p:sp>
      <p:sp>
        <p:nvSpPr>
          <p:cNvPr id="9" name="R1 opt1"/>
          <p:cNvSpPr/>
          <p:nvPr/>
        </p:nvSpPr>
        <p:spPr>
          <a:xfrm>
            <a:off x="6629400" y="310896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five minutes early</a:t>
            </a:r>
            <a:endParaRPr lang="en-US" sz="1400" dirty="0" b="1"/>
          </a:p>
        </p:txBody>
      </p:sp>
      <p:sp>
        <p:nvSpPr>
          <p:cNvPr id="10" name="R1 opt2"/>
          <p:cNvSpPr/>
          <p:nvPr/>
        </p:nvSpPr>
        <p:spPr>
          <a:xfrm>
            <a:off x="8869680" y="310896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exactly seven o'clock</a:t>
            </a:r>
            <a:endParaRPr lang="en-US" sz="1400" dirty="0" b="1"/>
          </a:p>
        </p:txBody>
      </p:sp>
      <p:sp>
        <p:nvSpPr>
          <p:cNvPr id="11" name="R1 circle"/>
          <p:cNvSpPr/>
          <p:nvPr/>
        </p:nvSpPr>
        <p:spPr>
          <a:xfrm>
            <a:off x="6501384" y="3054096"/>
            <a:ext cx="235915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2" name="R2 stmt"/>
          <p:cNvSpPr/>
          <p:nvPr/>
        </p:nvSpPr>
        <p:spPr>
          <a:xfrm>
            <a:off x="502920" y="3657600"/>
            <a:ext cx="594360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2. In the kitchen, you ____ wear the hat and the apron.</a:t>
            </a:r>
            <a:endParaRPr lang="en-US" sz="1600" dirty="0"/>
          </a:p>
        </p:txBody>
      </p:sp>
      <p:sp>
        <p:nvSpPr>
          <p:cNvPr id="13" name="R2 opt1"/>
          <p:cNvSpPr/>
          <p:nvPr/>
        </p:nvSpPr>
        <p:spPr>
          <a:xfrm>
            <a:off x="6629400" y="365760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must</a:t>
            </a:r>
            <a:endParaRPr lang="en-US" sz="1400" dirty="0" b="1"/>
          </a:p>
        </p:txBody>
      </p:sp>
      <p:sp>
        <p:nvSpPr>
          <p:cNvPr id="14" name="R2 opt2"/>
          <p:cNvSpPr/>
          <p:nvPr/>
        </p:nvSpPr>
        <p:spPr>
          <a:xfrm>
            <a:off x="8869680" y="365760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 have to</a:t>
            </a:r>
            <a:endParaRPr lang="en-US" sz="1400" dirty="0" b="1"/>
          </a:p>
        </p:txBody>
      </p:sp>
      <p:sp>
        <p:nvSpPr>
          <p:cNvPr id="15" name="R2 circle"/>
          <p:cNvSpPr/>
          <p:nvPr/>
        </p:nvSpPr>
        <p:spPr>
          <a:xfrm>
            <a:off x="6501384" y="3602736"/>
            <a:ext cx="235915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6" name="R3 stmt"/>
          <p:cNvSpPr/>
          <p:nvPr/>
        </p:nvSpPr>
        <p:spPr>
          <a:xfrm>
            <a:off x="502920" y="4206240"/>
            <a:ext cx="594360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3. In the break room, you ____ wear them.</a:t>
            </a:r>
            <a:endParaRPr lang="en-US" sz="1600" dirty="0"/>
          </a:p>
        </p:txBody>
      </p:sp>
      <p:sp>
        <p:nvSpPr>
          <p:cNvPr id="17" name="R3 opt1"/>
          <p:cNvSpPr/>
          <p:nvPr/>
        </p:nvSpPr>
        <p:spPr>
          <a:xfrm>
            <a:off x="6629400" y="420624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must</a:t>
            </a:r>
            <a:endParaRPr lang="en-US" sz="1400" dirty="0" b="1"/>
          </a:p>
        </p:txBody>
      </p:sp>
      <p:sp>
        <p:nvSpPr>
          <p:cNvPr id="18" name="R3 opt2"/>
          <p:cNvSpPr/>
          <p:nvPr/>
        </p:nvSpPr>
        <p:spPr>
          <a:xfrm>
            <a:off x="8869680" y="420624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 have to</a:t>
            </a:r>
            <a:endParaRPr lang="en-US" sz="1400" dirty="0" b="1"/>
          </a:p>
        </p:txBody>
      </p:sp>
      <p:sp>
        <p:nvSpPr>
          <p:cNvPr id="19" name="R3 circle"/>
          <p:cNvSpPr/>
          <p:nvPr/>
        </p:nvSpPr>
        <p:spPr>
          <a:xfrm>
            <a:off x="8741664" y="4151376"/>
            <a:ext cx="235915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R4 stmt"/>
          <p:cNvSpPr/>
          <p:nvPr/>
        </p:nvSpPr>
        <p:spPr>
          <a:xfrm>
            <a:off x="502920" y="4754880"/>
            <a:ext cx="594360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4. You ____ use your phone in the kitchen.</a:t>
            </a:r>
            <a:endParaRPr lang="en-US" sz="1600" dirty="0"/>
          </a:p>
        </p:txBody>
      </p:sp>
      <p:sp>
        <p:nvSpPr>
          <p:cNvPr id="21" name="R4 opt1"/>
          <p:cNvSpPr/>
          <p:nvPr/>
        </p:nvSpPr>
        <p:spPr>
          <a:xfrm>
            <a:off x="6629400" y="475488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must</a:t>
            </a:r>
            <a:endParaRPr lang="en-US" sz="1400" dirty="0" b="1"/>
          </a:p>
        </p:txBody>
      </p:sp>
      <p:sp>
        <p:nvSpPr>
          <p:cNvPr id="22" name="R4 opt2"/>
          <p:cNvSpPr/>
          <p:nvPr/>
        </p:nvSpPr>
        <p:spPr>
          <a:xfrm>
            <a:off x="8869680" y="475488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mustn't</a:t>
            </a:r>
            <a:endParaRPr lang="en-US" sz="1400" dirty="0" b="1"/>
          </a:p>
        </p:txBody>
      </p:sp>
      <p:sp>
        <p:nvSpPr>
          <p:cNvPr id="23" name="R4 circle"/>
          <p:cNvSpPr/>
          <p:nvPr/>
        </p:nvSpPr>
        <p:spPr>
          <a:xfrm>
            <a:off x="8741664" y="4700016"/>
            <a:ext cx="235915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4" name="R5 stmt"/>
          <p:cNvSpPr/>
          <p:nvPr/>
        </p:nvSpPr>
        <p:spPr>
          <a:xfrm>
            <a:off x="502920" y="5303520"/>
            <a:ext cx="594360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5. You ____ wear closed-toe shoes.</a:t>
            </a:r>
            <a:endParaRPr lang="en-US" sz="1600" dirty="0"/>
          </a:p>
        </p:txBody>
      </p:sp>
      <p:sp>
        <p:nvSpPr>
          <p:cNvPr id="25" name="R5 opt1"/>
          <p:cNvSpPr/>
          <p:nvPr/>
        </p:nvSpPr>
        <p:spPr>
          <a:xfrm>
            <a:off x="6629400" y="530352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must</a:t>
            </a:r>
            <a:endParaRPr lang="en-US" sz="1400" dirty="0" b="1"/>
          </a:p>
        </p:txBody>
      </p:sp>
      <p:sp>
        <p:nvSpPr>
          <p:cNvPr id="26" name="R5 opt2"/>
          <p:cNvSpPr/>
          <p:nvPr/>
        </p:nvSpPr>
        <p:spPr>
          <a:xfrm>
            <a:off x="8869680" y="530352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 have to</a:t>
            </a:r>
            <a:endParaRPr lang="en-US" sz="1400" dirty="0" b="1"/>
          </a:p>
        </p:txBody>
      </p:sp>
      <p:sp>
        <p:nvSpPr>
          <p:cNvPr id="27" name="R5 circle"/>
          <p:cNvSpPr/>
          <p:nvPr/>
        </p:nvSpPr>
        <p:spPr>
          <a:xfrm>
            <a:off x="6501384" y="5248656"/>
            <a:ext cx="235915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8" name="R6 stmt"/>
          <p:cNvSpPr/>
          <p:nvPr/>
        </p:nvSpPr>
        <p:spPr>
          <a:xfrm>
            <a:off x="502920" y="5852160"/>
            <a:ext cx="594360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6. If you're going to be late, you must</a:t>
            </a:r>
            <a:endParaRPr lang="en-US" sz="1600" dirty="0"/>
          </a:p>
        </p:txBody>
      </p:sp>
      <p:sp>
        <p:nvSpPr>
          <p:cNvPr id="29" name="R6 opt1"/>
          <p:cNvSpPr/>
          <p:nvPr/>
        </p:nvSpPr>
        <p:spPr>
          <a:xfrm>
            <a:off x="6629400" y="585216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call Mr. Brooks</a:t>
            </a:r>
            <a:endParaRPr lang="en-US" sz="1400" dirty="0" b="1"/>
          </a:p>
        </p:txBody>
      </p:sp>
      <p:sp>
        <p:nvSpPr>
          <p:cNvPr id="30" name="R6 opt2"/>
          <p:cNvSpPr/>
          <p:nvPr/>
        </p:nvSpPr>
        <p:spPr>
          <a:xfrm>
            <a:off x="8869680" y="585216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text Carmen</a:t>
            </a:r>
            <a:endParaRPr lang="en-US" sz="1400" dirty="0" b="1"/>
          </a:p>
        </p:txBody>
      </p:sp>
      <p:sp>
        <p:nvSpPr>
          <p:cNvPr id="31" name="R6 circle"/>
          <p:cNvSpPr/>
          <p:nvPr/>
        </p:nvSpPr>
        <p:spPr>
          <a:xfrm>
            <a:off x="6501384" y="5797296"/>
            <a:ext cx="235915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gap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132942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8640" y="1075334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143000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again.</a:t>
            </a:r>
            <a:endParaRPr lang="en-US" sz="2000" dirty="0" b="1"/>
          </a:p>
        </p:txBody>
      </p:sp>
      <p:sp>
        <p:nvSpPr>
          <p:cNvPr id="9" name="head2"/>
          <p:cNvSpPr/>
          <p:nvPr/>
        </p:nvSpPr>
        <p:spPr>
          <a:xfrm>
            <a:off x="868680" y="1545336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the missing word: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too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,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enough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, or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much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000" dirty="0"/>
          </a:p>
        </p:txBody>
      </p:sp>
      <p:sp>
        <p:nvSpPr>
          <p:cNvPr id="29" name="title"/>
          <p:cNvSpPr/>
          <p:nvPr/>
        </p:nvSpPr>
        <p:spPr>
          <a:xfrm>
            <a:off x="8001000" y="1783080"/>
            <a:ext cx="384048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C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8046720" y="3611880"/>
            <a:ext cx="3749039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the missing word: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too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,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enough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, or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much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000" dirty="0" b="1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Pairs: compare your answers.</a:t>
            </a:r>
            <a:endParaRPr lang="en-US" sz="2000" dirty="0" b="1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Then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check together.</a:t>
            </a:r>
            <a:endParaRPr lang="en-US" sz="2000" dirty="0" b="1"/>
          </a:p>
        </p:txBody>
      </p:sp>
      <p:sp>
        <p:nvSpPr>
          <p:cNvPr id="31" name="R1 card"/>
          <p:cNvSpPr/>
          <p:nvPr/>
        </p:nvSpPr>
        <p:spPr>
          <a:xfrm>
            <a:off x="1583741" y="2123237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R1 chip"/>
          <p:cNvSpPr/>
          <p:nvPr/>
        </p:nvSpPr>
        <p:spPr>
          <a:xfrm>
            <a:off x="544982" y="2123237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3" name="R1 num"/>
          <p:cNvSpPr/>
          <p:nvPr/>
        </p:nvSpPr>
        <p:spPr>
          <a:xfrm>
            <a:off x="686714" y="2158136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1</a:t>
            </a:r>
            <a:endParaRPr lang="en-US" sz="3200" dirty="0" b="1"/>
          </a:p>
        </p:txBody>
      </p:sp>
      <p:sp>
        <p:nvSpPr>
          <p:cNvPr id="34" name="R1 text"/>
          <p:cNvSpPr/>
          <p:nvPr/>
        </p:nvSpPr>
        <p:spPr>
          <a:xfrm>
            <a:off x="1810512" y="2123237"/>
            <a:ext cx="431596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 six fifty-five early ____?</a:t>
            </a:r>
            <a:endParaRPr lang="en-US" sz="1800" dirty="0"/>
          </a:p>
        </p:txBody>
      </p:sp>
      <p:sp>
        <p:nvSpPr>
          <p:cNvPr id="35" name="R1 ans"/>
          <p:cNvSpPr/>
          <p:nvPr/>
        </p:nvSpPr>
        <p:spPr>
          <a:xfrm>
            <a:off x="6199632" y="2222144"/>
            <a:ext cx="137160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enough</a:t>
            </a:r>
            <a:endParaRPr lang="en-US" sz="2000" dirty="0" b="1"/>
          </a:p>
        </p:txBody>
      </p:sp>
      <p:sp>
        <p:nvSpPr>
          <p:cNvPr id="36" name="R2 card"/>
          <p:cNvSpPr/>
          <p:nvPr/>
        </p:nvSpPr>
        <p:spPr>
          <a:xfrm>
            <a:off x="1583741" y="2851404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7" name="R2 chip"/>
          <p:cNvSpPr/>
          <p:nvPr/>
        </p:nvSpPr>
        <p:spPr>
          <a:xfrm>
            <a:off x="544982" y="2851404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8" name="R2 num"/>
          <p:cNvSpPr/>
          <p:nvPr/>
        </p:nvSpPr>
        <p:spPr>
          <a:xfrm>
            <a:off x="686714" y="2886304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2</a:t>
            </a:r>
            <a:endParaRPr lang="en-US" sz="3200" dirty="0" b="1"/>
          </a:p>
        </p:txBody>
      </p:sp>
      <p:sp>
        <p:nvSpPr>
          <p:cNvPr id="39" name="R2 text"/>
          <p:cNvSpPr/>
          <p:nvPr/>
        </p:nvSpPr>
        <p:spPr>
          <a:xfrm>
            <a:off x="1810512" y="2851404"/>
            <a:ext cx="431596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Seven ten is ____ late.</a:t>
            </a:r>
            <a:endParaRPr lang="en-US" sz="1800" dirty="0"/>
          </a:p>
        </p:txBody>
      </p:sp>
      <p:sp>
        <p:nvSpPr>
          <p:cNvPr id="40" name="R2 ans"/>
          <p:cNvSpPr/>
          <p:nvPr/>
        </p:nvSpPr>
        <p:spPr>
          <a:xfrm>
            <a:off x="6199632" y="2950312"/>
            <a:ext cx="137160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too</a:t>
            </a:r>
            <a:endParaRPr lang="en-US" sz="2000" dirty="0" b="1"/>
          </a:p>
        </p:txBody>
      </p:sp>
      <p:sp>
        <p:nvSpPr>
          <p:cNvPr id="41" name="R3 card"/>
          <p:cNvSpPr/>
          <p:nvPr/>
        </p:nvSpPr>
        <p:spPr>
          <a:xfrm>
            <a:off x="1583741" y="3579571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2" name="R3 chip"/>
          <p:cNvSpPr/>
          <p:nvPr/>
        </p:nvSpPr>
        <p:spPr>
          <a:xfrm>
            <a:off x="544982" y="3579571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3" name="R3 num"/>
          <p:cNvSpPr/>
          <p:nvPr/>
        </p:nvSpPr>
        <p:spPr>
          <a:xfrm>
            <a:off x="686714" y="3614471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3</a:t>
            </a:r>
            <a:endParaRPr lang="en-US" sz="3200" dirty="0" b="1"/>
          </a:p>
        </p:txBody>
      </p:sp>
      <p:sp>
        <p:nvSpPr>
          <p:cNvPr id="44" name="R3 text"/>
          <p:cNvSpPr/>
          <p:nvPr/>
        </p:nvSpPr>
        <p:spPr>
          <a:xfrm>
            <a:off x="1810512" y="3579571"/>
            <a:ext cx="431596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They aren't safe ____ for the kitchen.</a:t>
            </a:r>
            <a:endParaRPr lang="en-US" sz="1800" dirty="0"/>
          </a:p>
        </p:txBody>
      </p:sp>
      <p:sp>
        <p:nvSpPr>
          <p:cNvPr id="45" name="R3 ans"/>
          <p:cNvSpPr/>
          <p:nvPr/>
        </p:nvSpPr>
        <p:spPr>
          <a:xfrm>
            <a:off x="6199632" y="3678479"/>
            <a:ext cx="137160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enough</a:t>
            </a:r>
            <a:endParaRPr lang="en-US" sz="2000" dirty="0" b="1"/>
          </a:p>
        </p:txBody>
      </p:sp>
      <p:sp>
        <p:nvSpPr>
          <p:cNvPr id="46" name="R4 card"/>
          <p:cNvSpPr/>
          <p:nvPr/>
        </p:nvSpPr>
        <p:spPr>
          <a:xfrm>
            <a:off x="1583741" y="4307738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7" name="R4 chip"/>
          <p:cNvSpPr/>
          <p:nvPr/>
        </p:nvSpPr>
        <p:spPr>
          <a:xfrm>
            <a:off x="544982" y="4307738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8" name="R4 num"/>
          <p:cNvSpPr/>
          <p:nvPr/>
        </p:nvSpPr>
        <p:spPr>
          <a:xfrm>
            <a:off x="686714" y="4342638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4</a:t>
            </a:r>
            <a:endParaRPr lang="en-US" sz="3200" dirty="0" b="1"/>
          </a:p>
        </p:txBody>
      </p:sp>
      <p:sp>
        <p:nvSpPr>
          <p:cNvPr id="49" name="R4 text"/>
          <p:cNvSpPr/>
          <p:nvPr/>
        </p:nvSpPr>
        <p:spPr>
          <a:xfrm>
            <a:off x="1810512" y="4307738"/>
            <a:ext cx="431596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trays are ____ hot, and the floor is sometimes wet.</a:t>
            </a:r>
            <a:endParaRPr lang="en-US" sz="1800" dirty="0"/>
          </a:p>
        </p:txBody>
      </p:sp>
      <p:sp>
        <p:nvSpPr>
          <p:cNvPr id="50" name="R4 ans"/>
          <p:cNvSpPr/>
          <p:nvPr/>
        </p:nvSpPr>
        <p:spPr>
          <a:xfrm>
            <a:off x="6199632" y="4406646"/>
            <a:ext cx="137160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too</a:t>
            </a:r>
            <a:endParaRPr lang="en-US" sz="2000" dirty="0" b="1"/>
          </a:p>
        </p:txBody>
      </p:sp>
      <p:sp>
        <p:nvSpPr>
          <p:cNvPr id="51" name="R5 card"/>
          <p:cNvSpPr/>
          <p:nvPr/>
        </p:nvSpPr>
        <p:spPr>
          <a:xfrm>
            <a:off x="1583741" y="5035906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2" name="R5 chip"/>
          <p:cNvSpPr/>
          <p:nvPr/>
        </p:nvSpPr>
        <p:spPr>
          <a:xfrm>
            <a:off x="544982" y="5035906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3" name="R5 num"/>
          <p:cNvSpPr/>
          <p:nvPr/>
        </p:nvSpPr>
        <p:spPr>
          <a:xfrm>
            <a:off x="686714" y="5070805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5</a:t>
            </a:r>
            <a:endParaRPr lang="en-US" sz="3200" dirty="0" b="1"/>
          </a:p>
        </p:txBody>
      </p:sp>
      <p:sp>
        <p:nvSpPr>
          <p:cNvPr id="54" name="R5 text"/>
          <p:cNvSpPr/>
          <p:nvPr/>
        </p:nvSpPr>
        <p:spPr>
          <a:xfrm>
            <a:off x="1810512" y="5035906"/>
            <a:ext cx="431596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Maybe they're ____ big, but they're safe.</a:t>
            </a:r>
            <a:endParaRPr lang="en-US" sz="1800" dirty="0"/>
          </a:p>
        </p:txBody>
      </p:sp>
      <p:sp>
        <p:nvSpPr>
          <p:cNvPr id="55" name="R5 ans"/>
          <p:cNvSpPr/>
          <p:nvPr/>
        </p:nvSpPr>
        <p:spPr>
          <a:xfrm>
            <a:off x="6199632" y="5134813"/>
            <a:ext cx="137160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too</a:t>
            </a:r>
            <a:endParaRPr lang="en-US" sz="2000" dirty="0" b="1"/>
          </a:p>
        </p:txBody>
      </p:sp>
      <p:sp>
        <p:nvSpPr>
          <p:cNvPr id="56" name="R6 card"/>
          <p:cNvSpPr/>
          <p:nvPr/>
        </p:nvSpPr>
        <p:spPr>
          <a:xfrm>
            <a:off x="1583741" y="5764073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7" name="R6 chip"/>
          <p:cNvSpPr/>
          <p:nvPr/>
        </p:nvSpPr>
        <p:spPr>
          <a:xfrm>
            <a:off x="544982" y="5764073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8" name="R6 num"/>
          <p:cNvSpPr/>
          <p:nvPr/>
        </p:nvSpPr>
        <p:spPr>
          <a:xfrm>
            <a:off x="686714" y="5798972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6</a:t>
            </a:r>
            <a:endParaRPr lang="en-US" sz="3200" dirty="0" b="1"/>
          </a:p>
        </p:txBody>
      </p:sp>
      <p:sp>
        <p:nvSpPr>
          <p:cNvPr id="59" name="R6 text"/>
          <p:cNvSpPr/>
          <p:nvPr/>
        </p:nvSpPr>
        <p:spPr>
          <a:xfrm>
            <a:off x="1810512" y="5764073"/>
            <a:ext cx="431596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There's too ____ to remember!</a:t>
            </a:r>
            <a:endParaRPr lang="en-US" sz="1800" dirty="0"/>
          </a:p>
        </p:txBody>
      </p:sp>
      <p:sp>
        <p:nvSpPr>
          <p:cNvPr id="60" name="R6 ans"/>
          <p:cNvSpPr/>
          <p:nvPr/>
        </p:nvSpPr>
        <p:spPr>
          <a:xfrm>
            <a:off x="6199632" y="5862980"/>
            <a:ext cx="137160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much</a:t>
            </a:r>
            <a:endParaRPr lang="en-US" sz="20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checksay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681582"/>
            <a:ext cx="6227064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4982" y="1623974"/>
            <a:ext cx="6169457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691640"/>
            <a:ext cx="56692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Hear it: gonna = going to, wanna = want to</a:t>
            </a:r>
            <a:endParaRPr lang="en-US" sz="1800" dirty="0" b="1"/>
          </a:p>
        </p:txBody>
      </p:sp>
      <p:sp>
        <p:nvSpPr>
          <p:cNvPr id="9" name="head2"/>
          <p:cNvSpPr/>
          <p:nvPr/>
        </p:nvSpPr>
        <p:spPr>
          <a:xfrm>
            <a:off x="868680" y="2093976"/>
            <a:ext cx="5577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it: too / two / to, and the stress</a:t>
            </a:r>
            <a:endParaRPr lang="en-US" sz="1800" dirty="0"/>
          </a:p>
        </p:txBody>
      </p:sp>
      <p:sp>
        <p:nvSpPr>
          <p:cNvPr id="29" name="title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Hear It,</a:t>
            </a:r>
            <a:endParaRPr lang="en-US" sz="4000" dirty="0" b="1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It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gonna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= going to,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wanna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= want to: fine in everyday talk.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too</a:t>
            </a: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,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two</a:t>
            </a: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, and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</a:t>
            </a: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sound the same.</a:t>
            </a:r>
            <a:endParaRPr lang="en-US" sz="2000" dirty="0" b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each line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two times.</a:t>
            </a:r>
            <a:endParaRPr lang="en-US" sz="2000" dirty="0" b="0"/>
          </a:p>
        </p:txBody>
      </p:sp>
      <p:sp>
        <p:nvSpPr>
          <p:cNvPr id="31" name="S1 card"/>
          <p:cNvSpPr/>
          <p:nvPr/>
        </p:nvSpPr>
        <p:spPr>
          <a:xfrm>
            <a:off x="548640" y="2715768"/>
            <a:ext cx="6766560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S1 text"/>
          <p:cNvSpPr/>
          <p:nvPr/>
        </p:nvSpPr>
        <p:spPr>
          <a:xfrm>
            <a:off x="777240" y="2715768"/>
            <a:ext cx="635508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do you </a:t>
            </a: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want to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know?</a:t>
            </a:r>
            <a:endParaRPr lang="en-US" sz="1800" dirty="0" b="1"/>
          </a:p>
        </p:txBody>
      </p:sp>
      <p:sp>
        <p:nvSpPr>
          <p:cNvPr id="33" name="S2 card"/>
          <p:cNvSpPr/>
          <p:nvPr/>
        </p:nvSpPr>
        <p:spPr>
          <a:xfrm>
            <a:off x="548640" y="3427171"/>
            <a:ext cx="6766560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4" name="S2 text"/>
          <p:cNvSpPr/>
          <p:nvPr/>
        </p:nvSpPr>
        <p:spPr>
          <a:xfrm>
            <a:off x="777240" y="3427171"/>
            <a:ext cx="635508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I'm </a:t>
            </a: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going to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buy some today.</a:t>
            </a:r>
            <a:endParaRPr lang="en-US" sz="1800" dirty="0" b="1"/>
          </a:p>
        </p:txBody>
      </p:sp>
      <p:sp>
        <p:nvSpPr>
          <p:cNvPr id="35" name="S3 card"/>
          <p:cNvSpPr/>
          <p:nvPr/>
        </p:nvSpPr>
        <p:spPr>
          <a:xfrm>
            <a:off x="548640" y="4138574"/>
            <a:ext cx="6766560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6" name="S3 text"/>
          <p:cNvSpPr/>
          <p:nvPr/>
        </p:nvSpPr>
        <p:spPr>
          <a:xfrm>
            <a:off x="777240" y="4138574"/>
            <a:ext cx="635508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too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• </a:t>
            </a: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two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• </a:t>
            </a: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</a:t>
            </a:r>
            <a:endParaRPr lang="en-US" sz="1800" dirty="0" b="1"/>
          </a:p>
        </p:txBody>
      </p:sp>
      <p:sp>
        <p:nvSpPr>
          <p:cNvPr id="37" name="S4 card"/>
          <p:cNvSpPr/>
          <p:nvPr/>
        </p:nvSpPr>
        <p:spPr>
          <a:xfrm>
            <a:off x="548640" y="4849978"/>
            <a:ext cx="6766560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8" name="S4 text"/>
          <p:cNvSpPr/>
          <p:nvPr/>
        </p:nvSpPr>
        <p:spPr>
          <a:xfrm>
            <a:off x="777240" y="4849978"/>
            <a:ext cx="635508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TOO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late • not e</a:t>
            </a: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NOUGH</a:t>
            </a:r>
            <a:endParaRPr lang="en-US" sz="1800" dirty="0" b="1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tab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76429" y="533095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457200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left panel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7" name="pic" descr="Formal: a shirt with a tie and dress sho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65152"/>
            <a:ext cx="3326587" cy="2328611"/>
          </a:xfrm>
          <a:prstGeom prst="rect">
            <a:avLst/>
          </a:prstGeom>
        </p:spPr>
      </p:pic>
      <p:sp>
        <p:nvSpPr>
          <p:cNvPr id="7" name="head"/>
          <p:cNvSpPr/>
          <p:nvPr/>
        </p:nvSpPr>
        <p:spPr>
          <a:xfrm>
            <a:off x="5333695" y="566928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1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too + adjective, adjective + enough</a:t>
            </a:r>
            <a:endParaRPr lang="en-US" sz="2400" dirty="0" b="1"/>
          </a:p>
        </p:txBody>
      </p:sp>
      <p:sp>
        <p:nvSpPr>
          <p:cNvPr id="8" name="Q head"/>
          <p:cNvSpPr/>
          <p:nvPr/>
        </p:nvSpPr>
        <p:spPr>
          <a:xfrm>
            <a:off x="5166360" y="18288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QUESTION</a:t>
            </a:r>
            <a:endParaRPr lang="en-US" sz="2000" dirty="0" b="1"/>
          </a:p>
        </p:txBody>
      </p:sp>
      <p:sp>
        <p:nvSpPr>
          <p:cNvPr id="11" name="A head"/>
          <p:cNvSpPr/>
          <p:nvPr/>
        </p:nvSpPr>
        <p:spPr>
          <a:xfrm>
            <a:off x="7863840" y="1828800"/>
            <a:ext cx="4069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</a:t>
            </a:r>
            <a:endParaRPr lang="en-US" sz="2000" dirty="0" b="1"/>
          </a:p>
        </p:txBody>
      </p:sp>
      <p:sp>
        <p:nvSpPr>
          <p:cNvPr id="18" name="Question 1"/>
          <p:cNvSpPr/>
          <p:nvPr/>
        </p:nvSpPr>
        <p:spPr>
          <a:xfrm>
            <a:off x="5138928" y="228600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Are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jeans OK for the interview?</a:t>
            </a:r>
            <a:endParaRPr lang="en-US" sz="1700" dirty="0" b="1"/>
          </a:p>
        </p:txBody>
      </p:sp>
      <p:sp>
        <p:nvSpPr>
          <p:cNvPr id="19" name="Answer bg 1"/>
          <p:cNvSpPr/>
          <p:nvPr/>
        </p:nvSpPr>
        <p:spPr>
          <a:xfrm>
            <a:off x="7863840" y="228600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Answer 1"/>
          <p:cNvSpPr/>
          <p:nvPr/>
        </p:nvSpPr>
        <p:spPr>
          <a:xfrm>
            <a:off x="7863840" y="228600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No, they're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too casual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 They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aren't formal enough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1700" dirty="0" b="1"/>
          </a:p>
        </p:txBody>
      </p:sp>
      <p:sp>
        <p:nvSpPr>
          <p:cNvPr id="21" name="Question 2"/>
          <p:cNvSpPr/>
          <p:nvPr/>
        </p:nvSpPr>
        <p:spPr>
          <a:xfrm>
            <a:off x="5138928" y="333756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6:55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early enough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?</a:t>
            </a:r>
            <a:endParaRPr lang="en-US" sz="1700" dirty="0" b="1"/>
          </a:p>
        </p:txBody>
      </p:sp>
      <p:sp>
        <p:nvSpPr>
          <p:cNvPr id="22" name="Answer bg 2"/>
          <p:cNvSpPr/>
          <p:nvPr/>
        </p:nvSpPr>
        <p:spPr>
          <a:xfrm>
            <a:off x="7863840" y="333756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Answer 2"/>
          <p:cNvSpPr/>
          <p:nvPr/>
        </p:nvSpPr>
        <p:spPr>
          <a:xfrm>
            <a:off x="7863840" y="333756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Yes, it's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early enough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 That's perfect.</a:t>
            </a:r>
            <a:endParaRPr lang="en-US" sz="1700" dirty="0" b="1"/>
          </a:p>
        </p:txBody>
      </p:sp>
      <p:sp>
        <p:nvSpPr>
          <p:cNvPr id="24" name="Question 3"/>
          <p:cNvSpPr/>
          <p:nvPr/>
        </p:nvSpPr>
        <p:spPr>
          <a:xfrm>
            <a:off x="5138928" y="438912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7:10 OK for a 7:00 shift?</a:t>
            </a:r>
            <a:endParaRPr lang="en-US" sz="1700" dirty="0" b="1"/>
          </a:p>
        </p:txBody>
      </p:sp>
      <p:sp>
        <p:nvSpPr>
          <p:cNvPr id="25" name="Answer bg 3"/>
          <p:cNvSpPr/>
          <p:nvPr/>
        </p:nvSpPr>
        <p:spPr>
          <a:xfrm>
            <a:off x="7863840" y="438912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Answer 3"/>
          <p:cNvSpPr/>
          <p:nvPr/>
        </p:nvSpPr>
        <p:spPr>
          <a:xfrm>
            <a:off x="7863840" y="438912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No, it's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too late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 Come at 6:55.</a:t>
            </a:r>
            <a:endParaRPr lang="en-US" sz="1700" dirty="0" b="1"/>
          </a:p>
        </p:txBody>
      </p:sp>
      <p:sp>
        <p:nvSpPr>
          <p:cNvPr id="27" name="Question 4"/>
          <p:cNvSpPr/>
          <p:nvPr/>
        </p:nvSpPr>
        <p:spPr>
          <a:xfrm>
            <a:off x="5138928" y="544068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Are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sandals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safe enough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?</a:t>
            </a:r>
            <a:endParaRPr lang="en-US" sz="1700" dirty="0" b="1"/>
          </a:p>
        </p:txBody>
      </p:sp>
      <p:sp>
        <p:nvSpPr>
          <p:cNvPr id="28" name="Answer bg 4"/>
          <p:cNvSpPr/>
          <p:nvPr/>
        </p:nvSpPr>
        <p:spPr>
          <a:xfrm>
            <a:off x="7863840" y="544068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9" name="Answer 4"/>
          <p:cNvSpPr/>
          <p:nvPr/>
        </p:nvSpPr>
        <p:spPr>
          <a:xfrm>
            <a:off x="7863840" y="544068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No, they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aren't safe enough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 Wear closed-toe shoes.</a:t>
            </a:r>
            <a:endParaRPr lang="en-US" sz="17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tab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76429" y="533095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457200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left panel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7" name="pic" descr="Closed-toe shoes: a sneaker and a check mark [sign: CLOSED-TOE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65152"/>
            <a:ext cx="3326587" cy="2328611"/>
          </a:xfrm>
          <a:prstGeom prst="rect">
            <a:avLst/>
          </a:prstGeom>
        </p:spPr>
      </p:pic>
      <p:sp>
        <p:nvSpPr>
          <p:cNvPr id="7" name="head"/>
          <p:cNvSpPr/>
          <p:nvPr/>
        </p:nvSpPr>
        <p:spPr>
          <a:xfrm>
            <a:off x="5333695" y="566928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2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too much / too many / enough + a noun</a:t>
            </a:r>
            <a:endParaRPr lang="en-US" sz="2400" dirty="0" b="1"/>
          </a:p>
        </p:txBody>
      </p:sp>
      <p:sp>
        <p:nvSpPr>
          <p:cNvPr id="8" name="Q head"/>
          <p:cNvSpPr/>
          <p:nvPr/>
        </p:nvSpPr>
        <p:spPr>
          <a:xfrm>
            <a:off x="5166360" y="18288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QUESTION</a:t>
            </a:r>
            <a:endParaRPr lang="en-US" sz="2000" dirty="0" b="1"/>
          </a:p>
        </p:txBody>
      </p:sp>
      <p:sp>
        <p:nvSpPr>
          <p:cNvPr id="11" name="A head"/>
          <p:cNvSpPr/>
          <p:nvPr/>
        </p:nvSpPr>
        <p:spPr>
          <a:xfrm>
            <a:off x="7863840" y="1828800"/>
            <a:ext cx="4069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</a:t>
            </a:r>
            <a:endParaRPr lang="en-US" sz="2000" dirty="0" b="1"/>
          </a:p>
        </p:txBody>
      </p:sp>
      <p:sp>
        <p:nvSpPr>
          <p:cNvPr id="18" name="Question 1"/>
          <p:cNvSpPr/>
          <p:nvPr/>
        </p:nvSpPr>
        <p:spPr>
          <a:xfrm>
            <a:off x="5138928" y="228600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you have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enough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time?</a:t>
            </a:r>
            <a:endParaRPr lang="en-US" sz="1700" dirty="0" b="1"/>
          </a:p>
        </p:txBody>
      </p:sp>
      <p:sp>
        <p:nvSpPr>
          <p:cNvPr id="19" name="Answer bg 1"/>
          <p:cNvSpPr/>
          <p:nvPr/>
        </p:nvSpPr>
        <p:spPr>
          <a:xfrm>
            <a:off x="7863840" y="228600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Answer 1"/>
          <p:cNvSpPr/>
          <p:nvPr/>
        </p:nvSpPr>
        <p:spPr>
          <a:xfrm>
            <a:off x="7863840" y="228600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No, I have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too much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work. I don't have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enough time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1700" dirty="0" b="1"/>
          </a:p>
        </p:txBody>
      </p:sp>
      <p:sp>
        <p:nvSpPr>
          <p:cNvPr id="21" name="Question 2"/>
          <p:cNvSpPr/>
          <p:nvPr/>
        </p:nvSpPr>
        <p:spPr>
          <a:xfrm>
            <a:off x="5138928" y="333756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Are there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enough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chairs?</a:t>
            </a:r>
            <a:endParaRPr lang="en-US" sz="1700" dirty="0" b="1"/>
          </a:p>
        </p:txBody>
      </p:sp>
      <p:sp>
        <p:nvSpPr>
          <p:cNvPr id="22" name="Answer bg 2"/>
          <p:cNvSpPr/>
          <p:nvPr/>
        </p:nvSpPr>
        <p:spPr>
          <a:xfrm>
            <a:off x="7863840" y="333756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Answer 2"/>
          <p:cNvSpPr/>
          <p:nvPr/>
        </p:nvSpPr>
        <p:spPr>
          <a:xfrm>
            <a:off x="7863840" y="333756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No, there are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too many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people. We need more chairs.</a:t>
            </a:r>
            <a:endParaRPr lang="en-US" sz="1700" dirty="0" b="1"/>
          </a:p>
        </p:txBody>
      </p:sp>
      <p:sp>
        <p:nvSpPr>
          <p:cNvPr id="24" name="Question 3"/>
          <p:cNvSpPr/>
          <p:nvPr/>
        </p:nvSpPr>
        <p:spPr>
          <a:xfrm>
            <a:off x="5138928" y="438912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we have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enough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food?</a:t>
            </a:r>
            <a:endParaRPr lang="en-US" sz="1700" dirty="0" b="1"/>
          </a:p>
        </p:txBody>
      </p:sp>
      <p:sp>
        <p:nvSpPr>
          <p:cNvPr id="25" name="Answer bg 3"/>
          <p:cNvSpPr/>
          <p:nvPr/>
        </p:nvSpPr>
        <p:spPr>
          <a:xfrm>
            <a:off x="7863840" y="438912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Answer 3"/>
          <p:cNvSpPr/>
          <p:nvPr/>
        </p:nvSpPr>
        <p:spPr>
          <a:xfrm>
            <a:off x="7863840" y="438912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Yes, we have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enough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food. Don't buy more.</a:t>
            </a:r>
            <a:endParaRPr lang="en-US" sz="17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tab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76429" y="533095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457200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left panel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7" name="pic" descr="Name badge: a name badge [sign: HI, I'M NADIA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65152"/>
            <a:ext cx="3326587" cy="2328611"/>
          </a:xfrm>
          <a:prstGeom prst="rect">
            <a:avLst/>
          </a:prstGeom>
        </p:spPr>
      </p:pic>
      <p:sp>
        <p:nvSpPr>
          <p:cNvPr id="7" name="head"/>
          <p:cNvSpPr/>
          <p:nvPr/>
        </p:nvSpPr>
        <p:spPr>
          <a:xfrm>
            <a:off x="5333695" y="566928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3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must / mustn't / don't have to</a:t>
            </a:r>
            <a:endParaRPr lang="en-US" sz="2400" dirty="0" b="1"/>
          </a:p>
        </p:txBody>
      </p:sp>
      <p:sp>
        <p:nvSpPr>
          <p:cNvPr id="8" name="Q head"/>
          <p:cNvSpPr/>
          <p:nvPr/>
        </p:nvSpPr>
        <p:spPr>
          <a:xfrm>
            <a:off x="5166360" y="18288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</a:t>
            </a:r>
            <a:endParaRPr lang="en-US" sz="2000" dirty="0" b="1"/>
          </a:p>
        </p:txBody>
      </p:sp>
      <p:sp>
        <p:nvSpPr>
          <p:cNvPr id="11" name="A head"/>
          <p:cNvSpPr/>
          <p:nvPr/>
        </p:nvSpPr>
        <p:spPr>
          <a:xfrm>
            <a:off x="7863840" y="1828800"/>
            <a:ext cx="4069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MEANING  ·  EXAMPLE</a:t>
            </a:r>
            <a:endParaRPr lang="en-US" sz="2000" dirty="0" b="1"/>
          </a:p>
        </p:txBody>
      </p:sp>
      <p:sp>
        <p:nvSpPr>
          <p:cNvPr id="18" name="Question 1"/>
          <p:cNvSpPr/>
          <p:nvPr/>
        </p:nvSpPr>
        <p:spPr>
          <a:xfrm>
            <a:off x="5138928" y="228600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must</a:t>
            </a:r>
            <a:endParaRPr lang="en-US" sz="1700" dirty="0" b="1"/>
          </a:p>
        </p:txBody>
      </p:sp>
      <p:sp>
        <p:nvSpPr>
          <p:cNvPr id="19" name="Answer bg 1"/>
          <p:cNvSpPr/>
          <p:nvPr/>
        </p:nvSpPr>
        <p:spPr>
          <a:xfrm>
            <a:off x="7863840" y="228600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Answer 1"/>
          <p:cNvSpPr/>
          <p:nvPr/>
        </p:nvSpPr>
        <p:spPr>
          <a:xfrm>
            <a:off x="7863840" y="228600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it's a rule; do it</a:t>
            </a:r>
            <a:b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</a:b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must wear closed-toe shoes.</a:t>
            </a:r>
            <a:endParaRPr lang="en-US" sz="1700" dirty="0" b="1"/>
          </a:p>
        </p:txBody>
      </p:sp>
      <p:sp>
        <p:nvSpPr>
          <p:cNvPr id="21" name="Question 2"/>
          <p:cNvSpPr/>
          <p:nvPr/>
        </p:nvSpPr>
        <p:spPr>
          <a:xfrm>
            <a:off x="5138928" y="333756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mustn't</a:t>
            </a:r>
            <a:endParaRPr lang="en-US" sz="1700" dirty="0" b="1"/>
          </a:p>
        </p:txBody>
      </p:sp>
      <p:sp>
        <p:nvSpPr>
          <p:cNvPr id="22" name="Answer bg 2"/>
          <p:cNvSpPr/>
          <p:nvPr/>
        </p:nvSpPr>
        <p:spPr>
          <a:xfrm>
            <a:off x="7863840" y="333756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Answer 2"/>
          <p:cNvSpPr/>
          <p:nvPr/>
        </p:nvSpPr>
        <p:spPr>
          <a:xfrm>
            <a:off x="7863840" y="333756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it's against the rules; don't do it</a:t>
            </a:r>
            <a:b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</a:b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mustn't use your phone in the kitchen.</a:t>
            </a:r>
            <a:endParaRPr lang="en-US" sz="1700" dirty="0" b="1"/>
          </a:p>
        </p:txBody>
      </p:sp>
      <p:sp>
        <p:nvSpPr>
          <p:cNvPr id="24" name="Question 3"/>
          <p:cNvSpPr/>
          <p:nvPr/>
        </p:nvSpPr>
        <p:spPr>
          <a:xfrm>
            <a:off x="5138928" y="438912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 have to</a:t>
            </a:r>
            <a:endParaRPr lang="en-US" sz="1700" dirty="0" b="1"/>
          </a:p>
        </p:txBody>
      </p:sp>
      <p:sp>
        <p:nvSpPr>
          <p:cNvPr id="25" name="Answer bg 3"/>
          <p:cNvSpPr/>
          <p:nvPr/>
        </p:nvSpPr>
        <p:spPr>
          <a:xfrm>
            <a:off x="7863840" y="438912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Answer 3"/>
          <p:cNvSpPr/>
          <p:nvPr/>
        </p:nvSpPr>
        <p:spPr>
          <a:xfrm>
            <a:off x="7863840" y="438912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it's not necessary; you choose</a:t>
            </a:r>
            <a:b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</a:b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don't have to wear a tie.</a:t>
            </a:r>
            <a:endParaRPr lang="en-US" sz="17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tab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76429" y="533095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457200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left panel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7" name="pic" descr="Invitation: an envelope and a party popper [sign: PARTY SAT 7:00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65152"/>
            <a:ext cx="3326587" cy="2328611"/>
          </a:xfrm>
          <a:prstGeom prst="rect">
            <a:avLst/>
          </a:prstGeom>
        </p:spPr>
      </p:pic>
      <p:sp>
        <p:nvSpPr>
          <p:cNvPr id="7" name="head"/>
          <p:cNvSpPr/>
          <p:nvPr/>
        </p:nvSpPr>
        <p:spPr>
          <a:xfrm>
            <a:off x="5333695" y="566928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4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comparing customs</a:t>
            </a:r>
            <a:endParaRPr lang="en-US" sz="2400" dirty="0" b="1"/>
          </a:p>
        </p:txBody>
      </p:sp>
      <p:sp>
        <p:nvSpPr>
          <p:cNvPr id="8" name="Q head"/>
          <p:cNvSpPr/>
          <p:nvPr/>
        </p:nvSpPr>
        <p:spPr>
          <a:xfrm>
            <a:off x="5166360" y="18288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 SAY</a:t>
            </a:r>
            <a:endParaRPr lang="en-US" sz="2000" dirty="0" b="1"/>
          </a:p>
        </p:txBody>
      </p:sp>
      <p:sp>
        <p:nvSpPr>
          <p:cNvPr id="11" name="A head"/>
          <p:cNvSpPr/>
          <p:nvPr/>
        </p:nvSpPr>
        <p:spPr>
          <a:xfrm>
            <a:off x="7863840" y="1828800"/>
            <a:ext cx="4069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EXAMPLE</a:t>
            </a:r>
            <a:endParaRPr lang="en-US" sz="2000" dirty="0" b="1"/>
          </a:p>
        </p:txBody>
      </p:sp>
      <p:sp>
        <p:nvSpPr>
          <p:cNvPr id="18" name="Question 1"/>
          <p:cNvSpPr/>
          <p:nvPr/>
        </p:nvSpPr>
        <p:spPr>
          <a:xfrm>
            <a:off x="5138928" y="228600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In my hometown…, but here…</a:t>
            </a:r>
            <a:endParaRPr lang="en-US" sz="1700" dirty="0" b="1"/>
          </a:p>
        </p:txBody>
      </p:sp>
      <p:sp>
        <p:nvSpPr>
          <p:cNvPr id="19" name="Answer bg 1"/>
          <p:cNvSpPr/>
          <p:nvPr/>
        </p:nvSpPr>
        <p:spPr>
          <a:xfrm>
            <a:off x="7863840" y="228600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Answer 1"/>
          <p:cNvSpPr/>
          <p:nvPr/>
        </p:nvSpPr>
        <p:spPr>
          <a:xfrm>
            <a:off x="7863840" y="228600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In my hometown, guests usually bring food, but here people often ask the host first.</a:t>
            </a:r>
            <a:endParaRPr lang="en-US" sz="1700" dirty="0" b="1"/>
          </a:p>
        </p:txBody>
      </p:sp>
      <p:sp>
        <p:nvSpPr>
          <p:cNvPr id="21" name="Question 2"/>
          <p:cNvSpPr/>
          <p:nvPr/>
        </p:nvSpPr>
        <p:spPr>
          <a:xfrm>
            <a:off x="5138928" y="333756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usually / often / sometimes</a:t>
            </a:r>
            <a:endParaRPr lang="en-US" sz="1700" dirty="0" b="1"/>
          </a:p>
        </p:txBody>
      </p:sp>
      <p:sp>
        <p:nvSpPr>
          <p:cNvPr id="22" name="Answer bg 2"/>
          <p:cNvSpPr/>
          <p:nvPr/>
        </p:nvSpPr>
        <p:spPr>
          <a:xfrm>
            <a:off x="7863840" y="333756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Answer 2"/>
          <p:cNvSpPr/>
          <p:nvPr/>
        </p:nvSpPr>
        <p:spPr>
          <a:xfrm>
            <a:off x="7863840" y="333756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People usually arrive on time for work.</a:t>
            </a:r>
            <a:endParaRPr lang="en-US" sz="1700" dirty="0" b="1"/>
          </a:p>
        </p:txBody>
      </p:sp>
      <p:sp>
        <p:nvSpPr>
          <p:cNvPr id="24" name="Question 3"/>
          <p:cNvSpPr/>
          <p:nvPr/>
        </p:nvSpPr>
        <p:spPr>
          <a:xfrm>
            <a:off x="5138928" y="438912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describe; don't judge</a:t>
            </a:r>
            <a:endParaRPr lang="en-US" sz="1700" dirty="0" b="1"/>
          </a:p>
        </p:txBody>
      </p:sp>
      <p:sp>
        <p:nvSpPr>
          <p:cNvPr id="25" name="Answer bg 3"/>
          <p:cNvSpPr/>
          <p:nvPr/>
        </p:nvSpPr>
        <p:spPr>
          <a:xfrm>
            <a:off x="7863840" y="438912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Answer 3"/>
          <p:cNvSpPr/>
          <p:nvPr/>
        </p:nvSpPr>
        <p:spPr>
          <a:xfrm>
            <a:off x="7863840" y="438912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It's different. I like both.</a:t>
            </a:r>
            <a:endParaRPr lang="en-US" sz="17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gap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132942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8640" y="1075334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143000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Practice A</a:t>
            </a:r>
            <a:endParaRPr lang="en-US" sz="2000" dirty="0" b="1"/>
          </a:p>
        </p:txBody>
      </p:sp>
      <p:sp>
        <p:nvSpPr>
          <p:cNvPr id="9" name="head2"/>
          <p:cNvSpPr/>
          <p:nvPr/>
        </p:nvSpPr>
        <p:spPr>
          <a:xfrm>
            <a:off x="868680" y="1545336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too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,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much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,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many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, or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enough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000" dirty="0"/>
          </a:p>
        </p:txBody>
      </p:sp>
      <p:sp>
        <p:nvSpPr>
          <p:cNvPr id="29" name="title"/>
          <p:cNvSpPr/>
          <p:nvPr/>
        </p:nvSpPr>
        <p:spPr>
          <a:xfrm>
            <a:off x="8001000" y="1783080"/>
            <a:ext cx="384048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Practice A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8046720" y="3611880"/>
            <a:ext cx="3749039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too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,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much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,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many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, or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enough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000" dirty="0" b="1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Pairs: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check your answers.</a:t>
            </a:r>
            <a:endParaRPr lang="en-US" sz="2000" dirty="0" b="1"/>
          </a:p>
        </p:txBody>
      </p:sp>
      <p:sp>
        <p:nvSpPr>
          <p:cNvPr id="31" name="R1 card"/>
          <p:cNvSpPr/>
          <p:nvPr/>
        </p:nvSpPr>
        <p:spPr>
          <a:xfrm>
            <a:off x="1583741" y="2123237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R1 chip"/>
          <p:cNvSpPr/>
          <p:nvPr/>
        </p:nvSpPr>
        <p:spPr>
          <a:xfrm>
            <a:off x="544982" y="2123237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3" name="R1 num"/>
          <p:cNvSpPr/>
          <p:nvPr/>
        </p:nvSpPr>
        <p:spPr>
          <a:xfrm>
            <a:off x="686714" y="2158136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1</a:t>
            </a:r>
            <a:endParaRPr lang="en-US" sz="3200" dirty="0" b="1"/>
          </a:p>
        </p:txBody>
      </p:sp>
      <p:sp>
        <p:nvSpPr>
          <p:cNvPr id="34" name="R1 text"/>
          <p:cNvSpPr/>
          <p:nvPr/>
        </p:nvSpPr>
        <p:spPr>
          <a:xfrm>
            <a:off x="1810512" y="2123237"/>
            <a:ext cx="404164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7:10 is ____ late for a 7:00 shift.</a:t>
            </a:r>
            <a:endParaRPr lang="en-US" sz="1600" dirty="0"/>
          </a:p>
        </p:txBody>
      </p:sp>
      <p:sp>
        <p:nvSpPr>
          <p:cNvPr id="35" name="R1 ans"/>
          <p:cNvSpPr/>
          <p:nvPr/>
        </p:nvSpPr>
        <p:spPr>
          <a:xfrm>
            <a:off x="5925312" y="2222144"/>
            <a:ext cx="16459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too</a:t>
            </a:r>
            <a:endParaRPr lang="en-US" sz="2000" dirty="0" b="1"/>
          </a:p>
        </p:txBody>
      </p:sp>
      <p:sp>
        <p:nvSpPr>
          <p:cNvPr id="36" name="R2 card"/>
          <p:cNvSpPr/>
          <p:nvPr/>
        </p:nvSpPr>
        <p:spPr>
          <a:xfrm>
            <a:off x="1583741" y="2851404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7" name="R2 chip"/>
          <p:cNvSpPr/>
          <p:nvPr/>
        </p:nvSpPr>
        <p:spPr>
          <a:xfrm>
            <a:off x="544982" y="2851404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8" name="R2 num"/>
          <p:cNvSpPr/>
          <p:nvPr/>
        </p:nvSpPr>
        <p:spPr>
          <a:xfrm>
            <a:off x="686714" y="2886304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2</a:t>
            </a:r>
            <a:endParaRPr lang="en-US" sz="3200" dirty="0" b="1"/>
          </a:p>
        </p:txBody>
      </p:sp>
      <p:sp>
        <p:nvSpPr>
          <p:cNvPr id="39" name="R2 text"/>
          <p:cNvSpPr/>
          <p:nvPr/>
        </p:nvSpPr>
        <p:spPr>
          <a:xfrm>
            <a:off x="1810512" y="2851404"/>
            <a:ext cx="404164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room isn't big ____ for 30 people.</a:t>
            </a:r>
            <a:endParaRPr lang="en-US" sz="1600" dirty="0"/>
          </a:p>
        </p:txBody>
      </p:sp>
      <p:sp>
        <p:nvSpPr>
          <p:cNvPr id="40" name="R2 ans"/>
          <p:cNvSpPr/>
          <p:nvPr/>
        </p:nvSpPr>
        <p:spPr>
          <a:xfrm>
            <a:off x="5925312" y="2950312"/>
            <a:ext cx="16459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enough</a:t>
            </a:r>
            <a:endParaRPr lang="en-US" sz="2000" dirty="0" b="1"/>
          </a:p>
        </p:txBody>
      </p:sp>
      <p:sp>
        <p:nvSpPr>
          <p:cNvPr id="41" name="R3 card"/>
          <p:cNvSpPr/>
          <p:nvPr/>
        </p:nvSpPr>
        <p:spPr>
          <a:xfrm>
            <a:off x="1583741" y="3579571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2" name="R3 chip"/>
          <p:cNvSpPr/>
          <p:nvPr/>
        </p:nvSpPr>
        <p:spPr>
          <a:xfrm>
            <a:off x="544982" y="3579571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3" name="R3 num"/>
          <p:cNvSpPr/>
          <p:nvPr/>
        </p:nvSpPr>
        <p:spPr>
          <a:xfrm>
            <a:off x="686714" y="3614471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3</a:t>
            </a:r>
            <a:endParaRPr lang="en-US" sz="3200" dirty="0" b="1"/>
          </a:p>
        </p:txBody>
      </p:sp>
      <p:sp>
        <p:nvSpPr>
          <p:cNvPr id="44" name="R3 text"/>
          <p:cNvSpPr/>
          <p:nvPr/>
        </p:nvSpPr>
        <p:spPr>
          <a:xfrm>
            <a:off x="1810512" y="3579571"/>
            <a:ext cx="404164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There are too ____ cars in the parking lot.</a:t>
            </a:r>
            <a:endParaRPr lang="en-US" sz="1600" dirty="0"/>
          </a:p>
        </p:txBody>
      </p:sp>
      <p:sp>
        <p:nvSpPr>
          <p:cNvPr id="45" name="R3 ans"/>
          <p:cNvSpPr/>
          <p:nvPr/>
        </p:nvSpPr>
        <p:spPr>
          <a:xfrm>
            <a:off x="5925312" y="3678479"/>
            <a:ext cx="16459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many</a:t>
            </a:r>
            <a:endParaRPr lang="en-US" sz="2000" dirty="0" b="1"/>
          </a:p>
        </p:txBody>
      </p:sp>
      <p:sp>
        <p:nvSpPr>
          <p:cNvPr id="46" name="R4 card"/>
          <p:cNvSpPr/>
          <p:nvPr/>
        </p:nvSpPr>
        <p:spPr>
          <a:xfrm>
            <a:off x="1583741" y="4307738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7" name="R4 chip"/>
          <p:cNvSpPr/>
          <p:nvPr/>
        </p:nvSpPr>
        <p:spPr>
          <a:xfrm>
            <a:off x="544982" y="4307738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8" name="R4 num"/>
          <p:cNvSpPr/>
          <p:nvPr/>
        </p:nvSpPr>
        <p:spPr>
          <a:xfrm>
            <a:off x="686714" y="4342638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4</a:t>
            </a:r>
            <a:endParaRPr lang="en-US" sz="3200" dirty="0" b="1"/>
          </a:p>
        </p:txBody>
      </p:sp>
      <p:sp>
        <p:nvSpPr>
          <p:cNvPr id="49" name="R4 text"/>
          <p:cNvSpPr/>
          <p:nvPr/>
        </p:nvSpPr>
        <p:spPr>
          <a:xfrm>
            <a:off x="1810512" y="4307738"/>
            <a:ext cx="404164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have too ____ work today.</a:t>
            </a:r>
            <a:endParaRPr lang="en-US" sz="1600" dirty="0"/>
          </a:p>
        </p:txBody>
      </p:sp>
      <p:sp>
        <p:nvSpPr>
          <p:cNvPr id="50" name="R4 ans"/>
          <p:cNvSpPr/>
          <p:nvPr/>
        </p:nvSpPr>
        <p:spPr>
          <a:xfrm>
            <a:off x="5925312" y="4406646"/>
            <a:ext cx="16459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much</a:t>
            </a:r>
            <a:endParaRPr lang="en-US" sz="2000" dirty="0" b="1"/>
          </a:p>
        </p:txBody>
      </p:sp>
      <p:sp>
        <p:nvSpPr>
          <p:cNvPr id="51" name="R5 card"/>
          <p:cNvSpPr/>
          <p:nvPr/>
        </p:nvSpPr>
        <p:spPr>
          <a:xfrm>
            <a:off x="1583741" y="5035906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2" name="R5 chip"/>
          <p:cNvSpPr/>
          <p:nvPr/>
        </p:nvSpPr>
        <p:spPr>
          <a:xfrm>
            <a:off x="544982" y="5035906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3" name="R5 num"/>
          <p:cNvSpPr/>
          <p:nvPr/>
        </p:nvSpPr>
        <p:spPr>
          <a:xfrm>
            <a:off x="686714" y="5070805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5</a:t>
            </a:r>
            <a:endParaRPr lang="en-US" sz="3200" dirty="0" b="1"/>
          </a:p>
        </p:txBody>
      </p:sp>
      <p:sp>
        <p:nvSpPr>
          <p:cNvPr id="54" name="R5 text"/>
          <p:cNvSpPr/>
          <p:nvPr/>
        </p:nvSpPr>
        <p:spPr>
          <a:xfrm>
            <a:off x="1810512" y="5035906"/>
            <a:ext cx="404164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We don't have ____ chairs.</a:t>
            </a:r>
            <a:endParaRPr lang="en-US" sz="1600" dirty="0"/>
          </a:p>
        </p:txBody>
      </p:sp>
      <p:sp>
        <p:nvSpPr>
          <p:cNvPr id="55" name="R5 ans"/>
          <p:cNvSpPr/>
          <p:nvPr/>
        </p:nvSpPr>
        <p:spPr>
          <a:xfrm>
            <a:off x="5925312" y="5134813"/>
            <a:ext cx="16459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enough</a:t>
            </a:r>
            <a:endParaRPr lang="en-US" sz="2000" dirty="0" b="1"/>
          </a:p>
        </p:txBody>
      </p:sp>
      <p:sp>
        <p:nvSpPr>
          <p:cNvPr id="56" name="R6 card"/>
          <p:cNvSpPr/>
          <p:nvPr/>
        </p:nvSpPr>
        <p:spPr>
          <a:xfrm>
            <a:off x="1583741" y="5764073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7" name="R6 chip"/>
          <p:cNvSpPr/>
          <p:nvPr/>
        </p:nvSpPr>
        <p:spPr>
          <a:xfrm>
            <a:off x="544982" y="5764073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8" name="R6 num"/>
          <p:cNvSpPr/>
          <p:nvPr/>
        </p:nvSpPr>
        <p:spPr>
          <a:xfrm>
            <a:off x="686714" y="5798972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6</a:t>
            </a:r>
            <a:endParaRPr lang="en-US" sz="3200" dirty="0" b="1"/>
          </a:p>
        </p:txBody>
      </p:sp>
      <p:sp>
        <p:nvSpPr>
          <p:cNvPr id="59" name="R6 text"/>
          <p:cNvSpPr/>
          <p:nvPr/>
        </p:nvSpPr>
        <p:spPr>
          <a:xfrm>
            <a:off x="1810512" y="5764073"/>
            <a:ext cx="404164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Jeans are ____ casual for an interview.</a:t>
            </a:r>
            <a:endParaRPr lang="en-US" sz="1600" dirty="0"/>
          </a:p>
        </p:txBody>
      </p:sp>
      <p:sp>
        <p:nvSpPr>
          <p:cNvPr id="60" name="R6 ans"/>
          <p:cNvSpPr/>
          <p:nvPr/>
        </p:nvSpPr>
        <p:spPr>
          <a:xfrm>
            <a:off x="5925312" y="5862980"/>
            <a:ext cx="16459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too</a:t>
            </a:r>
            <a:endParaRPr lang="en-US" sz="20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choic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164592" y="2980944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33172" y="1137194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66090" y="1080821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0" y="2856586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416052" y="1452067"/>
            <a:ext cx="5680253" cy="94731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4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Practice B</a:t>
            </a:r>
            <a:endParaRPr lang="en-US" sz="4800" dirty="0" b="1"/>
          </a:p>
        </p:txBody>
      </p:sp>
      <p:sp>
        <p:nvSpPr>
          <p:cNvPr id="7" name="instr"/>
          <p:cNvSpPr/>
          <p:nvPr/>
        </p:nvSpPr>
        <p:spPr>
          <a:xfrm>
            <a:off x="6745529" y="123444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Circle the correct words.</a:t>
            </a:r>
            <a:endParaRPr lang="en-US" sz="2000" dirty="0"/>
          </a:p>
        </p:txBody>
      </p:sp>
      <p:sp>
        <p:nvSpPr>
          <p:cNvPr id="8" name="R1 stmt"/>
          <p:cNvSpPr/>
          <p:nvPr/>
        </p:nvSpPr>
        <p:spPr>
          <a:xfrm>
            <a:off x="502920" y="3108960"/>
            <a:ext cx="608076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1. You ____ smoke in the building. (It's a rule.)</a:t>
            </a:r>
            <a:endParaRPr lang="en-US" sz="1600" dirty="0"/>
          </a:p>
        </p:txBody>
      </p:sp>
      <p:sp>
        <p:nvSpPr>
          <p:cNvPr id="9" name="R1 opt1"/>
          <p:cNvSpPr/>
          <p:nvPr/>
        </p:nvSpPr>
        <p:spPr>
          <a:xfrm>
            <a:off x="6766560" y="310896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mustn't</a:t>
            </a:r>
            <a:endParaRPr lang="en-US" sz="1500" dirty="0" b="1"/>
          </a:p>
        </p:txBody>
      </p:sp>
      <p:sp>
        <p:nvSpPr>
          <p:cNvPr id="10" name="R1 opt2"/>
          <p:cNvSpPr/>
          <p:nvPr/>
        </p:nvSpPr>
        <p:spPr>
          <a:xfrm>
            <a:off x="8961120" y="310896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 have to</a:t>
            </a:r>
            <a:endParaRPr lang="en-US" sz="1500" dirty="0" b="1"/>
          </a:p>
        </p:txBody>
      </p:sp>
      <p:sp>
        <p:nvSpPr>
          <p:cNvPr id="11" name="R1 circle"/>
          <p:cNvSpPr/>
          <p:nvPr/>
        </p:nvSpPr>
        <p:spPr>
          <a:xfrm>
            <a:off x="6638544" y="3054096"/>
            <a:ext cx="22677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2" name="R2 stmt"/>
          <p:cNvSpPr/>
          <p:nvPr/>
        </p:nvSpPr>
        <p:spPr>
          <a:xfrm>
            <a:off x="502920" y="3657600"/>
            <a:ext cx="608076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2. It's Friday. You ____ wear a tie. (It's not necessary.)</a:t>
            </a:r>
            <a:endParaRPr lang="en-US" sz="1600" dirty="0"/>
          </a:p>
        </p:txBody>
      </p:sp>
      <p:sp>
        <p:nvSpPr>
          <p:cNvPr id="13" name="R2 opt1"/>
          <p:cNvSpPr/>
          <p:nvPr/>
        </p:nvSpPr>
        <p:spPr>
          <a:xfrm>
            <a:off x="6766560" y="365760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mustn't</a:t>
            </a:r>
            <a:endParaRPr lang="en-US" sz="1500" dirty="0" b="1"/>
          </a:p>
        </p:txBody>
      </p:sp>
      <p:sp>
        <p:nvSpPr>
          <p:cNvPr id="14" name="R2 opt2"/>
          <p:cNvSpPr/>
          <p:nvPr/>
        </p:nvSpPr>
        <p:spPr>
          <a:xfrm>
            <a:off x="8961120" y="365760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 have to</a:t>
            </a:r>
            <a:endParaRPr lang="en-US" sz="1500" dirty="0" b="1"/>
          </a:p>
        </p:txBody>
      </p:sp>
      <p:sp>
        <p:nvSpPr>
          <p:cNvPr id="15" name="R2 circle"/>
          <p:cNvSpPr/>
          <p:nvPr/>
        </p:nvSpPr>
        <p:spPr>
          <a:xfrm>
            <a:off x="8833104" y="3602736"/>
            <a:ext cx="22677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6" name="R3 stmt"/>
          <p:cNvSpPr/>
          <p:nvPr/>
        </p:nvSpPr>
        <p:spPr>
          <a:xfrm>
            <a:off x="502920" y="4206240"/>
            <a:ext cx="608076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3. Is 6:55 ____?</a:t>
            </a:r>
            <a:endParaRPr lang="en-US" sz="1600" dirty="0"/>
          </a:p>
        </p:txBody>
      </p:sp>
      <p:sp>
        <p:nvSpPr>
          <p:cNvPr id="17" name="R3 opt1"/>
          <p:cNvSpPr/>
          <p:nvPr/>
        </p:nvSpPr>
        <p:spPr>
          <a:xfrm>
            <a:off x="6766560" y="420624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early enough</a:t>
            </a:r>
            <a:endParaRPr lang="en-US" sz="1500" dirty="0" b="1"/>
          </a:p>
        </p:txBody>
      </p:sp>
      <p:sp>
        <p:nvSpPr>
          <p:cNvPr id="18" name="R3 opt2"/>
          <p:cNvSpPr/>
          <p:nvPr/>
        </p:nvSpPr>
        <p:spPr>
          <a:xfrm>
            <a:off x="8961120" y="420624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enough early</a:t>
            </a:r>
            <a:endParaRPr lang="en-US" sz="1500" dirty="0" b="1"/>
          </a:p>
        </p:txBody>
      </p:sp>
      <p:sp>
        <p:nvSpPr>
          <p:cNvPr id="19" name="R3 circle"/>
          <p:cNvSpPr/>
          <p:nvPr/>
        </p:nvSpPr>
        <p:spPr>
          <a:xfrm>
            <a:off x="6638544" y="4151376"/>
            <a:ext cx="22677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R4 stmt"/>
          <p:cNvSpPr/>
          <p:nvPr/>
        </p:nvSpPr>
        <p:spPr>
          <a:xfrm>
            <a:off x="502920" y="4754880"/>
            <a:ext cx="608076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4. There are too ____ people here.</a:t>
            </a:r>
            <a:endParaRPr lang="en-US" sz="1600" dirty="0"/>
          </a:p>
        </p:txBody>
      </p:sp>
      <p:sp>
        <p:nvSpPr>
          <p:cNvPr id="21" name="R4 opt1"/>
          <p:cNvSpPr/>
          <p:nvPr/>
        </p:nvSpPr>
        <p:spPr>
          <a:xfrm>
            <a:off x="6766560" y="475488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many</a:t>
            </a:r>
            <a:endParaRPr lang="en-US" sz="1500" dirty="0" b="1"/>
          </a:p>
        </p:txBody>
      </p:sp>
      <p:sp>
        <p:nvSpPr>
          <p:cNvPr id="22" name="R4 opt2"/>
          <p:cNvSpPr/>
          <p:nvPr/>
        </p:nvSpPr>
        <p:spPr>
          <a:xfrm>
            <a:off x="8961120" y="475488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much</a:t>
            </a:r>
            <a:endParaRPr lang="en-US" sz="1500" dirty="0" b="1"/>
          </a:p>
        </p:txBody>
      </p:sp>
      <p:sp>
        <p:nvSpPr>
          <p:cNvPr id="23" name="R4 circle"/>
          <p:cNvSpPr/>
          <p:nvPr/>
        </p:nvSpPr>
        <p:spPr>
          <a:xfrm>
            <a:off x="6638544" y="4700016"/>
            <a:ext cx="22677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4" name="R5 stmt"/>
          <p:cNvSpPr/>
          <p:nvPr/>
        </p:nvSpPr>
        <p:spPr>
          <a:xfrm>
            <a:off x="502920" y="5303520"/>
            <a:ext cx="608076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5. I don't have ____.</a:t>
            </a:r>
            <a:endParaRPr lang="en-US" sz="1600" dirty="0"/>
          </a:p>
        </p:txBody>
      </p:sp>
      <p:sp>
        <p:nvSpPr>
          <p:cNvPr id="25" name="R5 opt1"/>
          <p:cNvSpPr/>
          <p:nvPr/>
        </p:nvSpPr>
        <p:spPr>
          <a:xfrm>
            <a:off x="6766560" y="530352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enough time</a:t>
            </a:r>
            <a:endParaRPr lang="en-US" sz="1500" dirty="0" b="1"/>
          </a:p>
        </p:txBody>
      </p:sp>
      <p:sp>
        <p:nvSpPr>
          <p:cNvPr id="26" name="R5 opt2"/>
          <p:cNvSpPr/>
          <p:nvPr/>
        </p:nvSpPr>
        <p:spPr>
          <a:xfrm>
            <a:off x="8961120" y="530352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time enough</a:t>
            </a:r>
            <a:endParaRPr lang="en-US" sz="1500" dirty="0" b="1"/>
          </a:p>
        </p:txBody>
      </p:sp>
      <p:sp>
        <p:nvSpPr>
          <p:cNvPr id="27" name="R5 circle"/>
          <p:cNvSpPr/>
          <p:nvPr/>
        </p:nvSpPr>
        <p:spPr>
          <a:xfrm>
            <a:off x="6638544" y="5248656"/>
            <a:ext cx="22677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8" name="R6 stmt"/>
          <p:cNvSpPr/>
          <p:nvPr/>
        </p:nvSpPr>
        <p:spPr>
          <a:xfrm>
            <a:off x="502920" y="5852160"/>
            <a:ext cx="608076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6. Sandals ____ for the kitchen.</a:t>
            </a:r>
            <a:endParaRPr lang="en-US" sz="1600" dirty="0"/>
          </a:p>
        </p:txBody>
      </p:sp>
      <p:sp>
        <p:nvSpPr>
          <p:cNvPr id="29" name="R6 opt1"/>
          <p:cNvSpPr/>
          <p:nvPr/>
        </p:nvSpPr>
        <p:spPr>
          <a:xfrm>
            <a:off x="6766560" y="585216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aren't safe enough</a:t>
            </a:r>
            <a:endParaRPr lang="en-US" sz="1500" dirty="0" b="1"/>
          </a:p>
        </p:txBody>
      </p:sp>
      <p:sp>
        <p:nvSpPr>
          <p:cNvPr id="30" name="R6 opt2"/>
          <p:cNvSpPr/>
          <p:nvPr/>
        </p:nvSpPr>
        <p:spPr>
          <a:xfrm>
            <a:off x="8961120" y="585216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are too safe</a:t>
            </a:r>
            <a:endParaRPr lang="en-US" sz="1500" dirty="0" b="1"/>
          </a:p>
        </p:txBody>
      </p:sp>
      <p:sp>
        <p:nvSpPr>
          <p:cNvPr id="31" name="R6 circle"/>
          <p:cNvSpPr/>
          <p:nvPr/>
        </p:nvSpPr>
        <p:spPr>
          <a:xfrm>
            <a:off x="6638544" y="5797296"/>
            <a:ext cx="22677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mistake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 flipH="1" flipV="1">
            <a:off x="8060436" y="1132027"/>
            <a:ext cx="4274820" cy="586039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442448" y="1188720"/>
            <a:ext cx="1691640" cy="137160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 flipH="1">
            <a:off x="501091" y="2020824"/>
            <a:ext cx="3543300" cy="470916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 flipH="1">
            <a:off x="4388206" y="2020824"/>
            <a:ext cx="5860390" cy="470916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79328" y="457200"/>
            <a:ext cx="7295083" cy="114300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522122" y="393192"/>
            <a:ext cx="7295083" cy="1143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 flipH="1">
            <a:off x="658368" y="1828800"/>
            <a:ext cx="3610966" cy="470916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 flipH="1">
            <a:off x="4519879" y="1828800"/>
            <a:ext cx="5860390" cy="470916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" name="title"/>
          <p:cNvSpPr/>
          <p:nvPr/>
        </p:nvSpPr>
        <p:spPr>
          <a:xfrm>
            <a:off x="608076" y="457200"/>
            <a:ext cx="6949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Common Mistakes</a:t>
            </a:r>
            <a:endParaRPr lang="en-US" sz="4300" dirty="0" b="1"/>
          </a:p>
        </p:txBody>
      </p:sp>
      <p:pic>
        <p:nvPicPr>
          <p:cNvPr id="21" name="pic" descr="RSVP: a phone and a check mark [sign: RSVP BY FRI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0" y="1325880"/>
            <a:ext cx="1554480" cy="1088136"/>
          </a:xfrm>
          <a:prstGeom prst="rect">
            <a:avLst/>
          </a:prstGeom>
        </p:spPr>
      </p:pic>
      <p:sp>
        <p:nvSpPr>
          <p:cNvPr id="22" name="Dont head"/>
          <p:cNvSpPr/>
          <p:nvPr/>
        </p:nvSpPr>
        <p:spPr>
          <a:xfrm>
            <a:off x="914400" y="1938528"/>
            <a:ext cx="3108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B42318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 say</a:t>
            </a:r>
            <a:endParaRPr lang="en-US" sz="2200" dirty="0"/>
          </a:p>
        </p:txBody>
      </p:sp>
      <p:sp>
        <p:nvSpPr>
          <p:cNvPr id="23" name="Say head"/>
          <p:cNvSpPr/>
          <p:nvPr/>
        </p:nvSpPr>
        <p:spPr>
          <a:xfrm>
            <a:off x="4800600" y="1938528"/>
            <a:ext cx="53035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E6B45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</a:t>
            </a:r>
            <a:endParaRPr lang="en-US" sz="2200" dirty="0"/>
          </a:p>
        </p:txBody>
      </p:sp>
      <p:sp>
        <p:nvSpPr>
          <p:cNvPr id="24" name="Bad 1"/>
          <p:cNvSpPr/>
          <p:nvPr/>
        </p:nvSpPr>
        <p:spPr>
          <a:xfrm>
            <a:off x="914400" y="2468880"/>
            <a:ext cx="32461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It's enough big.</a:t>
            </a:r>
            <a:endParaRPr lang="en-US" sz="1700" dirty="0"/>
          </a:p>
        </p:txBody>
      </p:sp>
      <p:sp>
        <p:nvSpPr>
          <p:cNvPr id="25" name="Good 1"/>
          <p:cNvSpPr/>
          <p:nvPr/>
        </p:nvSpPr>
        <p:spPr>
          <a:xfrm>
            <a:off x="4800600" y="2468880"/>
            <a:ext cx="5394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It's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big enough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1700" dirty="0" b="1"/>
          </a:p>
        </p:txBody>
      </p:sp>
      <p:sp>
        <p:nvSpPr>
          <p:cNvPr id="26" name="Bad 2"/>
          <p:cNvSpPr/>
          <p:nvPr/>
        </p:nvSpPr>
        <p:spPr>
          <a:xfrm>
            <a:off x="914400" y="3035808"/>
            <a:ext cx="32461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There are too much people.</a:t>
            </a:r>
            <a:endParaRPr lang="en-US" sz="1700" dirty="0"/>
          </a:p>
        </p:txBody>
      </p:sp>
      <p:sp>
        <p:nvSpPr>
          <p:cNvPr id="27" name="Good 2"/>
          <p:cNvSpPr/>
          <p:nvPr/>
        </p:nvSpPr>
        <p:spPr>
          <a:xfrm>
            <a:off x="4800600" y="3035808"/>
            <a:ext cx="5394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There are too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many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people.</a:t>
            </a:r>
            <a:endParaRPr lang="en-US" sz="1700" dirty="0" b="1"/>
          </a:p>
        </p:txBody>
      </p:sp>
      <p:sp>
        <p:nvSpPr>
          <p:cNvPr id="28" name="Bad 3"/>
          <p:cNvSpPr/>
          <p:nvPr/>
        </p:nvSpPr>
        <p:spPr>
          <a:xfrm>
            <a:off x="914400" y="3602736"/>
            <a:ext cx="3246120" cy="105156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don't have to use your phone on the floor. (It's a rule.)</a:t>
            </a:r>
            <a:endParaRPr lang="en-US" sz="1700" dirty="0"/>
          </a:p>
        </p:txBody>
      </p:sp>
      <p:sp>
        <p:nvSpPr>
          <p:cNvPr id="29" name="Good 3"/>
          <p:cNvSpPr/>
          <p:nvPr/>
        </p:nvSpPr>
        <p:spPr>
          <a:xfrm>
            <a:off x="4800600" y="3602736"/>
            <a:ext cx="5394960" cy="105156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mustn't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use your phone on the floor.</a:t>
            </a:r>
            <a:endParaRPr lang="en-US" sz="1700" dirty="0" b="1"/>
          </a:p>
        </p:txBody>
      </p:sp>
      <p:sp>
        <p:nvSpPr>
          <p:cNvPr id="30" name="Bad 4"/>
          <p:cNvSpPr/>
          <p:nvPr/>
        </p:nvSpPr>
        <p:spPr>
          <a:xfrm>
            <a:off x="914400" y="4718304"/>
            <a:ext cx="32461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must to wear a badge.</a:t>
            </a:r>
            <a:endParaRPr lang="en-US" sz="1700" dirty="0"/>
          </a:p>
        </p:txBody>
      </p:sp>
      <p:sp>
        <p:nvSpPr>
          <p:cNvPr id="31" name="Good 4"/>
          <p:cNvSpPr/>
          <p:nvPr/>
        </p:nvSpPr>
        <p:spPr>
          <a:xfrm>
            <a:off x="4800600" y="4718304"/>
            <a:ext cx="5394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must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wear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 badge.</a:t>
            </a:r>
            <a:endParaRPr lang="en-US" sz="1700" dirty="0" b="1"/>
          </a:p>
        </p:txBody>
      </p:sp>
      <p:sp>
        <p:nvSpPr>
          <p:cNvPr id="32" name="Bad 5"/>
          <p:cNvSpPr/>
          <p:nvPr/>
        </p:nvSpPr>
        <p:spPr>
          <a:xfrm>
            <a:off x="914400" y="5285232"/>
            <a:ext cx="32461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have too many work.</a:t>
            </a:r>
            <a:endParaRPr lang="en-US" sz="1700" dirty="0"/>
          </a:p>
        </p:txBody>
      </p:sp>
      <p:sp>
        <p:nvSpPr>
          <p:cNvPr id="33" name="Good 5"/>
          <p:cNvSpPr/>
          <p:nvPr/>
        </p:nvSpPr>
        <p:spPr>
          <a:xfrm>
            <a:off x="4800600" y="5285232"/>
            <a:ext cx="5394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have too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much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work.</a:t>
            </a:r>
            <a:endParaRPr lang="en-US" sz="17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drill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pic>
        <p:nvPicPr>
          <p:cNvPr id="26" name="pic" descr="Host: a person and a house [sign: HOST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4739" y="3680460"/>
            <a:ext cx="3449901" cy="2414930"/>
          </a:xfrm>
          <a:prstGeom prst="rect">
            <a:avLst/>
          </a:prstGeom>
        </p:spPr>
      </p:pic>
      <p:sp>
        <p:nvSpPr>
          <p:cNvPr id="4" name="Shape 2"/>
          <p:cNvSpPr/>
          <p:nvPr/>
        </p:nvSpPr>
        <p:spPr>
          <a:xfrm>
            <a:off x="560984" y="1342842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89788" y="1277417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771754" y="141732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 Check</a:t>
            </a:r>
            <a:endParaRPr lang="en-US" sz="4000" dirty="0" b="1"/>
          </a:p>
        </p:txBody>
      </p:sp>
      <p:sp>
        <p:nvSpPr>
          <p:cNvPr id="7" name="Shape 5"/>
          <p:cNvSpPr/>
          <p:nvPr/>
        </p:nvSpPr>
        <p:spPr>
          <a:xfrm>
            <a:off x="6107278" y="1382572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107278" y="3714292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035040" y="1325880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172200" y="1946757"/>
            <a:ext cx="678485" cy="678485"/>
          </a:xfrm>
          <a:prstGeom prst="star32">
            <a:avLst>
              <a:gd name="adj" fmla="val 43755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172200" y="1946757"/>
            <a:ext cx="678485" cy="678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2000" dirty="0"/>
          </a:p>
        </p:txBody>
      </p:sp>
      <p:sp>
        <p:nvSpPr>
          <p:cNvPr id="13" name="s1 label"/>
          <p:cNvSpPr/>
          <p:nvPr/>
        </p:nvSpPr>
        <p:spPr>
          <a:xfrm>
            <a:off x="6995160" y="150876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asks.</a:t>
            </a:r>
            <a:endParaRPr lang="en-US" sz="2200" dirty="0" b="1"/>
          </a:p>
        </p:txBody>
      </p:sp>
      <p:sp>
        <p:nvSpPr>
          <p:cNvPr id="14" name="Shape 12"/>
          <p:cNvSpPr/>
          <p:nvPr/>
        </p:nvSpPr>
        <p:spPr>
          <a:xfrm>
            <a:off x="6035040" y="3657600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6172200" y="4278477"/>
            <a:ext cx="678485" cy="678485"/>
          </a:xfrm>
          <a:prstGeom prst="star32">
            <a:avLst>
              <a:gd name="adj" fmla="val 4375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172200" y="4278477"/>
            <a:ext cx="678485" cy="678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2000" dirty="0"/>
          </a:p>
        </p:txBody>
      </p:sp>
      <p:sp>
        <p:nvSpPr>
          <p:cNvPr id="17" name="s2 label"/>
          <p:cNvSpPr/>
          <p:nvPr/>
        </p:nvSpPr>
        <p:spPr>
          <a:xfrm>
            <a:off x="6995160" y="384048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 answers with a rule.</a:t>
            </a:r>
            <a:endParaRPr lang="en-US" sz="2200" dirty="0" b="1"/>
          </a:p>
        </p:txBody>
      </p:sp>
      <p:sp>
        <p:nvSpPr>
          <p:cNvPr id="60" name="s1 body"/>
          <p:cNvSpPr/>
          <p:nvPr/>
        </p:nvSpPr>
        <p:spPr>
          <a:xfrm>
            <a:off x="6995160" y="210312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A:</a:t>
            </a:r>
            <a:r>
              <a:rPr lang="en-US" sz="19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Are sandals OK for the kitchen?</a:t>
            </a:r>
            <a:endParaRPr lang="en-US" sz="1900" dirty="0" b="0"/>
          </a:p>
        </p:txBody>
      </p:sp>
      <p:sp>
        <p:nvSpPr>
          <p:cNvPr id="70" name="s2 body"/>
          <p:cNvSpPr/>
          <p:nvPr/>
        </p:nvSpPr>
        <p:spPr>
          <a:xfrm>
            <a:off x="6995160" y="443484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B:</a:t>
            </a:r>
            <a:r>
              <a:rPr lang="en-US" sz="19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No, they aren't safe enough.</a:t>
            </a:r>
            <a:endParaRPr lang="en-US" sz="1900" dirty="0" b="0"/>
          </a:p>
          <a:p>
            <a:pPr algn="l" indent="0" marL="0">
              <a:buNone/>
            </a:pPr>
            <a:r>
              <a:rPr lang="en-US" sz="1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must wear closed-toe shoes.</a:t>
            </a:r>
            <a:endParaRPr lang="en-US" sz="1900" dirty="0" b="1"/>
          </a:p>
        </p:txBody>
      </p:sp>
      <p:sp>
        <p:nvSpPr>
          <p:cNvPr id="25" name="sub"/>
          <p:cNvSpPr/>
          <p:nvPr/>
        </p:nvSpPr>
        <p:spPr>
          <a:xfrm>
            <a:off x="771754" y="2148840"/>
            <a:ext cx="4572000" cy="685800"/>
          </a:xfrm>
          <a:prstGeom prst="rect">
            <a:avLst/>
          </a:prstGeom>
          <a:noFill/>
          <a:ln w="38100">
            <a:noFill/>
          </a:ln>
        </p:spPr>
        <p:txBody>
          <a:bodyPr wrap="square" lIns="91440" tIns="36576" rIns="9144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points to a picture and asks. Then switch.</a:t>
            </a:r>
            <a:endParaRPr lang="en-US" sz="2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talk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-171907" y="-142646"/>
            <a:ext cx="5937199" cy="7143293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127000">
            <a:solidFill>
              <a:srgbClr val="F1F5FB"/>
            </a:solidFill>
            <a:prstDash val="solid"/>
          </a:ln>
        </p:spPr>
        <p:txBody>
          <a:bodyPr/>
          <a:p/>
        </p:txBody>
      </p:sp>
      <p:pic>
        <p:nvPicPr>
          <p:cNvPr id="18" name="pic" descr="On time: an alarm clock and a check mark [sign: 7:00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164" y="3418942"/>
            <a:ext cx="3882281" cy="2717597"/>
          </a:xfrm>
          <a:prstGeom prst="rect">
            <a:avLst/>
          </a:prstGeom>
        </p:spPr>
      </p:pic>
      <p:sp>
        <p:nvSpPr>
          <p:cNvPr id="5" name="Shape 3"/>
          <p:cNvSpPr/>
          <p:nvPr/>
        </p:nvSpPr>
        <p:spPr>
          <a:xfrm>
            <a:off x="308610" y="1260546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37414" y="1195121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head"/>
          <p:cNvSpPr/>
          <p:nvPr/>
        </p:nvSpPr>
        <p:spPr>
          <a:xfrm>
            <a:off x="502920" y="1298448"/>
            <a:ext cx="46634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Talk Time</a:t>
            </a:r>
            <a:endParaRPr lang="en-US" sz="4000" dirty="0" b="1"/>
          </a:p>
          <a:p>
            <a:pPr algn="l" indent="0" marL="0">
              <a:spcAft>
                <a:spcPts val="200"/>
              </a:spcAft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Customs Compare</a:t>
            </a:r>
            <a:endParaRPr lang="en-US" sz="2600" dirty="0" b="1"/>
          </a:p>
        </p:txBody>
      </p:sp>
      <p:sp>
        <p:nvSpPr>
          <p:cNvPr id="8" name="grouping"/>
          <p:cNvSpPr/>
          <p:nvPr/>
        </p:nvSpPr>
        <p:spPr>
          <a:xfrm>
            <a:off x="6291072" y="17830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Groups.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Read a question card.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9734702" y="2103120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9734702" y="2571293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1" name="time"/>
          <p:cNvSpPr/>
          <p:nvPr/>
        </p:nvSpPr>
        <p:spPr>
          <a:xfrm>
            <a:off x="9784080" y="2130552"/>
            <a:ext cx="192024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7:00–7:15</a:t>
            </a:r>
            <a:endParaRPr lang="en-US" sz="2000" dirty="0" b="1"/>
          </a:p>
        </p:txBody>
      </p:sp>
      <p:sp>
        <p:nvSpPr>
          <p:cNvPr id="12" name="Shape 10"/>
          <p:cNvSpPr/>
          <p:nvPr/>
        </p:nvSpPr>
        <p:spPr>
          <a:xfrm>
            <a:off x="6416345" y="3198571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291986" y="3071470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9" name="Step num 1"/>
          <p:cNvSpPr/>
          <p:nvPr/>
        </p:nvSpPr>
        <p:spPr>
          <a:xfrm>
            <a:off x="6583680" y="3511296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200" dirty="0"/>
          </a:p>
        </p:txBody>
      </p:sp>
      <p:sp>
        <p:nvSpPr>
          <p:cNvPr id="20" name="Step 1"/>
          <p:cNvSpPr/>
          <p:nvPr/>
        </p:nvSpPr>
        <p:spPr>
          <a:xfrm>
            <a:off x="7315200" y="3401568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One person reads a question card.</a:t>
            </a:r>
            <a:endParaRPr lang="en-US" sz="1700" dirty="0" b="1"/>
          </a:p>
          <a:p>
            <a:pPr algn="l" indent="0" marL="0">
              <a:buNone/>
            </a:pPr>
            <a:r>
              <a:rPr lang="en-US" sz="1700" dirty="0" b="0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When do people arrive in your hometown?</a:t>
            </a:r>
            <a:endParaRPr lang="en-US" sz="1700" dirty="0" b="0"/>
          </a:p>
        </p:txBody>
      </p:sp>
      <p:sp>
        <p:nvSpPr>
          <p:cNvPr id="21" name="Step num 2"/>
          <p:cNvSpPr/>
          <p:nvPr/>
        </p:nvSpPr>
        <p:spPr>
          <a:xfrm>
            <a:off x="6583680" y="4489704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200" dirty="0"/>
          </a:p>
        </p:txBody>
      </p:sp>
      <p:sp>
        <p:nvSpPr>
          <p:cNvPr id="22" name="Step 2"/>
          <p:cNvSpPr/>
          <p:nvPr/>
        </p:nvSpPr>
        <p:spPr>
          <a:xfrm>
            <a:off x="7315200" y="4379976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Each person answers.</a:t>
            </a:r>
            <a:endParaRPr lang="en-US" sz="1700" dirty="0" b="1"/>
          </a:p>
          <a:p>
            <a:pPr algn="l" indent="0" marL="0">
              <a:buNone/>
            </a:pPr>
            <a:r>
              <a:rPr lang="en-US" sz="1700" dirty="0" b="0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In my hometown…, but here…</a:t>
            </a:r>
            <a:endParaRPr lang="en-US" sz="1700" dirty="0" b="0"/>
          </a:p>
        </p:txBody>
      </p:sp>
      <p:sp>
        <p:nvSpPr>
          <p:cNvPr id="23" name="Step num 3"/>
          <p:cNvSpPr/>
          <p:nvPr/>
        </p:nvSpPr>
        <p:spPr>
          <a:xfrm>
            <a:off x="6583680" y="5468112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200" dirty="0"/>
          </a:p>
        </p:txBody>
      </p:sp>
      <p:sp>
        <p:nvSpPr>
          <p:cNvPr id="24" name="Step 3"/>
          <p:cNvSpPr/>
          <p:nvPr/>
        </p:nvSpPr>
        <p:spPr>
          <a:xfrm>
            <a:off x="7315200" y="5358384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2 sentences.</a:t>
            </a:r>
            <a:endParaRPr lang="en-US" sz="1700" dirty="0" b="1"/>
          </a:p>
          <a:p>
            <a:pPr algn="l" indent="0" marL="0">
              <a:buNone/>
            </a:pPr>
            <a:r>
              <a:rPr lang="en-US" sz="1700" dirty="0" b="0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 place is "better."</a:t>
            </a:r>
            <a:endParaRPr lang="en-US" sz="1700" dirty="0" b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talk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-171907" y="-142646"/>
            <a:ext cx="5937199" cy="7143293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127000">
            <a:solidFill>
              <a:srgbClr val="F1F5FB"/>
            </a:solidFill>
            <a:prstDash val="solid"/>
          </a:ln>
        </p:spPr>
        <p:txBody>
          <a:bodyPr/>
          <a:p/>
        </p:txBody>
      </p:sp>
      <p:pic>
        <p:nvPicPr>
          <p:cNvPr id="18" name="pic" descr="Dress code: a clipboard and a shirt with a tie [sign: DRESS CODE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164" y="3418942"/>
            <a:ext cx="3882281" cy="2717597"/>
          </a:xfrm>
          <a:prstGeom prst="rect">
            <a:avLst/>
          </a:prstGeom>
        </p:spPr>
      </p:pic>
      <p:sp>
        <p:nvSpPr>
          <p:cNvPr id="5" name="Shape 3"/>
          <p:cNvSpPr/>
          <p:nvPr/>
        </p:nvSpPr>
        <p:spPr>
          <a:xfrm>
            <a:off x="308610" y="1260546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37414" y="1195121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head"/>
          <p:cNvSpPr/>
          <p:nvPr/>
        </p:nvSpPr>
        <p:spPr>
          <a:xfrm>
            <a:off x="502920" y="1298448"/>
            <a:ext cx="46634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Talk Time</a:t>
            </a:r>
            <a:endParaRPr lang="en-US" sz="4000" dirty="0" b="1"/>
          </a:p>
          <a:p>
            <a:pPr algn="l" indent="0" marL="0">
              <a:spcAft>
                <a:spcPts val="200"/>
              </a:spcAft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Dress Code Check</a:t>
            </a:r>
            <a:endParaRPr lang="en-US" sz="2800" dirty="0" b="1"/>
          </a:p>
        </p:txBody>
      </p:sp>
      <p:sp>
        <p:nvSpPr>
          <p:cNvPr id="8" name="grouping"/>
          <p:cNvSpPr/>
          <p:nvPr/>
        </p:nvSpPr>
        <p:spPr>
          <a:xfrm>
            <a:off x="6291072" y="17830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Pairs.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Read the rule card.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9734702" y="2103120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9734702" y="2571293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1" name="time"/>
          <p:cNvSpPr/>
          <p:nvPr/>
        </p:nvSpPr>
        <p:spPr>
          <a:xfrm>
            <a:off x="9784080" y="2130552"/>
            <a:ext cx="192024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7:00–7:15</a:t>
            </a:r>
            <a:endParaRPr lang="en-US" sz="2000" dirty="0" b="1"/>
          </a:p>
        </p:txBody>
      </p:sp>
      <p:sp>
        <p:nvSpPr>
          <p:cNvPr id="12" name="Shape 10"/>
          <p:cNvSpPr/>
          <p:nvPr/>
        </p:nvSpPr>
        <p:spPr>
          <a:xfrm>
            <a:off x="6416345" y="3198571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291986" y="3071470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9" name="Step num 1"/>
          <p:cNvSpPr/>
          <p:nvPr/>
        </p:nvSpPr>
        <p:spPr>
          <a:xfrm>
            <a:off x="6583680" y="3511296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200" dirty="0"/>
          </a:p>
        </p:txBody>
      </p:sp>
      <p:sp>
        <p:nvSpPr>
          <p:cNvPr id="20" name="Step 1"/>
          <p:cNvSpPr/>
          <p:nvPr/>
        </p:nvSpPr>
        <p:spPr>
          <a:xfrm>
            <a:off x="7315200" y="3401568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Read the rule card.</a:t>
            </a:r>
            <a:endParaRPr lang="en-US" sz="1700" dirty="0" b="1"/>
          </a:p>
          <a:p>
            <a:pPr algn="l" indent="0" marL="0">
              <a:buNone/>
            </a:pPr>
            <a:r>
              <a:rPr lang="en-US" sz="1700" dirty="0" b="0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too casual • not safe enough • OK</a:t>
            </a:r>
            <a:endParaRPr lang="en-US" sz="1700" dirty="0" b="0"/>
          </a:p>
        </p:txBody>
      </p:sp>
      <p:sp>
        <p:nvSpPr>
          <p:cNvPr id="21" name="Step num 2"/>
          <p:cNvSpPr/>
          <p:nvPr/>
        </p:nvSpPr>
        <p:spPr>
          <a:xfrm>
            <a:off x="6583680" y="4489704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200" dirty="0"/>
          </a:p>
        </p:txBody>
      </p:sp>
      <p:sp>
        <p:nvSpPr>
          <p:cNvPr id="22" name="Step 2"/>
          <p:cNvSpPr/>
          <p:nvPr/>
        </p:nvSpPr>
        <p:spPr>
          <a:xfrm>
            <a:off x="7315200" y="4379976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For each worker, say what is wrong.</a:t>
            </a:r>
            <a:endParaRPr lang="en-US" sz="1700" dirty="0" b="1"/>
          </a:p>
          <a:p>
            <a:pPr algn="l" indent="0" marL="0">
              <a:buNone/>
            </a:pPr>
            <a:r>
              <a:rPr lang="en-US" sz="1700" dirty="0" b="0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Number 1: sandals aren't safe enough.</a:t>
            </a:r>
            <a:endParaRPr lang="en-US" sz="1700" dirty="0" b="0"/>
          </a:p>
        </p:txBody>
      </p:sp>
      <p:sp>
        <p:nvSpPr>
          <p:cNvPr id="23" name="Step num 3"/>
          <p:cNvSpPr/>
          <p:nvPr/>
        </p:nvSpPr>
        <p:spPr>
          <a:xfrm>
            <a:off x="6583680" y="5468112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200" dirty="0"/>
          </a:p>
        </p:txBody>
      </p:sp>
      <p:sp>
        <p:nvSpPr>
          <p:cNvPr id="24" name="Step 3"/>
          <p:cNvSpPr/>
          <p:nvPr/>
        </p:nvSpPr>
        <p:spPr>
          <a:xfrm>
            <a:off x="7315200" y="5358384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Then say the rule.</a:t>
            </a:r>
            <a:endParaRPr lang="en-US" sz="1700" dirty="0" b="1"/>
          </a:p>
          <a:p>
            <a:pPr algn="l" indent="0" marL="0">
              <a:buNone/>
            </a:pPr>
            <a:r>
              <a:rPr lang="en-US" sz="1700" dirty="0" b="0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must… • You mustn't…</a:t>
            </a:r>
            <a:endParaRPr lang="en-US" sz="1700" dirty="0" b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gap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407262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8640" y="1349654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417320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Read fast first.</a:t>
            </a:r>
            <a:endParaRPr lang="en-US" sz="2000" dirty="0" b="1"/>
          </a:p>
        </p:txBody>
      </p:sp>
      <p:sp>
        <p:nvSpPr>
          <p:cNvPr id="9" name="head2"/>
          <p:cNvSpPr/>
          <p:nvPr/>
        </p:nvSpPr>
        <p:spPr>
          <a:xfrm>
            <a:off x="868680" y="1819656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 the questions.</a:t>
            </a:r>
            <a:endParaRPr lang="en-US" sz="2000" dirty="0"/>
          </a:p>
        </p:txBody>
      </p:sp>
      <p:sp>
        <p:nvSpPr>
          <p:cNvPr id="29" name="title"/>
          <p:cNvSpPr/>
          <p:nvPr/>
        </p:nvSpPr>
        <p:spPr>
          <a:xfrm>
            <a:off x="8001000" y="1783080"/>
            <a:ext cx="384048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Read &amp;</a:t>
            </a:r>
            <a:endParaRPr lang="en-US" sz="4000" dirty="0" b="1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8046720" y="3611880"/>
            <a:ext cx="3749039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SUNRISE BAKERY · Employee Handbook, page 4 (invented company)</a:t>
            </a:r>
            <a:endParaRPr lang="en-US" sz="2000" dirty="0" b="1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Pairs: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 together.</a:t>
            </a:r>
            <a:endParaRPr lang="en-US" sz="2000" dirty="0" b="1"/>
          </a:p>
        </p:txBody>
      </p:sp>
      <p:sp>
        <p:nvSpPr>
          <p:cNvPr id="31" name="R1 card"/>
          <p:cNvSpPr/>
          <p:nvPr/>
        </p:nvSpPr>
        <p:spPr>
          <a:xfrm>
            <a:off x="1583741" y="2397557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R1 chip"/>
          <p:cNvSpPr/>
          <p:nvPr/>
        </p:nvSpPr>
        <p:spPr>
          <a:xfrm>
            <a:off x="544982" y="2397557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3" name="R1 num"/>
          <p:cNvSpPr/>
          <p:nvPr/>
        </p:nvSpPr>
        <p:spPr>
          <a:xfrm>
            <a:off x="686714" y="2461565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1</a:t>
            </a:r>
            <a:endParaRPr lang="en-US" sz="3200" dirty="0" b="1"/>
          </a:p>
        </p:txBody>
      </p:sp>
      <p:sp>
        <p:nvSpPr>
          <p:cNvPr id="34" name="R1 text"/>
          <p:cNvSpPr/>
          <p:nvPr/>
        </p:nvSpPr>
        <p:spPr>
          <a:xfrm>
            <a:off x="1810512" y="2397557"/>
            <a:ext cx="230428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When should you arrive?</a:t>
            </a:r>
            <a:endParaRPr lang="en-US" sz="1500" dirty="0"/>
          </a:p>
        </p:txBody>
      </p:sp>
      <p:sp>
        <p:nvSpPr>
          <p:cNvPr id="35" name="R1 ans"/>
          <p:cNvSpPr/>
          <p:nvPr/>
        </p:nvSpPr>
        <p:spPr>
          <a:xfrm>
            <a:off x="4187952" y="2525573"/>
            <a:ext cx="33832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5 to 10 minutes before your shift.</a:t>
            </a:r>
            <a:endParaRPr lang="en-US" sz="1400" dirty="0" b="1"/>
          </a:p>
        </p:txBody>
      </p:sp>
      <p:sp>
        <p:nvSpPr>
          <p:cNvPr id="36" name="R2 card"/>
          <p:cNvSpPr/>
          <p:nvPr/>
        </p:nvSpPr>
        <p:spPr>
          <a:xfrm>
            <a:off x="1583741" y="3183941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7" name="R2 chip"/>
          <p:cNvSpPr/>
          <p:nvPr/>
        </p:nvSpPr>
        <p:spPr>
          <a:xfrm>
            <a:off x="544982" y="3183941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8" name="R2 num"/>
          <p:cNvSpPr/>
          <p:nvPr/>
        </p:nvSpPr>
        <p:spPr>
          <a:xfrm>
            <a:off x="686714" y="3247949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2</a:t>
            </a:r>
            <a:endParaRPr lang="en-US" sz="3200" dirty="0" b="1"/>
          </a:p>
        </p:txBody>
      </p:sp>
      <p:sp>
        <p:nvSpPr>
          <p:cNvPr id="39" name="R2 text"/>
          <p:cNvSpPr/>
          <p:nvPr/>
        </p:nvSpPr>
        <p:spPr>
          <a:xfrm>
            <a:off x="1810512" y="3183941"/>
            <a:ext cx="230428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must you do if you're going to be late?</a:t>
            </a:r>
            <a:endParaRPr lang="en-US" sz="1500" dirty="0"/>
          </a:p>
        </p:txBody>
      </p:sp>
      <p:sp>
        <p:nvSpPr>
          <p:cNvPr id="40" name="R2 ans"/>
          <p:cNvSpPr/>
          <p:nvPr/>
        </p:nvSpPr>
        <p:spPr>
          <a:xfrm>
            <a:off x="4187952" y="3311957"/>
            <a:ext cx="33832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Call your supervisor at least one hour before your shift.</a:t>
            </a:r>
            <a:endParaRPr lang="en-US" sz="1400" dirty="0" b="1"/>
          </a:p>
        </p:txBody>
      </p:sp>
      <p:sp>
        <p:nvSpPr>
          <p:cNvPr id="41" name="R3 card"/>
          <p:cNvSpPr/>
          <p:nvPr/>
        </p:nvSpPr>
        <p:spPr>
          <a:xfrm>
            <a:off x="1583741" y="3970325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2" name="R3 chip"/>
          <p:cNvSpPr/>
          <p:nvPr/>
        </p:nvSpPr>
        <p:spPr>
          <a:xfrm>
            <a:off x="544982" y="3970325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3" name="R3 num"/>
          <p:cNvSpPr/>
          <p:nvPr/>
        </p:nvSpPr>
        <p:spPr>
          <a:xfrm>
            <a:off x="686714" y="4034333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3</a:t>
            </a:r>
            <a:endParaRPr lang="en-US" sz="3200" dirty="0" b="1"/>
          </a:p>
        </p:txBody>
      </p:sp>
      <p:sp>
        <p:nvSpPr>
          <p:cNvPr id="44" name="R3 text"/>
          <p:cNvSpPr/>
          <p:nvPr/>
        </p:nvSpPr>
        <p:spPr>
          <a:xfrm>
            <a:off x="1810512" y="3970325"/>
            <a:ext cx="230428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 a text OK? Why or why not?</a:t>
            </a:r>
            <a:endParaRPr lang="en-US" sz="1500" dirty="0"/>
          </a:p>
        </p:txBody>
      </p:sp>
      <p:sp>
        <p:nvSpPr>
          <p:cNvPr id="45" name="R3 ans"/>
          <p:cNvSpPr/>
          <p:nvPr/>
        </p:nvSpPr>
        <p:spPr>
          <a:xfrm>
            <a:off x="4187952" y="4098341"/>
            <a:ext cx="33832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No. A text is not enough.</a:t>
            </a:r>
            <a:endParaRPr lang="en-US" sz="1400" dirty="0" b="1"/>
          </a:p>
        </p:txBody>
      </p:sp>
      <p:sp>
        <p:nvSpPr>
          <p:cNvPr id="46" name="R4 card"/>
          <p:cNvSpPr/>
          <p:nvPr/>
        </p:nvSpPr>
        <p:spPr>
          <a:xfrm>
            <a:off x="1583741" y="4756709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7" name="R4 chip"/>
          <p:cNvSpPr/>
          <p:nvPr/>
        </p:nvSpPr>
        <p:spPr>
          <a:xfrm>
            <a:off x="544982" y="4756709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8" name="R4 num"/>
          <p:cNvSpPr/>
          <p:nvPr/>
        </p:nvSpPr>
        <p:spPr>
          <a:xfrm>
            <a:off x="686714" y="4820717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4</a:t>
            </a:r>
            <a:endParaRPr lang="en-US" sz="3200" dirty="0" b="1"/>
          </a:p>
        </p:txBody>
      </p:sp>
      <p:sp>
        <p:nvSpPr>
          <p:cNvPr id="49" name="R4 text"/>
          <p:cNvSpPr/>
          <p:nvPr/>
        </p:nvSpPr>
        <p:spPr>
          <a:xfrm>
            <a:off x="1810512" y="4756709"/>
            <a:ext cx="230428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front counter workers have to wear a hat?</a:t>
            </a:r>
            <a:endParaRPr lang="en-US" sz="1500" dirty="0"/>
          </a:p>
        </p:txBody>
      </p:sp>
      <p:sp>
        <p:nvSpPr>
          <p:cNvPr id="50" name="R4 ans"/>
          <p:cNvSpPr/>
          <p:nvPr/>
        </p:nvSpPr>
        <p:spPr>
          <a:xfrm>
            <a:off x="4187952" y="4884725"/>
            <a:ext cx="33832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No, but they must wear a name badge.</a:t>
            </a:r>
            <a:endParaRPr lang="en-US" sz="1400" dirty="0" b="1"/>
          </a:p>
        </p:txBody>
      </p:sp>
      <p:sp>
        <p:nvSpPr>
          <p:cNvPr id="51" name="R5 card"/>
          <p:cNvSpPr/>
          <p:nvPr/>
        </p:nvSpPr>
        <p:spPr>
          <a:xfrm>
            <a:off x="1583741" y="5543093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2" name="R5 chip"/>
          <p:cNvSpPr/>
          <p:nvPr/>
        </p:nvSpPr>
        <p:spPr>
          <a:xfrm>
            <a:off x="544982" y="5543093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3" name="R5 num"/>
          <p:cNvSpPr/>
          <p:nvPr/>
        </p:nvSpPr>
        <p:spPr>
          <a:xfrm>
            <a:off x="686714" y="5607101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5</a:t>
            </a:r>
            <a:endParaRPr lang="en-US" sz="3200" dirty="0" b="1"/>
          </a:p>
        </p:txBody>
      </p:sp>
      <p:sp>
        <p:nvSpPr>
          <p:cNvPr id="54" name="R5 text"/>
          <p:cNvSpPr/>
          <p:nvPr/>
        </p:nvSpPr>
        <p:spPr>
          <a:xfrm>
            <a:off x="1810512" y="5543093"/>
            <a:ext cx="230428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Where can you use your phone?</a:t>
            </a:r>
            <a:endParaRPr lang="en-US" sz="1500" dirty="0"/>
          </a:p>
        </p:txBody>
      </p:sp>
      <p:sp>
        <p:nvSpPr>
          <p:cNvPr id="55" name="R5 ans"/>
          <p:cNvSpPr/>
          <p:nvPr/>
        </p:nvSpPr>
        <p:spPr>
          <a:xfrm>
            <a:off x="4187952" y="5671109"/>
            <a:ext cx="33832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In the break room.</a:t>
            </a:r>
            <a:endParaRPr lang="en-US" sz="14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go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44982" y="786384"/>
            <a:ext cx="5486400" cy="5731459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4147718" y="2196389"/>
            <a:ext cx="7699248" cy="416052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3992270" y="1937614"/>
            <a:ext cx="7699248" cy="416052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4343400" y="210312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Before You Go  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7:25–7:30</a:t>
            </a:r>
            <a:endParaRPr lang="en-US" sz="4000" dirty="0"/>
          </a:p>
        </p:txBody>
      </p:sp>
      <p:pic>
        <p:nvPicPr>
          <p:cNvPr id="16" name="pic" descr="Late: a person running and an alarm clock [sign: 7:20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651760"/>
            <a:ext cx="3017520" cy="2112264"/>
          </a:xfrm>
          <a:prstGeom prst="rect">
            <a:avLst/>
          </a:prstGeom>
        </p:spPr>
      </p:pic>
      <p:sp>
        <p:nvSpPr>
          <p:cNvPr id="17" name="Num 01"/>
          <p:cNvSpPr/>
          <p:nvPr/>
        </p:nvSpPr>
        <p:spPr>
          <a:xfrm>
            <a:off x="4343400" y="2971800"/>
            <a:ext cx="731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3000" dirty="0" b="1">
                <a:solidFill>
                  <a:srgbClr val="8FAFE3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000" dirty="0"/>
          </a:p>
        </p:txBody>
      </p:sp>
      <p:sp>
        <p:nvSpPr>
          <p:cNvPr id="18" name="Label 01"/>
          <p:cNvSpPr/>
          <p:nvPr/>
        </p:nvSpPr>
        <p:spPr>
          <a:xfrm>
            <a:off x="5120640" y="2971800"/>
            <a:ext cx="26517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Exit ticket</a:t>
            </a:r>
            <a:endParaRPr lang="en-US" sz="2200" dirty="0" b="1"/>
          </a:p>
        </p:txBody>
      </p:sp>
      <p:sp>
        <p:nvSpPr>
          <p:cNvPr id="19" name="Body 01"/>
          <p:cNvSpPr/>
          <p:nvPr/>
        </p:nvSpPr>
        <p:spPr>
          <a:xfrm>
            <a:off x="4343400" y="3520440"/>
            <a:ext cx="3520440" cy="24688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is one custom here that is different from your hometown (or another place you know)?</a:t>
            </a:r>
            <a:endParaRPr lang="en-US" sz="1600" dirty="0" b="1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1. Here (Here, people…).</a:t>
            </a:r>
            <a:endParaRPr lang="en-US" sz="16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2. There (In my hometown, people…).</a:t>
            </a:r>
            <a:endParaRPr lang="en-US" sz="16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3. What you think, with because.</a:t>
            </a:r>
            <a:endParaRPr lang="en-US" sz="16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Give it to me at the door.</a:t>
            </a:r>
            <a:endParaRPr lang="en-US" sz="1600" dirty="0" b="0"/>
          </a:p>
        </p:txBody>
      </p:sp>
      <p:sp>
        <p:nvSpPr>
          <p:cNvPr id="20" name="Num 02"/>
          <p:cNvSpPr/>
          <p:nvPr/>
        </p:nvSpPr>
        <p:spPr>
          <a:xfrm>
            <a:off x="8001000" y="2971800"/>
            <a:ext cx="731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3000" dirty="0" b="1">
                <a:solidFill>
                  <a:srgbClr val="8FAFE3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000" dirty="0"/>
          </a:p>
        </p:txBody>
      </p:sp>
      <p:sp>
        <p:nvSpPr>
          <p:cNvPr id="21" name="Label 02"/>
          <p:cNvSpPr/>
          <p:nvPr/>
        </p:nvSpPr>
        <p:spPr>
          <a:xfrm>
            <a:off x="8778240" y="2971800"/>
            <a:ext cx="26517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Homework</a:t>
            </a:r>
            <a:endParaRPr lang="en-US" sz="2200" dirty="0" b="1"/>
          </a:p>
        </p:txBody>
      </p:sp>
      <p:sp>
        <p:nvSpPr>
          <p:cNvPr id="22" name="Body 02"/>
          <p:cNvSpPr/>
          <p:nvPr/>
        </p:nvSpPr>
        <p:spPr>
          <a:xfrm>
            <a:off x="8001000" y="3520440"/>
            <a:ext cx="3657600" cy="24688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About 15–20 minutes.</a:t>
            </a:r>
            <a:endParaRPr lang="en-US" sz="1600" dirty="0" b="1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1. Write the sentence.</a:t>
            </a:r>
            <a:endParaRPr lang="en-US" sz="16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2. Finish your writing from Read &amp; Write C (your tips).</a:t>
            </a:r>
            <a:endParaRPr lang="en-US" sz="16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3. Write 3 rules from a job, a school, or a place you know.</a:t>
            </a:r>
            <a:endParaRPr lang="en-US" sz="16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4. Review (Lesson 6).</a:t>
            </a:r>
            <a:endParaRPr lang="en-US" sz="16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Bring it next week!</a:t>
            </a:r>
            <a:endParaRPr lang="en-US" sz="1600" dirty="0" b="1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goodby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7223760" y="914400"/>
            <a:ext cx="4480560" cy="512064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pic>
        <p:nvPicPr>
          <p:cNvPr id="4" name="pic" descr="Uniform: a safety vest and a cap [sign: UNIFORM]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0" y="1664208"/>
            <a:ext cx="3474720" cy="2432304"/>
          </a:xfrm>
          <a:prstGeom prst="rect">
            <a:avLst/>
          </a:prstGeom>
        </p:spPr>
      </p:pic>
      <p:sp>
        <p:nvSpPr>
          <p:cNvPr id="5" name="lesson"/>
          <p:cNvSpPr/>
          <p:nvPr/>
        </p:nvSpPr>
        <p:spPr>
          <a:xfrm>
            <a:off x="7635240" y="44348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Lesson 7  ·  Level 4</a:t>
            </a:r>
            <a:endParaRPr lang="en-US" sz="2200" b="1" dirty="0"/>
          </a:p>
        </p:txBody>
      </p:sp>
      <p:sp>
        <p:nvSpPr>
          <p:cNvPr id="6" name="Shape 3"/>
          <p:cNvSpPr/>
          <p:nvPr/>
        </p:nvSpPr>
        <p:spPr>
          <a:xfrm>
            <a:off x="661111" y="1146658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685800" y="1097280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868680" y="1325880"/>
            <a:ext cx="58064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4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Goodbye! See You Next Week!</a:t>
            </a:r>
            <a:endParaRPr lang="en-US" sz="4400" b="1" dirty="0"/>
          </a:p>
        </p:txBody>
      </p:sp>
      <p:sp>
        <p:nvSpPr>
          <p:cNvPr id="9" name="lead"/>
          <p:cNvSpPr/>
          <p:nvPr/>
        </p:nvSpPr>
        <p:spPr>
          <a:xfrm>
            <a:off x="777240" y="3977640"/>
            <a:ext cx="5852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Now you can:</a:t>
            </a:r>
            <a:endParaRPr lang="en-US" sz="2400" b="1" dirty="0"/>
          </a:p>
        </p:txBody>
      </p:sp>
      <p:sp>
        <p:nvSpPr>
          <p:cNvPr id="10" name="bullets"/>
          <p:cNvSpPr/>
          <p:nvPr/>
        </p:nvSpPr>
        <p:spPr>
          <a:xfrm>
            <a:off x="777240" y="4480560"/>
            <a:ext cx="60350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Say too early, too late, or on time</a:t>
            </a:r>
            <a:endParaRPr lang="en-US" sz="2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Use too and enough</a:t>
            </a:r>
            <a:endParaRPr lang="en-US" sz="2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Explain a workplace rule</a:t>
            </a:r>
            <a:endParaRPr lang="en-US" sz="22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credits">
    <p:bg>
      <p:bgPr>
        <a:solidFill>
          <a:srgbClr val="C9B8F2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CE6F5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0" y="1371600"/>
            <a:ext cx="12191695" cy="5486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18465" y="431597"/>
            <a:ext cx="536112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50469" y="365760"/>
            <a:ext cx="536112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title"/>
          <p:cNvSpPr/>
          <p:nvPr/>
        </p:nvSpPr>
        <p:spPr>
          <a:xfrm>
            <a:off x="674827" y="640080"/>
            <a:ext cx="5120640" cy="102412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5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Credits</a:t>
            </a:r>
            <a:endParaRPr lang="en-US" sz="5400" dirty="0"/>
          </a:p>
        </p:txBody>
      </p:sp>
      <p:sp>
        <p:nvSpPr>
          <p:cNvPr id="15" name="pictures"/>
          <p:cNvSpPr/>
          <p:nvPr/>
        </p:nvSpPr>
        <p:spPr>
          <a:xfrm>
            <a:off x="411480" y="2240280"/>
            <a:ext cx="11365992" cy="22402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Pictures</a:t>
            </a:r>
            <a:endParaRPr lang="en-US" sz="2000" dirty="0" b="1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Vocabulary pictures use Twemoji graphics by Twitter, Inc. and other contributors (https://github.com/jdecked/twemoji), licensed under CC BY 4.0 (https://creativecommons.org/licenses/by/4.0/). The graphics were resized and combined, and signs and labels were added.</a:t>
            </a:r>
            <a:endParaRPr lang="en-US" sz="1600" dirty="0" b="0"/>
          </a:p>
        </p:txBody>
      </p:sp>
      <p:sp>
        <p:nvSpPr>
          <p:cNvPr id="16" name="names"/>
          <p:cNvSpPr/>
          <p:nvPr/>
        </p:nvSpPr>
        <p:spPr>
          <a:xfrm>
            <a:off x="411480" y="4709160"/>
            <a:ext cx="4206240" cy="1783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Names and story</a:t>
            </a:r>
            <a:endParaRPr lang="en-US" sz="2000" dirty="0" b="1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Nadia, Carmen, and Mr. Brooks are invented names. The listening story is invented.</a:t>
            </a:r>
            <a:endParaRPr lang="en-US" sz="1600" dirty="0" b="0"/>
          </a:p>
        </p:txBody>
      </p:sp>
      <p:sp>
        <p:nvSpPr>
          <p:cNvPr id="17" name="audio"/>
          <p:cNvSpPr/>
          <p:nvPr/>
        </p:nvSpPr>
        <p:spPr>
          <a:xfrm>
            <a:off x="4846320" y="4709160"/>
            <a:ext cx="6931152" cy="1783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Audio and font</a:t>
            </a:r>
            <a:endParaRPr lang="en-US" sz="2000" dirty="0" b="1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Audio: synthetic voices made with Chatterbox TTS (MIT License), cloned from short synthetic reference clips made with Kokoro-82M (Apache License 2.0). No recordings of real people were used. Each file carries an inaudible Perth watermark marking it as AI-generated. Font: Lexend Deca (OFL 1.1).</a:t>
            </a:r>
            <a:endParaRPr lang="en-US" sz="1350" dirty="0" b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© 2026 the authors. The authors license this deck under CC BY-NC-SA 4.0.</a:t>
            </a:r>
            <a:endParaRPr lang="en-US" sz="1350" dirty="0" b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Level 4 Lesson 7: Too Early or On Time?</dc:title>
  <dc:subject>PptxGenJS Presentation</dc:subject>
  <dc:creator>Level 1 ESL</dc:creator>
  <cp:lastModifiedBy>Level 1 ESL</cp:lastModifiedBy>
  <cp:revision>1</cp:revision>
  <dcterms:created xsi:type="dcterms:W3CDTF">2026-10-15T20:54:31Z</dcterms:created>
  <dcterms:modified xsi:type="dcterms:W3CDTF">2026-10-15T20:54:31Z</dcterms:modified>
</cp:coreProperties>
</file>