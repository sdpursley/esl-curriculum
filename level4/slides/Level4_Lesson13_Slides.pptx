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13" r:id="rId32"/>
    <p:sldId id="914" r:id="rId21"/>
    <p:sldId id="915" r:id="rId19"/>
    <p:sldId id="916" r:id="rId15"/>
    <p:sldId id="917" r:id="rId37"/>
    <p:sldId id="918" r:id="rId38"/>
    <p:sldId id="919" r:id="rId39"/>
    <p:sldId id="920" r:id="rId40"/>
    <p:sldId id="921" r:id="rId41"/>
    <p:sldId id="922" r:id="rId42"/>
    <p:sldId id="923" r:id="rId43"/>
    <p:sldId id="924" r:id="rId44"/>
    <p:sldId id="925" r:id="rId45"/>
    <p:sldId id="926" r:id="rId46"/>
    <p:sldId id="927" r:id="rId47"/>
    <p:sldId id="928" r:id="rId48"/>
    <p:sldId id="929" r:id="rId49"/>
    <p:sldId id="930" r:id="rId50"/>
    <p:sldId id="931" r:id="rId51"/>
    <p:sldId id="932" r:id="rId52"/>
    <p:sldId id="933" r:id="rId53"/>
    <p:sldId id="934" r:id="rId54"/>
    <p:sldId id="935" r:id="rId55"/>
    <p:sldId id="936" r:id="rId56"/>
    <p:sldId id="937" r:id="rId9"/>
    <p:sldId id="938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(who / that) and read their 3 warning signs (item 3) to each other. Then they fill in the box on the Opening Talk page. Walk around. Write 2 common errors on the board (often a man who he called (→ a man who called) and a text who said (→ a text that said))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who / that; warning signs</a:t>
            </a:r>
          </a:p>
          <a:p>
            <a:r>
              <a:t>Model with one learner: you say, "Tell me one warning sign of a scam." The learner answers with who / that (A caller who asks for gift cards.). Then you ask, "What should you do?"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"My Story So Far" Say: "Personal growth and the graduation talk: learners look back at their own learning (when they started, what was hard, what they can do now) and look forward to the next step. They tell a short story with time clauses (before / after / when), past ability (couldn't / was able to), and the past continuous. Every story is the learner's choice; "my life in this class" is always enough. All names are invented."</a:t>
            </a:r>
          </a:p>
          <a:p>
            <a:r>
              <a:t>Read the three lines under "Today you will".</a:t>
            </a:r>
          </a:p>
          <a:p>
            <a:r>
              <a:t>Stories are the learner's choice. "My life in this class" or "my job" is always enough. Never ask about migration journeys, family separation, or other hard events. If a learner shares something hard, thank them and move on.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milestone (an important step in your life); challenge (something hard); succeed (do it well, get what you wanted); confident (sure you can do it); get used to (something new becomes normal); make friends; be able to (can); support (help, be there for someone); celebrate (have a party, say "great job!"); timeline (events in order on a line); speech (a talk to many people); audience (the people who listen).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"When did you make friends here?" B answers with a time clause: "When I started this class, I made friends."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challenge easy or hard?" (hard) • 2. "When you are confident, are you sure or not sure?" (sure) • 3. "Do you celebrate a milestone or a problem?" (a milestone)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"Mariana was a learner here. Now she is giving a short talk at graduation. Then her old teacher, Mr. Hill, asks her two questions. Listen: what is her main message?"</a:t>
            </a:r>
          </a:p>
          <a:p>
            <a:r>
              <a:t>There are two people: Mariana and Mr. Hill. A narrator starts and ends the listening. Each click highlights the next voice.</a:t>
            </a:r>
          </a:p>
          <a:p>
            <a:r>
              <a:t>The audio (L4_L13_listening.mp3, about 1:54)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(Come to class, and don't be afraid to make mistakes.).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bus driver • 2 restaurant • 3 hotel • 4 clinic • 5 training class • 6 the phone.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When, 2 After, 3 Before, 4 When, 5 When, 6 After.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line. gonna = going to: "I'm going to take a training class." Then practice the pause at the comma: When I started, (pause) I couldn't understand the bus driver. Stress the key words: NOW I can…, NEXT… The class repeats the two lines twice.</a:t>
            </a:r>
          </a:p>
          <a:p>
            <a:r>
              <a:t>Reductions: the listening says going to. People often say gonna. Learners only need to recognize it.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draw a line on the board with 2 events: I finished school. → I got a job. Say, "After I finished school, I got a job." Point to the comma. Then: "I got a job after I finished school." No comma. Then the future: "After I finish this class, I'll take Level 5." Cross out When I will finish.</a:t>
            </a:r>
          </a:p>
          <a:p>
            <a:r>
              <a:t>Box 1: read across: What did you do after you finished school? → After I finished school, I worked in a store.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couldn't / was able to, past continuous. Each click shows the answer side of one row.</a:t>
            </a:r>
          </a:p>
          <a:p>
            <a:r>
              <a:t>Rule of thumb (read it aloud): before / after / when + a full sentence (I started, I finished). The time part can come first (with a comma) or second (no comma). For the future, use the present after when / after / before: After I finish this class, I'll take Level 5.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the comma.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talk frame. Each click shows the answer side of one row.</a:t>
            </a:r>
          </a:p>
          <a:p>
            <a:r>
              <a:t>Questions and answers (2 min): Q: When I will finish or When I finish? A: When I finish this class, I'll take Level 5. Use the present after when / after / before, like after if. • Q: Do I need a comma? A: Time part first: comma. After I finished school, I worked. Time part second: no comma. I worked after I finished school. • Q: couldn't or wasn't able to? A: Both are OK: I couldn't drive. / I wasn't able to drive. For one success in the past, use was able to: I was able to call the clinic.</a:t>
            </a:r>
          </a:p>
          <a:p>
            <a:r>
              <a:t>Check questions: "Time clause first: comma or no comma?" (comma) • "When I will finish or When I finish?" (When I finish) • "Last month, I could call the clinic one time, or I was able to call?" (I was able to call).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When, 2 couldn't, 3 will, 4 able, 5 working, 6 finish.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finish, 2 After I finished school,, 3 couldn't, 4 was able to, 5 work, 6 made.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"When did you make friends here?" B answers with a time clause: "When I started this class, I made friends."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When I started, I couldn't… • After I finished…, I… • Now I can… • After I finish this class, I'll…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Story Timeline + Talk Rehearsal · 15 min.</a:t>
            </a:r>
          </a:p>
          <a:p>
            <a:r>
              <a:t>Model it first (1 min): show your own 5-event timeline on the board and tell it in 1 minute: "When I started teaching, I was nervous. After I taught my first class, I felt better…" Then model a feedback card: "One thing I liked: your timeline was clear. One tip: speak a little slower."</a:t>
            </a:r>
          </a:p>
          <a:p>
            <a:r>
              <a:t>Round 1 (7 min): Story Timeline (pairs). Each learner writes 5 events from their own learning on the timeline (their choice; "my life in this class" is enough). They tell the timeline to a partner with when / before / after. The partner asks one question. Each click shows the next step.</a:t>
            </a:r>
          </a:p>
          <a:p>
            <a:r>
              <a:t>15 learners: pairs; then groups of 3. 7–8 learners: pairs; then groups of 3 (or 2 groups of 4). 5 or fewer: each learner tells the whole group; you give the feedback cards.</a:t>
            </a:r>
          </a:p>
          <a:p>
            <a:r>
              <a:t>Model first: tell your own 1-minute story with the talk frame before learners start. Reading from paper is OK, today and at graduation.</a:t>
            </a:r>
          </a:p>
          <a:p>
            <a:r>
              <a:t>Lesson plan: Step 5; Talk Time: Story Timeline.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Talk Rehearsal (groups of 3). Each learner tells their story (1–2 minutes) with the talk frame. The two listeners fill in a feedback card. Switch. Each click shows the next step.</a:t>
            </a:r>
          </a:p>
          <a:p>
            <a:r>
              <a:t>15 learners: pairs; then groups of 3. 7–8 learners: pairs; then groups of 3 (or 2 groups of 4). 5 or fewer: each learner tells the whole group; you give the feedback cards.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Talk Rehearsal.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learner story · 10 min. Pairs read, then individual writing.</a:t>
            </a:r>
          </a:p>
          <a:p>
            <a:r>
              <a:t>Read (4 min): Learners read the invented story on the Read &amp; Write page, mark the time words,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He couldn't read the bus schedule. • 2 His neighbor told him. • 3 He came to class. • 4 He filled out a job application online. • 5 He's going to take a forklift training class.</a:t>
            </a:r>
          </a:p>
          <a:p>
            <a:r>
              <a:t>Write (5 min): Learners write an email (5–8 sentences) to their teacher about their story so far, with when / before / after. Show the example. This is the start of their graduation talk (Homework item 3).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Write about one change in your life. Example on the board: When I started this class, I couldn't talk on the phone in English. I was afraid to call the clinic. Now I can call by myself, because I practiced every week.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after / I / finish / work, / I / come / to class (past) → After I finished work, I came to class.). Say: "About 15–20 minutes. Finish your Read &amp; Write writing at home."</a:t>
            </a:r>
          </a:p>
          <a:p>
            <a:r>
              <a:t>Homework items: 1. Write the sentence. Use a comma after the time part. • 2. Finish your writing from Read &amp; Write C (your email). Read it one more time. Check ✓ the list in D. • 3. Finish your graduation talk (12–15 sentences, about 2 minutes). Start with your email from Read &amp; Write. Bring it next week. • 4. Review (Lesson 12). Write one word.</a:t>
            </a:r>
          </a:p>
          <a:p>
            <a:r>
              <a:t>Writing check 5 (the graduation talk): the Read &amp; Write email (5–8 sentences) is the first draft. Learners finish the full talk at home (Homework item 3, 12–15 sentences, about 2 minutes). Collect it next week and give one or two tips.</a:t>
            </a:r>
          </a:p>
          <a:p>
            <a:r>
              <a:t>Next weeks: Week 15 is the final exam; Week 16 is graduation, where learners can give their talk.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Milestone: a checkered flag and a 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Story So Far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events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the future with when / after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 ability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events in order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/ after / when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use a comma when the time clause comes first.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the present after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/ after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the future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past ability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 / was able 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a 5-event timeline of my learning and tell it to a group.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email (5–8 sentences) to my teacher about my story so far, the start of my graduation talk.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hallenge: a mountain and a person climb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What should you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 you do with a text that asks for your PIN?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can you call to check a bill?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a scam? "You won a prize! Pay $20 to get it."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12,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Milestone: a checkered flag and a calend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milestone</a:t>
            </a:r>
            <a:endParaRPr lang="en-US" sz="2000" dirty="0" b="1"/>
          </a:p>
        </p:txBody>
      </p:sp>
      <p:pic>
        <p:nvPicPr>
          <p:cNvPr id="19" name="Word picture 2" descr="Challenge: a mountain and a person climb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challenge</a:t>
            </a:r>
            <a:endParaRPr lang="en-US" sz="2000" dirty="0" b="1"/>
          </a:p>
        </p:txBody>
      </p:sp>
      <p:pic>
        <p:nvPicPr>
          <p:cNvPr id="21" name="Word picture 3" descr="Succeed: a target and a check mar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succeed</a:t>
            </a:r>
            <a:endParaRPr lang="en-US" sz="2000" dirty="0" b="1"/>
          </a:p>
        </p:txBody>
      </p:sp>
      <p:pic>
        <p:nvPicPr>
          <p:cNvPr id="23" name="Word picture 4" descr="Confident: a person standing and a strong ar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confident</a:t>
            </a:r>
            <a:endParaRPr lang="en-US" sz="2000" dirty="0" b="1"/>
          </a:p>
        </p:txBody>
      </p:sp>
      <p:pic>
        <p:nvPicPr>
          <p:cNvPr id="25" name="Word picture 5" descr="Get used to: a city and a person [sign: DAY 1 → DAY 100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get used to</a:t>
            </a:r>
            <a:endParaRPr lang="en-US" sz="2000" dirty="0" b="1"/>
          </a:p>
        </p:txBody>
      </p:sp>
      <p:pic>
        <p:nvPicPr>
          <p:cNvPr id="27" name="Word picture 6" descr="Make friends: two people holding hands and a waving ha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make friends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did you…?</a:t>
            </a:r>
            <a:endParaRPr lang="en-US" sz="2200" dirty="0" b="1"/>
          </a:p>
        </p:txBody>
      </p:sp>
      <p:pic>
        <p:nvPicPr>
          <p:cNvPr id="17" name="Word picture 1" descr="Be able to: a paper and a check mar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able to</a:t>
            </a:r>
            <a:endParaRPr lang="en-US" sz="2000" dirty="0" b="1"/>
          </a:p>
        </p:txBody>
      </p:sp>
      <p:pic>
        <p:nvPicPr>
          <p:cNvPr id="19" name="Word picture 2" descr="Support: a handshake and a famil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support</a:t>
            </a:r>
            <a:endParaRPr lang="en-US" sz="2000" dirty="0" b="1"/>
          </a:p>
        </p:txBody>
      </p:sp>
      <p:pic>
        <p:nvPicPr>
          <p:cNvPr id="21" name="Word picture 3" descr="Celebrate: a party popper and a cak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celebrate</a:t>
            </a:r>
            <a:endParaRPr lang="en-US" sz="2000" dirty="0" b="1"/>
          </a:p>
        </p:txBody>
      </p:sp>
      <p:pic>
        <p:nvPicPr>
          <p:cNvPr id="23" name="Word picture 4" descr="Timeline: a calendar and an arrow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timeline</a:t>
            </a:r>
            <a:endParaRPr lang="en-US" sz="2000" dirty="0" b="1"/>
          </a:p>
        </p:txBody>
      </p:sp>
      <p:pic>
        <p:nvPicPr>
          <p:cNvPr id="25" name="Word picture 5" descr="Speech: a microphone and a teach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speech</a:t>
            </a:r>
            <a:endParaRPr lang="en-US" sz="2000" dirty="0" b="1"/>
          </a:p>
        </p:txBody>
      </p:sp>
      <p:pic>
        <p:nvPicPr>
          <p:cNvPr id="27" name="Word picture 6" descr="Audience: two people and clapping hand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audience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challenge easy or hard?</a:t>
            </a:r>
            <a:endParaRPr lang="en-US" sz="1600" dirty="0" b="1"/>
          </a:p>
        </p:txBody>
      </p:sp>
      <p:pic>
        <p:nvPicPr>
          <p:cNvPr id="101" name="R1 pic" descr="Challenge: a mountain and a person climb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you are confident, are you sure or not sure?</a:t>
            </a:r>
            <a:endParaRPr lang="en-US" sz="1600" dirty="0" b="1"/>
          </a:p>
        </p:txBody>
      </p:sp>
      <p:pic>
        <p:nvPicPr>
          <p:cNvPr id="102" name="R2 pic" descr="Confident: a person standing and a strong ar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celebrate a milestone or a problem?</a:t>
            </a:r>
            <a:endParaRPr lang="en-US" sz="1600" dirty="0" b="1"/>
          </a:p>
        </p:txBody>
      </p:sp>
      <p:pic>
        <p:nvPicPr>
          <p:cNvPr id="103" name="R3 pic" descr="Milestone: a checkered flag and a calend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hard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milestone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 was a learner here. Now she is giving a short talk at graduation. Then her old teacher, Mr. Hill, asks her two questions.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Make friends: two people holding hands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Hill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her main message?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1:54.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Mariana's main message?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828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6868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Come to class, and don't be afraid to make mistakes.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448056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Hotel jobs are easy.</a:t>
            </a:r>
            <a:endParaRPr lang="en-US" sz="1400" dirty="0" b="1"/>
          </a:p>
        </p:txBody>
      </p:sp>
      <p:sp>
        <p:nvSpPr>
          <p:cNvPr id="11" name="R1 opt3"/>
          <p:cNvSpPr/>
          <p:nvPr/>
        </p:nvSpPr>
        <p:spPr>
          <a:xfrm>
            <a:off x="809244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Level 5 is too hard.</a:t>
            </a:r>
            <a:endParaRPr lang="en-US" sz="1400" dirty="0" b="1"/>
          </a:p>
        </p:txBody>
      </p:sp>
      <p:sp>
        <p:nvSpPr>
          <p:cNvPr id="12" name="R1 circle"/>
          <p:cNvSpPr/>
          <p:nvPr/>
        </p:nvSpPr>
        <p:spPr>
          <a:xfrm>
            <a:off x="740664" y="3054096"/>
            <a:ext cx="37764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story in order: 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First, when she started, she couldn't understand the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 driver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Then, in her first year, she worked at a ____ at night.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hotel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After Level 2, she got a job at a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hotel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clinic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Last year, she called the ____ by herself.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clinic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school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Next, after Level 5, she's going to take a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training class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vacation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Her biggest challenge was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English classes here, I couldn't understand the bus driver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finished Level 2, I got a new job at a hotel.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that job, I practiced my interview with my teacher.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called someone, I couldn't understand them very well.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was tired, they supported me.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class ended, we often studied together.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the pause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a short form. This listening says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Pause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comma. Stress the key words.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training class.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started, (pause) I couldn't understand the bus driver.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can…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e able to: a paper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/ after / when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after you finished school?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worked in a store.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you started this job?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 this job,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didn't know anyone.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couldn't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before this class?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started this class,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couldn't fill out a form.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after you finish this class?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I'll take Level 5.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upport: a handshake and a fami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 / was able to; was …ing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understand the bus driver?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the clinic?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by myself last month.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were you doing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you met your friend?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working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restaurant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met her.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elebrate: a party popper and a ca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comma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PART FIRST: comma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PART SECOND: no comma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started, I didn't know anyone.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know anyone when I started.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 take Level 5.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take Level 5 after I finish this class.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imeline: a calendar and an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talk frame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started…, I couldn't…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hard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hard because… But I've…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can… I'm more confident.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finish…, I'll… because…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this job, I didn't know anyone.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here, I ____ speak English. (can't)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 ____ take Level 5.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month, I was ____ to call the clinic by myself.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able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____ at a store when I met my friend. (work)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____ this class, I'll celebrate. (finish / will finish)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When I ____ the class, I'll look for a new job.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finish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____ I worked in a store.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school,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Before I started class, I ____ read the bus schedule.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I ____ fill out the form by myself.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to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I used to ____ at night, but now I work days.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I've ____ many friends in this class.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made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Speech: a microphone and a teac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will finish, I'll call you.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I'll call you.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 I couldn't drive.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couldn't drive.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415137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could to fill out the form.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415137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fill out the form.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finish class, I go home.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finish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class, I go home.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work when I met her.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I met her.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Audience: two people and clapping ha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time clause.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did you make friends here?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I started this class,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made friends.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imeline: a calendar and an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Story Timeline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Alone, then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life in this class is enough.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5 events on the timeline.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 this class, I couldn't…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a partner with when / before / after.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practiced with my partner, I…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asks one question.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peech: a microphone and a teac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Rehearsal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your story (1–2 minutes).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talk frame.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→ What was hard → Now → Next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two listeners fill in a feedback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can…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finish…, I'll… because…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RIVERSIDE ADULT LEARNING · Class Newsletter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he came to the city, what couldn't he do?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couldn't read the bus schedule.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he hear about the classes?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neighbor told him.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he do after his shift?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came to class.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he able to do last month?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filled out a job application online.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he do when he finishes Level 4?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going to take a forklift training class.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onfident: a person standing and a strong a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about one change in your life.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When it happened, with When….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you couldn't do before.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you can do now, with a reason (because).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email).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Finish your graduation talk (12–15 sentences, about 2 minutes).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12).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Get used to: a city and a person [sign: DAY 1 → DAY 100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events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the future with when / after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 ability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Mariana, Mr. Hill, and Tomás R.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13: My Story So Far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