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26.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2.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653" r:id="rId32"/>
    <p:sldId id="654" r:id="rId21"/>
    <p:sldId id="655" r:id="rId19"/>
    <p:sldId id="656" r:id="rId15"/>
    <p:sldId id="657" r:id="rId37"/>
    <p:sldId id="658" r:id="rId38"/>
    <p:sldId id="659" r:id="rId39"/>
    <p:sldId id="660" r:id="rId40"/>
    <p:sldId id="661" r:id="rId41"/>
    <p:sldId id="662" r:id="rId42"/>
    <p:sldId id="663" r:id="rId43"/>
    <p:sldId id="664" r:id="rId44"/>
    <p:sldId id="665" r:id="rId45"/>
    <p:sldId id="666" r:id="rId46"/>
    <p:sldId id="667" r:id="rId47"/>
    <p:sldId id="668" r:id="rId48"/>
    <p:sldId id="669" r:id="rId49"/>
    <p:sldId id="670" r:id="rId50"/>
    <p:sldId id="671" r:id="rId51"/>
    <p:sldId id="672" r:id="rId52"/>
    <p:sldId id="673" r:id="rId53"/>
    <p:sldId id="674" r:id="rId54"/>
    <p:sldId id="675" r:id="rId55"/>
    <p:sldId id="676" r:id="rId56"/>
    <p:sldId id="677" r:id="rId9"/>
    <p:sldId id="678"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51.xml"/><Relationship Id="rId15" Type="http://schemas.openxmlformats.org/officeDocument/2006/relationships/slide" Target="slides/slide30.xml"/><Relationship Id="rId19" Type="http://schemas.openxmlformats.org/officeDocument/2006/relationships/slide" Target="slides/slide29.xml"/><Relationship Id="rId21" Type="http://schemas.openxmlformats.org/officeDocument/2006/relationships/slide" Target="slides/slide28.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32" Type="http://schemas.openxmlformats.org/officeDocument/2006/relationships/slide" Target="slides/slide27.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title: "Goodbye! See you next week!" Learners repeat.</a:t>
            </a:r>
          </a:p>
          <a:p>
            <a:r>
              <a:t>Read the three "Now you can" lines. Ask one learner: "Have you finished your homework yet?" and wait for an answer (Yes, I've already… / No, not yet.).</a:t>
            </a:r>
          </a:p>
          <a:p>
            <a:r>
              <a:t>Remind learners: homework, about 15–20 minutes. Bring it next week.</a:t>
            </a:r>
          </a:p>
          <a:p>
            <a:r>
              <a:t>Lesson plan: At a glance: Objectives; Step 7.</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continued. The four cards from the Opening Talk page. Each click shows the next card.</a:t>
            </a:r>
          </a:p>
          <a:p>
            <a:r>
              <a:t>A asks a card question. B answers in 3 sentences. A asks one follow-up question (follow-ups on the right). Then switch. Pairs write the partner's name and one How long…? answer (for / since).</a:t>
            </a:r>
          </a:p>
          <a:p>
            <a:r>
              <a:t>Homework Check (3 min, last click): pairs compare Homework item 1 (for / since sentences) and read one answer from item 3 to each other. Then they fill in the box on the Opening Talk page. Walk around. Write 2 common errors on the board (often I live here since 2020 (→ I've lived here since 2020) and since three years (→ for three years)) and correct them together. Also put up 2 corrections from last week's exit tickets.</a:t>
            </a:r>
          </a:p>
          <a:p>
            <a:r>
              <a:t>Lesson plan: Step 1; Opening Talk page: cards, follow-ups; Homework check.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 6:00–6:08 · Opening Talk + Homework Check · 8 min. Pairs (7 pairs + 1 trio with 15 learners; 3–4 pairs with 7–8).</a:t>
            </a:r>
          </a:p>
          <a:p>
            <a:r>
              <a:t>Before class, write on the board: How long have you…? and for / since</a:t>
            </a:r>
          </a:p>
          <a:p>
            <a:r>
              <a:t>Model with one learner: you ask, "How long have you lived in this city?" The learner answers with for or since. Then you ask, "Where did you live before? How long did you live there?" Help them say 3 sentences. (Click to show the follow-up.)</a:t>
            </a:r>
          </a:p>
          <a:p>
            <a:r>
              <a:t>Opening Talk (5 min): learners open the Opening Talk page. A asks a card question; B answers in 3 sentences (the answer, a reason, a detail); A asks one follow-up. Switch after each card. The cards are on the next slide.</a:t>
            </a:r>
          </a:p>
          <a:p>
            <a:r>
              <a:t>If behind: one card only.</a:t>
            </a:r>
          </a:p>
          <a:p>
            <a:r>
              <a:t>Lesson plan: Step 1; Opening Talk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goal slowly. Learners repeat.</a:t>
            </a:r>
          </a:p>
          <a:p>
            <a:r>
              <a:t>Goal 1: I've already restocked the shelves. I've just cleaned the board. Goal 2: Have you clocked in yet? Yes, I've already clocked in. / No, not yet. Goal 3: already and just before the past participle; yet at the end.</a:t>
            </a:r>
          </a:p>
          <a:p>
            <a:r>
              <a:t>Goal 4: the Check-in in Talk Time. Goal 5: the reply email in Read &amp; Write (Writing Check 1).</a:t>
            </a:r>
          </a:p>
          <a:p>
            <a:r>
              <a:t>Lesson plan: At a glance: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as they arrive.</a:t>
            </a:r>
          </a:p>
          <a:p>
            <a:r>
              <a:t>Point to the title and read it: "Have you finished yet?" Say: "Tonight we talk about work: what is done, what is not done yet, and a short check-in with a supervisor."</a:t>
            </a:r>
          </a:p>
          <a:p>
            <a:r>
              <a:t>Read the three lines under "Today you will". Give one quick example of each: "I've already clocked in." • "Have you cleaned the break room yet? No, not yet." • "What have you done this week?"</a:t>
            </a:r>
          </a:p>
          <a:p>
            <a:r>
              <a:t>Keep work talk positive and invented. Learners never discuss real problems with real bosses or coworkers. Any job works in the role plays; invented answers are fine.</a:t>
            </a:r>
          </a:p>
          <a:p>
            <a:r>
              <a:t>Lesson plan: Topic; At a glance: Objectives;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6:08–6:15 · New Words · 7 min (this slide and the next). Whole class, then pairs.</a:t>
            </a:r>
          </a:p>
          <a:p>
            <a:r>
              <a:t>Point to each picture and say the word. Learners repeat once. ★ = the most important words. Each click shows the next word.</a:t>
            </a:r>
          </a:p>
          <a:p>
            <a:r>
              <a:t>Show the hard words: to-do list (things to do) vs. checklist (a list with boxes to tick ✓); deadline (the last day); restock (put more on the shelves).</a:t>
            </a:r>
          </a:p>
          <a:p>
            <a:r>
              <a:t>If behind: teach the ★ words only.</a:t>
            </a:r>
          </a:p>
          <a:p>
            <a:r>
              <a:t>Lesson plan: Step 2; Key vocabulary; New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continued. Point to each picture and say the word. Learners repeat once.</a:t>
            </a:r>
          </a:p>
          <a:p>
            <a:r>
              <a:t>Show the hard words: inventory (count what you have); clock in / clock out (start and end work; mime a time clock); feedback (what a supervisor says about your work); check-in (a short meeting).</a:t>
            </a:r>
          </a:p>
          <a:p>
            <a:r>
              <a:t>Partner game (2 min): A points to a picture and asks, "Have you clocked in yet?" B answers, "Yes, I've already clocked in." or "No, not yet." Switch. 15 learners: finish with a quick team round (3 teams; you say a clue, the first team with the word gets a point). 7–8: 2 teams. 5 or fewer: one team against the clock.</a:t>
            </a:r>
          </a:p>
          <a:p>
            <a:r>
              <a:t>My Words: "Write any word you want in your language on the My Words page. It's your personal list. It's optional." Learners do it at home.</a:t>
            </a:r>
          </a:p>
          <a:p>
            <a:r>
              <a:t>If behind: teach the ★ words only.</a:t>
            </a:r>
          </a:p>
          <a:p>
            <a:r>
              <a:t>Lesson plan: Step 2; New Words page; Partner game; My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Check meaning · 1 min. Whole class.</a:t>
            </a:r>
          </a:p>
          <a:p>
            <a:r>
              <a:t>The answers are hidden. Ask each question and wait for the class to answer. Then click to show the answer. Each click shows one answer, in order: 1, 2, 3.</a:t>
            </a:r>
          </a:p>
          <a:p>
            <a:r>
              <a:t>1. "Is a deadline the first day or the last day?" (the last day) • 2. "Do you clock in at the start or the end of your shift?" (the start) • 3. "Is Great job! feedback?" (yes, positive feedback)</a:t>
            </a:r>
          </a:p>
          <a:p>
            <a:r>
              <a:t>Lesson plan: Step 2: Check meaning.</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 6:15–6:30 · Listening + "Hear it, say it" · 15 min (slides 8 to 12). Individuals, then pairs check.</a:t>
            </a:r>
          </a:p>
          <a:p>
            <a:r>
              <a:t>Before you listen (2 min). Say: "It's the end of the evening shift at a grocery store. Ms. Rivera, the supervisor, talks to two workers, Jamal and Kim. Listen: is all the work finished?"</a:t>
            </a:r>
          </a:p>
          <a:p>
            <a:r>
              <a:t>There are three people: Ms. Rivera (the supervisor), Jamal, and Kim. A narrator starts and ends the listening. Each click highlights the next person.</a:t>
            </a:r>
          </a:p>
          <a:p>
            <a:r>
              <a:t>The audio (about 1:52) is coming soon. When it is ready, it plays the conversation once; press play again for play 2. Until then, read the listening script (at the end of these notes) with a volunteer.</a:t>
            </a:r>
          </a:p>
          <a:p>
            <a:r>
              <a:t>No speaker? Read the script with a volunteer at a natural, friendly speed, two times. Say gonna and wanna where the script has them.</a:t>
            </a:r>
          </a:p>
          <a:p>
            <a:r>
              <a:t>Audio: the listening audio for this lesson (about 1:52)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Lesson plan: Step 3; Listening script; Listening page.</a:t>
            </a:r>
          </a:p>
          <a:p>
            <a:r>
              <a:t>Picture: Twemoji graphics by Twitter, Inc. and other contributors (https://github.com/jdecked/twemoji), CC BY 4.0 (https://creativecommons.org/licenses/by/4.0/); resized and combined, with signs and labels (images/CREDITS.md).</a:t>
            </a:r>
          </a:p>
          <a:p>
            <a:r>
              <a:t>Listening script (the audio is coming soon; until then, read it aloud with a volunteer at a normal, friendly speed):</a:t>
            </a:r>
          </a:p>
          <a:p>
            <a:r>
              <a:t>Narrator: Lesson three. It's the end of the evening shift at a grocery store. Ms. Rivera, the supervisor, talks to Jamal and Kim.</a:t>
            </a:r>
          </a:p>
          <a:p>
            <a:r>
              <a:t>Ms. Rivera: OK, team, it's almost nine. Let's look at the checklist. Jamal, have you restocked the shelves yet?</a:t>
            </a:r>
          </a:p>
          <a:p>
            <a:r>
              <a:t>Jamal: Yes, I've already restocked them. Aisles one to six are done.</a:t>
            </a:r>
          </a:p>
          <a:p>
            <a:r>
              <a:t>Ms. Rivera: Great. And the delivery? Has the truck arrived yet?</a:t>
            </a:r>
          </a:p>
          <a:p>
            <a:r>
              <a:t>Jamal: Yes, it's just arrived. Kim and I are putting it away.</a:t>
            </a:r>
          </a:p>
          <a:p>
            <a:r>
              <a:t>Kim: We've already put away the milk and the eggs.</a:t>
            </a:r>
          </a:p>
          <a:p>
            <a:r>
              <a:t>Ms. Rivera: Good. Kim, have you cleaned the cooler yet?</a:t>
            </a:r>
          </a:p>
          <a:p>
            <a:r>
              <a:t>Kim: No, not yet. I haven't cleaned it yet. The delivery came late.</a:t>
            </a:r>
          </a:p>
          <a:p>
            <a:r>
              <a:t>Ms. Rivera: That's OK. Are you gonna have time tonight?</a:t>
            </a:r>
          </a:p>
          <a:p>
            <a:r>
              <a:t>Kim: I think so. I'm gonna start it after the delivery. It takes about twenty minutes.</a:t>
            </a:r>
          </a:p>
          <a:p>
            <a:r>
              <a:t>Ms. Rivera: Perfect. Jamal, have you checked the bakery inventory?</a:t>
            </a:r>
          </a:p>
          <a:p>
            <a:r>
              <a:t>Jamal: I've just finished it. I gave you the list at eight.</a:t>
            </a:r>
          </a:p>
          <a:p>
            <a:r>
              <a:t>Ms. Rivera: Oh, right, I have it here. Thanks. And the break room?</a:t>
            </a:r>
          </a:p>
          <a:p>
            <a:r>
              <a:t>Jamal: Not yet. I'm gonna clean it before I clock out.</a:t>
            </a:r>
          </a:p>
          <a:p>
            <a:r>
              <a:t>Ms. Rivera: OK. So the cooler and the break room aren't done yet. Everything else is done.</a:t>
            </a:r>
          </a:p>
          <a:p>
            <a:r>
              <a:t>Kim: Ms. Rivera, have you seen the new training schedule yet?</a:t>
            </a:r>
          </a:p>
          <a:p>
            <a:r>
              <a:t>Ms. Rivera: Yes, I've just seen it. The deadline for the safety training is Friday.</a:t>
            </a:r>
          </a:p>
          <a:p>
            <a:r>
              <a:t>Kim: Thanks. I wanna finish it this week.</a:t>
            </a:r>
          </a:p>
          <a:p>
            <a:r>
              <a:t>Ms. Rivera: Good idea. And some quick feedback: you both did great work tonight. The shelves look really good.</a:t>
            </a:r>
          </a:p>
          <a:p>
            <a:r>
              <a:t>Jamal: Thank you!</a:t>
            </a:r>
          </a:p>
          <a:p>
            <a:r>
              <a:t>Kim: Thanks, Ms. Rivera. See you tomorrow.</a:t>
            </a:r>
          </a:p>
          <a:p>
            <a:r>
              <a:t>Narrator: That's the end of the listening.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1 → Task A (the main idea). Pairs compare. Check together.</a:t>
            </a:r>
          </a:p>
          <a:p>
            <a:r>
              <a:t>Click to circle the answer: b (No, two things aren't done yet.).</a:t>
            </a:r>
          </a:p>
          <a:p>
            <a:r>
              <a:t>Then read Tasks B and C together (1 min) so learners know what to listen for.</a:t>
            </a:r>
          </a:p>
          <a:p>
            <a:r>
              <a:t>Lesson plan: Step 3; Listening Task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2 → Tasks B and C. Pairs compare. Then show the answers.</a:t>
            </a:r>
          </a:p>
          <a:p>
            <a:r>
              <a:t>Click to circle each answer (one click per item, 1 to 6): 1 done, 2 done, 3 not yet, 4 done, 5 not yet, 6 not yet.</a:t>
            </a:r>
          </a:p>
          <a:p>
            <a:r>
              <a:t>Lesson plan: Step 3; Listening Task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 (play 2). Click to show each answer (one click per item, 1 to 6): 1 already, 2 yet, 3 just, 4 yet, 5 just, 6 already.</a:t>
            </a:r>
          </a:p>
          <a:p>
            <a:r>
              <a:t>If behind: do Task C together on the board, reading the lines yourself.</a:t>
            </a:r>
          </a:p>
          <a:p>
            <a:r>
              <a:t>Lesson plan: Step 3; Listening Task C;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it, say it" (3 min). Point to the script lines. gonna = going to: "I'm gonna clean it before I clock out." wanna = want to: "I wanna finish it this week." You can say going to and want to.</a:t>
            </a:r>
          </a:p>
          <a:p>
            <a:r>
              <a:t>Then practice hearing 's = has: It's just arrived (= it has just arrived), the weak have in Have you… yet?, and the stress: I've JUST finished it. • I've alREADY restocked them. The class repeats the two lines twice.</a:t>
            </a:r>
          </a:p>
          <a:p>
            <a:r>
              <a:t>'s = has: It's just arrived. She's already left. Ask: "is or has?" If a past participle comes next, it is has.</a:t>
            </a:r>
          </a:p>
          <a:p>
            <a:r>
              <a:t>Lesson plan: Step 3: "Hear it, say it"; Listening page: Hear it, say it; Teacher notes.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 6:30–6:45 · Grammar Q&amp;A · 15 min (slides 13 to 20). Whole class, then pairs. Show the Grammar page. The left side is the question. The right side is the answer.</a:t>
            </a:r>
          </a:p>
          <a:p>
            <a:r>
              <a:t>Show it (2 min): draw a checklist on the board with 5 tasks. Tick two and say, "I've already restocked the shelves. I've already clocked in." Tick one now, in front of the class: "I've just cleaned the board." Point to an empty box: "I haven't checked the inventory yet."</a:t>
            </a:r>
          </a:p>
          <a:p>
            <a:r>
              <a:t>Box 1: read across: Have you cleaned the break room yet? → Yes, I've already cleaned it. / No, not yet. Each click shows the answer side of one row.</a:t>
            </a:r>
          </a:p>
          <a:p>
            <a:r>
              <a:t>Lesson plan: Step 4; Grammar Box 1; Teacher notes: The board checklist.</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2: add a time → simple past: I finished them at 3:00. Each click shows the answer side of one row.</a:t>
            </a:r>
          </a:p>
          <a:p>
            <a:r>
              <a:t>Rule of thumb (read it aloud): already = done (maybe sooner than expected). yet = in questions and not sentences, at the end. just = a very short time ago. Add a time (at 3:00, yesterday) → simple past.</a:t>
            </a:r>
          </a:p>
          <a:p>
            <a:r>
              <a:t>Lesson plan: Step 4; Grammar Box 2; Rule of thumb.</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word place: already and just before the past participle; yet at the end. Each click shows the example of one row.</a:t>
            </a:r>
          </a:p>
          <a:p>
            <a:r>
              <a:t>Word place: teach already before the past participle. In speaking, I've cleaned it already is also common; accept it. yet always goes at the end.</a:t>
            </a:r>
          </a:p>
          <a:p>
            <a:r>
              <a:t>Lesson plan: Step 4; Grammar Box 3; Teacher notes: Word place.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4: which one? Each click shows one row.</a:t>
            </a:r>
          </a:p>
          <a:p>
            <a:r>
              <a:t>Questions and answers (2 min): Q: Can I say I've finished it yesterday? A: No. With a finished time, use the simple past: I finished it yesterday. • Q: Where does yet go? A: At the end: Have you clocked out yet? I haven't clocked out yet. • Q: What does It's just arrived mean? A: It's = it has. just = a very short time ago. The truck arrived a minute ago.</a:t>
            </a:r>
          </a:p>
          <a:p>
            <a:r>
              <a:t>Check questions: "I've finished it yesterday. Right or wrong?" (wrong: I finished it yesterday.) • "Where does yet go?" (at the end) • "It's just arrived. It's = it is or it has?" (it has).</a:t>
            </a:r>
          </a:p>
          <a:p>
            <a:r>
              <a:t>Lesson plan: Step 4; Grammar Box 4; Questions and answers.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A and B (3 min): learners write, then pairs check. Go over the answers.</a:t>
            </a:r>
          </a:p>
          <a:p>
            <a:r>
              <a:t>Click to show each answer (one click per item, 1 to 6): 1 yet, 2 just, 3 yet, 4 yet, 5 already, 6 just.</a:t>
            </a:r>
          </a:p>
          <a:p>
            <a:r>
              <a:t>Lesson plan: Step 4; Grammar Practice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 Learners circle the correct words. Pairs check.</a:t>
            </a:r>
          </a:p>
          <a:p>
            <a:r>
              <a:t>Click to circle each answer (one click per item, 1 to 6): 1 haven't, 2 finished, 3 them, 4 Has, 5 has just, 6 did you clock in.</a:t>
            </a:r>
          </a:p>
          <a:p>
            <a:r>
              <a:t>Lesson plan: Step 4; Grammar Practice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mistakes. Read the table together: "Don't say… Say…". Read a line from Don't say. Ask: "What's the right way?" Learners try first. Then click to show the right form. Each click shows one line, in order 1 to 5.</a:t>
            </a:r>
          </a:p>
          <a:p>
            <a:r>
              <a:t>Learners can read the contrast tip on their Grammar page on their own; it is optional. You never need to read, translate, or explain it.</a:t>
            </a:r>
          </a:p>
          <a:p>
            <a:r>
              <a:t>Lesson plan: Grammar: Common mistakes;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check (last 3 min of Step 4). Pairs.</a:t>
            </a:r>
          </a:p>
          <a:p>
            <a:r>
              <a:t>A reads a task from the board checklist and asks Have you… yet? B answers Yes, I've already… / I've just… / No, not yet. Switch. 15 learners: swap partners once. 5 or fewer: you join one pair.</a:t>
            </a:r>
          </a:p>
          <a:p>
            <a:r>
              <a:t>If behind: skip the pair check. Talk Time practices it.</a:t>
            </a:r>
          </a:p>
          <a:p>
            <a:r>
              <a:t>Break · 6:45–7:00 · 15 min.</a:t>
            </a:r>
          </a:p>
          <a:p>
            <a:r>
              <a:t>Lesson plan: Step 4: Pair check; Break.</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 7:00–7:15 · Talk Time: Shift Handoff + Check-in · 15 min.</a:t>
            </a:r>
          </a:p>
          <a:p>
            <a:r>
              <a:t>Model it first (1 min): hold up Card A and ask a learner to ask you, "Have you restocked aisle 3 yet?" Answer, "Yes, I've already restocked it." Then point to a task with no tick: "No, not yet. I'm going to do it before I clock out." Say: "Answer, then add one more sentence."</a:t>
            </a:r>
          </a:p>
          <a:p>
            <a:r>
              <a:t>Round 1 (7 min): Shift Handoff (pairs, information gap). A looks at Card A; B covers it. B asks Have you… yet? about each task and ticks done or not yet in the notes. Then switch: A asks about Card B. Each click shows the next step.</a:t>
            </a:r>
          </a:p>
          <a:p>
            <a:r>
              <a:t>15 learners: pairs for round 1. 7–8 learners: pairs for round 1. 5 or fewer: pairs (or one group of 3) for round 1.</a:t>
            </a:r>
          </a:p>
          <a:p>
            <a:r>
              <a:t>Keep work talk positive and invented. Learners never discuss real problems with real bosses or coworkers. Any job works in the role plays; invented answers are fine.</a:t>
            </a:r>
          </a:p>
          <a:p>
            <a:r>
              <a:t>Lesson plan: Step 5; Talk Time: Shift Handoff;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(6 min): Check-in (groups of 3). The supervisor reads the 3 question cards. The worker answers with already and yet (invented answers are fine). The observer ticks each already / yet / just they hear. Rotate roles so everyone is the worker once. Each click shows the next step.</a:t>
            </a:r>
          </a:p>
          <a:p>
            <a:r>
              <a:t>Question cards: 1. What have you done this week? 2. Have you finished the training yet? 3. What's one thing you'd like to learn? Useful (supervisor): Great job! • Thanks for your hard work. • When are you going to finish it? • Let me know if you need help.</a:t>
            </a:r>
          </a:p>
          <a:p>
            <a:r>
              <a:t>Example (worker): "This week I've already restocked the drinks aisle, and I've trained a new coworker. I haven't finished the safety training yet. I'm going to do it on Thursday because the deadline is Friday."</a:t>
            </a:r>
          </a:p>
          <a:p>
            <a:r>
              <a:t>15 learners: 5 groups of 3. 7–8 learners: 2 groups (the group of 4 has two workers). 5 or fewer: you play the supervisor first; then learners take turns.</a:t>
            </a:r>
          </a:p>
          <a:p>
            <a:r>
              <a:t>Every answer needs a reason; every partner asks a follow-up. Walk around and listen. Note 2 good sentences to praise and 1 common error for next week.</a:t>
            </a:r>
          </a:p>
          <a:p>
            <a:r>
              <a:t>If behind: round 1 only.</a:t>
            </a:r>
          </a:p>
          <a:p>
            <a:r>
              <a:t>Lesson plan: Step 5; Talk Time: Check-in.</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 7:15–7:25 · Read &amp; Write: An email from a supervisor + a reply · 10 min. Pairs read, then individual writing.</a:t>
            </a:r>
          </a:p>
          <a:p>
            <a:r>
              <a:t>Read (4 min): learners read the email from Sandra on the Read &amp; Write page and answer the questions. Say: "Read fast first. Then find the answers." Pairs answer questions 1–5 together.</a:t>
            </a:r>
          </a:p>
          <a:p>
            <a:r>
              <a:t>Check (1 min): click to show each answer (one click per question, 1 to 5): 1 The evening team. • 2 By Thursday. • 3 Friday, May 16. • 4 On the computer in the break room. • 5 The new schedule.</a:t>
            </a:r>
          </a:p>
          <a:p>
            <a:r>
              <a:t>Write (5 min): learners write a reply email (5–8 sentences): what they've already done, what they haven't done yet, when they'll finish it, and one question. Show the example. Invented details are fine. This is Writing Check 1: collect it. Learners start in class and finish at home (Homework item 2).</a:t>
            </a:r>
          </a:p>
          <a:p>
            <a:r>
              <a:t>Writing Check 1: collect the reply emails. Write one strength and one fix on each (for example, the place of yet). Return them next week; learners keep them in a folder to see progress. No scores.</a:t>
            </a:r>
          </a:p>
          <a:p>
            <a:r>
              <a:t>If behind: questions 1–5 only; the writing becomes homework.</a:t>
            </a:r>
          </a:p>
          <a:p>
            <a:r>
              <a:t>Lesson plan: Step 6; Read &amp; Write page; Answer key; Teacher notes: Writing Check 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 7:25–7:30 · Exit Ticket + Homework · 5 min · NEVER SKIP.</a:t>
            </a:r>
          </a:p>
          <a:p>
            <a:r>
              <a:t>Exit ticket (3 min): learners open the Exit Ticket page and answer in 3 sentences with a reason: What have you done this week, and what haven't you done yet? Example on the board: I've already paid my phone bill. I haven't done my laundry yet. I haven't done it because I worked late every night. With 5 or fewer, a learner can say it to you first and then write it.</a:t>
            </a:r>
          </a:p>
          <a:p>
            <a:r>
              <a:t>Collect the pages. After class, sort them into ✓ / almost / not yet. Start next week with 2 corrections on the board (no names).</a:t>
            </a:r>
          </a:p>
          <a:p>
            <a:r>
              <a:t>Homework (2 min): open the Homework page. Do item 1 together (you / finish / the checklist / yet? → Have you finished the checklist yet?). Say: "About 15–20 minutes. Finish your Read &amp; Write writing at home."</a:t>
            </a:r>
          </a:p>
          <a:p>
            <a:r>
              <a:t>Homework items: 1 write the sentence with the words • 2 finish the reply email from Read &amp; Write C and check it with the list in D • 3 make a to-do list for this week: 3 things you've already done and 2 things you haven't done yet • 4 review (object pronouns): it or them.</a:t>
            </a:r>
          </a:p>
          <a:p>
            <a:r>
              <a:t>Lesson plan: Step 7; Exit Ticket page; Homework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Credits. You don't need to read this slide in class.</a:t>
            </a:r>
          </a:p>
          <a:p>
            <a:r>
              <a:t>Pictures: Twemoji graphics by Twitter, Inc. and other contributors, CC BY 4.0; the file-by-file list is in images/CREDITS.md.</a:t>
            </a:r>
          </a:p>
          <a:p>
            <a:r>
              <a:t>Audio: the listening audio for this lesson (about 1:52)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Course materials: © 2026 the authors, licensed under CC BY-NC-SA 4.0 (https://creativecommons.org/licenses/by-nc-sa/4.0/).</a:t>
            </a:r>
          </a:p>
          <a:p>
            <a:r>
              <a:t>Lesson plan: Picture Credits. Picture list: images/CREDITS.md.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3.png"/><Relationship Id="rId9" Type="http://schemas.openxmlformats.org/officeDocument/2006/relationships/image" Target="../media/image4.png"/><Relationship Id="rId10" Type="http://schemas.openxmlformats.org/officeDocument/2006/relationships/image" Target="../media/image1.png"/><Relationship Id="rId11" Type="http://schemas.openxmlformats.org/officeDocument/2006/relationships/image" Target="../media/image5.png"/><Relationship Id="rId12" Type="http://schemas.openxmlformats.org/officeDocument/2006/relationships/image" Target="../media/image6.png"/><Relationship Id="rId13" Type="http://schemas.openxmlformats.org/officeDocument/2006/relationships/image" Target="../media/image7.png"/><Relationship Id="rId1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8.png"/><Relationship Id="rId9" Type="http://schemas.openxmlformats.org/officeDocument/2006/relationships/image" Target="../media/image2.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image" Target="../media/image6.png"/><Relationship Id="rId6" Type="http://schemas.openxmlformats.org/officeDocument/2006/relationships/image" Target="../media/image2.png"/><Relationship Id="rId7" Type="http://schemas.openxmlformats.org/officeDocument/2006/relationships/image" Target="../media/image11.png"/><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0.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9.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8.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5.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1.png"/><Relationship Id="rId4" Type="http://schemas.openxmlformats.org/officeDocument/2006/relationships/notesSlide" Target="../notesSlides/notesSlide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27.xml><?xml version="1.0" encoding="utf-8"?>
<p:sld xmlns:a="http://schemas.openxmlformats.org/drawingml/2006/main" xmlns:p="http://schemas.openxmlformats.org/presentationml/2006/main" xmlns:r="http://schemas.openxmlformats.org/officeDocument/2006/relationships">
  <p:cSld name="L4:titl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Checklist: a clipboard with a check mark">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3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Have You Finished Yet?</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Today you will:</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Say what you've already done</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and answer Have you… yet?</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Answer a supervisor's check-in</a:t>
            </a:r>
            <a:endParaRPr lang="en-US" sz="2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name="L4:goals">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Today's</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Goals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2000" dirty="0">
                <a:solidFill>
                  <a:srgbClr val="1B2236"/>
                </a:solidFill>
                <a:latin typeface="Lexend Deca" pitchFamily="34" charset="0"/>
                <a:ea typeface="Lexend Deca" pitchFamily="34" charset="-122"/>
                <a:cs typeface="Lexend Deca" pitchFamily="34" charset="-120"/>
              </a:rPr>
              <a:t>By the end of class, you can do these five things.</a:t>
            </a:r>
            <a:endParaRPr lang="en-US" sz="2000" dirty="0"/>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Every goal is a good goal.</a:t>
            </a:r>
            <a:endParaRPr lang="en-US" sz="2000" dirty="0" b="1"/>
          </a:p>
        </p:txBody>
      </p:sp>
      <p:sp>
        <p:nvSpPr>
          <p:cNvPr id="31" name="R1 shadow"/>
          <p:cNvSpPr/>
          <p:nvPr/>
        </p:nvSpPr>
        <p:spPr>
          <a:xfrm>
            <a:off x="544982" y="2093062"/>
            <a:ext cx="6227064" cy="678668"/>
          </a:xfrm>
          <a:prstGeom prst="round1Rect">
            <a:avLst>
              <a:gd name="adj" fmla="val 23087"/>
            </a:avLst>
          </a:prstGeom>
          <a:solidFill>
            <a:srgbClr val="8FAFE3"/>
          </a:solidFill>
          <a:ln/>
        </p:spPr>
        <p:txBody>
          <a:bodyPr/>
          <a:p/>
        </p:txBody>
      </p:sp>
      <p:sp>
        <p:nvSpPr>
          <p:cNvPr id="32" name="R1 card"/>
          <p:cNvSpPr/>
          <p:nvPr/>
        </p:nvSpPr>
        <p:spPr>
          <a:xfrm>
            <a:off x="1583741" y="2035454"/>
            <a:ext cx="5130698" cy="678668"/>
          </a:xfrm>
          <a:prstGeom prst="round1Rect">
            <a:avLst>
              <a:gd name="adj" fmla="val 23087"/>
            </a:avLst>
          </a:prstGeom>
          <a:solidFill>
            <a:srgbClr val="FFFFFF"/>
          </a:solidFill>
          <a:ln/>
        </p:spPr>
        <p:txBody>
          <a:bodyPr/>
          <a:p/>
        </p:txBody>
      </p:sp>
      <p:sp>
        <p:nvSpPr>
          <p:cNvPr id="33" name="R1 chip"/>
          <p:cNvSpPr/>
          <p:nvPr/>
        </p:nvSpPr>
        <p:spPr>
          <a:xfrm>
            <a:off x="544982" y="2035454"/>
            <a:ext cx="1039673" cy="678668"/>
          </a:xfrm>
          <a:prstGeom prst="rect">
            <a:avLst/>
          </a:prstGeom>
          <a:solidFill>
            <a:srgbClr val="B9D2F7"/>
          </a:solidFill>
          <a:ln/>
        </p:spPr>
        <p:txBody>
          <a:bodyPr/>
          <a:p/>
        </p:txBody>
      </p:sp>
      <p:sp>
        <p:nvSpPr>
          <p:cNvPr id="34" name="R1 num"/>
          <p:cNvSpPr/>
          <p:nvPr/>
        </p:nvSpPr>
        <p:spPr>
          <a:xfrm>
            <a:off x="686714" y="2051548"/>
            <a:ext cx="1109167" cy="646481"/>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035454"/>
            <a:ext cx="4434840" cy="678668"/>
          </a:xfrm>
          <a:prstGeom prst="rect">
            <a:avLst/>
          </a:prstGeom>
          <a:noFill/>
          <a:ln/>
        </p:spPr>
        <p:txBody>
          <a:bodyPr wrap="square"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 can say what I've already done and what I've just done.</a:t>
            </a:r>
            <a:endParaRPr lang="en-US" sz="1600" dirty="0"/>
          </a:p>
        </p:txBody>
      </p:sp>
      <p:sp>
        <p:nvSpPr>
          <p:cNvPr id="36" name="R1 dot"/>
          <p:cNvSpPr/>
          <p:nvPr/>
        </p:nvSpPr>
        <p:spPr>
          <a:xfrm rot="10800000">
            <a:off x="6361481" y="2168957"/>
            <a:ext cx="88697" cy="76810"/>
          </a:xfrm>
          <a:prstGeom prst="triangle">
            <a:avLst/>
          </a:prstGeom>
          <a:solidFill>
            <a:srgbClr val="8FAFE3"/>
          </a:solidFill>
          <a:ln/>
        </p:spPr>
        <p:txBody>
          <a:bodyPr/>
          <a:p/>
        </p:txBody>
      </p:sp>
      <p:sp>
        <p:nvSpPr>
          <p:cNvPr id="37" name="R2 card"/>
          <p:cNvSpPr/>
          <p:nvPr/>
        </p:nvSpPr>
        <p:spPr>
          <a:xfrm>
            <a:off x="1583741" y="2822936"/>
            <a:ext cx="5130698" cy="678668"/>
          </a:xfrm>
          <a:prstGeom prst="round1Rect">
            <a:avLst>
              <a:gd name="adj" fmla="val 23087"/>
            </a:avLst>
          </a:prstGeom>
          <a:solidFill>
            <a:srgbClr val="FFFFFF"/>
          </a:solidFill>
          <a:ln/>
        </p:spPr>
        <p:txBody>
          <a:bodyPr/>
          <a:p/>
        </p:txBody>
      </p:sp>
      <p:sp>
        <p:nvSpPr>
          <p:cNvPr id="38" name="R2 chip"/>
          <p:cNvSpPr/>
          <p:nvPr/>
        </p:nvSpPr>
        <p:spPr>
          <a:xfrm>
            <a:off x="544982" y="2822936"/>
            <a:ext cx="1039673" cy="678668"/>
          </a:xfrm>
          <a:prstGeom prst="rect">
            <a:avLst/>
          </a:prstGeom>
          <a:solidFill>
            <a:srgbClr val="B9D2F7"/>
          </a:solidFill>
          <a:ln/>
        </p:spPr>
        <p:txBody>
          <a:bodyPr/>
          <a:p/>
        </p:txBody>
      </p:sp>
      <p:sp>
        <p:nvSpPr>
          <p:cNvPr id="39" name="R2 num"/>
          <p:cNvSpPr/>
          <p:nvPr/>
        </p:nvSpPr>
        <p:spPr>
          <a:xfrm>
            <a:off x="686714" y="2839029"/>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2822936"/>
            <a:ext cx="4434840" cy="678668"/>
          </a:xfrm>
          <a:prstGeom prst="rect">
            <a:avLst/>
          </a:prstGeom>
          <a:noFill/>
          <a:ln/>
        </p:spPr>
        <p:txBody>
          <a:bodyPr wrap="square"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 can ask </a:t>
            </a:r>
            <a:r>
              <a:rPr lang="en-US" sz="1600" dirty="0" b="1">
                <a:solidFill>
                  <a:srgbClr val="5B3FC4"/>
                </a:solidFill>
                <a:latin typeface="Lexend Deca" pitchFamily="34" charset="0"/>
                <a:ea typeface="Lexend Deca" pitchFamily="34" charset="-122"/>
                <a:cs typeface="Lexend Deca" pitchFamily="34" charset="-120"/>
              </a:rPr>
              <a:t>Have you… yet?</a:t>
            </a:r>
            <a:r>
              <a:rPr lang="en-US" sz="1600" dirty="0">
                <a:solidFill>
                  <a:srgbClr val="1B2236"/>
                </a:solidFill>
                <a:latin typeface="Lexend Deca" pitchFamily="34" charset="0"/>
                <a:ea typeface="Lexend Deca" pitchFamily="34" charset="-122"/>
                <a:cs typeface="Lexend Deca" pitchFamily="34" charset="-120"/>
              </a:rPr>
              <a:t> and answer </a:t>
            </a:r>
            <a:r>
              <a:rPr lang="en-US" sz="1600" dirty="0" b="1">
                <a:solidFill>
                  <a:srgbClr val="5B3FC4"/>
                </a:solidFill>
                <a:latin typeface="Lexend Deca" pitchFamily="34" charset="0"/>
                <a:ea typeface="Lexend Deca" pitchFamily="34" charset="-122"/>
                <a:cs typeface="Lexend Deca" pitchFamily="34" charset="-120"/>
              </a:rPr>
              <a:t>Yes, I've already… / No, not yet.</a:t>
            </a:r>
            <a:endParaRPr lang="en-US" sz="1600" dirty="0"/>
          </a:p>
        </p:txBody>
      </p:sp>
      <p:sp>
        <p:nvSpPr>
          <p:cNvPr id="41" name="R2 dot"/>
          <p:cNvSpPr/>
          <p:nvPr/>
        </p:nvSpPr>
        <p:spPr>
          <a:xfrm rot="10800000">
            <a:off x="6361481" y="2956438"/>
            <a:ext cx="88697" cy="76810"/>
          </a:xfrm>
          <a:prstGeom prst="triangle">
            <a:avLst/>
          </a:prstGeom>
          <a:solidFill>
            <a:srgbClr val="8FAFE3"/>
          </a:solidFill>
          <a:ln/>
        </p:spPr>
        <p:txBody>
          <a:bodyPr/>
          <a:p/>
        </p:txBody>
      </p:sp>
      <p:sp>
        <p:nvSpPr>
          <p:cNvPr id="42" name="R3 card"/>
          <p:cNvSpPr/>
          <p:nvPr/>
        </p:nvSpPr>
        <p:spPr>
          <a:xfrm>
            <a:off x="1583741" y="3610417"/>
            <a:ext cx="5130698" cy="678668"/>
          </a:xfrm>
          <a:prstGeom prst="round1Rect">
            <a:avLst>
              <a:gd name="adj" fmla="val 23087"/>
            </a:avLst>
          </a:prstGeom>
          <a:solidFill>
            <a:srgbClr val="FFFFFF"/>
          </a:solidFill>
          <a:ln/>
        </p:spPr>
        <p:txBody>
          <a:bodyPr/>
          <a:p/>
        </p:txBody>
      </p:sp>
      <p:sp>
        <p:nvSpPr>
          <p:cNvPr id="43" name="R3 chip"/>
          <p:cNvSpPr/>
          <p:nvPr/>
        </p:nvSpPr>
        <p:spPr>
          <a:xfrm>
            <a:off x="544982" y="3610417"/>
            <a:ext cx="1039673" cy="678668"/>
          </a:xfrm>
          <a:prstGeom prst="rect">
            <a:avLst/>
          </a:prstGeom>
          <a:solidFill>
            <a:srgbClr val="B9D2F7"/>
          </a:solidFill>
          <a:ln/>
        </p:spPr>
        <p:txBody>
          <a:bodyPr/>
          <a:p/>
        </p:txBody>
      </p:sp>
      <p:sp>
        <p:nvSpPr>
          <p:cNvPr id="44" name="R3 num"/>
          <p:cNvSpPr/>
          <p:nvPr/>
        </p:nvSpPr>
        <p:spPr>
          <a:xfrm>
            <a:off x="686714" y="3626510"/>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610417"/>
            <a:ext cx="4434840" cy="678668"/>
          </a:xfrm>
          <a:prstGeom prst="rect">
            <a:avLst/>
          </a:prstGeom>
          <a:noFill/>
          <a:ln/>
        </p:spPr>
        <p:txBody>
          <a:bodyPr wrap="square"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 can put </a:t>
            </a:r>
            <a:r>
              <a:rPr lang="en-US" sz="1600" dirty="0" b="1">
                <a:solidFill>
                  <a:srgbClr val="5B3FC4"/>
                </a:solidFill>
                <a:latin typeface="Lexend Deca" pitchFamily="34" charset="0"/>
                <a:ea typeface="Lexend Deca" pitchFamily="34" charset="-122"/>
                <a:cs typeface="Lexend Deca" pitchFamily="34" charset="-120"/>
              </a:rPr>
              <a:t>already</a:t>
            </a:r>
            <a:r>
              <a:rPr lang="en-US" sz="1600" dirty="0">
                <a:solidFill>
                  <a:srgbClr val="1B2236"/>
                </a:solidFill>
                <a:latin typeface="Lexend Deca" pitchFamily="34" charset="0"/>
                <a:ea typeface="Lexend Deca" pitchFamily="34" charset="-122"/>
                <a:cs typeface="Lexend Deca" pitchFamily="34" charset="-120"/>
              </a:rPr>
              <a:t>, </a:t>
            </a:r>
            <a:r>
              <a:rPr lang="en-US" sz="1600" dirty="0" b="1">
                <a:solidFill>
                  <a:srgbClr val="5B3FC4"/>
                </a:solidFill>
                <a:latin typeface="Lexend Deca" pitchFamily="34" charset="0"/>
                <a:ea typeface="Lexend Deca" pitchFamily="34" charset="-122"/>
                <a:cs typeface="Lexend Deca" pitchFamily="34" charset="-120"/>
              </a:rPr>
              <a:t>just</a:t>
            </a:r>
            <a:r>
              <a:rPr lang="en-US" sz="1600" dirty="0">
                <a:solidFill>
                  <a:srgbClr val="1B2236"/>
                </a:solidFill>
                <a:latin typeface="Lexend Deca" pitchFamily="34" charset="0"/>
                <a:ea typeface="Lexend Deca" pitchFamily="34" charset="-122"/>
                <a:cs typeface="Lexend Deca" pitchFamily="34" charset="-120"/>
              </a:rPr>
              <a:t>, and </a:t>
            </a:r>
            <a:r>
              <a:rPr lang="en-US" sz="1600" dirty="0" b="1">
                <a:solidFill>
                  <a:srgbClr val="5B3FC4"/>
                </a:solidFill>
                <a:latin typeface="Lexend Deca" pitchFamily="34" charset="0"/>
                <a:ea typeface="Lexend Deca" pitchFamily="34" charset="-122"/>
                <a:cs typeface="Lexend Deca" pitchFamily="34" charset="-120"/>
              </a:rPr>
              <a:t>yet</a:t>
            </a:r>
            <a:r>
              <a:rPr lang="en-US" sz="1600" dirty="0">
                <a:solidFill>
                  <a:srgbClr val="1B2236"/>
                </a:solidFill>
                <a:latin typeface="Lexend Deca" pitchFamily="34" charset="0"/>
                <a:ea typeface="Lexend Deca" pitchFamily="34" charset="-122"/>
                <a:cs typeface="Lexend Deca" pitchFamily="34" charset="-120"/>
              </a:rPr>
              <a:t> in the right place.</a:t>
            </a:r>
            <a:endParaRPr lang="en-US" sz="1600" dirty="0"/>
          </a:p>
        </p:txBody>
      </p:sp>
      <p:sp>
        <p:nvSpPr>
          <p:cNvPr id="46" name="R3 dot"/>
          <p:cNvSpPr/>
          <p:nvPr/>
        </p:nvSpPr>
        <p:spPr>
          <a:xfrm rot="10800000">
            <a:off x="6361481" y="3743919"/>
            <a:ext cx="88697" cy="76810"/>
          </a:xfrm>
          <a:prstGeom prst="triangle">
            <a:avLst/>
          </a:prstGeom>
          <a:solidFill>
            <a:srgbClr val="8FAFE3"/>
          </a:solidFill>
          <a:ln/>
        </p:spPr>
        <p:txBody>
          <a:bodyPr/>
          <a:p/>
        </p:txBody>
      </p:sp>
      <p:sp>
        <p:nvSpPr>
          <p:cNvPr id="47" name="R4 card"/>
          <p:cNvSpPr/>
          <p:nvPr/>
        </p:nvSpPr>
        <p:spPr>
          <a:xfrm>
            <a:off x="1583741" y="4397898"/>
            <a:ext cx="5130698" cy="678668"/>
          </a:xfrm>
          <a:prstGeom prst="round1Rect">
            <a:avLst>
              <a:gd name="adj" fmla="val 23087"/>
            </a:avLst>
          </a:prstGeom>
          <a:solidFill>
            <a:srgbClr val="FFFFFF"/>
          </a:solidFill>
          <a:ln/>
        </p:spPr>
        <p:txBody>
          <a:bodyPr/>
          <a:p/>
        </p:txBody>
      </p:sp>
      <p:sp>
        <p:nvSpPr>
          <p:cNvPr id="48" name="R4 chip"/>
          <p:cNvSpPr/>
          <p:nvPr/>
        </p:nvSpPr>
        <p:spPr>
          <a:xfrm>
            <a:off x="544982" y="4397898"/>
            <a:ext cx="1039673" cy="678668"/>
          </a:xfrm>
          <a:prstGeom prst="rect">
            <a:avLst/>
          </a:prstGeom>
          <a:solidFill>
            <a:srgbClr val="B9D2F7"/>
          </a:solidFill>
          <a:ln/>
        </p:spPr>
        <p:txBody>
          <a:bodyPr/>
          <a:p/>
        </p:txBody>
      </p:sp>
      <p:sp>
        <p:nvSpPr>
          <p:cNvPr id="49" name="R4 num"/>
          <p:cNvSpPr/>
          <p:nvPr/>
        </p:nvSpPr>
        <p:spPr>
          <a:xfrm>
            <a:off x="686714" y="4413992"/>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397898"/>
            <a:ext cx="4434840" cy="678668"/>
          </a:xfrm>
          <a:prstGeom prst="rect">
            <a:avLst/>
          </a:prstGeom>
          <a:noFill/>
          <a:ln/>
        </p:spPr>
        <p:txBody>
          <a:bodyPr wrap="square"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 can answer a supervisor's check-in questions in 3 sentences.</a:t>
            </a:r>
            <a:endParaRPr lang="en-US" sz="1600" dirty="0"/>
          </a:p>
        </p:txBody>
      </p:sp>
      <p:sp>
        <p:nvSpPr>
          <p:cNvPr id="51" name="R4 dot"/>
          <p:cNvSpPr/>
          <p:nvPr/>
        </p:nvSpPr>
        <p:spPr>
          <a:xfrm rot="10800000">
            <a:off x="6361481" y="4531401"/>
            <a:ext cx="88697" cy="76810"/>
          </a:xfrm>
          <a:prstGeom prst="triangle">
            <a:avLst/>
          </a:prstGeom>
          <a:solidFill>
            <a:srgbClr val="8FAFE3"/>
          </a:solidFill>
          <a:ln/>
        </p:spPr>
        <p:txBody>
          <a:bodyPr/>
          <a:p/>
        </p:txBody>
      </p:sp>
      <p:sp>
        <p:nvSpPr>
          <p:cNvPr id="52" name="R5 card"/>
          <p:cNvSpPr/>
          <p:nvPr/>
        </p:nvSpPr>
        <p:spPr>
          <a:xfrm>
            <a:off x="1583741" y="5185380"/>
            <a:ext cx="5130698" cy="678668"/>
          </a:xfrm>
          <a:prstGeom prst="round1Rect">
            <a:avLst>
              <a:gd name="adj" fmla="val 23087"/>
            </a:avLst>
          </a:prstGeom>
          <a:solidFill>
            <a:srgbClr val="FFFFFF"/>
          </a:solidFill>
          <a:ln/>
        </p:spPr>
        <p:txBody>
          <a:bodyPr/>
          <a:p/>
        </p:txBody>
      </p:sp>
      <p:sp>
        <p:nvSpPr>
          <p:cNvPr id="53" name="R5 chip"/>
          <p:cNvSpPr/>
          <p:nvPr/>
        </p:nvSpPr>
        <p:spPr>
          <a:xfrm>
            <a:off x="544982" y="5185380"/>
            <a:ext cx="1039673" cy="678668"/>
          </a:xfrm>
          <a:prstGeom prst="rect">
            <a:avLst/>
          </a:prstGeom>
          <a:solidFill>
            <a:srgbClr val="B9D2F7"/>
          </a:solidFill>
          <a:ln/>
        </p:spPr>
        <p:txBody>
          <a:bodyPr/>
          <a:p/>
        </p:txBody>
      </p:sp>
      <p:sp>
        <p:nvSpPr>
          <p:cNvPr id="54" name="R5 num"/>
          <p:cNvSpPr/>
          <p:nvPr/>
        </p:nvSpPr>
        <p:spPr>
          <a:xfrm>
            <a:off x="686714" y="5201473"/>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185380"/>
            <a:ext cx="4434840" cy="678668"/>
          </a:xfrm>
          <a:prstGeom prst="rect">
            <a:avLst/>
          </a:prstGeom>
          <a:noFill/>
          <a:ln/>
        </p:spPr>
        <p:txBody>
          <a:bodyPr wrap="square"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 can write a reply email (5–8 sentences) about what is done and not done yet.</a:t>
            </a:r>
            <a:endParaRPr lang="en-US" sz="1600" dirty="0"/>
          </a:p>
        </p:txBody>
      </p:sp>
      <p:sp>
        <p:nvSpPr>
          <p:cNvPr id="56" name="R5 dot"/>
          <p:cNvSpPr/>
          <p:nvPr/>
        </p:nvSpPr>
        <p:spPr>
          <a:xfrm rot="10800000">
            <a:off x="6361481" y="5318882"/>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name="L4:warmup">
    <p:bg>
      <p:bgPr>
        <a:solidFill>
          <a:srgbClr val="F1F5FB"/>
        </a:solidFill>
      </p:bgPr>
    </p:bg>
    <p:spTree>
      <p:nvGrpSpPr>
        <p:cNvPr id="1" name=""/>
        <p:cNvGrpSpPr/>
        <p:nvPr/>
      </p:nvGrpSpPr>
      <p:grpSpPr/>
      <p:sp>
        <p:nvSpPr>
          <p:cNvPr id="2" name="Shape 0"/>
          <p:cNvSpPr/>
          <p:nvPr/>
        </p:nvSpPr>
        <p:spPr>
          <a:xfrm>
            <a:off x="487604" y="1352535"/>
            <a:ext cx="5246827" cy="1783080"/>
          </a:xfrm>
          <a:prstGeom prst="roundRect">
            <a:avLst>
              <a:gd name="adj" fmla="val 16667"/>
            </a:avLst>
          </a:prstGeom>
          <a:solidFill>
            <a:srgbClr val="8FAFE3"/>
          </a:solidFill>
          <a:ln/>
        </p:spPr>
        <p:txBody>
          <a:bodyPr/>
          <a:p/>
        </p:txBody>
      </p:sp>
      <p:sp>
        <p:nvSpPr>
          <p:cNvPr id="3" name="Shape 1"/>
          <p:cNvSpPr/>
          <p:nvPr/>
        </p:nvSpPr>
        <p:spPr>
          <a:xfrm>
            <a:off x="518465" y="1300277"/>
            <a:ext cx="5246827" cy="1783080"/>
          </a:xfrm>
          <a:prstGeom prst="roundRect">
            <a:avLst>
              <a:gd name="adj" fmla="val 16667"/>
            </a:avLst>
          </a:prstGeom>
          <a:solidFill>
            <a:srgbClr val="FFFFFF"/>
          </a:solidFill>
          <a:ln/>
        </p:spPr>
        <p:txBody>
          <a:bodyPr/>
          <a:p/>
        </p:txBody>
      </p:sp>
      <p:sp>
        <p:nvSpPr>
          <p:cNvPr id="4" name="Shape 2"/>
          <p:cNvSpPr/>
          <p:nvPr/>
        </p:nvSpPr>
        <p:spPr>
          <a:xfrm flipH="1">
            <a:off x="5503774" y="3276295"/>
            <a:ext cx="6847942" cy="3931006"/>
          </a:xfrm>
          <a:prstGeom prst="round1Rect">
            <a:avLst>
              <a:gd name="adj" fmla="val 23087"/>
            </a:avLst>
          </a:prstGeom>
          <a:solidFill>
            <a:srgbClr val="B9D2F7"/>
          </a:solidFill>
          <a:ln w="76200">
            <a:solidFill>
              <a:srgbClr val="FFFFFF"/>
            </a:solidFill>
            <a:prstDash val="solid"/>
          </a:ln>
        </p:spPr>
        <p:txBody>
          <a:bodyPr/>
          <a:p/>
        </p:txBody>
      </p:sp>
      <p:pic>
        <p:nvPicPr>
          <p:cNvPr id="15" name="pic" descr="Clock in: a clock and an arrow [sign: IN 9:00]"/>
          <p:cNvPicPr>
            <a:picLocks noChangeAspect="1"/>
          </p:cNvPicPr>
          <p:nvPr/>
        </p:nvPicPr>
        <p:blipFill>
          <a:blip r:embed="rId3"/>
          <a:stretch>
            <a:fillRect/>
          </a:stretch>
        </p:blipFill>
        <p:spPr>
          <a:xfrm>
            <a:off x="6800393" y="2104034"/>
            <a:ext cx="4754880" cy="3328416"/>
          </a:xfrm>
          <a:prstGeom prst="rect">
            <a:avLst/>
          </a:prstGeom>
        </p:spPr>
      </p:pic>
      <p:sp>
        <p:nvSpPr>
          <p:cNvPr id="7" name="title"/>
          <p:cNvSpPr/>
          <p:nvPr/>
        </p:nvSpPr>
        <p:spPr>
          <a:xfrm>
            <a:off x="548640" y="1764792"/>
            <a:ext cx="5120640" cy="123444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p:txBody>
      </p:sp>
      <p:sp>
        <p:nvSpPr>
          <p:cNvPr id="8" name="kicker"/>
          <p:cNvSpPr/>
          <p:nvPr/>
        </p:nvSpPr>
        <p:spPr>
          <a:xfrm>
            <a:off x="599846" y="1371600"/>
            <a:ext cx="484632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OPENING TALK  ·  6:00</a:t>
            </a:r>
            <a:endParaRPr lang="en-US" sz="2000" dirty="0" b="1"/>
          </a:p>
        </p:txBody>
      </p:sp>
      <p:sp>
        <p:nvSpPr>
          <p:cNvPr id="9" name="box1"/>
          <p:cNvSpPr/>
          <p:nvPr/>
        </p:nvSpPr>
        <p:spPr>
          <a:xfrm>
            <a:off x="599846" y="3383280"/>
            <a:ext cx="4846320" cy="1188720"/>
          </a:xfrm>
          <a:prstGeom prst="rect">
            <a:avLst/>
          </a:prstGeom>
          <a:noFill/>
          <a:ln/>
        </p:spPr>
        <p:txBody>
          <a:bodyPr wrap="square" lIns="0" tIns="0" rIns="0" bIns="0" rtlCol="0" anchor="t"/>
          <a:lstStyle/>
          <a:p>
            <a:pPr algn="l" indent="0" marL="0">
              <a:lnSpc>
                <a:spcPct val="110000"/>
              </a:lnSpc>
              <a:buNone/>
            </a:pPr>
            <a:r>
              <a:rPr lang="en-US" sz="2000" dirty="0" b="1">
                <a:solidFill>
                  <a:srgbClr val="5B3FC4"/>
                </a:solidFill>
                <a:latin typeface="Lexend Deca" pitchFamily="34" charset="0"/>
                <a:ea typeface="Lexend Deca" pitchFamily="34" charset="-122"/>
                <a:cs typeface="Lexend Deca" pitchFamily="34" charset="-120"/>
              </a:rPr>
              <a:t>A asks a card question.</a:t>
            </a:r>
            <a:endParaRPr lang="en-US" sz="2000" dirty="0" b="1"/>
          </a:p>
          <a:p>
            <a:pPr algn="l" indent="0" marL="0">
              <a:lnSpc>
                <a:spcPct val="110000"/>
              </a:lnSpc>
              <a:buNone/>
            </a:pPr>
            <a:r>
              <a:rPr lang="en-US" sz="2000" dirty="0">
                <a:solidFill>
                  <a:srgbClr val="1B2236"/>
                </a:solidFill>
                <a:latin typeface="Lexend Deca" pitchFamily="34" charset="0"/>
                <a:ea typeface="Lexend Deca" pitchFamily="34" charset="-122"/>
                <a:cs typeface="Lexend Deca" pitchFamily="34" charset="-120"/>
              </a:rPr>
              <a:t>How long have you lived in this city?</a:t>
            </a:r>
            <a:endParaRPr lang="en-US" sz="2000" dirty="0"/>
          </a:p>
          <a:p>
            <a:pPr algn="l" indent="0" marL="0">
              <a:lnSpc>
                <a:spcPct val="110000"/>
              </a:lnSpc>
              <a:buNone/>
            </a:pPr>
            <a:r>
              <a:rPr lang="en-US" sz="2000" dirty="0" b="1">
                <a:solidFill>
                  <a:srgbClr val="1B2236"/>
                </a:solidFill>
                <a:latin typeface="Lexend Deca" pitchFamily="34" charset="0"/>
                <a:ea typeface="Lexend Deca" pitchFamily="34" charset="-122"/>
                <a:cs typeface="Lexend Deca" pitchFamily="34" charset="-120"/>
              </a:rPr>
              <a:t>B answers in 3 sentences.</a:t>
            </a:r>
            <a:endParaRPr lang="en-US" sz="2000" dirty="0" b="1"/>
          </a:p>
        </p:txBody>
      </p:sp>
      <p:sp>
        <p:nvSpPr>
          <p:cNvPr id="14" name="box2"/>
          <p:cNvSpPr/>
          <p:nvPr/>
        </p:nvSpPr>
        <p:spPr>
          <a:xfrm>
            <a:off x="599846" y="4754880"/>
            <a:ext cx="4846320" cy="1600200"/>
          </a:xfrm>
          <a:prstGeom prst="rect">
            <a:avLst/>
          </a:prstGeom>
          <a:noFill/>
          <a:ln/>
        </p:spPr>
        <p:txBody>
          <a:bodyPr wrap="square" lIns="0" tIns="0" rIns="0" bIns="0" rtlCol="0" anchor="t"/>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A asks one follow-up.</a:t>
            </a:r>
            <a:endParaRPr lang="en-US" sz="2000" dirty="0" b="1"/>
          </a:p>
          <a:p>
            <a:pPr algn="l" indent="0" marL="0">
              <a:spcAft>
                <a:spcPts val="400"/>
              </a:spcAft>
              <a:buNone/>
            </a:pPr>
            <a:r>
              <a:rPr lang="en-US" sz="2000" dirty="0" b="0">
                <a:solidFill>
                  <a:srgbClr val="1B2236"/>
                </a:solidFill>
                <a:latin typeface="Lexend Deca" pitchFamily="34" charset="0"/>
                <a:ea typeface="Lexend Deca" pitchFamily="34" charset="-122"/>
                <a:cs typeface="Lexend Deca" pitchFamily="34" charset="-120"/>
              </a:rPr>
              <a:t>Where did you live before?</a:t>
            </a:r>
            <a:endParaRPr lang="en-US" sz="2000" dirty="0" b="0"/>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Then switch.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name="L4: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Cards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B answers in 3 sentences: the answer, a reason, and a detail.</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Follow-ups:</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When did you…? Where did you… before? Why?</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How long have you lived in this city?</a:t>
            </a:r>
            <a:endParaRPr lang="en-US" sz="18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How long have you had your phone?</a:t>
            </a:r>
            <a:endParaRPr lang="en-US" sz="18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How long have you known your best friend?</a:t>
            </a:r>
            <a:endParaRPr lang="en-US" sz="18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How long have you studied English?</a:t>
            </a:r>
            <a:endParaRPr lang="en-US" sz="18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Homework check: Lesson 2, items 1 and 3.</a:t>
            </a:r>
            <a:endParaRPr lang="en-US" sz="18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Look. Listen.</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Repeat.</a:t>
            </a:r>
            <a:endParaRPr lang="en-US" sz="2200" dirty="0" b="1"/>
          </a:p>
        </p:txBody>
      </p:sp>
      <p:pic>
        <p:nvPicPr>
          <p:cNvPr id="17" name="Word picture 1" descr="To-do list: a note and a pencil [sign: TO DO]"/>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to-do list</a:t>
            </a:r>
            <a:endParaRPr lang="en-US" sz="2000" dirty="0" b="1"/>
          </a:p>
        </p:txBody>
      </p:sp>
      <p:pic>
        <p:nvPicPr>
          <p:cNvPr id="19" name="Word picture 2" descr="Task: a broom and a sponge [sign: TASK: CLEAN]"/>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task</a:t>
            </a:r>
            <a:endParaRPr lang="en-US" sz="2000" dirty="0" b="1"/>
          </a:p>
        </p:txBody>
      </p:sp>
      <p:pic>
        <p:nvPicPr>
          <p:cNvPr id="21" name="Word picture 3" descr="Checklist: a clipboard with a check mark"/>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checklist</a:t>
            </a:r>
            <a:endParaRPr lang="en-US" sz="2000" dirty="0" b="1"/>
          </a:p>
        </p:txBody>
      </p:sp>
      <p:pic>
        <p:nvPicPr>
          <p:cNvPr id="23" name="Word picture 4" descr="Supervisor: a woman at work [sign: SUPERVISOR]"/>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supervisor</a:t>
            </a:r>
            <a:endParaRPr lang="en-US" sz="2000" dirty="0" b="1"/>
          </a:p>
        </p:txBody>
      </p:sp>
      <p:pic>
        <p:nvPicPr>
          <p:cNvPr id="25" name="Word picture 5" descr="Deadline: a calendar and an alarm clock [sign: DUE: FRIDAY]"/>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deadline</a:t>
            </a:r>
            <a:endParaRPr lang="en-US" sz="2000" dirty="0" b="1"/>
          </a:p>
        </p:txBody>
      </p:sp>
      <p:pic>
        <p:nvPicPr>
          <p:cNvPr id="27" name="Word picture 6" descr="Restock: a shopping cart and cans [sign: RESTOCK]"/>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restock</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More 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Partner game:</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Done or not yet?</a:t>
            </a:r>
            <a:endParaRPr lang="en-US" sz="2200" dirty="0" b="1"/>
          </a:p>
        </p:txBody>
      </p:sp>
      <p:pic>
        <p:nvPicPr>
          <p:cNvPr id="17" name="Word picture 1" descr="Inventory: a box and numbers [sign: INVENTORY]"/>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inventory</a:t>
            </a:r>
            <a:endParaRPr lang="en-US" sz="2000" dirty="0" b="1"/>
          </a:p>
        </p:txBody>
      </p:sp>
      <p:pic>
        <p:nvPicPr>
          <p:cNvPr id="19" name="Word picture 2" descr="Clock in: a clock and an arrow [sign: IN 9:00]"/>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clock in</a:t>
            </a:r>
            <a:endParaRPr lang="en-US" sz="2000" dirty="0" b="1"/>
          </a:p>
        </p:txBody>
      </p:sp>
      <p:pic>
        <p:nvPicPr>
          <p:cNvPr id="21" name="Word picture 3" descr="Clock out: a clock and an arrow [sign: OUT 5:00]"/>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clock out</a:t>
            </a:r>
            <a:endParaRPr lang="en-US" sz="2000" dirty="0" b="1"/>
          </a:p>
        </p:txBody>
      </p:sp>
      <p:pic>
        <p:nvPicPr>
          <p:cNvPr id="23" name="Word picture 4" descr="Break room: coffee and a chair [sign: BREAK ROOM]"/>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break room</a:t>
            </a:r>
            <a:endParaRPr lang="en-US" sz="2000" dirty="0" b="1"/>
          </a:p>
        </p:txBody>
      </p:sp>
      <p:pic>
        <p:nvPicPr>
          <p:cNvPr id="25" name="Word picture 5" descr="Feedback: a thumbs-up and a speech bubble [sign: GOOD JOB!]"/>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feedback</a:t>
            </a:r>
            <a:endParaRPr lang="en-US" sz="2000" dirty="0" b="1"/>
          </a:p>
        </p:txBody>
      </p:sp>
      <p:pic>
        <p:nvPicPr>
          <p:cNvPr id="27" name="Word picture 6" descr="Check-in (a short meeting): a supervisor and a worker talking"/>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1B2236"/>
                </a:solidFill>
                <a:latin typeface="Lexend Deca" pitchFamily="34" charset="0"/>
                <a:ea typeface="Lexend Deca" pitchFamily="34" charset="-122"/>
                <a:cs typeface="Lexend Deca" pitchFamily="34" charset="-120"/>
              </a:rPr>
              <a:t>check-in (a short meeting)</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name="L4:check">
    <p:bg>
      <p:bgPr>
        <a:solidFill>
          <a:srgbClr val="F1F5FB"/>
        </a:solidFill>
      </p:bgPr>
    </p:bg>
    <p:spTree>
      <p:nvGrpSpPr>
        <p:cNvPr id="1" name=""/>
        <p:cNvGrpSpPr/>
        <p:nvPr/>
      </p:nvGrpSpPr>
      <p:grpSpPr/>
      <p:sp>
        <p:nvSpPr>
          <p:cNvPr id="2" name="title"/>
          <p:cNvSpPr/>
          <p:nvPr/>
        </p:nvSpPr>
        <p:spPr>
          <a:xfrm>
            <a:off x="685800" y="502920"/>
            <a:ext cx="1078992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Check the Meaning</a:t>
            </a:r>
            <a:endParaRPr lang="en-US" sz="4300" dirty="0" b="1"/>
          </a:p>
        </p:txBody>
      </p:sp>
      <p:sp>
        <p:nvSpPr>
          <p:cNvPr id="3" name="sub"/>
          <p:cNvSpPr/>
          <p:nvPr/>
        </p:nvSpPr>
        <p:spPr>
          <a:xfrm>
            <a:off x="685800" y="1554480"/>
            <a:ext cx="10789920" cy="548640"/>
          </a:xfrm>
          <a:prstGeom prst="rect">
            <a:avLst/>
          </a:prstGeom>
          <a:noFill/>
          <a:ln/>
        </p:spPr>
        <p:txBody>
          <a:bodyPr wrap="square" rtlCol="0" anchor="t"/>
          <a:lstStyle/>
          <a:p>
            <a:pPr algn="l" indent="0" marL="0">
              <a:buNone/>
            </a:pPr>
            <a:r>
              <a:rPr lang="en-US" sz="2400" dirty="0">
                <a:solidFill>
                  <a:srgbClr val="1B2236"/>
                </a:solidFill>
                <a:latin typeface="Lexend Deca" pitchFamily="34" charset="0"/>
                <a:ea typeface="Lexend Deca" pitchFamily="34" charset="-122"/>
                <a:cs typeface="Lexend Deca" pitchFamily="34" charset="-120"/>
              </a:rPr>
              <a:t>Look at the picture. Answer the question.</a:t>
            </a:r>
            <a:endParaRPr lang="en-US" sz="2400" dirty="0"/>
          </a:p>
        </p:txBody>
      </p:sp>
      <p:sp>
        <p:nvSpPr>
          <p:cNvPr id="4" name="R1 shadow"/>
          <p:cNvSpPr/>
          <p:nvPr/>
        </p:nvSpPr>
        <p:spPr>
          <a:xfrm>
            <a:off x="758952" y="2395728"/>
            <a:ext cx="3291840" cy="3383280"/>
          </a:xfrm>
          <a:prstGeom prst="round1Rect">
            <a:avLst>
              <a:gd name="adj" fmla="val 23087"/>
            </a:avLst>
          </a:prstGeom>
          <a:solidFill>
            <a:srgbClr val="8FAFE3"/>
          </a:solidFill>
          <a:ln/>
        </p:spPr>
        <p:txBody>
          <a:bodyPr/>
          <a:p/>
        </p:txBody>
      </p:sp>
      <p:sp>
        <p:nvSpPr>
          <p:cNvPr id="5" name="R1 card"/>
          <p:cNvSpPr/>
          <p:nvPr/>
        </p:nvSpPr>
        <p:spPr>
          <a:xfrm>
            <a:off x="6858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6" name="R1 circle"/>
          <p:cNvSpPr/>
          <p:nvPr/>
        </p:nvSpPr>
        <p:spPr>
          <a:xfrm>
            <a:off x="960120" y="2560320"/>
            <a:ext cx="731520" cy="731520"/>
          </a:xfrm>
          <a:prstGeom prst="ellipse">
            <a:avLst/>
          </a:prstGeom>
          <a:solidFill>
            <a:srgbClr val="FFE28C"/>
          </a:solidFill>
          <a:ln/>
        </p:spPr>
        <p:txBody>
          <a:bodyPr/>
          <a:p/>
        </p:txBody>
      </p:sp>
      <p:sp>
        <p:nvSpPr>
          <p:cNvPr id="7" name="R1 num"/>
          <p:cNvSpPr/>
          <p:nvPr/>
        </p:nvSpPr>
        <p:spPr>
          <a:xfrm>
            <a:off x="9601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1</a:t>
            </a:r>
            <a:endParaRPr lang="en-US" sz="2500" dirty="0"/>
          </a:p>
        </p:txBody>
      </p:sp>
      <p:sp>
        <p:nvSpPr>
          <p:cNvPr id="8" name="R1 q"/>
          <p:cNvSpPr/>
          <p:nvPr/>
        </p:nvSpPr>
        <p:spPr>
          <a:xfrm>
            <a:off x="9601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Is a deadline the first day or the last day?</a:t>
            </a:r>
            <a:endParaRPr lang="en-US" sz="1600" dirty="0" b="1"/>
          </a:p>
        </p:txBody>
      </p:sp>
      <p:pic>
        <p:nvPicPr>
          <p:cNvPr id="101" name="R1 pic" descr="Deadline: a calendar and an alarm clock [sign: DUE: FRIDAY]"/>
          <p:cNvPicPr>
            <a:picLocks noChangeAspect="1"/>
          </p:cNvPicPr>
          <p:nvPr/>
        </p:nvPicPr>
        <p:blipFill>
          <a:blip r:embed="rId5"/>
          <a:stretch>
            <a:fillRect/>
          </a:stretch>
        </p:blipFill>
        <p:spPr>
          <a:xfrm>
            <a:off x="1783080" y="2560320"/>
            <a:ext cx="1920240" cy="1344168"/>
          </a:xfrm>
          <a:prstGeom prst="rect">
            <a:avLst/>
          </a:prstGeom>
        </p:spPr>
      </p:pic>
      <p:sp>
        <p:nvSpPr>
          <p:cNvPr id="10" name="R2 shadow"/>
          <p:cNvSpPr/>
          <p:nvPr/>
        </p:nvSpPr>
        <p:spPr>
          <a:xfrm>
            <a:off x="4416552" y="2395728"/>
            <a:ext cx="3291840" cy="3383280"/>
          </a:xfrm>
          <a:prstGeom prst="round1Rect">
            <a:avLst>
              <a:gd name="adj" fmla="val 23087"/>
            </a:avLst>
          </a:prstGeom>
          <a:solidFill>
            <a:srgbClr val="8FAFE3"/>
          </a:solidFill>
          <a:ln/>
        </p:spPr>
        <p:txBody>
          <a:bodyPr/>
          <a:p/>
        </p:txBody>
      </p:sp>
      <p:sp>
        <p:nvSpPr>
          <p:cNvPr id="11" name="R2 card"/>
          <p:cNvSpPr/>
          <p:nvPr/>
        </p:nvSpPr>
        <p:spPr>
          <a:xfrm>
            <a:off x="4343400" y="2286000"/>
            <a:ext cx="3291840" cy="3383280"/>
          </a:xfrm>
          <a:prstGeom prst="round1Rect">
            <a:avLst>
              <a:gd name="adj" fmla="val 23087"/>
            </a:avLst>
          </a:prstGeom>
          <a:solidFill>
            <a:srgbClr val="C9B8F2"/>
          </a:solidFill>
          <a:ln w="19050">
            <a:solidFill>
              <a:srgbClr val="8FAFE3"/>
            </a:solidFill>
            <a:prstDash val="solid"/>
          </a:ln>
        </p:spPr>
        <p:txBody>
          <a:bodyPr/>
          <a:p/>
        </p:txBody>
      </p:sp>
      <p:sp>
        <p:nvSpPr>
          <p:cNvPr id="12" name="R2 circle"/>
          <p:cNvSpPr/>
          <p:nvPr/>
        </p:nvSpPr>
        <p:spPr>
          <a:xfrm>
            <a:off x="4617720" y="2560320"/>
            <a:ext cx="731520" cy="731520"/>
          </a:xfrm>
          <a:prstGeom prst="ellipse">
            <a:avLst/>
          </a:prstGeom>
          <a:solidFill>
            <a:srgbClr val="FFE28C"/>
          </a:solidFill>
          <a:ln/>
        </p:spPr>
        <p:txBody>
          <a:bodyPr/>
          <a:p/>
        </p:txBody>
      </p:sp>
      <p:sp>
        <p:nvSpPr>
          <p:cNvPr id="13" name="R2 num"/>
          <p:cNvSpPr/>
          <p:nvPr/>
        </p:nvSpPr>
        <p:spPr>
          <a:xfrm>
            <a:off x="46177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2</a:t>
            </a:r>
            <a:endParaRPr lang="en-US" sz="2500" dirty="0"/>
          </a:p>
        </p:txBody>
      </p:sp>
      <p:sp>
        <p:nvSpPr>
          <p:cNvPr id="14" name="R2 q"/>
          <p:cNvSpPr/>
          <p:nvPr/>
        </p:nvSpPr>
        <p:spPr>
          <a:xfrm>
            <a:off x="46177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Do you clock in at the start or the end of your shift?</a:t>
            </a:r>
            <a:endParaRPr lang="en-US" sz="1600" dirty="0" b="1"/>
          </a:p>
        </p:txBody>
      </p:sp>
      <p:pic>
        <p:nvPicPr>
          <p:cNvPr id="102" name="R2 pic" descr="Clock in: a clock and an arrow [sign: IN 9:00]"/>
          <p:cNvPicPr>
            <a:picLocks noChangeAspect="1"/>
          </p:cNvPicPr>
          <p:nvPr/>
        </p:nvPicPr>
        <p:blipFill>
          <a:blip r:embed="rId6"/>
          <a:stretch>
            <a:fillRect/>
          </a:stretch>
        </p:blipFill>
        <p:spPr>
          <a:xfrm>
            <a:off x="5440680" y="2560320"/>
            <a:ext cx="1920240" cy="1344168"/>
          </a:xfrm>
          <a:prstGeom prst="rect">
            <a:avLst/>
          </a:prstGeom>
        </p:spPr>
      </p:pic>
      <p:sp>
        <p:nvSpPr>
          <p:cNvPr id="16" name="R3 shadow"/>
          <p:cNvSpPr/>
          <p:nvPr/>
        </p:nvSpPr>
        <p:spPr>
          <a:xfrm>
            <a:off x="8074152" y="2395728"/>
            <a:ext cx="3291840" cy="3383280"/>
          </a:xfrm>
          <a:prstGeom prst="round1Rect">
            <a:avLst>
              <a:gd name="adj" fmla="val 23087"/>
            </a:avLst>
          </a:prstGeom>
          <a:solidFill>
            <a:srgbClr val="8FAFE3"/>
          </a:solidFill>
          <a:ln/>
        </p:spPr>
        <p:txBody>
          <a:bodyPr/>
          <a:p/>
        </p:txBody>
      </p:sp>
      <p:sp>
        <p:nvSpPr>
          <p:cNvPr id="17" name="R3 card"/>
          <p:cNvSpPr/>
          <p:nvPr/>
        </p:nvSpPr>
        <p:spPr>
          <a:xfrm>
            <a:off x="80010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18" name="R3 circle"/>
          <p:cNvSpPr/>
          <p:nvPr/>
        </p:nvSpPr>
        <p:spPr>
          <a:xfrm>
            <a:off x="8275320" y="2560320"/>
            <a:ext cx="731520" cy="731520"/>
          </a:xfrm>
          <a:prstGeom prst="ellipse">
            <a:avLst/>
          </a:prstGeom>
          <a:solidFill>
            <a:srgbClr val="FFE28C"/>
          </a:solidFill>
          <a:ln/>
        </p:spPr>
        <p:txBody>
          <a:bodyPr/>
          <a:p/>
        </p:txBody>
      </p:sp>
      <p:sp>
        <p:nvSpPr>
          <p:cNvPr id="19" name="R3 num"/>
          <p:cNvSpPr/>
          <p:nvPr/>
        </p:nvSpPr>
        <p:spPr>
          <a:xfrm>
            <a:off x="82753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3</a:t>
            </a:r>
            <a:endParaRPr lang="en-US" sz="2500" dirty="0"/>
          </a:p>
        </p:txBody>
      </p:sp>
      <p:sp>
        <p:nvSpPr>
          <p:cNvPr id="20" name="R3 q"/>
          <p:cNvSpPr/>
          <p:nvPr/>
        </p:nvSpPr>
        <p:spPr>
          <a:xfrm>
            <a:off x="82753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Is Great job! feedback?</a:t>
            </a:r>
            <a:endParaRPr lang="en-US" sz="1600" dirty="0" b="1"/>
          </a:p>
        </p:txBody>
      </p:sp>
      <p:pic>
        <p:nvPicPr>
          <p:cNvPr id="103" name="R3 pic" descr="Feedback: a thumbs-up and a speech bubble [sign: GOOD JOB!]"/>
          <p:cNvPicPr>
            <a:picLocks noChangeAspect="1"/>
          </p:cNvPicPr>
          <p:nvPr/>
        </p:nvPicPr>
        <p:blipFill>
          <a:blip r:embed="rId7"/>
          <a:stretch>
            <a:fillRect/>
          </a:stretch>
        </p:blipFill>
        <p:spPr>
          <a:xfrm>
            <a:off x="9098280" y="2560320"/>
            <a:ext cx="1920240" cy="1344168"/>
          </a:xfrm>
          <a:prstGeom prst="rect">
            <a:avLst/>
          </a:prstGeom>
        </p:spPr>
      </p:pic>
      <p:sp>
        <p:nvSpPr>
          <p:cNvPr id="25" name="R1 ans"/>
          <p:cNvSpPr/>
          <p:nvPr/>
        </p:nvSpPr>
        <p:spPr>
          <a:xfrm>
            <a:off x="9601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the last day</a:t>
            </a:r>
            <a:endParaRPr lang="en-US" sz="2200" dirty="0" b="1"/>
          </a:p>
        </p:txBody>
      </p:sp>
      <p:sp>
        <p:nvSpPr>
          <p:cNvPr id="26" name="R2 ans"/>
          <p:cNvSpPr/>
          <p:nvPr/>
        </p:nvSpPr>
        <p:spPr>
          <a:xfrm>
            <a:off x="46177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the start</a:t>
            </a:r>
            <a:endParaRPr lang="en-US" sz="2200" dirty="0" b="1"/>
          </a:p>
        </p:txBody>
      </p:sp>
      <p:sp>
        <p:nvSpPr>
          <p:cNvPr id="27" name="R3 ans"/>
          <p:cNvSpPr/>
          <p:nvPr/>
        </p:nvSpPr>
        <p:spPr>
          <a:xfrm>
            <a:off x="82753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yes, positive feedback</a:t>
            </a:r>
            <a:endParaRPr lang="en-US" sz="16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name="L4:before">
    <p:bg>
      <p:bgPr>
        <a:solidFill>
          <a:srgbClr val="F1F5FB"/>
        </a:solidFill>
      </p:bgPr>
    </p:bg>
    <p:spTree>
      <p:nvGrpSpPr>
        <p:cNvPr id="1" name=""/>
        <p:cNvGrpSpPr/>
        <p:nvPr/>
      </p:nvGrpSpPr>
      <p:grpSpPr/>
      <p:sp>
        <p:nvSpPr>
          <p:cNvPr id="2" name="Shape 0"/>
          <p:cNvSpPr/>
          <p:nvPr/>
        </p:nvSpPr>
        <p:spPr>
          <a:xfrm>
            <a:off x="0" y="0"/>
            <a:ext cx="3063240" cy="6858000"/>
          </a:xfrm>
          <a:prstGeom prst="rect">
            <a:avLst/>
          </a:prstGeom>
          <a:solidFill>
            <a:srgbClr val="B9D2F7"/>
          </a:solidFill>
          <a:ln/>
        </p:spPr>
        <p:txBody>
          <a:bodyPr/>
          <a:p/>
        </p:txBody>
      </p:sp>
      <p:sp>
        <p:nvSpPr>
          <p:cNvPr id="4" name="Shape 2"/>
          <p:cNvSpPr/>
          <p:nvPr/>
        </p:nvSpPr>
        <p:spPr>
          <a:xfrm>
            <a:off x="8156448" y="1289304"/>
            <a:ext cx="3429000" cy="4983480"/>
          </a:xfrm>
          <a:prstGeom prst="round1Rect">
            <a:avLst>
              <a:gd name="adj" fmla="val 23087"/>
            </a:avLst>
          </a:prstGeom>
          <a:solidFill>
            <a:srgbClr val="8FAFE3"/>
          </a:solidFill>
          <a:ln/>
        </p:spPr>
        <p:txBody>
          <a:bodyPr/>
          <a:p/>
        </p:txBody>
      </p:sp>
      <p:sp>
        <p:nvSpPr>
          <p:cNvPr id="5" name="Shape 3"/>
          <p:cNvSpPr/>
          <p:nvPr/>
        </p:nvSpPr>
        <p:spPr>
          <a:xfrm>
            <a:off x="8321040" y="1097280"/>
            <a:ext cx="3429000" cy="4983480"/>
          </a:xfrm>
          <a:prstGeom prst="round1Rect">
            <a:avLst>
              <a:gd name="adj" fmla="val 23087"/>
            </a:avLst>
          </a:prstGeom>
          <a:solidFill>
            <a:srgbClr val="B9D2F7"/>
          </a:solidFill>
          <a:ln/>
        </p:spPr>
        <p:txBody>
          <a:bodyPr/>
          <a:p/>
        </p:txBody>
      </p:sp>
      <p:sp>
        <p:nvSpPr>
          <p:cNvPr id="6" name="Shape 4"/>
          <p:cNvSpPr/>
          <p:nvPr/>
        </p:nvSpPr>
        <p:spPr>
          <a:xfrm>
            <a:off x="3394847" y="1032586"/>
            <a:ext cx="4424782" cy="1863547"/>
          </a:xfrm>
          <a:prstGeom prst="roundRect">
            <a:avLst>
              <a:gd name="adj" fmla="val 16667"/>
            </a:avLst>
          </a:prstGeom>
          <a:solidFill>
            <a:srgbClr val="8FAFE3"/>
          </a:solidFill>
          <a:ln/>
        </p:spPr>
        <p:txBody>
          <a:bodyPr/>
          <a:p/>
        </p:txBody>
      </p:sp>
      <p:sp>
        <p:nvSpPr>
          <p:cNvPr id="7" name="Shape 5"/>
          <p:cNvSpPr/>
          <p:nvPr/>
        </p:nvSpPr>
        <p:spPr>
          <a:xfrm>
            <a:off x="3420770" y="956462"/>
            <a:ext cx="4424782" cy="1863547"/>
          </a:xfrm>
          <a:prstGeom prst="roundRect">
            <a:avLst>
              <a:gd name="adj" fmla="val 16667"/>
            </a:avLst>
          </a:prstGeom>
          <a:solidFill>
            <a:srgbClr val="FFFFFF"/>
          </a:solidFill>
          <a:ln/>
        </p:spPr>
        <p:txBody>
          <a:bodyPr/>
          <a:p/>
        </p:txBody>
      </p:sp>
      <p:sp>
        <p:nvSpPr>
          <p:cNvPr id="8" name="title1"/>
          <p:cNvSpPr/>
          <p:nvPr/>
        </p:nvSpPr>
        <p:spPr>
          <a:xfrm>
            <a:off x="3566160" y="1078992"/>
            <a:ext cx="4114800" cy="749808"/>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Before You</a:t>
            </a:r>
            <a:endParaRPr lang="en-US" sz="4400" dirty="0" b="1"/>
          </a:p>
        </p:txBody>
      </p:sp>
      <p:sp>
        <p:nvSpPr>
          <p:cNvPr id="9" name="title2"/>
          <p:cNvSpPr/>
          <p:nvPr/>
        </p:nvSpPr>
        <p:spPr>
          <a:xfrm>
            <a:off x="3566160" y="1828800"/>
            <a:ext cx="4114800" cy="822960"/>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Listen</a:t>
            </a:r>
            <a:endParaRPr lang="en-US" sz="4400" dirty="0" b="1"/>
          </a:p>
        </p:txBody>
      </p:sp>
      <p:sp>
        <p:nvSpPr>
          <p:cNvPr id="10" name="context"/>
          <p:cNvSpPr/>
          <p:nvPr/>
        </p:nvSpPr>
        <p:spPr>
          <a:xfrm>
            <a:off x="3487522" y="3108960"/>
            <a:ext cx="4206240" cy="868680"/>
          </a:xfrm>
          <a:prstGeom prst="rect">
            <a:avLst/>
          </a:prstGeom>
          <a:noFill/>
          <a:ln/>
        </p:spPr>
        <p:txBody>
          <a:bodyPr wrap="square" lIns="0" tIns="0" rIns="0" bIns="0"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It's the end of the evening shift at a grocery store. Ms. Rivera, the night supervisor, checks the work with Jamal and Kim.</a:t>
            </a:r>
            <a:endParaRPr lang="en-US" sz="1700" dirty="0"/>
          </a:p>
        </p:txBody>
      </p:sp>
      <p:sp>
        <p:nvSpPr>
          <p:cNvPr id="11" name="R1 num"/>
          <p:cNvSpPr/>
          <p:nvPr/>
        </p:nvSpPr>
        <p:spPr>
          <a:xfrm>
            <a:off x="3383280" y="4114800"/>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01</a:t>
            </a:r>
            <a:endParaRPr lang="en-US" sz="3600" dirty="0"/>
          </a:p>
        </p:txBody>
      </p:sp>
      <p:sp>
        <p:nvSpPr>
          <p:cNvPr id="13" name="R2 num"/>
          <p:cNvSpPr/>
          <p:nvPr/>
        </p:nvSpPr>
        <p:spPr>
          <a:xfrm>
            <a:off x="3383280" y="4919472"/>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02</a:t>
            </a:r>
            <a:endParaRPr lang="en-US" sz="3600" dirty="0"/>
          </a:p>
        </p:txBody>
      </p:sp>
      <p:sp>
        <p:nvSpPr>
          <p:cNvPr id="15" name="R3 num"/>
          <p:cNvSpPr/>
          <p:nvPr/>
        </p:nvSpPr>
        <p:spPr>
          <a:xfrm>
            <a:off x="3383280" y="5724144"/>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03</a:t>
            </a:r>
            <a:endParaRPr lang="en-US" sz="3600" dirty="0"/>
          </a:p>
        </p:txBody>
      </p:sp>
      <p:sp>
        <p:nvSpPr>
          <p:cNvPr id="17" name="line 1"/>
          <p:cNvSpPr/>
          <p:nvPr/>
        </p:nvSpPr>
        <p:spPr>
          <a:xfrm>
            <a:off x="3503066" y="4928616"/>
            <a:ext cx="4480560" cy="0"/>
          </a:xfrm>
          <a:prstGeom prst="line">
            <a:avLst/>
          </a:prstGeom>
          <a:noFill/>
          <a:ln w="6350">
            <a:solidFill>
              <a:srgbClr val="1B2236"/>
            </a:solidFill>
            <a:prstDash val="solid"/>
          </a:ln>
        </p:spPr>
        <p:txBody>
          <a:bodyPr/>
          <a:p/>
        </p:txBody>
      </p:sp>
      <p:sp>
        <p:nvSpPr>
          <p:cNvPr id="18" name="line 2"/>
          <p:cNvSpPr/>
          <p:nvPr/>
        </p:nvSpPr>
        <p:spPr>
          <a:xfrm>
            <a:off x="3503066" y="5733288"/>
            <a:ext cx="4480560" cy="0"/>
          </a:xfrm>
          <a:prstGeom prst="line">
            <a:avLst/>
          </a:prstGeom>
          <a:noFill/>
          <a:ln w="6350">
            <a:solidFill>
              <a:srgbClr val="1B2236"/>
            </a:solidFill>
            <a:prstDash val="solid"/>
          </a:ln>
        </p:spPr>
        <p:txBody>
          <a:bodyPr/>
          <a:p/>
        </p:txBody>
      </p:sp>
      <p:pic>
        <p:nvPicPr>
          <p:cNvPr id="24" name="pic" descr="To-do list: a note and a pencil [sign: TO DO]"/>
          <p:cNvPicPr>
            <a:picLocks noChangeAspect="1"/>
          </p:cNvPicPr>
          <p:nvPr/>
        </p:nvPicPr>
        <p:blipFill>
          <a:blip r:embed="rId3"/>
          <a:stretch>
            <a:fillRect/>
          </a:stretch>
        </p:blipFill>
        <p:spPr>
          <a:xfrm>
            <a:off x="160020" y="2423160"/>
            <a:ext cx="2743200" cy="1920240"/>
          </a:xfrm>
          <a:prstGeom prst="rect">
            <a:avLst/>
          </a:prstGeom>
        </p:spPr>
      </p:pic>
      <p:sp>
        <p:nvSpPr>
          <p:cNvPr id="25" name="R1 hl"/>
          <p:cNvSpPr/>
          <p:nvPr/>
        </p:nvSpPr>
        <p:spPr>
          <a:xfrm>
            <a:off x="4389120" y="4251960"/>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1 voice"/>
          <p:cNvSpPr/>
          <p:nvPr/>
        </p:nvSpPr>
        <p:spPr>
          <a:xfrm>
            <a:off x="4389120" y="4251960"/>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Ms. Rivera</a:t>
            </a:r>
            <a:endParaRPr lang="en-US" sz="2200" dirty="0" b="1"/>
          </a:p>
        </p:txBody>
      </p:sp>
      <p:sp>
        <p:nvSpPr>
          <p:cNvPr id="29" name="R2 hl"/>
          <p:cNvSpPr/>
          <p:nvPr/>
        </p:nvSpPr>
        <p:spPr>
          <a:xfrm>
            <a:off x="4389120" y="5056632"/>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2 voice"/>
          <p:cNvSpPr/>
          <p:nvPr/>
        </p:nvSpPr>
        <p:spPr>
          <a:xfrm>
            <a:off x="4389120" y="5056632"/>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Jamal</a:t>
            </a:r>
            <a:endParaRPr lang="en-US" sz="2200" dirty="0" b="1"/>
          </a:p>
        </p:txBody>
      </p:sp>
      <p:sp>
        <p:nvSpPr>
          <p:cNvPr id="33" name="R3 hl"/>
          <p:cNvSpPr/>
          <p:nvPr/>
        </p:nvSpPr>
        <p:spPr>
          <a:xfrm>
            <a:off x="4389120" y="5861304"/>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R3 voice"/>
          <p:cNvSpPr/>
          <p:nvPr/>
        </p:nvSpPr>
        <p:spPr>
          <a:xfrm>
            <a:off x="4389120" y="5861304"/>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Kim</a:t>
            </a:r>
            <a:endParaRPr lang="en-US" sz="2200" dirty="0" b="1"/>
          </a:p>
        </p:txBody>
      </p:sp>
      <p:sp>
        <p:nvSpPr>
          <p:cNvPr id="37" name="listen head"/>
          <p:cNvSpPr/>
          <p:nvPr/>
        </p:nvSpPr>
        <p:spPr>
          <a:xfrm>
            <a:off x="8549640" y="1280160"/>
            <a:ext cx="3017520" cy="548640"/>
          </a:xfrm>
          <a:prstGeom prst="rect">
            <a:avLst/>
          </a:prstGeom>
          <a:noFill/>
          <a:ln w="38100">
            <a:noFill/>
          </a:ln>
        </p:spPr>
        <p:txBody>
          <a:bodyPr wrap="square" lIns="73152" tIns="36576" rIns="73152" bIns="36576" rtlCol="0" anchor="ctr">
            <a:noAutofit/>
          </a:bodyP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Listen for:</a:t>
            </a:r>
            <a:endParaRPr lang="en-US" sz="2400" dirty="0" b="1"/>
          </a:p>
        </p:txBody>
      </p:sp>
      <p:sp>
        <p:nvSpPr>
          <p:cNvPr id="39" name="listen 1"/>
          <p:cNvSpPr/>
          <p:nvPr/>
        </p:nvSpPr>
        <p:spPr>
          <a:xfrm>
            <a:off x="8549640" y="196596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Is all the work finished?</a:t>
            </a:r>
            <a:endParaRPr lang="en-US" sz="2200" dirty="0"/>
          </a:p>
        </p:txBody>
      </p:sp>
      <p:sp>
        <p:nvSpPr>
          <p:cNvPr id="41" name="listen 2"/>
          <p:cNvSpPr/>
          <p:nvPr/>
        </p:nvSpPr>
        <p:spPr>
          <a:xfrm>
            <a:off x="8549640" y="301752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Play 2: Tasks B and C.</a:t>
            </a:r>
            <a:endParaRPr lang="en-US" sz="2200" dirty="0"/>
          </a:p>
        </p:txBody>
      </p:sp>
      <p:sp>
        <p:nvSpPr>
          <p:cNvPr id="43" name="audio"/>
          <p:cNvSpPr/>
          <p:nvPr/>
        </p:nvSpPr>
        <p:spPr>
          <a:xfrm>
            <a:off x="8549640" y="406908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Audio (about 1:52): coming soon.</a:t>
            </a:r>
            <a:endParaRPr lang="en-US" sz="2200" dirty="0"/>
          </a:p>
        </p:txBody>
      </p:sp>
      <p:sp>
        <p:nvSpPr>
          <p:cNvPr id="46" name="play"/>
          <p:cNvSpPr/>
          <p:nvPr/>
        </p:nvSpPr>
        <p:spPr>
          <a:xfrm>
            <a:off x="8549640" y="5029200"/>
            <a:ext cx="301752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200" dirty="0" b="0">
                <a:solidFill>
                  <a:srgbClr val="1B2236"/>
                </a:solidFill>
                <a:latin typeface="Lexend Deca" pitchFamily="34" charset="0"/>
                <a:ea typeface="Lexend Deca" pitchFamily="34" charset="-122"/>
                <a:cs typeface="Lexend Deca" pitchFamily="34" charset="-120"/>
              </a:rPr>
              <a:t>Play 1: </a:t>
            </a:r>
            <a:r>
              <a:rPr lang="en-US" sz="2200" dirty="0" b="1">
                <a:solidFill>
                  <a:srgbClr val="5B3FC4"/>
                </a:solidFill>
                <a:latin typeface="Lexend Deca" pitchFamily="34" charset="0"/>
                <a:ea typeface="Lexend Deca" pitchFamily="34" charset="-122"/>
                <a:cs typeface="Lexend Deca" pitchFamily="34" charset="-120"/>
              </a:rPr>
              <a:t>Task A</a:t>
            </a:r>
            <a:endParaRPr lang="en-US" sz="22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A</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Is all the work finished?</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a:t>
            </a:r>
            <a:endParaRPr lang="en-US" sz="2000" dirty="0"/>
          </a:p>
        </p:txBody>
      </p:sp>
      <p:sp>
        <p:nvSpPr>
          <p:cNvPr id="8" name="R1 stmt"/>
          <p:cNvSpPr/>
          <p:nvPr/>
        </p:nvSpPr>
        <p:spPr>
          <a:xfrm>
            <a:off x="502920" y="3108960"/>
            <a:ext cx="2606040" cy="530352"/>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The work:</a:t>
            </a:r>
            <a:endParaRPr lang="en-US" sz="2000" dirty="0"/>
          </a:p>
        </p:txBody>
      </p:sp>
      <p:sp>
        <p:nvSpPr>
          <p:cNvPr id="9" name="R1 opt1"/>
          <p:cNvSpPr/>
          <p:nvPr/>
        </p:nvSpPr>
        <p:spPr>
          <a:xfrm>
            <a:off x="3291840" y="3108960"/>
            <a:ext cx="246888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 Yes, everything is done.</a:t>
            </a:r>
            <a:endParaRPr lang="en-US" sz="1500" dirty="0" b="1"/>
          </a:p>
        </p:txBody>
      </p:sp>
      <p:sp>
        <p:nvSpPr>
          <p:cNvPr id="10" name="R1 opt2"/>
          <p:cNvSpPr/>
          <p:nvPr/>
        </p:nvSpPr>
        <p:spPr>
          <a:xfrm>
            <a:off x="5897880" y="3108960"/>
            <a:ext cx="246888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b. No, two things aren't done yet.</a:t>
            </a:r>
            <a:endParaRPr lang="en-US" sz="1500" dirty="0" b="1"/>
          </a:p>
        </p:txBody>
      </p:sp>
      <p:sp>
        <p:nvSpPr>
          <p:cNvPr id="11" name="R1 opt3"/>
          <p:cNvSpPr/>
          <p:nvPr/>
        </p:nvSpPr>
        <p:spPr>
          <a:xfrm>
            <a:off x="8503920" y="3108960"/>
            <a:ext cx="246888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c. No, nothing is done yet.</a:t>
            </a:r>
            <a:endParaRPr lang="en-US" sz="1500" dirty="0" b="1"/>
          </a:p>
        </p:txBody>
      </p:sp>
      <p:sp>
        <p:nvSpPr>
          <p:cNvPr id="12" name="R1 circle"/>
          <p:cNvSpPr/>
          <p:nvPr/>
        </p:nvSpPr>
        <p:spPr>
          <a:xfrm>
            <a:off x="5769864" y="3054096"/>
            <a:ext cx="272491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again. Look at the checklist.</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done or not yet.</a:t>
            </a:r>
            <a:endParaRPr lang="en-US" sz="2000" dirty="0"/>
          </a:p>
        </p:txBody>
      </p:sp>
      <p:sp>
        <p:nvSpPr>
          <p:cNvPr id="8" name="R1 stmt"/>
          <p:cNvSpPr/>
          <p:nvPr/>
        </p:nvSpPr>
        <p:spPr>
          <a:xfrm>
            <a:off x="502920" y="310896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1. restock the shelves</a:t>
            </a:r>
            <a:endParaRPr lang="en-US" sz="1800" dirty="0"/>
          </a:p>
        </p:txBody>
      </p:sp>
      <p:sp>
        <p:nvSpPr>
          <p:cNvPr id="9" name="R1 opt1"/>
          <p:cNvSpPr/>
          <p:nvPr/>
        </p:nvSpPr>
        <p:spPr>
          <a:xfrm>
            <a:off x="7863840" y="310896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done</a:t>
            </a:r>
            <a:endParaRPr lang="en-US" sz="2000" dirty="0" b="1"/>
          </a:p>
        </p:txBody>
      </p:sp>
      <p:sp>
        <p:nvSpPr>
          <p:cNvPr id="10" name="R1 opt2"/>
          <p:cNvSpPr/>
          <p:nvPr/>
        </p:nvSpPr>
        <p:spPr>
          <a:xfrm>
            <a:off x="9601200" y="310896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not yet</a:t>
            </a:r>
            <a:endParaRPr lang="en-US" sz="2000" dirty="0" b="1"/>
          </a:p>
        </p:txBody>
      </p:sp>
      <p:sp>
        <p:nvSpPr>
          <p:cNvPr id="11" name="R1 circle"/>
          <p:cNvSpPr/>
          <p:nvPr/>
        </p:nvSpPr>
        <p:spPr>
          <a:xfrm>
            <a:off x="7735824" y="305409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2. put away the milk and the eggs</a:t>
            </a:r>
            <a:endParaRPr lang="en-US" sz="1800" dirty="0"/>
          </a:p>
        </p:txBody>
      </p:sp>
      <p:sp>
        <p:nvSpPr>
          <p:cNvPr id="13" name="R2 opt1"/>
          <p:cNvSpPr/>
          <p:nvPr/>
        </p:nvSpPr>
        <p:spPr>
          <a:xfrm>
            <a:off x="7863840" y="365760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done</a:t>
            </a:r>
            <a:endParaRPr lang="en-US" sz="2000" dirty="0" b="1"/>
          </a:p>
        </p:txBody>
      </p:sp>
      <p:sp>
        <p:nvSpPr>
          <p:cNvPr id="14" name="R2 opt2"/>
          <p:cNvSpPr/>
          <p:nvPr/>
        </p:nvSpPr>
        <p:spPr>
          <a:xfrm>
            <a:off x="9601200" y="365760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not yet</a:t>
            </a:r>
            <a:endParaRPr lang="en-US" sz="2000" dirty="0" b="1"/>
          </a:p>
        </p:txBody>
      </p:sp>
      <p:sp>
        <p:nvSpPr>
          <p:cNvPr id="15" name="R2 circle"/>
          <p:cNvSpPr/>
          <p:nvPr/>
        </p:nvSpPr>
        <p:spPr>
          <a:xfrm>
            <a:off x="7735824" y="360273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3. clean the cooler</a:t>
            </a:r>
            <a:endParaRPr lang="en-US" sz="1800" dirty="0"/>
          </a:p>
        </p:txBody>
      </p:sp>
      <p:sp>
        <p:nvSpPr>
          <p:cNvPr id="17" name="R3 opt1"/>
          <p:cNvSpPr/>
          <p:nvPr/>
        </p:nvSpPr>
        <p:spPr>
          <a:xfrm>
            <a:off x="7863840" y="420624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done</a:t>
            </a:r>
            <a:endParaRPr lang="en-US" sz="2000" dirty="0" b="1"/>
          </a:p>
        </p:txBody>
      </p:sp>
      <p:sp>
        <p:nvSpPr>
          <p:cNvPr id="18" name="R3 opt2"/>
          <p:cNvSpPr/>
          <p:nvPr/>
        </p:nvSpPr>
        <p:spPr>
          <a:xfrm>
            <a:off x="9601200" y="420624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not yet</a:t>
            </a:r>
            <a:endParaRPr lang="en-US" sz="2000" dirty="0" b="1"/>
          </a:p>
        </p:txBody>
      </p:sp>
      <p:sp>
        <p:nvSpPr>
          <p:cNvPr id="19" name="R3 circle"/>
          <p:cNvSpPr/>
          <p:nvPr/>
        </p:nvSpPr>
        <p:spPr>
          <a:xfrm>
            <a:off x="9473184" y="415137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4. check the bakery inventory</a:t>
            </a:r>
            <a:endParaRPr lang="en-US" sz="1800" dirty="0"/>
          </a:p>
        </p:txBody>
      </p:sp>
      <p:sp>
        <p:nvSpPr>
          <p:cNvPr id="21" name="R4 opt1"/>
          <p:cNvSpPr/>
          <p:nvPr/>
        </p:nvSpPr>
        <p:spPr>
          <a:xfrm>
            <a:off x="7863840" y="475488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done</a:t>
            </a:r>
            <a:endParaRPr lang="en-US" sz="2000" dirty="0" b="1"/>
          </a:p>
        </p:txBody>
      </p:sp>
      <p:sp>
        <p:nvSpPr>
          <p:cNvPr id="22" name="R4 opt2"/>
          <p:cNvSpPr/>
          <p:nvPr/>
        </p:nvSpPr>
        <p:spPr>
          <a:xfrm>
            <a:off x="9601200" y="475488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not yet</a:t>
            </a:r>
            <a:endParaRPr lang="en-US" sz="2000" dirty="0" b="1"/>
          </a:p>
        </p:txBody>
      </p:sp>
      <p:sp>
        <p:nvSpPr>
          <p:cNvPr id="23" name="R4 circle"/>
          <p:cNvSpPr/>
          <p:nvPr/>
        </p:nvSpPr>
        <p:spPr>
          <a:xfrm>
            <a:off x="7735824" y="470001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5. clean the break room</a:t>
            </a:r>
            <a:endParaRPr lang="en-US" sz="1800" dirty="0"/>
          </a:p>
        </p:txBody>
      </p:sp>
      <p:sp>
        <p:nvSpPr>
          <p:cNvPr id="25" name="R5 opt1"/>
          <p:cNvSpPr/>
          <p:nvPr/>
        </p:nvSpPr>
        <p:spPr>
          <a:xfrm>
            <a:off x="7863840" y="530352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done</a:t>
            </a:r>
            <a:endParaRPr lang="en-US" sz="2000" dirty="0" b="1"/>
          </a:p>
        </p:txBody>
      </p:sp>
      <p:sp>
        <p:nvSpPr>
          <p:cNvPr id="26" name="R5 opt2"/>
          <p:cNvSpPr/>
          <p:nvPr/>
        </p:nvSpPr>
        <p:spPr>
          <a:xfrm>
            <a:off x="9601200" y="530352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not yet</a:t>
            </a:r>
            <a:endParaRPr lang="en-US" sz="2000" dirty="0" b="1"/>
          </a:p>
        </p:txBody>
      </p:sp>
      <p:sp>
        <p:nvSpPr>
          <p:cNvPr id="27" name="R5 circle"/>
          <p:cNvSpPr/>
          <p:nvPr/>
        </p:nvSpPr>
        <p:spPr>
          <a:xfrm>
            <a:off x="9473184" y="524865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6. Kim's safety training</a:t>
            </a:r>
            <a:endParaRPr lang="en-US" sz="1800" dirty="0"/>
          </a:p>
        </p:txBody>
      </p:sp>
      <p:sp>
        <p:nvSpPr>
          <p:cNvPr id="29" name="R6 opt1"/>
          <p:cNvSpPr/>
          <p:nvPr/>
        </p:nvSpPr>
        <p:spPr>
          <a:xfrm>
            <a:off x="7863840" y="585216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done</a:t>
            </a:r>
            <a:endParaRPr lang="en-US" sz="2000" dirty="0" b="1"/>
          </a:p>
        </p:txBody>
      </p:sp>
      <p:sp>
        <p:nvSpPr>
          <p:cNvPr id="30" name="R6 opt2"/>
          <p:cNvSpPr/>
          <p:nvPr/>
        </p:nvSpPr>
        <p:spPr>
          <a:xfrm>
            <a:off x="9601200" y="585216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not yet</a:t>
            </a:r>
            <a:endParaRPr lang="en-US" sz="2000" dirty="0" b="1"/>
          </a:p>
        </p:txBody>
      </p:sp>
      <p:sp>
        <p:nvSpPr>
          <p:cNvPr id="31" name="R6 circle"/>
          <p:cNvSpPr/>
          <p:nvPr/>
        </p:nvSpPr>
        <p:spPr>
          <a:xfrm>
            <a:off x="9473184" y="579729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already, yet, or just.</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C</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Words: </a:t>
            </a:r>
            <a:r>
              <a:rPr lang="en-US" sz="2000" dirty="0" b="1">
                <a:solidFill>
                  <a:srgbClr val="5B3FC4"/>
                </a:solidFill>
                <a:latin typeface="Lexend Deca" pitchFamily="34" charset="0"/>
                <a:ea typeface="Lexend Deca" pitchFamily="34" charset="-122"/>
                <a:cs typeface="Lexend Deca" pitchFamily="34" charset="-120"/>
              </a:rPr>
              <a:t>already, yet, just</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compare your answers.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Then </a:t>
            </a:r>
            <a:r>
              <a:rPr lang="en-US" sz="2000" dirty="0" b="1">
                <a:solidFill>
                  <a:srgbClr val="5B3FC4"/>
                </a:solidFill>
                <a:latin typeface="Lexend Deca" pitchFamily="34" charset="0"/>
                <a:ea typeface="Lexend Deca" pitchFamily="34" charset="-122"/>
                <a:cs typeface="Lexend Deca" pitchFamily="34" charset="-120"/>
              </a:rPr>
              <a:t>check together.</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Yes, I've ____ restocked them.</a:t>
            </a:r>
            <a:endParaRPr lang="en-US" sz="1800" dirty="0"/>
          </a:p>
        </p:txBody>
      </p:sp>
      <p:sp>
        <p:nvSpPr>
          <p:cNvPr id="35" name="R1 ans"/>
          <p:cNvSpPr/>
          <p:nvPr/>
        </p:nvSpPr>
        <p:spPr>
          <a:xfrm>
            <a:off x="6199632" y="2222144"/>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already</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Has the truck arrived ____?</a:t>
            </a:r>
            <a:endParaRPr lang="en-US" sz="1800" dirty="0"/>
          </a:p>
        </p:txBody>
      </p:sp>
      <p:sp>
        <p:nvSpPr>
          <p:cNvPr id="40" name="R2 ans"/>
          <p:cNvSpPr/>
          <p:nvPr/>
        </p:nvSpPr>
        <p:spPr>
          <a:xfrm>
            <a:off x="6199632" y="2950312"/>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yet</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Yes, it's ____ arrived.</a:t>
            </a:r>
            <a:endParaRPr lang="en-US" sz="1800" dirty="0"/>
          </a:p>
        </p:txBody>
      </p:sp>
      <p:sp>
        <p:nvSpPr>
          <p:cNvPr id="45" name="R3 ans"/>
          <p:cNvSpPr/>
          <p:nvPr/>
        </p:nvSpPr>
        <p:spPr>
          <a:xfrm>
            <a:off x="6199632" y="3678479"/>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just</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haven't cleaned it ____.</a:t>
            </a:r>
            <a:endParaRPr lang="en-US" sz="1800" dirty="0"/>
          </a:p>
        </p:txBody>
      </p:sp>
      <p:sp>
        <p:nvSpPr>
          <p:cNvPr id="50" name="R4 ans"/>
          <p:cNvSpPr/>
          <p:nvPr/>
        </p:nvSpPr>
        <p:spPr>
          <a:xfrm>
            <a:off x="6199632" y="4406646"/>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yet</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I've ____ finished it.</a:t>
            </a:r>
            <a:endParaRPr lang="en-US" sz="1800" dirty="0"/>
          </a:p>
        </p:txBody>
      </p:sp>
      <p:sp>
        <p:nvSpPr>
          <p:cNvPr id="55" name="R5 ans"/>
          <p:cNvSpPr/>
          <p:nvPr/>
        </p:nvSpPr>
        <p:spPr>
          <a:xfrm>
            <a:off x="6199632" y="5134813"/>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just</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We've ____ put away the milk and the eggs.</a:t>
            </a:r>
            <a:endParaRPr lang="en-US" sz="1800" dirty="0"/>
          </a:p>
        </p:txBody>
      </p:sp>
      <p:sp>
        <p:nvSpPr>
          <p:cNvPr id="60" name="R6 ans"/>
          <p:cNvSpPr/>
          <p:nvPr/>
        </p:nvSpPr>
        <p:spPr>
          <a:xfrm>
            <a:off x="6199632" y="5862980"/>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already</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name="L4:checksay">
    <p:bg>
      <p:bgPr>
        <a:solidFill>
          <a:srgbClr val="F1F5FB"/>
        </a:solidFill>
      </p:bgPr>
    </p:bg>
    <p:spTree>
      <p:nvGrpSpPr>
        <p:cNvPr id="1" name=""/>
        <p:cNvGrpSpPr/>
        <p:nvPr/>
      </p:nvGrpSpPr>
      <p:grpSpPr/>
      <p:sp>
        <p:nvSpPr>
          <p:cNvPr id="2" name="head shadow"/>
          <p:cNvSpPr/>
          <p:nvPr/>
        </p:nvSpPr>
        <p:spPr>
          <a:xfrm>
            <a:off x="544982" y="1681582"/>
            <a:ext cx="6227064" cy="983894"/>
          </a:xfrm>
          <a:prstGeom prst="round1Rect">
            <a:avLst>
              <a:gd name="adj" fmla="val 23087"/>
            </a:avLst>
          </a:prstGeom>
          <a:solidFill>
            <a:srgbClr val="8FAFE3"/>
          </a:solidFill>
          <a:ln/>
        </p:spPr>
        <p:txBody>
          <a:bodyPr/>
          <a:p/>
        </p:txBody>
      </p:sp>
      <p:sp>
        <p:nvSpPr>
          <p:cNvPr id="3" name="head card"/>
          <p:cNvSpPr/>
          <p:nvPr/>
        </p:nvSpPr>
        <p:spPr>
          <a:xfrm>
            <a:off x="544982" y="1623974"/>
            <a:ext cx="6169457" cy="983894"/>
          </a:xfrm>
          <a:prstGeom prst="round1Rect">
            <a:avLst>
              <a:gd name="adj" fmla="val 23087"/>
            </a:avLst>
          </a:prstGeom>
          <a:solidFill>
            <a:srgbClr val="FFFFFF"/>
          </a:solidFill>
          <a:ln/>
        </p:spPr>
        <p:txBody>
          <a:bodyPr/>
          <a:p/>
        </p:txBody>
      </p:sp>
      <p:sp>
        <p:nvSpPr>
          <p:cNvPr id="8" name="head1"/>
          <p:cNvSpPr/>
          <p:nvPr/>
        </p:nvSpPr>
        <p:spPr>
          <a:xfrm>
            <a:off x="777240" y="1691640"/>
            <a:ext cx="5669280" cy="384048"/>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Hear it: gonna = going to, wanna = want to</a:t>
            </a:r>
            <a:endParaRPr lang="en-US" sz="1800" dirty="0" b="1"/>
          </a:p>
        </p:txBody>
      </p:sp>
      <p:sp>
        <p:nvSpPr>
          <p:cNvPr id="9" name="head2"/>
          <p:cNvSpPr/>
          <p:nvPr/>
        </p:nvSpPr>
        <p:spPr>
          <a:xfrm>
            <a:off x="868680" y="2093976"/>
            <a:ext cx="5577840" cy="411480"/>
          </a:xfrm>
          <a:prstGeom prst="rect">
            <a:avLst/>
          </a:prstGeom>
          <a:noFill/>
          <a:ln/>
        </p:spPr>
        <p:txBody>
          <a:bodyPr wrap="square" lIns="0" tIns="0" rIns="0" bIns="0" rtlCol="0" anchor="t"/>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Say it: 's = has, and the stress</a:t>
            </a:r>
            <a:endParaRPr lang="en-US" sz="1800" dirty="0"/>
          </a:p>
        </p:txBody>
      </p:sp>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Hear It,</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Say It</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a:solidFill>
                  <a:srgbClr val="1B2236"/>
                </a:solidFill>
                <a:latin typeface="Lexend Deca" pitchFamily="34" charset="0"/>
                <a:ea typeface="Lexend Deca" pitchFamily="34" charset="-122"/>
                <a:cs typeface="Lexend Deca" pitchFamily="34" charset="-120"/>
              </a:rPr>
              <a:t>You will hear </a:t>
            </a:r>
            <a:r>
              <a:rPr lang="en-US" sz="2000" dirty="0" b="1">
                <a:solidFill>
                  <a:srgbClr val="5B3FC4"/>
                </a:solidFill>
                <a:latin typeface="Lexend Deca" pitchFamily="34" charset="0"/>
                <a:ea typeface="Lexend Deca" pitchFamily="34" charset="-122"/>
                <a:cs typeface="Lexend Deca" pitchFamily="34" charset="-120"/>
              </a:rPr>
              <a:t>gonna</a:t>
            </a:r>
            <a:r>
              <a:rPr lang="en-US" sz="2000" dirty="0">
                <a:solidFill>
                  <a:srgbClr val="1B2236"/>
                </a:solidFill>
                <a:latin typeface="Lexend Deca" pitchFamily="34" charset="0"/>
                <a:ea typeface="Lexend Deca" pitchFamily="34" charset="-122"/>
                <a:cs typeface="Lexend Deca" pitchFamily="34" charset="-120"/>
              </a:rPr>
              <a:t> and </a:t>
            </a:r>
            <a:r>
              <a:rPr lang="en-US" sz="2000" dirty="0" b="1">
                <a:solidFill>
                  <a:srgbClr val="5B3FC4"/>
                </a:solidFill>
                <a:latin typeface="Lexend Deca" pitchFamily="34" charset="0"/>
                <a:ea typeface="Lexend Deca" pitchFamily="34" charset="-122"/>
                <a:cs typeface="Lexend Deca" pitchFamily="34" charset="-120"/>
              </a:rPr>
              <a:t>wanna</a:t>
            </a:r>
            <a:r>
              <a:rPr lang="en-US" sz="2000" dirty="0">
                <a:solidFill>
                  <a:srgbClr val="1B2236"/>
                </a:solidFill>
                <a:latin typeface="Lexend Deca" pitchFamily="34" charset="0"/>
                <a:ea typeface="Lexend Deca" pitchFamily="34" charset="-122"/>
                <a:cs typeface="Lexend Deca" pitchFamily="34" charset="-120"/>
              </a:rPr>
              <a:t>.</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Listen for </a:t>
            </a:r>
            <a:r>
              <a:rPr lang="en-US" sz="2000" dirty="0" b="1">
                <a:solidFill>
                  <a:srgbClr val="5B3FC4"/>
                </a:solidFill>
                <a:latin typeface="Lexend Deca" pitchFamily="34" charset="0"/>
                <a:ea typeface="Lexend Deca" pitchFamily="34" charset="-122"/>
                <a:cs typeface="Lexend Deca" pitchFamily="34" charset="-120"/>
              </a:rPr>
              <a:t>'s</a:t>
            </a:r>
            <a:r>
              <a:rPr lang="en-US" sz="2000" dirty="0" b="0">
                <a:solidFill>
                  <a:srgbClr val="1B2236"/>
                </a:solidFill>
                <a:latin typeface="Lexend Deca" pitchFamily="34" charset="0"/>
                <a:ea typeface="Lexend Deca" pitchFamily="34" charset="-122"/>
                <a:cs typeface="Lexend Deca" pitchFamily="34" charset="-120"/>
              </a:rPr>
              <a:t> = </a:t>
            </a:r>
            <a:r>
              <a:rPr lang="en-US" sz="2000" dirty="0" b="1">
                <a:solidFill>
                  <a:srgbClr val="5B3FC4"/>
                </a:solidFill>
                <a:latin typeface="Lexend Deca" pitchFamily="34" charset="0"/>
                <a:ea typeface="Lexend Deca" pitchFamily="34" charset="-122"/>
                <a:cs typeface="Lexend Deca" pitchFamily="34" charset="-120"/>
              </a:rPr>
              <a:t>has</a:t>
            </a:r>
            <a:r>
              <a:rPr lang="en-US" sz="2000" dirty="0" b="0">
                <a:solidFill>
                  <a:srgbClr val="1B2236"/>
                </a:solidFill>
                <a:latin typeface="Lexend Deca" pitchFamily="34" charset="0"/>
                <a:ea typeface="Lexend Deca" pitchFamily="34" charset="-122"/>
                <a:cs typeface="Lexend Deca" pitchFamily="34" charset="-120"/>
              </a:rPr>
              <a:t>.</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the stress: </a:t>
            </a:r>
            <a:r>
              <a:rPr lang="en-US" sz="2000" dirty="0" b="1">
                <a:solidFill>
                  <a:srgbClr val="5B3FC4"/>
                </a:solidFill>
                <a:latin typeface="Lexend Deca" pitchFamily="34" charset="0"/>
                <a:ea typeface="Lexend Deca" pitchFamily="34" charset="-122"/>
                <a:cs typeface="Lexend Deca" pitchFamily="34" charset="-120"/>
              </a:rPr>
              <a:t>JUST</a:t>
            </a:r>
            <a:r>
              <a:rPr lang="en-US" sz="2000" dirty="0" b="0">
                <a:solidFill>
                  <a:srgbClr val="1B2236"/>
                </a:solidFill>
                <a:latin typeface="Lexend Deca" pitchFamily="34" charset="0"/>
                <a:ea typeface="Lexend Deca" pitchFamily="34" charset="-122"/>
                <a:cs typeface="Lexend Deca" pitchFamily="34" charset="-120"/>
              </a:rPr>
              <a:t>, </a:t>
            </a:r>
            <a:r>
              <a:rPr lang="en-US" sz="2000" dirty="0" b="1">
                <a:solidFill>
                  <a:srgbClr val="5B3FC4"/>
                </a:solidFill>
                <a:latin typeface="Lexend Deca" pitchFamily="34" charset="0"/>
                <a:ea typeface="Lexend Deca" pitchFamily="34" charset="-122"/>
                <a:cs typeface="Lexend Deca" pitchFamily="34" charset="-120"/>
              </a:rPr>
              <a:t>alREADY</a:t>
            </a:r>
            <a:r>
              <a:rPr lang="en-US" sz="2000" dirty="0" b="0">
                <a:solidFill>
                  <a:srgbClr val="1B2236"/>
                </a:solidFill>
                <a:latin typeface="Lexend Deca" pitchFamily="34" charset="0"/>
                <a:ea typeface="Lexend Deca" pitchFamily="34" charset="-122"/>
                <a:cs typeface="Lexend Deca" pitchFamily="34" charset="-120"/>
              </a:rPr>
              <a:t>.</a:t>
            </a:r>
            <a:endParaRPr lang="en-US" sz="2000" dirty="0" b="0"/>
          </a:p>
        </p:txBody>
      </p:sp>
      <p:sp>
        <p:nvSpPr>
          <p:cNvPr id="31" name="S1 card"/>
          <p:cNvSpPr/>
          <p:nvPr/>
        </p:nvSpPr>
        <p:spPr>
          <a:xfrm>
            <a:off x="548640" y="2715768"/>
            <a:ext cx="6766560" cy="602590"/>
          </a:xfrm>
          <a:prstGeom prst="round1Rect">
            <a:avLst>
              <a:gd name="adj" fmla="val 23087"/>
            </a:avLst>
          </a:prstGeom>
          <a:solidFill>
            <a:srgbClr val="FFFFFF"/>
          </a:solidFill>
          <a:ln/>
        </p:spPr>
        <p:txBody>
          <a:bodyPr/>
          <a:p/>
        </p:txBody>
      </p:sp>
      <p:sp>
        <p:nvSpPr>
          <p:cNvPr id="32" name="S1 text"/>
          <p:cNvSpPr/>
          <p:nvPr/>
        </p:nvSpPr>
        <p:spPr>
          <a:xfrm>
            <a:off x="777240" y="271576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I'm </a:t>
            </a:r>
            <a:r>
              <a:rPr lang="en-US" sz="1800" dirty="0" b="1">
                <a:solidFill>
                  <a:srgbClr val="5B3FC4"/>
                </a:solidFill>
                <a:latin typeface="Lexend Deca" pitchFamily="34" charset="0"/>
                <a:ea typeface="Lexend Deca" pitchFamily="34" charset="-122"/>
                <a:cs typeface="Lexend Deca" pitchFamily="34" charset="-120"/>
              </a:rPr>
              <a:t>gonna</a:t>
            </a:r>
            <a:r>
              <a:rPr lang="en-US" sz="1800" dirty="0" b="1">
                <a:solidFill>
                  <a:srgbClr val="1B2236"/>
                </a:solidFill>
                <a:latin typeface="Lexend Deca" pitchFamily="34" charset="0"/>
                <a:ea typeface="Lexend Deca" pitchFamily="34" charset="-122"/>
                <a:cs typeface="Lexend Deca" pitchFamily="34" charset="-120"/>
              </a:rPr>
              <a:t> clean it before I clock out.</a:t>
            </a:r>
            <a:endParaRPr lang="en-US" sz="1800" dirty="0" b="1"/>
          </a:p>
        </p:txBody>
      </p:sp>
      <p:sp>
        <p:nvSpPr>
          <p:cNvPr id="33" name="S2 card"/>
          <p:cNvSpPr/>
          <p:nvPr/>
        </p:nvSpPr>
        <p:spPr>
          <a:xfrm>
            <a:off x="548640" y="3427171"/>
            <a:ext cx="6766560" cy="602590"/>
          </a:xfrm>
          <a:prstGeom prst="round1Rect">
            <a:avLst>
              <a:gd name="adj" fmla="val 23087"/>
            </a:avLst>
          </a:prstGeom>
          <a:solidFill>
            <a:srgbClr val="FFFFFF"/>
          </a:solidFill>
          <a:ln/>
        </p:spPr>
        <p:txBody>
          <a:bodyPr/>
          <a:p/>
        </p:txBody>
      </p:sp>
      <p:sp>
        <p:nvSpPr>
          <p:cNvPr id="34" name="S2 text"/>
          <p:cNvSpPr/>
          <p:nvPr/>
        </p:nvSpPr>
        <p:spPr>
          <a:xfrm>
            <a:off x="777240" y="3427171"/>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5B3FC4"/>
                </a:solidFill>
                <a:latin typeface="Lexend Deca" pitchFamily="34" charset="0"/>
                <a:ea typeface="Lexend Deca" pitchFamily="34" charset="-122"/>
                <a:cs typeface="Lexend Deca" pitchFamily="34" charset="-120"/>
              </a:rPr>
              <a:t>wanna</a:t>
            </a:r>
            <a:r>
              <a:rPr lang="en-US" sz="1800" dirty="0" b="1">
                <a:solidFill>
                  <a:srgbClr val="1B2236"/>
                </a:solidFill>
                <a:latin typeface="Lexend Deca" pitchFamily="34" charset="0"/>
                <a:ea typeface="Lexend Deca" pitchFamily="34" charset="-122"/>
                <a:cs typeface="Lexend Deca" pitchFamily="34" charset="-120"/>
              </a:rPr>
              <a:t> finish it this week.</a:t>
            </a:r>
            <a:endParaRPr lang="en-US" sz="1800" dirty="0" b="1"/>
          </a:p>
        </p:txBody>
      </p:sp>
      <p:sp>
        <p:nvSpPr>
          <p:cNvPr id="35" name="S3 card"/>
          <p:cNvSpPr/>
          <p:nvPr/>
        </p:nvSpPr>
        <p:spPr>
          <a:xfrm>
            <a:off x="548640" y="4138574"/>
            <a:ext cx="6766560" cy="602590"/>
          </a:xfrm>
          <a:prstGeom prst="round1Rect">
            <a:avLst>
              <a:gd name="adj" fmla="val 23087"/>
            </a:avLst>
          </a:prstGeom>
          <a:solidFill>
            <a:srgbClr val="FFFFFF"/>
          </a:solidFill>
          <a:ln/>
        </p:spPr>
        <p:txBody>
          <a:bodyPr/>
          <a:p/>
        </p:txBody>
      </p:sp>
      <p:sp>
        <p:nvSpPr>
          <p:cNvPr id="36" name="S3 text"/>
          <p:cNvSpPr/>
          <p:nvPr/>
        </p:nvSpPr>
        <p:spPr>
          <a:xfrm>
            <a:off x="777240" y="4138574"/>
            <a:ext cx="6355080" cy="602590"/>
          </a:xfrm>
          <a:prstGeom prst="rect">
            <a:avLst/>
          </a:prstGeom>
          <a:noFill/>
          <a:ln/>
        </p:spPr>
        <p:txBody>
          <a:bodyPr wrap="square" rtlCol="0" anchor="ct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It's</a:t>
            </a:r>
            <a:r>
              <a:rPr lang="en-US" sz="1800" dirty="0" b="1">
                <a:solidFill>
                  <a:srgbClr val="1B2236"/>
                </a:solidFill>
                <a:latin typeface="Lexend Deca" pitchFamily="34" charset="0"/>
                <a:ea typeface="Lexend Deca" pitchFamily="34" charset="-122"/>
                <a:cs typeface="Lexend Deca" pitchFamily="34" charset="-120"/>
              </a:rPr>
              <a:t> just arrived. (it has)</a:t>
            </a:r>
            <a:endParaRPr lang="en-US" sz="1800" dirty="0" b="1"/>
          </a:p>
        </p:txBody>
      </p:sp>
      <p:sp>
        <p:nvSpPr>
          <p:cNvPr id="37" name="S4 card"/>
          <p:cNvSpPr/>
          <p:nvPr/>
        </p:nvSpPr>
        <p:spPr>
          <a:xfrm>
            <a:off x="548640" y="4849978"/>
            <a:ext cx="6766560" cy="602590"/>
          </a:xfrm>
          <a:prstGeom prst="round1Rect">
            <a:avLst>
              <a:gd name="adj" fmla="val 23087"/>
            </a:avLst>
          </a:prstGeom>
          <a:solidFill>
            <a:srgbClr val="FFFFFF"/>
          </a:solidFill>
          <a:ln/>
        </p:spPr>
        <p:txBody>
          <a:bodyPr/>
          <a:p/>
        </p:txBody>
      </p:sp>
      <p:sp>
        <p:nvSpPr>
          <p:cNvPr id="38" name="S4 text"/>
          <p:cNvSpPr/>
          <p:nvPr/>
        </p:nvSpPr>
        <p:spPr>
          <a:xfrm>
            <a:off x="777240" y="484997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I've </a:t>
            </a:r>
            <a:r>
              <a:rPr lang="en-US" sz="1800" dirty="0" b="1">
                <a:solidFill>
                  <a:srgbClr val="5B3FC4"/>
                </a:solidFill>
                <a:latin typeface="Lexend Deca" pitchFamily="34" charset="0"/>
                <a:ea typeface="Lexend Deca" pitchFamily="34" charset="-122"/>
                <a:cs typeface="Lexend Deca" pitchFamily="34" charset="-120"/>
              </a:rPr>
              <a:t>JUST</a:t>
            </a:r>
            <a:r>
              <a:rPr lang="en-US" sz="1800" dirty="0" b="1">
                <a:solidFill>
                  <a:srgbClr val="1B2236"/>
                </a:solidFill>
                <a:latin typeface="Lexend Deca" pitchFamily="34" charset="0"/>
                <a:ea typeface="Lexend Deca" pitchFamily="34" charset="-122"/>
                <a:cs typeface="Lexend Deca" pitchFamily="34" charset="-120"/>
              </a:rPr>
              <a:t> finished it.  •  I've al</a:t>
            </a:r>
            <a:r>
              <a:rPr lang="en-US" sz="1800" dirty="0" b="1">
                <a:solidFill>
                  <a:srgbClr val="5B3FC4"/>
                </a:solidFill>
                <a:latin typeface="Lexend Deca" pitchFamily="34" charset="0"/>
                <a:ea typeface="Lexend Deca" pitchFamily="34" charset="-122"/>
                <a:cs typeface="Lexend Deca" pitchFamily="34" charset="-120"/>
              </a:rPr>
              <a:t>READY</a:t>
            </a:r>
            <a:r>
              <a:rPr lang="en-US" sz="1800" dirty="0" b="1">
                <a:solidFill>
                  <a:srgbClr val="1B2236"/>
                </a:solidFill>
                <a:latin typeface="Lexend Deca" pitchFamily="34" charset="0"/>
                <a:ea typeface="Lexend Deca" pitchFamily="34" charset="-122"/>
                <a:cs typeface="Lexend Deca" pitchFamily="34" charset="-120"/>
              </a:rPr>
              <a:t> restocked them.</a:t>
            </a:r>
            <a:endParaRPr lang="en-US" sz="1800" dirty="0" b="1"/>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Restock: a shopping cart and cans [sign: RESTOCK]"/>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1</a:t>
            </a:r>
            <a:endParaRPr lang="en-US" sz="2000" dirty="0" b="1"/>
          </a:p>
          <a:p>
            <a:pPr algn="l" indent="0" marL="0">
              <a:spcAft>
                <a:spcPts val="400"/>
              </a:spcAft>
              <a:buNone/>
            </a:pPr>
            <a:r>
              <a:rPr lang="en-US" sz="2100" dirty="0" b="1">
                <a:solidFill>
                  <a:srgbClr val="1B2236"/>
                </a:solidFill>
                <a:latin typeface="Lexend Deca" pitchFamily="34" charset="0"/>
                <a:ea typeface="Lexend Deca" pitchFamily="34" charset="-122"/>
                <a:cs typeface="Lexend Deca" pitchFamily="34" charset="-120"/>
              </a:rPr>
              <a:t>already / yet / just</a:t>
            </a:r>
            <a:endParaRPr lang="en-US" sz="21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Have</a:t>
            </a:r>
            <a:r>
              <a:rPr lang="en-US" sz="1700" dirty="0" b="1">
                <a:solidFill>
                  <a:srgbClr val="1B2236"/>
                </a:solidFill>
                <a:latin typeface="Lexend Deca" pitchFamily="34" charset="0"/>
                <a:ea typeface="Lexend Deca" pitchFamily="34" charset="-122"/>
                <a:cs typeface="Lexend Deca" pitchFamily="34" charset="-120"/>
              </a:rPr>
              <a:t> you cleaned the break room </a:t>
            </a:r>
            <a:r>
              <a:rPr lang="en-US" sz="1700" dirty="0" b="1">
                <a:solidFill>
                  <a:srgbClr val="1B2236"/>
                </a:solidFill>
                <a:latin typeface="Lexend Deca" pitchFamily="34" charset="0"/>
                <a:ea typeface="Lexend Deca" pitchFamily="34" charset="-122"/>
                <a:cs typeface="Lexend Deca" pitchFamily="34" charset="-120"/>
              </a:rPr>
              <a:t>yet</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Yes, I </a:t>
            </a:r>
            <a:r>
              <a:rPr lang="en-US" sz="1600" dirty="0" b="1">
                <a:solidFill>
                  <a:srgbClr val="1B2236"/>
                </a:solidFill>
                <a:latin typeface="Lexend Deca" pitchFamily="34" charset="0"/>
                <a:ea typeface="Lexend Deca" pitchFamily="34" charset="-122"/>
                <a:cs typeface="Lexend Deca" pitchFamily="34" charset="-120"/>
              </a:rPr>
              <a:t>have</a:t>
            </a:r>
            <a:r>
              <a:rPr lang="en-US" sz="1600" dirty="0" b="1">
                <a:solidFill>
                  <a:srgbClr val="1B2236"/>
                </a:solidFill>
                <a:latin typeface="Lexend Deca" pitchFamily="34" charset="0"/>
                <a:ea typeface="Lexend Deca" pitchFamily="34" charset="-122"/>
                <a:cs typeface="Lexend Deca" pitchFamily="34" charset="-120"/>
              </a:rPr>
              <a:t>. I</a:t>
            </a:r>
            <a:r>
              <a:rPr lang="en-US" sz="1600" dirty="0" b="1">
                <a:solidFill>
                  <a:srgbClr val="1B2236"/>
                </a:solidFill>
                <a:latin typeface="Lexend Deca" pitchFamily="34" charset="0"/>
                <a:ea typeface="Lexend Deca" pitchFamily="34" charset="-122"/>
                <a:cs typeface="Lexend Deca" pitchFamily="34" charset="-120"/>
              </a:rPr>
              <a:t>'ve already</a:t>
            </a:r>
            <a:r>
              <a:rPr lang="en-US" sz="1600" dirty="0" b="1">
                <a:solidFill>
                  <a:srgbClr val="1B2236"/>
                </a:solidFill>
                <a:latin typeface="Lexend Deca" pitchFamily="34" charset="0"/>
                <a:ea typeface="Lexend Deca" pitchFamily="34" charset="-122"/>
                <a:cs typeface="Lexend Deca" pitchFamily="34" charset="-120"/>
              </a:rPr>
              <a:t> cleaned it.</a:t>
            </a:r>
            <a:endParaRPr lang="en-US" sz="1600" dirty="0" b="1"/>
          </a:p>
          <a:p>
            <a:pPr algn="l" indent="0" marL="0">
              <a:buNone/>
            </a:pPr>
            <a:r>
              <a:rPr lang="en-US" sz="1600" dirty="0" b="1">
                <a:solidFill>
                  <a:srgbClr val="1B2236"/>
                </a:solidFill>
                <a:latin typeface="Lexend Deca" pitchFamily="34" charset="0"/>
                <a:ea typeface="Lexend Deca" pitchFamily="34" charset="-122"/>
                <a:cs typeface="Lexend Deca" pitchFamily="34" charset="-120"/>
              </a:rPr>
              <a:t>No, </a:t>
            </a:r>
            <a:r>
              <a:rPr lang="en-US" sz="1600" dirty="0" b="1">
                <a:solidFill>
                  <a:srgbClr val="1B2236"/>
                </a:solidFill>
                <a:latin typeface="Lexend Deca" pitchFamily="34" charset="0"/>
                <a:ea typeface="Lexend Deca" pitchFamily="34" charset="-122"/>
                <a:cs typeface="Lexend Deca" pitchFamily="34" charset="-120"/>
              </a:rPr>
              <a:t>not yet</a:t>
            </a:r>
            <a:r>
              <a:rPr lang="en-US" sz="1600" dirty="0" b="1">
                <a:solidFill>
                  <a:srgbClr val="1B2236"/>
                </a:solidFill>
                <a:latin typeface="Lexend Deca" pitchFamily="34" charset="0"/>
                <a:ea typeface="Lexend Deca" pitchFamily="34" charset="-122"/>
                <a:cs typeface="Lexend Deca" pitchFamily="34" charset="-120"/>
              </a:rPr>
              <a:t>. I </a:t>
            </a:r>
            <a:r>
              <a:rPr lang="en-US" sz="1600" dirty="0" b="1">
                <a:solidFill>
                  <a:srgbClr val="1B2236"/>
                </a:solidFill>
                <a:latin typeface="Lexend Deca" pitchFamily="34" charset="0"/>
                <a:ea typeface="Lexend Deca" pitchFamily="34" charset="-122"/>
                <a:cs typeface="Lexend Deca" pitchFamily="34" charset="-120"/>
              </a:rPr>
              <a:t>haven't</a:t>
            </a:r>
            <a:r>
              <a:rPr lang="en-US" sz="1600" dirty="0" b="1">
                <a:solidFill>
                  <a:srgbClr val="1B2236"/>
                </a:solidFill>
                <a:latin typeface="Lexend Deca" pitchFamily="34" charset="0"/>
                <a:ea typeface="Lexend Deca" pitchFamily="34" charset="-122"/>
                <a:cs typeface="Lexend Deca" pitchFamily="34" charset="-120"/>
              </a:rPr>
              <a:t> cleaned it </a:t>
            </a:r>
            <a:r>
              <a:rPr lang="en-US" sz="1600" dirty="0" b="1">
                <a:solidFill>
                  <a:srgbClr val="1B2236"/>
                </a:solidFill>
                <a:latin typeface="Lexend Deca" pitchFamily="34" charset="0"/>
                <a:ea typeface="Lexend Deca" pitchFamily="34" charset="-122"/>
                <a:cs typeface="Lexend Deca" pitchFamily="34" charset="-120"/>
              </a:rPr>
              <a:t>yet</a:t>
            </a:r>
            <a:r>
              <a:rPr lang="en-US" sz="1600" dirty="0" b="1">
                <a:solidFill>
                  <a:srgbClr val="1B2236"/>
                </a:solidFill>
                <a:latin typeface="Lexend Deca" pitchFamily="34" charset="0"/>
                <a:ea typeface="Lexend Deca" pitchFamily="34" charset="-122"/>
                <a:cs typeface="Lexend Deca" pitchFamily="34" charset="-120"/>
              </a:rPr>
              <a:t>.</a:t>
            </a:r>
            <a:endParaRPr lang="en-US" sz="16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Has</a:t>
            </a:r>
            <a:r>
              <a:rPr lang="en-US" sz="1700" dirty="0" b="1">
                <a:solidFill>
                  <a:srgbClr val="1B2236"/>
                </a:solidFill>
                <a:latin typeface="Lexend Deca" pitchFamily="34" charset="0"/>
                <a:ea typeface="Lexend Deca" pitchFamily="34" charset="-122"/>
                <a:cs typeface="Lexend Deca" pitchFamily="34" charset="-120"/>
              </a:rPr>
              <a:t> the truck arrived </a:t>
            </a:r>
            <a:r>
              <a:rPr lang="en-US" sz="1700" dirty="0" b="1">
                <a:solidFill>
                  <a:srgbClr val="1B2236"/>
                </a:solidFill>
                <a:latin typeface="Lexend Deca" pitchFamily="34" charset="0"/>
                <a:ea typeface="Lexend Deca" pitchFamily="34" charset="-122"/>
                <a:cs typeface="Lexend Deca" pitchFamily="34" charset="-120"/>
              </a:rPr>
              <a:t>yet</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Yes, it </a:t>
            </a:r>
            <a:r>
              <a:rPr lang="en-US" sz="1600" dirty="0" b="1">
                <a:solidFill>
                  <a:srgbClr val="1B2236"/>
                </a:solidFill>
                <a:latin typeface="Lexend Deca" pitchFamily="34" charset="0"/>
                <a:ea typeface="Lexend Deca" pitchFamily="34" charset="-122"/>
                <a:cs typeface="Lexend Deca" pitchFamily="34" charset="-120"/>
              </a:rPr>
              <a:t>has</a:t>
            </a:r>
            <a:r>
              <a:rPr lang="en-US" sz="1600" dirty="0" b="1">
                <a:solidFill>
                  <a:srgbClr val="1B2236"/>
                </a:solidFill>
                <a:latin typeface="Lexend Deca" pitchFamily="34" charset="0"/>
                <a:ea typeface="Lexend Deca" pitchFamily="34" charset="-122"/>
                <a:cs typeface="Lexend Deca" pitchFamily="34" charset="-120"/>
              </a:rPr>
              <a:t>. It</a:t>
            </a:r>
            <a:r>
              <a:rPr lang="en-US" sz="1600" dirty="0" b="1">
                <a:solidFill>
                  <a:srgbClr val="1B2236"/>
                </a:solidFill>
                <a:latin typeface="Lexend Deca" pitchFamily="34" charset="0"/>
                <a:ea typeface="Lexend Deca" pitchFamily="34" charset="-122"/>
                <a:cs typeface="Lexend Deca" pitchFamily="34" charset="-120"/>
              </a:rPr>
              <a:t>'s just</a:t>
            </a:r>
            <a:r>
              <a:rPr lang="en-US" sz="1600" dirty="0" b="1">
                <a:solidFill>
                  <a:srgbClr val="1B2236"/>
                </a:solidFill>
                <a:latin typeface="Lexend Deca" pitchFamily="34" charset="0"/>
                <a:ea typeface="Lexend Deca" pitchFamily="34" charset="-122"/>
                <a:cs typeface="Lexend Deca" pitchFamily="34" charset="-120"/>
              </a:rPr>
              <a:t> arrived.</a:t>
            </a:r>
            <a:endParaRPr lang="en-US" sz="16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Have</a:t>
            </a:r>
            <a:r>
              <a:rPr lang="en-US" sz="1700" dirty="0" b="1">
                <a:solidFill>
                  <a:srgbClr val="1B2236"/>
                </a:solidFill>
                <a:latin typeface="Lexend Deca" pitchFamily="34" charset="0"/>
                <a:ea typeface="Lexend Deca" pitchFamily="34" charset="-122"/>
                <a:cs typeface="Lexend Deca" pitchFamily="34" charset="-120"/>
              </a:rPr>
              <a:t> they restocked the shelves </a:t>
            </a:r>
            <a:r>
              <a:rPr lang="en-US" sz="1700" dirty="0" b="1">
                <a:solidFill>
                  <a:srgbClr val="1B2236"/>
                </a:solidFill>
                <a:latin typeface="Lexend Deca" pitchFamily="34" charset="0"/>
                <a:ea typeface="Lexend Deca" pitchFamily="34" charset="-122"/>
                <a:cs typeface="Lexend Deca" pitchFamily="34" charset="-120"/>
              </a:rPr>
              <a:t>yet</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Yes, they </a:t>
            </a:r>
            <a:r>
              <a:rPr lang="en-US" sz="1600" dirty="0" b="1">
                <a:solidFill>
                  <a:srgbClr val="1B2236"/>
                </a:solidFill>
                <a:latin typeface="Lexend Deca" pitchFamily="34" charset="0"/>
                <a:ea typeface="Lexend Deca" pitchFamily="34" charset="-122"/>
                <a:cs typeface="Lexend Deca" pitchFamily="34" charset="-120"/>
              </a:rPr>
              <a:t>have</a:t>
            </a:r>
            <a:r>
              <a:rPr lang="en-US" sz="1600" dirty="0" b="1">
                <a:solidFill>
                  <a:srgbClr val="1B2236"/>
                </a:solidFill>
                <a:latin typeface="Lexend Deca" pitchFamily="34" charset="0"/>
                <a:ea typeface="Lexend Deca" pitchFamily="34" charset="-122"/>
                <a:cs typeface="Lexend Deca" pitchFamily="34" charset="-120"/>
              </a:rPr>
              <a:t>. They</a:t>
            </a:r>
            <a:r>
              <a:rPr lang="en-US" sz="1600" dirty="0" b="1">
                <a:solidFill>
                  <a:srgbClr val="1B2236"/>
                </a:solidFill>
                <a:latin typeface="Lexend Deca" pitchFamily="34" charset="0"/>
                <a:ea typeface="Lexend Deca" pitchFamily="34" charset="-122"/>
                <a:cs typeface="Lexend Deca" pitchFamily="34" charset="-120"/>
              </a:rPr>
              <a:t>'ve already</a:t>
            </a:r>
            <a:r>
              <a:rPr lang="en-US" sz="1600" dirty="0" b="1">
                <a:solidFill>
                  <a:srgbClr val="1B2236"/>
                </a:solidFill>
                <a:latin typeface="Lexend Deca" pitchFamily="34" charset="0"/>
                <a:ea typeface="Lexend Deca" pitchFamily="34" charset="-122"/>
                <a:cs typeface="Lexend Deca" pitchFamily="34" charset="-120"/>
              </a:rPr>
              <a:t> restocked them.</a:t>
            </a:r>
            <a:endParaRPr lang="en-US" sz="1600" dirty="0" b="1"/>
          </a:p>
        </p:txBody>
      </p:sp>
      <p:sp>
        <p:nvSpPr>
          <p:cNvPr id="27" name="Question 4"/>
          <p:cNvSpPr/>
          <p:nvPr/>
        </p:nvSpPr>
        <p:spPr>
          <a:xfrm>
            <a:off x="5138928" y="544068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Has</a:t>
            </a:r>
            <a:r>
              <a:rPr lang="en-US" sz="1700" dirty="0" b="1">
                <a:solidFill>
                  <a:srgbClr val="1B2236"/>
                </a:solidFill>
                <a:latin typeface="Lexend Deca" pitchFamily="34" charset="0"/>
                <a:ea typeface="Lexend Deca" pitchFamily="34" charset="-122"/>
                <a:cs typeface="Lexend Deca" pitchFamily="34" charset="-120"/>
              </a:rPr>
              <a:t> she finished the training </a:t>
            </a:r>
            <a:r>
              <a:rPr lang="en-US" sz="1700" dirty="0" b="1">
                <a:solidFill>
                  <a:srgbClr val="1B2236"/>
                </a:solidFill>
                <a:latin typeface="Lexend Deca" pitchFamily="34" charset="0"/>
                <a:ea typeface="Lexend Deca" pitchFamily="34" charset="-122"/>
                <a:cs typeface="Lexend Deca" pitchFamily="34" charset="-120"/>
              </a:rPr>
              <a:t>yet</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8" name="Answer bg 4"/>
          <p:cNvSpPr/>
          <p:nvPr/>
        </p:nvSpPr>
        <p:spPr>
          <a:xfrm>
            <a:off x="7863840" y="544068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863840" y="544068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No, she </a:t>
            </a:r>
            <a:r>
              <a:rPr lang="en-US" sz="1600" dirty="0" b="1">
                <a:solidFill>
                  <a:srgbClr val="1B2236"/>
                </a:solidFill>
                <a:latin typeface="Lexend Deca" pitchFamily="34" charset="0"/>
                <a:ea typeface="Lexend Deca" pitchFamily="34" charset="-122"/>
                <a:cs typeface="Lexend Deca" pitchFamily="34" charset="-120"/>
              </a:rPr>
              <a:t>hasn't</a:t>
            </a:r>
            <a:r>
              <a:rPr lang="en-US" sz="1600" dirty="0" b="1">
                <a:solidFill>
                  <a:srgbClr val="1B2236"/>
                </a:solidFill>
                <a:latin typeface="Lexend Deca" pitchFamily="34" charset="0"/>
                <a:ea typeface="Lexend Deca" pitchFamily="34" charset="-122"/>
                <a:cs typeface="Lexend Deca" pitchFamily="34" charset="-120"/>
              </a:rPr>
              <a:t>. She</a:t>
            </a:r>
            <a:r>
              <a:rPr lang="en-US" sz="1600" dirty="0" b="1">
                <a:solidFill>
                  <a:srgbClr val="1B2236"/>
                </a:solidFill>
                <a:latin typeface="Lexend Deca" pitchFamily="34" charset="0"/>
                <a:ea typeface="Lexend Deca" pitchFamily="34" charset="-122"/>
                <a:cs typeface="Lexend Deca" pitchFamily="34" charset="-120"/>
              </a:rPr>
              <a:t>'s going to</a:t>
            </a:r>
            <a:r>
              <a:rPr lang="en-US" sz="1600" dirty="0" b="1">
                <a:solidFill>
                  <a:srgbClr val="1B2236"/>
                </a:solidFill>
                <a:latin typeface="Lexend Deca" pitchFamily="34" charset="0"/>
                <a:ea typeface="Lexend Deca" pitchFamily="34" charset="-122"/>
                <a:cs typeface="Lexend Deca" pitchFamily="34" charset="-120"/>
              </a:rPr>
              <a:t> finish it on Friday.</a:t>
            </a:r>
            <a:endParaRPr lang="en-US" sz="16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Task: a broom and a sponge [sign: TASK: CLEAN]"/>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2</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done → when? (simple past)</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3268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Have</a:t>
            </a:r>
            <a:r>
              <a:rPr lang="en-US" sz="1800" dirty="0" b="1">
                <a:solidFill>
                  <a:srgbClr val="1B2236"/>
                </a:solidFill>
                <a:latin typeface="Lexend Deca" pitchFamily="34" charset="0"/>
                <a:ea typeface="Lexend Deca" pitchFamily="34" charset="-122"/>
                <a:cs typeface="Lexend Deca" pitchFamily="34" charset="-120"/>
              </a:rPr>
              <a:t> you finished the orders?</a:t>
            </a:r>
            <a:endParaRPr lang="en-US" sz="1800" dirty="0" b="1"/>
          </a:p>
        </p:txBody>
      </p:sp>
      <p:sp>
        <p:nvSpPr>
          <p:cNvPr id="19" name="Answer bg 1"/>
          <p:cNvSpPr/>
          <p:nvPr/>
        </p:nvSpPr>
        <p:spPr>
          <a:xfrm>
            <a:off x="7863840" y="2286000"/>
            <a:ext cx="4069080" cy="93268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3268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Yes, I </a:t>
            </a:r>
            <a:r>
              <a:rPr lang="en-US" sz="1800" dirty="0" b="1">
                <a:solidFill>
                  <a:srgbClr val="1B2236"/>
                </a:solidFill>
                <a:latin typeface="Lexend Deca" pitchFamily="34" charset="0"/>
                <a:ea typeface="Lexend Deca" pitchFamily="34" charset="-122"/>
                <a:cs typeface="Lexend Deca" pitchFamily="34" charset="-120"/>
              </a:rPr>
              <a:t>have</a:t>
            </a:r>
            <a:r>
              <a:rPr lang="en-US" sz="1800" dirty="0" b="1">
                <a:solidFill>
                  <a:srgbClr val="1B2236"/>
                </a:solidFill>
                <a:latin typeface="Lexend Deca" pitchFamily="34" charset="0"/>
                <a:ea typeface="Lexend Deca" pitchFamily="34" charset="-122"/>
                <a:cs typeface="Lexend Deca" pitchFamily="34" charset="-120"/>
              </a:rPr>
              <a:t>. I</a:t>
            </a:r>
            <a:r>
              <a:rPr lang="en-US" sz="1800" dirty="0" b="1">
                <a:solidFill>
                  <a:srgbClr val="1B2236"/>
                </a:solidFill>
                <a:latin typeface="Lexend Deca" pitchFamily="34" charset="0"/>
                <a:ea typeface="Lexend Deca" pitchFamily="34" charset="-122"/>
                <a:cs typeface="Lexend Deca" pitchFamily="34" charset="-120"/>
              </a:rPr>
              <a:t>'ve finished</a:t>
            </a:r>
            <a:r>
              <a:rPr lang="en-US" sz="1800" dirty="0" b="1">
                <a:solidFill>
                  <a:srgbClr val="1B2236"/>
                </a:solidFill>
                <a:latin typeface="Lexend Deca" pitchFamily="34" charset="0"/>
                <a:ea typeface="Lexend Deca" pitchFamily="34" charset="-122"/>
                <a:cs typeface="Lexend Deca" pitchFamily="34" charset="-120"/>
              </a:rPr>
              <a:t> them.</a:t>
            </a:r>
            <a:endParaRPr lang="en-US" sz="1800" dirty="0" b="1"/>
          </a:p>
        </p:txBody>
      </p:sp>
      <p:sp>
        <p:nvSpPr>
          <p:cNvPr id="21" name="Question 2"/>
          <p:cNvSpPr/>
          <p:nvPr/>
        </p:nvSpPr>
        <p:spPr>
          <a:xfrm>
            <a:off x="5138928" y="3291840"/>
            <a:ext cx="2651760" cy="93268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When did</a:t>
            </a:r>
            <a:r>
              <a:rPr lang="en-US" sz="1800" dirty="0" b="1">
                <a:solidFill>
                  <a:srgbClr val="1B2236"/>
                </a:solidFill>
                <a:latin typeface="Lexend Deca" pitchFamily="34" charset="0"/>
                <a:ea typeface="Lexend Deca" pitchFamily="34" charset="-122"/>
                <a:cs typeface="Lexend Deca" pitchFamily="34" charset="-120"/>
              </a:rPr>
              <a:t> you finish them?</a:t>
            </a:r>
            <a:endParaRPr lang="en-US" sz="1800" dirty="0" b="1"/>
          </a:p>
        </p:txBody>
      </p:sp>
      <p:sp>
        <p:nvSpPr>
          <p:cNvPr id="22" name="Answer bg 2"/>
          <p:cNvSpPr/>
          <p:nvPr/>
        </p:nvSpPr>
        <p:spPr>
          <a:xfrm>
            <a:off x="7863840" y="3291840"/>
            <a:ext cx="4069080" cy="93268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291840"/>
            <a:ext cx="4069080" cy="93268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1B2236"/>
                </a:solidFill>
                <a:latin typeface="Lexend Deca" pitchFamily="34" charset="0"/>
                <a:ea typeface="Lexend Deca" pitchFamily="34" charset="-122"/>
                <a:cs typeface="Lexend Deca" pitchFamily="34" charset="-120"/>
              </a:rPr>
              <a:t>finished</a:t>
            </a:r>
            <a:r>
              <a:rPr lang="en-US" sz="1800" dirty="0" b="1">
                <a:solidFill>
                  <a:srgbClr val="1B2236"/>
                </a:solidFill>
                <a:latin typeface="Lexend Deca" pitchFamily="34" charset="0"/>
                <a:ea typeface="Lexend Deca" pitchFamily="34" charset="-122"/>
                <a:cs typeface="Lexend Deca" pitchFamily="34" charset="-120"/>
              </a:rPr>
              <a:t> them at 3:00. / an hour ago.</a:t>
            </a:r>
            <a:endParaRPr lang="en-US" sz="1800" dirty="0" b="1"/>
          </a:p>
        </p:txBody>
      </p:sp>
      <p:sp>
        <p:nvSpPr>
          <p:cNvPr id="24" name="Question 3"/>
          <p:cNvSpPr/>
          <p:nvPr/>
        </p:nvSpPr>
        <p:spPr>
          <a:xfrm>
            <a:off x="5138928" y="4297680"/>
            <a:ext cx="2651760" cy="93268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What have</a:t>
            </a:r>
            <a:r>
              <a:rPr lang="en-US" sz="1800" dirty="0" b="1">
                <a:solidFill>
                  <a:srgbClr val="1B2236"/>
                </a:solidFill>
                <a:latin typeface="Lexend Deca" pitchFamily="34" charset="0"/>
                <a:ea typeface="Lexend Deca" pitchFamily="34" charset="-122"/>
                <a:cs typeface="Lexend Deca" pitchFamily="34" charset="-120"/>
              </a:rPr>
              <a:t> you done this week?</a:t>
            </a:r>
            <a:endParaRPr lang="en-US" sz="1800" dirty="0" b="1"/>
          </a:p>
        </p:txBody>
      </p:sp>
      <p:sp>
        <p:nvSpPr>
          <p:cNvPr id="25" name="Answer bg 3"/>
          <p:cNvSpPr/>
          <p:nvPr/>
        </p:nvSpPr>
        <p:spPr>
          <a:xfrm>
            <a:off x="7863840" y="4297680"/>
            <a:ext cx="4069080" cy="93268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297680"/>
            <a:ext cx="4069080" cy="93268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a:t>
            </a:r>
            <a:r>
              <a:rPr lang="en-US" sz="1800" dirty="0" b="1">
                <a:solidFill>
                  <a:srgbClr val="1B2236"/>
                </a:solidFill>
                <a:latin typeface="Lexend Deca" pitchFamily="34" charset="0"/>
                <a:ea typeface="Lexend Deca" pitchFamily="34" charset="-122"/>
                <a:cs typeface="Lexend Deca" pitchFamily="34" charset="-120"/>
              </a:rPr>
              <a:t>'ve checked</a:t>
            </a:r>
            <a:r>
              <a:rPr lang="en-US" sz="1800" dirty="0" b="1">
                <a:solidFill>
                  <a:srgbClr val="1B2236"/>
                </a:solidFill>
                <a:latin typeface="Lexend Deca" pitchFamily="34" charset="0"/>
                <a:ea typeface="Lexend Deca" pitchFamily="34" charset="-122"/>
                <a:cs typeface="Lexend Deca" pitchFamily="34" charset="-120"/>
              </a:rPr>
              <a:t> the inventory, and I</a:t>
            </a:r>
            <a:r>
              <a:rPr lang="en-US" sz="1800" dirty="0" b="1">
                <a:solidFill>
                  <a:srgbClr val="1B2236"/>
                </a:solidFill>
                <a:latin typeface="Lexend Deca" pitchFamily="34" charset="0"/>
                <a:ea typeface="Lexend Deca" pitchFamily="34" charset="-122"/>
                <a:cs typeface="Lexend Deca" pitchFamily="34" charset="-120"/>
              </a:rPr>
              <a:t>'ve cleaned</a:t>
            </a:r>
            <a:r>
              <a:rPr lang="en-US" sz="1800" dirty="0" b="1">
                <a:solidFill>
                  <a:srgbClr val="1B2236"/>
                </a:solidFill>
                <a:latin typeface="Lexend Deca" pitchFamily="34" charset="0"/>
                <a:ea typeface="Lexend Deca" pitchFamily="34" charset="-122"/>
                <a:cs typeface="Lexend Deca" pitchFamily="34" charset="-120"/>
              </a:rPr>
              <a:t> the cooler.</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Break room: coffee and a chair [sign: BREAK ROOM]"/>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100" dirty="0" b="1">
                <a:solidFill>
                  <a:srgbClr val="1B2236"/>
                </a:solidFill>
                <a:latin typeface="Lexend Deca" pitchFamily="34" charset="0"/>
                <a:ea typeface="Lexend Deca" pitchFamily="34" charset="-122"/>
                <a:cs typeface="Lexend Deca" pitchFamily="34" charset="-120"/>
              </a:rPr>
              <a:t>word place</a:t>
            </a:r>
            <a:endParaRPr lang="en-US" sz="2100" dirty="0" b="1"/>
          </a:p>
        </p:txBody>
      </p:sp>
      <p:sp>
        <p:nvSpPr>
          <p:cNvPr id="8" name="Q head"/>
          <p:cNvSpPr/>
          <p:nvPr/>
        </p:nvSpPr>
        <p:spPr>
          <a:xfrm>
            <a:off x="5166360" y="1828800"/>
            <a:ext cx="27432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WORD  ·  WHERE?</a:t>
            </a:r>
            <a:endParaRPr lang="en-US" sz="2000" dirty="0" b="1"/>
          </a:p>
        </p:txBody>
      </p:sp>
      <p:sp>
        <p:nvSpPr>
          <p:cNvPr id="11" name="A head"/>
          <p:cNvSpPr/>
          <p:nvPr/>
        </p:nvSpPr>
        <p:spPr>
          <a:xfrm>
            <a:off x="7955280" y="1828800"/>
            <a:ext cx="39776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EXAMPLE</a:t>
            </a:r>
            <a:endParaRPr lang="en-US" sz="2000" dirty="0" b="1"/>
          </a:p>
        </p:txBody>
      </p:sp>
      <p:sp>
        <p:nvSpPr>
          <p:cNvPr id="18" name="Question 1"/>
          <p:cNvSpPr/>
          <p:nvPr/>
        </p:nvSpPr>
        <p:spPr>
          <a:xfrm>
            <a:off x="5138928" y="2286000"/>
            <a:ext cx="274320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already</a:t>
            </a:r>
            <a:r>
              <a:rPr lang="en-US" sz="1700" dirty="0" b="1">
                <a:solidFill>
                  <a:srgbClr val="1B2236"/>
                </a:solidFill>
                <a:latin typeface="Lexend Deca" pitchFamily="34" charset="0"/>
                <a:ea typeface="Lexend Deca" pitchFamily="34" charset="-122"/>
                <a:cs typeface="Lexend Deca" pitchFamily="34" charset="-120"/>
              </a:rPr>
              <a:t>: before the past participle</a:t>
            </a:r>
            <a:endParaRPr lang="en-US" sz="1700" dirty="0" b="1"/>
          </a:p>
        </p:txBody>
      </p:sp>
      <p:sp>
        <p:nvSpPr>
          <p:cNvPr id="19" name="Answer bg 1"/>
          <p:cNvSpPr/>
          <p:nvPr/>
        </p:nvSpPr>
        <p:spPr>
          <a:xfrm>
            <a:off x="7955280" y="2286000"/>
            <a:ext cx="397764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955280" y="2286000"/>
            <a:ext cx="397764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I've </a:t>
            </a:r>
            <a:r>
              <a:rPr lang="en-US" sz="1700" dirty="0" b="1">
                <a:solidFill>
                  <a:srgbClr val="1B2236"/>
                </a:solidFill>
                <a:latin typeface="Lexend Deca" pitchFamily="34" charset="0"/>
                <a:ea typeface="Lexend Deca" pitchFamily="34" charset="-122"/>
                <a:cs typeface="Lexend Deca" pitchFamily="34" charset="-120"/>
              </a:rPr>
              <a:t>already</a:t>
            </a:r>
            <a:r>
              <a:rPr lang="en-US" sz="1700" dirty="0" b="1">
                <a:solidFill>
                  <a:srgbClr val="1B2236"/>
                </a:solidFill>
                <a:latin typeface="Lexend Deca" pitchFamily="34" charset="0"/>
                <a:ea typeface="Lexend Deca" pitchFamily="34" charset="-122"/>
                <a:cs typeface="Lexend Deca" pitchFamily="34" charset="-120"/>
              </a:rPr>
              <a:t> cleaned it.</a:t>
            </a:r>
            <a:endParaRPr lang="en-US" sz="1700" dirty="0" b="1"/>
          </a:p>
        </p:txBody>
      </p:sp>
      <p:sp>
        <p:nvSpPr>
          <p:cNvPr id="21" name="Question 2"/>
          <p:cNvSpPr/>
          <p:nvPr/>
        </p:nvSpPr>
        <p:spPr>
          <a:xfrm>
            <a:off x="5138928" y="3200400"/>
            <a:ext cx="274320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just</a:t>
            </a:r>
            <a:r>
              <a:rPr lang="en-US" sz="1700" dirty="0" b="1">
                <a:solidFill>
                  <a:srgbClr val="1B2236"/>
                </a:solidFill>
                <a:latin typeface="Lexend Deca" pitchFamily="34" charset="0"/>
                <a:ea typeface="Lexend Deca" pitchFamily="34" charset="-122"/>
                <a:cs typeface="Lexend Deca" pitchFamily="34" charset="-120"/>
              </a:rPr>
              <a:t>: before the past participle</a:t>
            </a:r>
            <a:endParaRPr lang="en-US" sz="1700" dirty="0" b="1"/>
          </a:p>
        </p:txBody>
      </p:sp>
      <p:sp>
        <p:nvSpPr>
          <p:cNvPr id="22" name="Answer bg 2"/>
          <p:cNvSpPr/>
          <p:nvPr/>
        </p:nvSpPr>
        <p:spPr>
          <a:xfrm>
            <a:off x="7955280" y="3200400"/>
            <a:ext cx="397764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955280" y="3200400"/>
            <a:ext cx="397764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 truck has </a:t>
            </a:r>
            <a:r>
              <a:rPr lang="en-US" sz="1700" dirty="0" b="1">
                <a:solidFill>
                  <a:srgbClr val="1B2236"/>
                </a:solidFill>
                <a:latin typeface="Lexend Deca" pitchFamily="34" charset="0"/>
                <a:ea typeface="Lexend Deca" pitchFamily="34" charset="-122"/>
                <a:cs typeface="Lexend Deca" pitchFamily="34" charset="-120"/>
              </a:rPr>
              <a:t>just</a:t>
            </a:r>
            <a:r>
              <a:rPr lang="en-US" sz="1700" dirty="0" b="1">
                <a:solidFill>
                  <a:srgbClr val="1B2236"/>
                </a:solidFill>
                <a:latin typeface="Lexend Deca" pitchFamily="34" charset="0"/>
                <a:ea typeface="Lexend Deca" pitchFamily="34" charset="-122"/>
                <a:cs typeface="Lexend Deca" pitchFamily="34" charset="-120"/>
              </a:rPr>
              <a:t> arrived.</a:t>
            </a:r>
            <a:endParaRPr lang="en-US" sz="1700" dirty="0" b="1"/>
          </a:p>
        </p:txBody>
      </p:sp>
      <p:sp>
        <p:nvSpPr>
          <p:cNvPr id="24" name="Question 3"/>
          <p:cNvSpPr/>
          <p:nvPr/>
        </p:nvSpPr>
        <p:spPr>
          <a:xfrm>
            <a:off x="5138928" y="4114800"/>
            <a:ext cx="274320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yet</a:t>
            </a:r>
            <a:r>
              <a:rPr lang="en-US" sz="1700" dirty="0" b="1">
                <a:solidFill>
                  <a:srgbClr val="1B2236"/>
                </a:solidFill>
                <a:latin typeface="Lexend Deca" pitchFamily="34" charset="0"/>
                <a:ea typeface="Lexend Deca" pitchFamily="34" charset="-122"/>
                <a:cs typeface="Lexend Deca" pitchFamily="34" charset="-120"/>
              </a:rPr>
              <a:t>: at the end (questions and not)</a:t>
            </a:r>
            <a:endParaRPr lang="en-US" sz="1700" dirty="0" b="1"/>
          </a:p>
        </p:txBody>
      </p:sp>
      <p:sp>
        <p:nvSpPr>
          <p:cNvPr id="25" name="Answer bg 3"/>
          <p:cNvSpPr/>
          <p:nvPr/>
        </p:nvSpPr>
        <p:spPr>
          <a:xfrm>
            <a:off x="7955280" y="4114800"/>
            <a:ext cx="397764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955280" y="4114800"/>
            <a:ext cx="397764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Have you finished </a:t>
            </a:r>
            <a:r>
              <a:rPr lang="en-US" sz="1700" dirty="0" b="1">
                <a:solidFill>
                  <a:srgbClr val="1B2236"/>
                </a:solidFill>
                <a:latin typeface="Lexend Deca" pitchFamily="34" charset="0"/>
                <a:ea typeface="Lexend Deca" pitchFamily="34" charset="-122"/>
                <a:cs typeface="Lexend Deca" pitchFamily="34" charset="-120"/>
              </a:rPr>
              <a:t>yet</a:t>
            </a:r>
            <a:r>
              <a:rPr lang="en-US" sz="1700" dirty="0" b="1">
                <a:solidFill>
                  <a:srgbClr val="1B2236"/>
                </a:solidFill>
                <a:latin typeface="Lexend Deca" pitchFamily="34" charset="0"/>
                <a:ea typeface="Lexend Deca" pitchFamily="34" charset="-122"/>
                <a:cs typeface="Lexend Deca" pitchFamily="34" charset="-120"/>
              </a:rPr>
              <a:t>? I haven't finished </a:t>
            </a:r>
            <a:r>
              <a:rPr lang="en-US" sz="1700" dirty="0" b="1">
                <a:solidFill>
                  <a:srgbClr val="1B2236"/>
                </a:solidFill>
                <a:latin typeface="Lexend Deca" pitchFamily="34" charset="0"/>
                <a:ea typeface="Lexend Deca" pitchFamily="34" charset="-122"/>
                <a:cs typeface="Lexend Deca" pitchFamily="34" charset="-120"/>
              </a:rPr>
              <a:t>yet</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7" name="Question 4"/>
          <p:cNvSpPr/>
          <p:nvPr/>
        </p:nvSpPr>
        <p:spPr>
          <a:xfrm>
            <a:off x="5138928" y="5029200"/>
            <a:ext cx="274320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it / them</a:t>
            </a:r>
            <a:r>
              <a:rPr lang="en-US" sz="1700" dirty="0" b="1">
                <a:solidFill>
                  <a:srgbClr val="1B2236"/>
                </a:solidFill>
                <a:latin typeface="Lexend Deca" pitchFamily="34" charset="0"/>
                <a:ea typeface="Lexend Deca" pitchFamily="34" charset="-122"/>
                <a:cs typeface="Lexend Deca" pitchFamily="34" charset="-120"/>
              </a:rPr>
              <a:t>: after the verb</a:t>
            </a:r>
            <a:endParaRPr lang="en-US" sz="1700" dirty="0" b="1"/>
          </a:p>
        </p:txBody>
      </p:sp>
      <p:sp>
        <p:nvSpPr>
          <p:cNvPr id="28" name="Answer bg 4"/>
          <p:cNvSpPr/>
          <p:nvPr/>
        </p:nvSpPr>
        <p:spPr>
          <a:xfrm>
            <a:off x="7955280" y="5029200"/>
            <a:ext cx="397764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955280" y="5029200"/>
            <a:ext cx="397764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 cooler → I've cleaned </a:t>
            </a:r>
            <a:r>
              <a:rPr lang="en-US" sz="1700" dirty="0" b="1">
                <a:solidFill>
                  <a:srgbClr val="1B2236"/>
                </a:solidFill>
                <a:latin typeface="Lexend Deca" pitchFamily="34" charset="0"/>
                <a:ea typeface="Lexend Deca" pitchFamily="34" charset="-122"/>
                <a:cs typeface="Lexend Deca" pitchFamily="34" charset="-120"/>
              </a:rPr>
              <a:t>it</a:t>
            </a:r>
            <a:r>
              <a:rPr lang="en-US" sz="1700" dirty="0" b="1">
                <a:solidFill>
                  <a:srgbClr val="1B2236"/>
                </a:solidFill>
                <a:latin typeface="Lexend Deca" pitchFamily="34" charset="0"/>
                <a:ea typeface="Lexend Deca" pitchFamily="34" charset="-122"/>
                <a:cs typeface="Lexend Deca" pitchFamily="34" charset="-120"/>
              </a:rPr>
              <a:t>.</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the shelves → I've restocked </a:t>
            </a:r>
            <a:r>
              <a:rPr lang="en-US" sz="1700" dirty="0" b="1">
                <a:solidFill>
                  <a:srgbClr val="1B2236"/>
                </a:solidFill>
                <a:latin typeface="Lexend Deca" pitchFamily="34" charset="0"/>
                <a:ea typeface="Lexend Deca" pitchFamily="34" charset="-122"/>
                <a:cs typeface="Lexend Deca" pitchFamily="34" charset="-120"/>
              </a:rPr>
              <a:t>them</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Clock out: a clock and an arrow [sign: OUT 5:00]"/>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4</a:t>
            </a:r>
            <a:endParaRPr lang="en-US" sz="2000" dirty="0" b="1"/>
          </a:p>
          <a:p>
            <a:pPr algn="l" indent="0" marL="0">
              <a:spcAft>
                <a:spcPts val="400"/>
              </a:spcAft>
              <a:buNone/>
            </a:pPr>
            <a:r>
              <a:rPr lang="en-US" sz="2100" dirty="0" b="1">
                <a:solidFill>
                  <a:srgbClr val="1B2236"/>
                </a:solidFill>
                <a:latin typeface="Lexend Deca" pitchFamily="34" charset="0"/>
                <a:ea typeface="Lexend Deca" pitchFamily="34" charset="-122"/>
                <a:cs typeface="Lexend Deca" pitchFamily="34" charset="-120"/>
              </a:rPr>
              <a:t>Which one?</a:t>
            </a:r>
            <a:endParaRPr lang="en-US" sz="2100" dirty="0" b="1"/>
          </a:p>
        </p:txBody>
      </p:sp>
      <p:sp>
        <p:nvSpPr>
          <p:cNvPr id="8" name="Q head"/>
          <p:cNvSpPr/>
          <p:nvPr/>
        </p:nvSpPr>
        <p:spPr>
          <a:xfrm>
            <a:off x="5166360" y="1828800"/>
            <a:ext cx="23774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FORM</a:t>
            </a:r>
            <a:endParaRPr lang="en-US" sz="2000" dirty="0" b="1"/>
          </a:p>
        </p:txBody>
      </p:sp>
      <p:sp>
        <p:nvSpPr>
          <p:cNvPr id="11" name="A head"/>
          <p:cNvSpPr/>
          <p:nvPr/>
        </p:nvSpPr>
        <p:spPr>
          <a:xfrm>
            <a:off x="7589520" y="1828800"/>
            <a:ext cx="43434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WHEN?  ·  EXAMPLE</a:t>
            </a:r>
            <a:endParaRPr lang="en-US" sz="2000" dirty="0" b="1"/>
          </a:p>
        </p:txBody>
      </p:sp>
      <p:sp>
        <p:nvSpPr>
          <p:cNvPr id="18" name="Question 1"/>
          <p:cNvSpPr/>
          <p:nvPr/>
        </p:nvSpPr>
        <p:spPr>
          <a:xfrm>
            <a:off x="5138928" y="2286000"/>
            <a:ext cx="237744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have / has</a:t>
            </a:r>
            <a:r>
              <a:rPr lang="en-US" sz="1800" dirty="0" b="1">
                <a:solidFill>
                  <a:srgbClr val="1B2236"/>
                </a:solidFill>
                <a:latin typeface="Lexend Deca" pitchFamily="34" charset="0"/>
                <a:ea typeface="Lexend Deca" pitchFamily="34" charset="-122"/>
                <a:cs typeface="Lexend Deca" pitchFamily="34" charset="-120"/>
              </a:rPr>
              <a:t> + past participle</a:t>
            </a:r>
            <a:endParaRPr lang="en-US" sz="1800" dirty="0" b="1"/>
          </a:p>
        </p:txBody>
      </p:sp>
      <p:sp>
        <p:nvSpPr>
          <p:cNvPr id="19" name="Answer bg 1"/>
          <p:cNvSpPr/>
          <p:nvPr/>
        </p:nvSpPr>
        <p:spPr>
          <a:xfrm>
            <a:off x="7589520" y="2286000"/>
            <a:ext cx="4343400" cy="11155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589520" y="2286000"/>
            <a:ext cx="434340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it is done (or not done); </a:t>
            </a:r>
            <a:r>
              <a:rPr lang="en-US" sz="1800" dirty="0" b="1">
                <a:solidFill>
                  <a:srgbClr val="1B2236"/>
                </a:solidFill>
                <a:latin typeface="Lexend Deca" pitchFamily="34" charset="0"/>
                <a:ea typeface="Lexend Deca" pitchFamily="34" charset="-122"/>
                <a:cs typeface="Lexend Deca" pitchFamily="34" charset="-120"/>
              </a:rPr>
              <a:t>no time</a:t>
            </a:r>
            <a:br>
              <a:rPr lang="en-US" sz="1800" dirty="0" b="1">
                <a:solidFill>
                  <a:srgbClr val="1B2236"/>
                </a:solidFill>
                <a:latin typeface="Lexend Deca" pitchFamily="34" charset="0"/>
                <a:ea typeface="Lexend Deca" pitchFamily="34" charset="-122"/>
                <a:cs typeface="Lexend Deca" pitchFamily="34" charset="-120"/>
              </a:rPr>
            </a:br>
            <a:r>
              <a:rPr lang="en-US" sz="1800" dirty="0" b="1">
                <a:solidFill>
                  <a:srgbClr val="1B2236"/>
                </a:solidFill>
                <a:latin typeface="Lexend Deca" pitchFamily="34" charset="0"/>
                <a:ea typeface="Lexend Deca" pitchFamily="34" charset="-122"/>
                <a:cs typeface="Lexend Deca" pitchFamily="34" charset="-120"/>
              </a:rPr>
              <a:t>I've finished the orders. I haven't called her yet.</a:t>
            </a:r>
            <a:endParaRPr lang="en-US" sz="1800" dirty="0" b="1"/>
          </a:p>
        </p:txBody>
      </p:sp>
      <p:sp>
        <p:nvSpPr>
          <p:cNvPr id="21" name="Question 2"/>
          <p:cNvSpPr/>
          <p:nvPr/>
        </p:nvSpPr>
        <p:spPr>
          <a:xfrm>
            <a:off x="5138928" y="3474720"/>
            <a:ext cx="237744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simple past</a:t>
            </a:r>
            <a:endParaRPr lang="en-US" sz="1800" dirty="0" b="1"/>
          </a:p>
        </p:txBody>
      </p:sp>
      <p:sp>
        <p:nvSpPr>
          <p:cNvPr id="22" name="Answer bg 2"/>
          <p:cNvSpPr/>
          <p:nvPr/>
        </p:nvSpPr>
        <p:spPr>
          <a:xfrm>
            <a:off x="7589520" y="3474720"/>
            <a:ext cx="4343400" cy="11155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589520" y="3474720"/>
            <a:ext cx="434340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a </a:t>
            </a:r>
            <a:r>
              <a:rPr lang="en-US" sz="1800" dirty="0" b="1">
                <a:solidFill>
                  <a:srgbClr val="1B2236"/>
                </a:solidFill>
                <a:latin typeface="Lexend Deca" pitchFamily="34" charset="0"/>
                <a:ea typeface="Lexend Deca" pitchFamily="34" charset="-122"/>
                <a:cs typeface="Lexend Deca" pitchFamily="34" charset="-120"/>
              </a:rPr>
              <a:t>finished time</a:t>
            </a:r>
            <a:r>
              <a:rPr lang="en-US" sz="1800" dirty="0" b="1">
                <a:solidFill>
                  <a:srgbClr val="1B2236"/>
                </a:solidFill>
                <a:latin typeface="Lexend Deca" pitchFamily="34" charset="0"/>
                <a:ea typeface="Lexend Deca" pitchFamily="34" charset="-122"/>
                <a:cs typeface="Lexend Deca" pitchFamily="34" charset="-120"/>
              </a:rPr>
              <a:t> (at 3:00, yesterday, an hour ago)</a:t>
            </a:r>
            <a:br>
              <a:rPr lang="en-US" sz="1800" dirty="0" b="1">
                <a:solidFill>
                  <a:srgbClr val="1B2236"/>
                </a:solidFill>
                <a:latin typeface="Lexend Deca" pitchFamily="34" charset="0"/>
                <a:ea typeface="Lexend Deca" pitchFamily="34" charset="-122"/>
                <a:cs typeface="Lexend Deca" pitchFamily="34" charset="-120"/>
              </a:rPr>
            </a:br>
            <a:r>
              <a:rPr lang="en-US" sz="1800" dirty="0" b="1">
                <a:solidFill>
                  <a:srgbClr val="1B2236"/>
                </a:solidFill>
                <a:latin typeface="Lexend Deca" pitchFamily="34" charset="0"/>
                <a:ea typeface="Lexend Deca" pitchFamily="34" charset="-122"/>
                <a:cs typeface="Lexend Deca" pitchFamily="34" charset="-120"/>
              </a:rPr>
              <a:t>I finished the orders at 3:00.</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Practice A</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already, yet, or just.</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Practice A</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Words: </a:t>
            </a:r>
            <a:r>
              <a:rPr lang="en-US" sz="2000" dirty="0" b="1">
                <a:solidFill>
                  <a:srgbClr val="5B3FC4"/>
                </a:solidFill>
                <a:latin typeface="Lexend Deca" pitchFamily="34" charset="0"/>
                <a:ea typeface="Lexend Deca" pitchFamily="34" charset="-122"/>
                <a:cs typeface="Lexend Deca" pitchFamily="34" charset="-120"/>
              </a:rPr>
              <a:t>already, yet, just</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check your answers.</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31596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Have you clocked out ____?</a:t>
            </a:r>
            <a:endParaRPr lang="en-US" sz="1600" dirty="0"/>
          </a:p>
        </p:txBody>
      </p:sp>
      <p:sp>
        <p:nvSpPr>
          <p:cNvPr id="35" name="R1 ans"/>
          <p:cNvSpPr/>
          <p:nvPr/>
        </p:nvSpPr>
        <p:spPr>
          <a:xfrm>
            <a:off x="6199632" y="2222144"/>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yet</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31596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The truck arrived one minute ago. It has ____ arrived.</a:t>
            </a:r>
            <a:endParaRPr lang="en-US" sz="1600" dirty="0"/>
          </a:p>
        </p:txBody>
      </p:sp>
      <p:sp>
        <p:nvSpPr>
          <p:cNvPr id="40" name="R2 ans"/>
          <p:cNvSpPr/>
          <p:nvPr/>
        </p:nvSpPr>
        <p:spPr>
          <a:xfrm>
            <a:off x="6199632" y="2950312"/>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just</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31596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She hasn't restocked the shelves ____.</a:t>
            </a:r>
            <a:endParaRPr lang="en-US" sz="1600" dirty="0"/>
          </a:p>
        </p:txBody>
      </p:sp>
      <p:sp>
        <p:nvSpPr>
          <p:cNvPr id="45" name="R3 ans"/>
          <p:cNvSpPr/>
          <p:nvPr/>
        </p:nvSpPr>
        <p:spPr>
          <a:xfrm>
            <a:off x="6199632" y="3678479"/>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yet</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31596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Has the supervisor given you feedback ____?</a:t>
            </a:r>
            <a:endParaRPr lang="en-US" sz="1600" dirty="0"/>
          </a:p>
        </p:txBody>
      </p:sp>
      <p:sp>
        <p:nvSpPr>
          <p:cNvPr id="50" name="R4 ans"/>
          <p:cNvSpPr/>
          <p:nvPr/>
        </p:nvSpPr>
        <p:spPr>
          <a:xfrm>
            <a:off x="6199632" y="4406646"/>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yet</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31596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The deadline is Friday, but I've ____ finished the training. It's only Monday!</a:t>
            </a:r>
            <a:endParaRPr lang="en-US" sz="1600" dirty="0"/>
          </a:p>
        </p:txBody>
      </p:sp>
      <p:sp>
        <p:nvSpPr>
          <p:cNvPr id="55" name="R5 ans"/>
          <p:cNvSpPr/>
          <p:nvPr/>
        </p:nvSpPr>
        <p:spPr>
          <a:xfrm>
            <a:off x="6199632" y="5134813"/>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already</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31596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 can't talk now. I've ____ clocked in, and I need to start work.</a:t>
            </a:r>
            <a:endParaRPr lang="en-US" sz="1600" dirty="0"/>
          </a:p>
        </p:txBody>
      </p:sp>
      <p:sp>
        <p:nvSpPr>
          <p:cNvPr id="60" name="R6 ans"/>
          <p:cNvSpPr/>
          <p:nvPr/>
        </p:nvSpPr>
        <p:spPr>
          <a:xfrm>
            <a:off x="6199632" y="5862980"/>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just</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Practice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correct words.</a:t>
            </a:r>
            <a:endParaRPr lang="en-US" sz="2000" dirty="0"/>
          </a:p>
        </p:txBody>
      </p:sp>
      <p:sp>
        <p:nvSpPr>
          <p:cNvPr id="8" name="R1 stmt"/>
          <p:cNvSpPr/>
          <p:nvPr/>
        </p:nvSpPr>
        <p:spPr>
          <a:xfrm>
            <a:off x="502920" y="3108960"/>
            <a:ext cx="58978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1. I ____ cleaned the cooler yet.</a:t>
            </a:r>
            <a:endParaRPr lang="en-US" sz="1800" dirty="0"/>
          </a:p>
        </p:txBody>
      </p:sp>
      <p:sp>
        <p:nvSpPr>
          <p:cNvPr id="9" name="R1 opt1"/>
          <p:cNvSpPr/>
          <p:nvPr/>
        </p:nvSpPr>
        <p:spPr>
          <a:xfrm>
            <a:off x="6583680" y="31089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haven't</a:t>
            </a:r>
            <a:endParaRPr lang="en-US" sz="1600" dirty="0" b="1"/>
          </a:p>
        </p:txBody>
      </p:sp>
      <p:sp>
        <p:nvSpPr>
          <p:cNvPr id="10" name="R1 opt2"/>
          <p:cNvSpPr/>
          <p:nvPr/>
        </p:nvSpPr>
        <p:spPr>
          <a:xfrm>
            <a:off x="8869680" y="31089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didn't</a:t>
            </a:r>
            <a:endParaRPr lang="en-US" sz="1600" dirty="0" b="1"/>
          </a:p>
        </p:txBody>
      </p:sp>
      <p:sp>
        <p:nvSpPr>
          <p:cNvPr id="11" name="R1 circle"/>
          <p:cNvSpPr/>
          <p:nvPr/>
        </p:nvSpPr>
        <p:spPr>
          <a:xfrm>
            <a:off x="6455664" y="305409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58978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2. I ____ the inventory at 8:00.</a:t>
            </a:r>
            <a:endParaRPr lang="en-US" sz="1800" dirty="0"/>
          </a:p>
        </p:txBody>
      </p:sp>
      <p:sp>
        <p:nvSpPr>
          <p:cNvPr id="13" name="R2 opt1"/>
          <p:cNvSpPr/>
          <p:nvPr/>
        </p:nvSpPr>
        <p:spPr>
          <a:xfrm>
            <a:off x="6583680" y="365760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finished</a:t>
            </a:r>
            <a:endParaRPr lang="en-US" sz="1600" dirty="0" b="1"/>
          </a:p>
        </p:txBody>
      </p:sp>
      <p:sp>
        <p:nvSpPr>
          <p:cNvPr id="14" name="R2 opt2"/>
          <p:cNvSpPr/>
          <p:nvPr/>
        </p:nvSpPr>
        <p:spPr>
          <a:xfrm>
            <a:off x="8869680" y="365760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've finished</a:t>
            </a:r>
            <a:endParaRPr lang="en-US" sz="1600" dirty="0" b="1"/>
          </a:p>
        </p:txBody>
      </p:sp>
      <p:sp>
        <p:nvSpPr>
          <p:cNvPr id="15" name="R2 circle"/>
          <p:cNvSpPr/>
          <p:nvPr/>
        </p:nvSpPr>
        <p:spPr>
          <a:xfrm>
            <a:off x="6455664" y="360273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58978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3. The shelves? Yes, I've restocked ____.</a:t>
            </a:r>
            <a:endParaRPr lang="en-US" sz="1800" dirty="0"/>
          </a:p>
        </p:txBody>
      </p:sp>
      <p:sp>
        <p:nvSpPr>
          <p:cNvPr id="17" name="R3 opt1"/>
          <p:cNvSpPr/>
          <p:nvPr/>
        </p:nvSpPr>
        <p:spPr>
          <a:xfrm>
            <a:off x="6583680" y="420624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them</a:t>
            </a:r>
            <a:endParaRPr lang="en-US" sz="1600" dirty="0" b="1"/>
          </a:p>
        </p:txBody>
      </p:sp>
      <p:sp>
        <p:nvSpPr>
          <p:cNvPr id="18" name="R3 opt2"/>
          <p:cNvSpPr/>
          <p:nvPr/>
        </p:nvSpPr>
        <p:spPr>
          <a:xfrm>
            <a:off x="8869680" y="420624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it</a:t>
            </a:r>
            <a:endParaRPr lang="en-US" sz="1600" dirty="0" b="1"/>
          </a:p>
        </p:txBody>
      </p:sp>
      <p:sp>
        <p:nvSpPr>
          <p:cNvPr id="19" name="R3 circle"/>
          <p:cNvSpPr/>
          <p:nvPr/>
        </p:nvSpPr>
        <p:spPr>
          <a:xfrm>
            <a:off x="6455664" y="415137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58978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4. ____ the truck arrived yet?</a:t>
            </a:r>
            <a:endParaRPr lang="en-US" sz="1800" dirty="0"/>
          </a:p>
        </p:txBody>
      </p:sp>
      <p:sp>
        <p:nvSpPr>
          <p:cNvPr id="21" name="R4 opt1"/>
          <p:cNvSpPr/>
          <p:nvPr/>
        </p:nvSpPr>
        <p:spPr>
          <a:xfrm>
            <a:off x="6583680" y="475488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Has</a:t>
            </a:r>
            <a:endParaRPr lang="en-US" sz="1600" dirty="0" b="1"/>
          </a:p>
        </p:txBody>
      </p:sp>
      <p:sp>
        <p:nvSpPr>
          <p:cNvPr id="22" name="R4 opt2"/>
          <p:cNvSpPr/>
          <p:nvPr/>
        </p:nvSpPr>
        <p:spPr>
          <a:xfrm>
            <a:off x="8869680" y="475488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Have</a:t>
            </a:r>
            <a:endParaRPr lang="en-US" sz="1600" dirty="0" b="1"/>
          </a:p>
        </p:txBody>
      </p:sp>
      <p:sp>
        <p:nvSpPr>
          <p:cNvPr id="23" name="R4 circle"/>
          <p:cNvSpPr/>
          <p:nvPr/>
        </p:nvSpPr>
        <p:spPr>
          <a:xfrm>
            <a:off x="6455664" y="470001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58978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5. The delivery ____ arrived.</a:t>
            </a:r>
            <a:endParaRPr lang="en-US" sz="1800" dirty="0"/>
          </a:p>
        </p:txBody>
      </p:sp>
      <p:sp>
        <p:nvSpPr>
          <p:cNvPr id="25" name="R5 opt1"/>
          <p:cNvSpPr/>
          <p:nvPr/>
        </p:nvSpPr>
        <p:spPr>
          <a:xfrm>
            <a:off x="6583680" y="530352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has just</a:t>
            </a:r>
            <a:endParaRPr lang="en-US" sz="1600" dirty="0" b="1"/>
          </a:p>
        </p:txBody>
      </p:sp>
      <p:sp>
        <p:nvSpPr>
          <p:cNvPr id="26" name="R5 opt2"/>
          <p:cNvSpPr/>
          <p:nvPr/>
        </p:nvSpPr>
        <p:spPr>
          <a:xfrm>
            <a:off x="8869680" y="530352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just has</a:t>
            </a:r>
            <a:endParaRPr lang="en-US" sz="1600" dirty="0" b="1"/>
          </a:p>
        </p:txBody>
      </p:sp>
      <p:sp>
        <p:nvSpPr>
          <p:cNvPr id="27" name="R5 circle"/>
          <p:cNvSpPr/>
          <p:nvPr/>
        </p:nvSpPr>
        <p:spPr>
          <a:xfrm>
            <a:off x="6455664" y="524865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58978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6. When ____?</a:t>
            </a:r>
            <a:endParaRPr lang="en-US" sz="1800" dirty="0"/>
          </a:p>
        </p:txBody>
      </p:sp>
      <p:sp>
        <p:nvSpPr>
          <p:cNvPr id="29" name="R6 opt1"/>
          <p:cNvSpPr/>
          <p:nvPr/>
        </p:nvSpPr>
        <p:spPr>
          <a:xfrm>
            <a:off x="6583680" y="58521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did you clock in</a:t>
            </a:r>
            <a:endParaRPr lang="en-US" sz="1600" dirty="0" b="1"/>
          </a:p>
        </p:txBody>
      </p:sp>
      <p:sp>
        <p:nvSpPr>
          <p:cNvPr id="30" name="R6 opt2"/>
          <p:cNvSpPr/>
          <p:nvPr/>
        </p:nvSpPr>
        <p:spPr>
          <a:xfrm>
            <a:off x="8869680" y="58521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have you clocked in</a:t>
            </a:r>
            <a:endParaRPr lang="en-US" sz="1600" dirty="0" b="1"/>
          </a:p>
        </p:txBody>
      </p:sp>
      <p:sp>
        <p:nvSpPr>
          <p:cNvPr id="31" name="R6 circle"/>
          <p:cNvSpPr/>
          <p:nvPr/>
        </p:nvSpPr>
        <p:spPr>
          <a:xfrm>
            <a:off x="6455664" y="579729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name="L4:mistake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10442448" y="1188720"/>
            <a:ext cx="1691640" cy="1371600"/>
          </a:xfrm>
          <a:prstGeom prst="rect">
            <a:avLst/>
          </a:prstGeom>
          <a:solidFill>
            <a:srgbClr val="B9D2F7"/>
          </a:solidFill>
          <a:ln/>
        </p:spPr>
        <p:txBody>
          <a:bodyPr/>
          <a:p/>
        </p:txBody>
      </p:sp>
      <p:sp>
        <p:nvSpPr>
          <p:cNvPr id="5" name="Shape 3"/>
          <p:cNvSpPr/>
          <p:nvPr/>
        </p:nvSpPr>
        <p:spPr>
          <a:xfrm flipH="1">
            <a:off x="501091" y="2020824"/>
            <a:ext cx="3543300" cy="4709160"/>
          </a:xfrm>
          <a:prstGeom prst="round1Rect">
            <a:avLst>
              <a:gd name="adj" fmla="val 23087"/>
            </a:avLst>
          </a:prstGeom>
          <a:solidFill>
            <a:srgbClr val="8FAFE3"/>
          </a:solidFill>
          <a:ln/>
        </p:spPr>
        <p:txBody>
          <a:bodyPr/>
          <a:p/>
        </p:txBody>
      </p:sp>
      <p:sp>
        <p:nvSpPr>
          <p:cNvPr id="6" name="Shape 4"/>
          <p:cNvSpPr/>
          <p:nvPr/>
        </p:nvSpPr>
        <p:spPr>
          <a:xfrm flipH="1">
            <a:off x="4388206" y="2020824"/>
            <a:ext cx="5860390" cy="4709160"/>
          </a:xfrm>
          <a:prstGeom prst="round1Rect">
            <a:avLst>
              <a:gd name="adj" fmla="val 23087"/>
            </a:avLst>
          </a:prstGeom>
          <a:solidFill>
            <a:srgbClr val="8FAFE3"/>
          </a:solidFill>
          <a:ln/>
        </p:spPr>
        <p:txBody>
          <a:bodyPr/>
          <a:p/>
        </p:txBody>
      </p:sp>
      <p:sp>
        <p:nvSpPr>
          <p:cNvPr id="7" name="Shape 5"/>
          <p:cNvSpPr/>
          <p:nvPr/>
        </p:nvSpPr>
        <p:spPr>
          <a:xfrm>
            <a:off x="479328" y="457200"/>
            <a:ext cx="7295083" cy="1143000"/>
          </a:xfrm>
          <a:prstGeom prst="roundRect">
            <a:avLst>
              <a:gd name="adj" fmla="val 16667"/>
            </a:avLst>
          </a:prstGeom>
          <a:solidFill>
            <a:srgbClr val="8FAFE3"/>
          </a:solidFill>
          <a:ln/>
        </p:spPr>
        <p:txBody>
          <a:bodyPr/>
          <a:p/>
        </p:txBody>
      </p:sp>
      <p:sp>
        <p:nvSpPr>
          <p:cNvPr id="8" name="Shape 6"/>
          <p:cNvSpPr/>
          <p:nvPr/>
        </p:nvSpPr>
        <p:spPr>
          <a:xfrm>
            <a:off x="522122" y="393192"/>
            <a:ext cx="7295083" cy="1143000"/>
          </a:xfrm>
          <a:prstGeom prst="roundRect">
            <a:avLst>
              <a:gd name="adj" fmla="val 16667"/>
            </a:avLst>
          </a:prstGeom>
          <a:solidFill>
            <a:srgbClr val="FFFFFF"/>
          </a:solidFill>
          <a:ln/>
        </p:spPr>
        <p:txBody>
          <a:bodyPr/>
          <a:p/>
        </p:txBody>
      </p:sp>
      <p:sp>
        <p:nvSpPr>
          <p:cNvPr id="9" name="Shape 7"/>
          <p:cNvSpPr/>
          <p:nvPr/>
        </p:nvSpPr>
        <p:spPr>
          <a:xfrm flipH="1">
            <a:off x="658368" y="1828800"/>
            <a:ext cx="3610966" cy="4709160"/>
          </a:xfrm>
          <a:prstGeom prst="round1Rect">
            <a:avLst>
              <a:gd name="adj" fmla="val 23087"/>
            </a:avLst>
          </a:prstGeom>
          <a:solidFill>
            <a:srgbClr val="FFFFFF"/>
          </a:solidFill>
          <a:ln/>
        </p:spPr>
        <p:txBody>
          <a:bodyPr/>
          <a:p/>
        </p:txBody>
      </p:sp>
      <p:sp>
        <p:nvSpPr>
          <p:cNvPr id="10" name="Shape 8"/>
          <p:cNvSpPr/>
          <p:nvPr/>
        </p:nvSpPr>
        <p:spPr>
          <a:xfrm flipH="1">
            <a:off x="4519879" y="1828800"/>
            <a:ext cx="5860390" cy="4709160"/>
          </a:xfrm>
          <a:prstGeom prst="round1Rect">
            <a:avLst>
              <a:gd name="adj" fmla="val 23087"/>
            </a:avLst>
          </a:prstGeom>
          <a:solidFill>
            <a:srgbClr val="FFFFFF"/>
          </a:solidFill>
          <a:ln/>
        </p:spPr>
        <p:txBody>
          <a:bodyPr/>
          <a:p/>
        </p:txBody>
      </p:sp>
      <p:sp>
        <p:nvSpPr>
          <p:cNvPr id="11" name="title"/>
          <p:cNvSpPr/>
          <p:nvPr/>
        </p:nvSpPr>
        <p:spPr>
          <a:xfrm>
            <a:off x="608076" y="45720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Common Mistakes</a:t>
            </a:r>
            <a:endParaRPr lang="en-US" sz="4300" dirty="0" b="1"/>
          </a:p>
        </p:txBody>
      </p:sp>
      <p:pic>
        <p:nvPicPr>
          <p:cNvPr id="21" name="pic" descr="Inventory: a box and numbers [sign: INVENTORY]"/>
          <p:cNvPicPr>
            <a:picLocks noChangeAspect="1"/>
          </p:cNvPicPr>
          <p:nvPr/>
        </p:nvPicPr>
        <p:blipFill>
          <a:blip r:embed="rId3"/>
          <a:stretch>
            <a:fillRect/>
          </a:stretch>
        </p:blipFill>
        <p:spPr>
          <a:xfrm>
            <a:off x="10515600" y="1325880"/>
            <a:ext cx="1554480" cy="1088136"/>
          </a:xfrm>
          <a:prstGeom prst="rect">
            <a:avLst/>
          </a:prstGeom>
        </p:spPr>
      </p:pic>
      <p:sp>
        <p:nvSpPr>
          <p:cNvPr id="22" name="Dont head"/>
          <p:cNvSpPr/>
          <p:nvPr/>
        </p:nvSpPr>
        <p:spPr>
          <a:xfrm>
            <a:off x="914400" y="1938528"/>
            <a:ext cx="310896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B42318"/>
                </a:solidFill>
                <a:latin typeface="Lexend Deca" pitchFamily="34" charset="0"/>
                <a:ea typeface="Lexend Deca" pitchFamily="34" charset="-122"/>
                <a:cs typeface="Lexend Deca" pitchFamily="34" charset="-120"/>
              </a:rPr>
              <a:t>Don't say</a:t>
            </a:r>
            <a:endParaRPr lang="en-US" sz="2200" dirty="0"/>
          </a:p>
        </p:txBody>
      </p:sp>
      <p:sp>
        <p:nvSpPr>
          <p:cNvPr id="23" name="Say head"/>
          <p:cNvSpPr/>
          <p:nvPr/>
        </p:nvSpPr>
        <p:spPr>
          <a:xfrm>
            <a:off x="4800600" y="1938528"/>
            <a:ext cx="530352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E6B45"/>
                </a:solidFill>
                <a:latin typeface="Lexend Deca" pitchFamily="34" charset="0"/>
                <a:ea typeface="Lexend Deca" pitchFamily="34" charset="-122"/>
                <a:cs typeface="Lexend Deca" pitchFamily="34" charset="-120"/>
              </a:rPr>
              <a:t>Say</a:t>
            </a:r>
            <a:endParaRPr lang="en-US" sz="2200" dirty="0"/>
          </a:p>
        </p:txBody>
      </p:sp>
      <p:sp>
        <p:nvSpPr>
          <p:cNvPr id="24" name="Bad 1"/>
          <p:cNvSpPr/>
          <p:nvPr/>
        </p:nvSpPr>
        <p:spPr>
          <a:xfrm>
            <a:off x="914400" y="2468880"/>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I've finished it yesterday.</a:t>
            </a:r>
            <a:endParaRPr lang="en-US" sz="1700" dirty="0"/>
          </a:p>
        </p:txBody>
      </p:sp>
      <p:sp>
        <p:nvSpPr>
          <p:cNvPr id="25" name="Good 1"/>
          <p:cNvSpPr/>
          <p:nvPr/>
        </p:nvSpPr>
        <p:spPr>
          <a:xfrm>
            <a:off x="4800600" y="2468880"/>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a:t>
            </a:r>
            <a:r>
              <a:rPr lang="en-US" sz="1700" dirty="0" b="1">
                <a:solidFill>
                  <a:srgbClr val="1B2236"/>
                </a:solidFill>
                <a:latin typeface="Lexend Deca" pitchFamily="34" charset="0"/>
                <a:ea typeface="Lexend Deca" pitchFamily="34" charset="-122"/>
                <a:cs typeface="Lexend Deca" pitchFamily="34" charset="-120"/>
              </a:rPr>
              <a:t>finished</a:t>
            </a:r>
            <a:r>
              <a:rPr lang="en-US" sz="1700" dirty="0" b="1">
                <a:solidFill>
                  <a:srgbClr val="1B2236"/>
                </a:solidFill>
                <a:latin typeface="Lexend Deca" pitchFamily="34" charset="0"/>
                <a:ea typeface="Lexend Deca" pitchFamily="34" charset="-122"/>
                <a:cs typeface="Lexend Deca" pitchFamily="34" charset="-120"/>
              </a:rPr>
              <a:t> it yesterday.</a:t>
            </a:r>
            <a:endParaRPr lang="en-US" sz="1700" dirty="0" b="1"/>
          </a:p>
        </p:txBody>
      </p:sp>
      <p:sp>
        <p:nvSpPr>
          <p:cNvPr id="26" name="Bad 2"/>
          <p:cNvSpPr/>
          <p:nvPr/>
        </p:nvSpPr>
        <p:spPr>
          <a:xfrm>
            <a:off x="914400" y="3035808"/>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didn't finish yet.</a:t>
            </a:r>
            <a:endParaRPr lang="en-US" sz="1700" dirty="0"/>
          </a:p>
        </p:txBody>
      </p:sp>
      <p:sp>
        <p:nvSpPr>
          <p:cNvPr id="27" name="Good 2"/>
          <p:cNvSpPr/>
          <p:nvPr/>
        </p:nvSpPr>
        <p:spPr>
          <a:xfrm>
            <a:off x="4800600" y="3035808"/>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a:t>
            </a:r>
            <a:r>
              <a:rPr lang="en-US" sz="1700" dirty="0" b="1">
                <a:solidFill>
                  <a:srgbClr val="1B2236"/>
                </a:solidFill>
                <a:latin typeface="Lexend Deca" pitchFamily="34" charset="0"/>
                <a:ea typeface="Lexend Deca" pitchFamily="34" charset="-122"/>
                <a:cs typeface="Lexend Deca" pitchFamily="34" charset="-120"/>
              </a:rPr>
              <a:t>haven't finished</a:t>
            </a:r>
            <a:r>
              <a:rPr lang="en-US" sz="1700" dirty="0" b="1">
                <a:solidFill>
                  <a:srgbClr val="1B2236"/>
                </a:solidFill>
                <a:latin typeface="Lexend Deca" pitchFamily="34" charset="0"/>
                <a:ea typeface="Lexend Deca" pitchFamily="34" charset="-122"/>
                <a:cs typeface="Lexend Deca" pitchFamily="34" charset="-120"/>
              </a:rPr>
              <a:t> yet.</a:t>
            </a:r>
            <a:endParaRPr lang="en-US" sz="1700" dirty="0" b="1"/>
          </a:p>
        </p:txBody>
      </p:sp>
      <p:sp>
        <p:nvSpPr>
          <p:cNvPr id="28" name="Bad 3"/>
          <p:cNvSpPr/>
          <p:nvPr/>
        </p:nvSpPr>
        <p:spPr>
          <a:xfrm>
            <a:off x="914400" y="3602736"/>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Have you yet finished?</a:t>
            </a:r>
            <a:endParaRPr lang="en-US" sz="1700" dirty="0"/>
          </a:p>
        </p:txBody>
      </p:sp>
      <p:sp>
        <p:nvSpPr>
          <p:cNvPr id="29" name="Good 3"/>
          <p:cNvSpPr/>
          <p:nvPr/>
        </p:nvSpPr>
        <p:spPr>
          <a:xfrm>
            <a:off x="4800600" y="3602736"/>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Have you finished </a:t>
            </a:r>
            <a:r>
              <a:rPr lang="en-US" sz="1700" dirty="0" b="1">
                <a:solidFill>
                  <a:srgbClr val="1B2236"/>
                </a:solidFill>
                <a:latin typeface="Lexend Deca" pitchFamily="34" charset="0"/>
                <a:ea typeface="Lexend Deca" pitchFamily="34" charset="-122"/>
                <a:cs typeface="Lexend Deca" pitchFamily="34" charset="-120"/>
              </a:rPr>
              <a:t>yet</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30" name="Bad 4"/>
          <p:cNvSpPr/>
          <p:nvPr/>
        </p:nvSpPr>
        <p:spPr>
          <a:xfrm>
            <a:off x="914400" y="4169664"/>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have already clean it.</a:t>
            </a:r>
            <a:endParaRPr lang="en-US" sz="1700" dirty="0"/>
          </a:p>
        </p:txBody>
      </p:sp>
      <p:sp>
        <p:nvSpPr>
          <p:cNvPr id="31" name="Good 4"/>
          <p:cNvSpPr/>
          <p:nvPr/>
        </p:nvSpPr>
        <p:spPr>
          <a:xfrm>
            <a:off x="4800600" y="4169664"/>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I've already </a:t>
            </a:r>
            <a:r>
              <a:rPr lang="en-US" sz="1700" dirty="0" b="1">
                <a:solidFill>
                  <a:srgbClr val="1B2236"/>
                </a:solidFill>
                <a:latin typeface="Lexend Deca" pitchFamily="34" charset="0"/>
                <a:ea typeface="Lexend Deca" pitchFamily="34" charset="-122"/>
                <a:cs typeface="Lexend Deca" pitchFamily="34" charset="-120"/>
              </a:rPr>
              <a:t>cleaned</a:t>
            </a:r>
            <a:r>
              <a:rPr lang="en-US" sz="1700" dirty="0" b="1">
                <a:solidFill>
                  <a:srgbClr val="1B2236"/>
                </a:solidFill>
                <a:latin typeface="Lexend Deca" pitchFamily="34" charset="0"/>
                <a:ea typeface="Lexend Deca" pitchFamily="34" charset="-122"/>
                <a:cs typeface="Lexend Deca" pitchFamily="34" charset="-120"/>
              </a:rPr>
              <a:t> it.</a:t>
            </a:r>
            <a:endParaRPr lang="en-US" sz="1700" dirty="0" b="1"/>
          </a:p>
        </p:txBody>
      </p:sp>
      <p:sp>
        <p:nvSpPr>
          <p:cNvPr id="32" name="Bad 5"/>
          <p:cNvSpPr/>
          <p:nvPr/>
        </p:nvSpPr>
        <p:spPr>
          <a:xfrm>
            <a:off x="914400" y="4736592"/>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Has arrived the truck?</a:t>
            </a:r>
            <a:endParaRPr lang="en-US" sz="1700" dirty="0"/>
          </a:p>
        </p:txBody>
      </p:sp>
      <p:sp>
        <p:nvSpPr>
          <p:cNvPr id="33" name="Good 5"/>
          <p:cNvSpPr/>
          <p:nvPr/>
        </p:nvSpPr>
        <p:spPr>
          <a:xfrm>
            <a:off x="4800600" y="4736592"/>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Has the truck</a:t>
            </a:r>
            <a:r>
              <a:rPr lang="en-US" sz="1700" dirty="0" b="1">
                <a:solidFill>
                  <a:srgbClr val="1B2236"/>
                </a:solidFill>
                <a:latin typeface="Lexend Deca" pitchFamily="34" charset="0"/>
                <a:ea typeface="Lexend Deca" pitchFamily="34" charset="-122"/>
                <a:cs typeface="Lexend Deca" pitchFamily="34" charset="-120"/>
              </a:rPr>
              <a:t> arrived?</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name="L4:drill">
    <p:bg>
      <p:bgPr>
        <a:solidFill>
          <a:srgbClr val="F1F5FB"/>
        </a:solidFill>
      </p:bgPr>
    </p:bg>
    <p:spTree>
      <p:nvGrpSpPr>
        <p:cNvPr id="1" name=""/>
        <p:cNvGrpSpPr/>
        <p:nvPr/>
      </p:nvGrpSpPr>
      <p:grpSpPr/>
      <p:pic>
        <p:nvPicPr>
          <p:cNvPr id="26" name="pic" descr="Supervisor: a woman at work [sign: SUPERVISOR]"/>
          <p:cNvPicPr>
            <a:picLocks noChangeAspect="1"/>
          </p:cNvPicPr>
          <p:nvPr/>
        </p:nvPicPr>
        <p:blipFill>
          <a:blip r:embed="rId3"/>
          <a:stretch>
            <a:fillRect/>
          </a:stretch>
        </p:blipFill>
        <p:spPr>
          <a:xfrm>
            <a:off x="1274739" y="3680460"/>
            <a:ext cx="3449901" cy="2414930"/>
          </a:xfrm>
          <a:prstGeom prst="rect">
            <a:avLst/>
          </a:prstGeom>
        </p:spPr>
      </p:pic>
      <p:sp>
        <p:nvSpPr>
          <p:cNvPr id="4" name="Shape 2"/>
          <p:cNvSpPr/>
          <p:nvPr/>
        </p:nvSpPr>
        <p:spPr>
          <a:xfrm>
            <a:off x="560984" y="1342842"/>
            <a:ext cx="4912157" cy="1595628"/>
          </a:xfrm>
          <a:prstGeom prst="roundRect">
            <a:avLst>
              <a:gd name="adj" fmla="val 16667"/>
            </a:avLst>
          </a:prstGeom>
          <a:solidFill>
            <a:srgbClr val="8FAFE3"/>
          </a:solidFill>
          <a:ln/>
        </p:spPr>
        <p:txBody>
          <a:bodyPr/>
          <a:p/>
        </p:txBody>
      </p:sp>
      <p:sp>
        <p:nvSpPr>
          <p:cNvPr id="5" name="Shape 3"/>
          <p:cNvSpPr/>
          <p:nvPr/>
        </p:nvSpPr>
        <p:spPr>
          <a:xfrm>
            <a:off x="589788" y="1277417"/>
            <a:ext cx="4912157" cy="1595628"/>
          </a:xfrm>
          <a:prstGeom prst="roundRect">
            <a:avLst>
              <a:gd name="adj" fmla="val 16667"/>
            </a:avLst>
          </a:prstGeom>
          <a:solidFill>
            <a:srgbClr val="FFFFFF"/>
          </a:solidFill>
          <a:ln/>
        </p:spPr>
        <p:txBody>
          <a:bodyPr/>
          <a:p/>
        </p:txBody>
      </p:sp>
      <p:sp>
        <p:nvSpPr>
          <p:cNvPr id="6" name="title"/>
          <p:cNvSpPr/>
          <p:nvPr/>
        </p:nvSpPr>
        <p:spPr>
          <a:xfrm>
            <a:off x="771754" y="1417320"/>
            <a:ext cx="4572000" cy="73152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Pair Check</a:t>
            </a:r>
            <a:endParaRPr lang="en-US" sz="4000" dirty="0" b="1"/>
          </a:p>
        </p:txBody>
      </p:sp>
      <p:sp>
        <p:nvSpPr>
          <p:cNvPr id="7" name="Shape 5"/>
          <p:cNvSpPr/>
          <p:nvPr/>
        </p:nvSpPr>
        <p:spPr>
          <a:xfrm>
            <a:off x="6107278" y="1382572"/>
            <a:ext cx="5577840" cy="1920240"/>
          </a:xfrm>
          <a:prstGeom prst="round1Rect">
            <a:avLst>
              <a:gd name="adj" fmla="val 23087"/>
            </a:avLst>
          </a:prstGeom>
          <a:solidFill>
            <a:srgbClr val="8FAFE3"/>
          </a:solidFill>
          <a:ln/>
        </p:spPr>
        <p:txBody>
          <a:bodyPr/>
          <a:p/>
        </p:txBody>
      </p:sp>
      <p:sp>
        <p:nvSpPr>
          <p:cNvPr id="8" name="Shape 6"/>
          <p:cNvSpPr/>
          <p:nvPr/>
        </p:nvSpPr>
        <p:spPr>
          <a:xfrm>
            <a:off x="6107278" y="3714292"/>
            <a:ext cx="5577840" cy="1920240"/>
          </a:xfrm>
          <a:prstGeom prst="round1Rect">
            <a:avLst>
              <a:gd name="adj" fmla="val 23087"/>
            </a:avLst>
          </a:prstGeom>
          <a:solidFill>
            <a:srgbClr val="8FAFE3"/>
          </a:solidFill>
          <a:ln/>
        </p:spPr>
        <p:txBody>
          <a:bodyPr/>
          <a:p/>
        </p:txBody>
      </p:sp>
      <p:sp>
        <p:nvSpPr>
          <p:cNvPr id="10" name="Shape 8"/>
          <p:cNvSpPr/>
          <p:nvPr/>
        </p:nvSpPr>
        <p:spPr>
          <a:xfrm>
            <a:off x="6035040" y="1325880"/>
            <a:ext cx="5577840" cy="1920240"/>
          </a:xfrm>
          <a:prstGeom prst="round1Rect">
            <a:avLst>
              <a:gd name="adj" fmla="val 23087"/>
            </a:avLst>
          </a:prstGeom>
          <a:solidFill>
            <a:srgbClr val="FFFFFF"/>
          </a:solidFill>
          <a:ln/>
        </p:spPr>
        <p:txBody>
          <a:bodyPr/>
          <a:p/>
        </p:txBody>
      </p:sp>
      <p:sp>
        <p:nvSpPr>
          <p:cNvPr id="11" name="Shape 9"/>
          <p:cNvSpPr/>
          <p:nvPr/>
        </p:nvSpPr>
        <p:spPr>
          <a:xfrm>
            <a:off x="6172200" y="1946757"/>
            <a:ext cx="678485" cy="678485"/>
          </a:xfrm>
          <a:prstGeom prst="star32">
            <a:avLst>
              <a:gd name="adj" fmla="val 43755"/>
            </a:avLst>
          </a:prstGeom>
          <a:solidFill>
            <a:srgbClr val="B9D2F7"/>
          </a:solidFill>
          <a:ln/>
        </p:spPr>
        <p:txBody>
          <a:bodyPr/>
          <a:p/>
        </p:txBody>
      </p:sp>
      <p:sp>
        <p:nvSpPr>
          <p:cNvPr id="12" name="Text 10"/>
          <p:cNvSpPr/>
          <p:nvPr/>
        </p:nvSpPr>
        <p:spPr>
          <a:xfrm>
            <a:off x="6172200" y="194675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01</a:t>
            </a:r>
            <a:endParaRPr lang="en-US" sz="2000" dirty="0"/>
          </a:p>
        </p:txBody>
      </p:sp>
      <p:sp>
        <p:nvSpPr>
          <p:cNvPr id="13" name="s1 label"/>
          <p:cNvSpPr/>
          <p:nvPr/>
        </p:nvSpPr>
        <p:spPr>
          <a:xfrm>
            <a:off x="6995160" y="150876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asks.</a:t>
            </a:r>
            <a:endParaRPr lang="en-US" sz="2200" dirty="0" b="1"/>
          </a:p>
        </p:txBody>
      </p:sp>
      <p:sp>
        <p:nvSpPr>
          <p:cNvPr id="14" name="Shape 12"/>
          <p:cNvSpPr/>
          <p:nvPr/>
        </p:nvSpPr>
        <p:spPr>
          <a:xfrm>
            <a:off x="6035040" y="3657600"/>
            <a:ext cx="5577840" cy="1920240"/>
          </a:xfrm>
          <a:prstGeom prst="round1Rect">
            <a:avLst>
              <a:gd name="adj" fmla="val 23087"/>
            </a:avLst>
          </a:prstGeom>
          <a:solidFill>
            <a:srgbClr val="B9D2F7"/>
          </a:solidFill>
          <a:ln/>
        </p:spPr>
        <p:txBody>
          <a:bodyPr/>
          <a:p/>
        </p:txBody>
      </p:sp>
      <p:sp>
        <p:nvSpPr>
          <p:cNvPr id="15" name="Shape 13"/>
          <p:cNvSpPr/>
          <p:nvPr/>
        </p:nvSpPr>
        <p:spPr>
          <a:xfrm>
            <a:off x="6172200" y="4278477"/>
            <a:ext cx="678485" cy="678485"/>
          </a:xfrm>
          <a:prstGeom prst="star32">
            <a:avLst>
              <a:gd name="adj" fmla="val 43755"/>
            </a:avLst>
          </a:prstGeom>
          <a:solidFill>
            <a:srgbClr val="FFFFFF"/>
          </a:solidFill>
          <a:ln/>
        </p:spPr>
        <p:txBody>
          <a:bodyPr/>
          <a:p/>
        </p:txBody>
      </p:sp>
      <p:sp>
        <p:nvSpPr>
          <p:cNvPr id="16" name="Text 14"/>
          <p:cNvSpPr/>
          <p:nvPr/>
        </p:nvSpPr>
        <p:spPr>
          <a:xfrm>
            <a:off x="6172200" y="427847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02</a:t>
            </a:r>
            <a:endParaRPr lang="en-US" sz="2000" dirty="0"/>
          </a:p>
        </p:txBody>
      </p:sp>
      <p:sp>
        <p:nvSpPr>
          <p:cNvPr id="17" name="s2 label"/>
          <p:cNvSpPr/>
          <p:nvPr/>
        </p:nvSpPr>
        <p:spPr>
          <a:xfrm>
            <a:off x="6995160" y="384048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B answers.</a:t>
            </a:r>
            <a:endParaRPr lang="en-US" sz="2200" dirty="0" b="1"/>
          </a:p>
        </p:txBody>
      </p:sp>
      <p:sp>
        <p:nvSpPr>
          <p:cNvPr id="60" name="s1 body"/>
          <p:cNvSpPr/>
          <p:nvPr/>
        </p:nvSpPr>
        <p:spPr>
          <a:xfrm>
            <a:off x="6995160" y="210312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0">
                <a:solidFill>
                  <a:srgbClr val="1B2236"/>
                </a:solidFill>
                <a:latin typeface="Lexend Deca" pitchFamily="34" charset="0"/>
                <a:ea typeface="Lexend Deca" pitchFamily="34" charset="-122"/>
                <a:cs typeface="Lexend Deca" pitchFamily="34" charset="-120"/>
              </a:rPr>
              <a:t> Have you… yet?</a:t>
            </a:r>
            <a:endParaRPr lang="en-US" sz="1900" dirty="0" b="0"/>
          </a:p>
        </p:txBody>
      </p:sp>
      <p:sp>
        <p:nvSpPr>
          <p:cNvPr id="70" name="s2 body"/>
          <p:cNvSpPr/>
          <p:nvPr/>
        </p:nvSpPr>
        <p:spPr>
          <a:xfrm>
            <a:off x="6995160" y="443484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B:</a:t>
            </a:r>
            <a:r>
              <a:rPr lang="en-US" sz="1900" dirty="0" b="0">
                <a:solidFill>
                  <a:srgbClr val="1B2236"/>
                </a:solidFill>
                <a:latin typeface="Lexend Deca" pitchFamily="34" charset="0"/>
                <a:ea typeface="Lexend Deca" pitchFamily="34" charset="-122"/>
                <a:cs typeface="Lexend Deca" pitchFamily="34" charset="-120"/>
              </a:rPr>
              <a:t> Yes, I've already… / I've just… / No, not yet.</a:t>
            </a:r>
            <a:endParaRPr lang="en-US" sz="1900" dirty="0" b="0"/>
          </a:p>
          <a:p>
            <a:pPr algn="l" indent="0" marL="0">
              <a:buNone/>
            </a:pPr>
            <a:r>
              <a:rPr lang="en-US" sz="1900" dirty="0" b="1">
                <a:solidFill>
                  <a:srgbClr val="1B2236"/>
                </a:solidFill>
                <a:latin typeface="Lexend Deca" pitchFamily="34" charset="0"/>
                <a:ea typeface="Lexend Deca" pitchFamily="34" charset="-122"/>
                <a:cs typeface="Lexend Deca" pitchFamily="34" charset="-120"/>
              </a:rPr>
              <a:t>Then switch.</a:t>
            </a:r>
            <a:endParaRPr lang="en-US" sz="1900" dirty="0" b="1"/>
          </a:p>
        </p:txBody>
      </p:sp>
      <p:sp>
        <p:nvSpPr>
          <p:cNvPr id="25" name="sub"/>
          <p:cNvSpPr/>
          <p:nvPr/>
        </p:nvSpPr>
        <p:spPr>
          <a:xfrm>
            <a:off x="771754" y="2148840"/>
            <a:ext cx="4572000" cy="685800"/>
          </a:xfrm>
          <a:prstGeom prst="rect">
            <a:avLst/>
          </a:prstGeom>
          <a:noFill/>
          <a:ln w="38100">
            <a:noFill/>
          </a:ln>
        </p:spPr>
        <p:txBody>
          <a:bodyPr wrap="square" lIns="91440" tIns="36576" rIns="91440"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 reads a task from the board checklist. Then switch.</a:t>
            </a:r>
            <a:endParaRPr lang="en-US" sz="20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Checklist: a clipboard with a check mark"/>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3000" dirty="0" b="1">
                <a:solidFill>
                  <a:srgbClr val="1B2236"/>
                </a:solidFill>
                <a:latin typeface="Lexend Deca" pitchFamily="34" charset="0"/>
                <a:ea typeface="Lexend Deca" pitchFamily="34" charset="-122"/>
                <a:cs typeface="Lexend Deca" pitchFamily="34" charset="-120"/>
              </a:rPr>
              <a:t>Shift Handoff</a:t>
            </a:r>
            <a:endParaRPr lang="en-US" sz="30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Pairs.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A looks at Card A. B covers it.</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B asks about each task.</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Have you restocked aisle 3 yet?</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answers.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Yes, I've already restocked it. / No, not yet.</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B ticks done or not yet. Then switch.</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A asks about Card B.</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Check-in (a short meeting): a supervisor and a worker talking"/>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3000" dirty="0" b="1">
                <a:solidFill>
                  <a:srgbClr val="1B2236"/>
                </a:solidFill>
                <a:latin typeface="Lexend Deca" pitchFamily="34" charset="0"/>
                <a:ea typeface="Lexend Deca" pitchFamily="34" charset="-122"/>
                <a:cs typeface="Lexend Deca" pitchFamily="34" charset="-120"/>
              </a:rPr>
              <a:t>Check-in</a:t>
            </a:r>
            <a:endParaRPr lang="en-US" sz="30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Groups of 3.</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A supervisor, a worker, an observer.</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 supervisor asks the 3 questions.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What have you done this week?</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 worker answers in 3 sentences.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I've already… I haven't… yet.</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 observer ticks the words. Then rotate.</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already • yet • just • 3 sentences?</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407262"/>
            <a:ext cx="7086600" cy="983894"/>
          </a:xfrm>
          <a:prstGeom prst="round1Rect">
            <a:avLst>
              <a:gd name="adj" fmla="val 23087"/>
            </a:avLst>
          </a:prstGeom>
          <a:solidFill>
            <a:srgbClr val="8FAFE3"/>
          </a:solidFill>
          <a:ln/>
        </p:spPr>
        <p:txBody>
          <a:bodyPr/>
          <a:p/>
        </p:txBody>
      </p:sp>
      <p:sp>
        <p:nvSpPr>
          <p:cNvPr id="3" name="head card"/>
          <p:cNvSpPr/>
          <p:nvPr/>
        </p:nvSpPr>
        <p:spPr>
          <a:xfrm>
            <a:off x="548640" y="1349654"/>
            <a:ext cx="7086600" cy="983894"/>
          </a:xfrm>
          <a:prstGeom prst="round1Rect">
            <a:avLst>
              <a:gd name="adj" fmla="val 23087"/>
            </a:avLst>
          </a:prstGeom>
          <a:solidFill>
            <a:srgbClr val="FFFFFF"/>
          </a:solidFill>
          <a:ln/>
        </p:spPr>
        <p:txBody>
          <a:bodyPr/>
          <a:p/>
        </p:txBody>
      </p:sp>
      <p:sp>
        <p:nvSpPr>
          <p:cNvPr id="8" name="head1"/>
          <p:cNvSpPr/>
          <p:nvPr/>
        </p:nvSpPr>
        <p:spPr>
          <a:xfrm>
            <a:off x="777240" y="141732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Read the email.</a:t>
            </a:r>
            <a:endParaRPr lang="en-US" sz="2000" dirty="0" b="1"/>
          </a:p>
        </p:txBody>
      </p:sp>
      <p:sp>
        <p:nvSpPr>
          <p:cNvPr id="9" name="head2"/>
          <p:cNvSpPr/>
          <p:nvPr/>
        </p:nvSpPr>
        <p:spPr>
          <a:xfrm>
            <a:off x="868680" y="181965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Answer the questions.</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Read &amp;</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Write</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An email from Sandra Ortiz</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(Supervisor).</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answer together.</a:t>
            </a:r>
            <a:endParaRPr lang="en-US" sz="2000" dirty="0" b="1"/>
          </a:p>
        </p:txBody>
      </p:sp>
      <p:sp>
        <p:nvSpPr>
          <p:cNvPr id="31" name="R1 card"/>
          <p:cNvSpPr/>
          <p:nvPr/>
        </p:nvSpPr>
        <p:spPr>
          <a:xfrm>
            <a:off x="1583741" y="2397557"/>
            <a:ext cx="6035040" cy="713232"/>
          </a:xfrm>
          <a:prstGeom prst="round1Rect">
            <a:avLst>
              <a:gd name="adj" fmla="val 23087"/>
            </a:avLst>
          </a:prstGeom>
          <a:solidFill>
            <a:srgbClr val="FFFFFF"/>
          </a:solidFill>
          <a:ln/>
        </p:spPr>
        <p:txBody>
          <a:bodyPr/>
          <a:p/>
        </p:txBody>
      </p:sp>
      <p:sp>
        <p:nvSpPr>
          <p:cNvPr id="32" name="R1 chip"/>
          <p:cNvSpPr/>
          <p:nvPr/>
        </p:nvSpPr>
        <p:spPr>
          <a:xfrm>
            <a:off x="544982" y="2397557"/>
            <a:ext cx="1039673" cy="713232"/>
          </a:xfrm>
          <a:prstGeom prst="rect">
            <a:avLst/>
          </a:prstGeom>
          <a:solidFill>
            <a:srgbClr val="B9D2F7"/>
          </a:solidFill>
          <a:ln/>
        </p:spPr>
        <p:txBody>
          <a:bodyPr/>
          <a:p/>
        </p:txBody>
      </p:sp>
      <p:sp>
        <p:nvSpPr>
          <p:cNvPr id="33" name="R1 num"/>
          <p:cNvSpPr/>
          <p:nvPr/>
        </p:nvSpPr>
        <p:spPr>
          <a:xfrm>
            <a:off x="686714" y="2461565"/>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397557"/>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Who is the email to?</a:t>
            </a:r>
            <a:endParaRPr lang="en-US" sz="1600" dirty="0"/>
          </a:p>
        </p:txBody>
      </p:sp>
      <p:sp>
        <p:nvSpPr>
          <p:cNvPr id="35" name="R1 ans"/>
          <p:cNvSpPr/>
          <p:nvPr/>
        </p:nvSpPr>
        <p:spPr>
          <a:xfrm>
            <a:off x="4279392" y="2525573"/>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The evening team.</a:t>
            </a:r>
            <a:endParaRPr lang="en-US" sz="1500" dirty="0" b="1"/>
          </a:p>
        </p:txBody>
      </p:sp>
      <p:sp>
        <p:nvSpPr>
          <p:cNvPr id="36" name="R2 card"/>
          <p:cNvSpPr/>
          <p:nvPr/>
        </p:nvSpPr>
        <p:spPr>
          <a:xfrm>
            <a:off x="1583741" y="3183941"/>
            <a:ext cx="6035040" cy="713232"/>
          </a:xfrm>
          <a:prstGeom prst="round1Rect">
            <a:avLst>
              <a:gd name="adj" fmla="val 23087"/>
            </a:avLst>
          </a:prstGeom>
          <a:solidFill>
            <a:srgbClr val="FFFFFF"/>
          </a:solidFill>
          <a:ln/>
        </p:spPr>
        <p:txBody>
          <a:bodyPr/>
          <a:p/>
        </p:txBody>
      </p:sp>
      <p:sp>
        <p:nvSpPr>
          <p:cNvPr id="37" name="R2 chip"/>
          <p:cNvSpPr/>
          <p:nvPr/>
        </p:nvSpPr>
        <p:spPr>
          <a:xfrm>
            <a:off x="544982" y="3183941"/>
            <a:ext cx="1039673" cy="713232"/>
          </a:xfrm>
          <a:prstGeom prst="rect">
            <a:avLst/>
          </a:prstGeom>
          <a:solidFill>
            <a:srgbClr val="B9D2F7"/>
          </a:solidFill>
          <a:ln/>
        </p:spPr>
        <p:txBody>
          <a:bodyPr/>
          <a:p/>
        </p:txBody>
      </p:sp>
      <p:sp>
        <p:nvSpPr>
          <p:cNvPr id="38" name="R2 num"/>
          <p:cNvSpPr/>
          <p:nvPr/>
        </p:nvSpPr>
        <p:spPr>
          <a:xfrm>
            <a:off x="686714" y="3247949"/>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3183941"/>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When should the workers reply?</a:t>
            </a:r>
            <a:endParaRPr lang="en-US" sz="1600" dirty="0"/>
          </a:p>
        </p:txBody>
      </p:sp>
      <p:sp>
        <p:nvSpPr>
          <p:cNvPr id="40" name="R2 ans"/>
          <p:cNvSpPr/>
          <p:nvPr/>
        </p:nvSpPr>
        <p:spPr>
          <a:xfrm>
            <a:off x="4279392" y="3311957"/>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By Thursday.</a:t>
            </a:r>
            <a:endParaRPr lang="en-US" sz="1500" dirty="0" b="1"/>
          </a:p>
        </p:txBody>
      </p:sp>
      <p:sp>
        <p:nvSpPr>
          <p:cNvPr id="41" name="R3 card"/>
          <p:cNvSpPr/>
          <p:nvPr/>
        </p:nvSpPr>
        <p:spPr>
          <a:xfrm>
            <a:off x="1583741" y="3970325"/>
            <a:ext cx="6035040" cy="713232"/>
          </a:xfrm>
          <a:prstGeom prst="round1Rect">
            <a:avLst>
              <a:gd name="adj" fmla="val 23087"/>
            </a:avLst>
          </a:prstGeom>
          <a:solidFill>
            <a:srgbClr val="FFFFFF"/>
          </a:solidFill>
          <a:ln/>
        </p:spPr>
        <p:txBody>
          <a:bodyPr/>
          <a:p/>
        </p:txBody>
      </p:sp>
      <p:sp>
        <p:nvSpPr>
          <p:cNvPr id="42" name="R3 chip"/>
          <p:cNvSpPr/>
          <p:nvPr/>
        </p:nvSpPr>
        <p:spPr>
          <a:xfrm>
            <a:off x="544982" y="3970325"/>
            <a:ext cx="1039673" cy="713232"/>
          </a:xfrm>
          <a:prstGeom prst="rect">
            <a:avLst/>
          </a:prstGeom>
          <a:solidFill>
            <a:srgbClr val="B9D2F7"/>
          </a:solidFill>
          <a:ln/>
        </p:spPr>
        <p:txBody>
          <a:bodyPr/>
          <a:p/>
        </p:txBody>
      </p:sp>
      <p:sp>
        <p:nvSpPr>
          <p:cNvPr id="43" name="R3 num"/>
          <p:cNvSpPr/>
          <p:nvPr/>
        </p:nvSpPr>
        <p:spPr>
          <a:xfrm>
            <a:off x="686714" y="4034333"/>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970325"/>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What is the deadline for the safety training?</a:t>
            </a:r>
            <a:endParaRPr lang="en-US" sz="1600" dirty="0"/>
          </a:p>
        </p:txBody>
      </p:sp>
      <p:sp>
        <p:nvSpPr>
          <p:cNvPr id="45" name="R3 ans"/>
          <p:cNvSpPr/>
          <p:nvPr/>
        </p:nvSpPr>
        <p:spPr>
          <a:xfrm>
            <a:off x="4279392" y="4098341"/>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Friday, May 16.</a:t>
            </a:r>
            <a:endParaRPr lang="en-US" sz="1500" dirty="0" b="1"/>
          </a:p>
        </p:txBody>
      </p:sp>
      <p:sp>
        <p:nvSpPr>
          <p:cNvPr id="46" name="R4 card"/>
          <p:cNvSpPr/>
          <p:nvPr/>
        </p:nvSpPr>
        <p:spPr>
          <a:xfrm>
            <a:off x="1583741" y="4756709"/>
            <a:ext cx="6035040" cy="713232"/>
          </a:xfrm>
          <a:prstGeom prst="round1Rect">
            <a:avLst>
              <a:gd name="adj" fmla="val 23087"/>
            </a:avLst>
          </a:prstGeom>
          <a:solidFill>
            <a:srgbClr val="FFFFFF"/>
          </a:solidFill>
          <a:ln/>
        </p:spPr>
        <p:txBody>
          <a:bodyPr/>
          <a:p/>
        </p:txBody>
      </p:sp>
      <p:sp>
        <p:nvSpPr>
          <p:cNvPr id="47" name="R4 chip"/>
          <p:cNvSpPr/>
          <p:nvPr/>
        </p:nvSpPr>
        <p:spPr>
          <a:xfrm>
            <a:off x="544982" y="4756709"/>
            <a:ext cx="1039673" cy="713232"/>
          </a:xfrm>
          <a:prstGeom prst="rect">
            <a:avLst/>
          </a:prstGeom>
          <a:solidFill>
            <a:srgbClr val="B9D2F7"/>
          </a:solidFill>
          <a:ln/>
        </p:spPr>
        <p:txBody>
          <a:bodyPr/>
          <a:p/>
        </p:txBody>
      </p:sp>
      <p:sp>
        <p:nvSpPr>
          <p:cNvPr id="48" name="R4 num"/>
          <p:cNvSpPr/>
          <p:nvPr/>
        </p:nvSpPr>
        <p:spPr>
          <a:xfrm>
            <a:off x="686714" y="4820717"/>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756709"/>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Where can workers do the training?</a:t>
            </a:r>
            <a:endParaRPr lang="en-US" sz="1600" dirty="0"/>
          </a:p>
        </p:txBody>
      </p:sp>
      <p:sp>
        <p:nvSpPr>
          <p:cNvPr id="50" name="R4 ans"/>
          <p:cNvSpPr/>
          <p:nvPr/>
        </p:nvSpPr>
        <p:spPr>
          <a:xfrm>
            <a:off x="4279392" y="4884725"/>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On the computer in the break room.</a:t>
            </a:r>
            <a:endParaRPr lang="en-US" sz="1500" dirty="0" b="1"/>
          </a:p>
        </p:txBody>
      </p:sp>
      <p:sp>
        <p:nvSpPr>
          <p:cNvPr id="51" name="R5 card"/>
          <p:cNvSpPr/>
          <p:nvPr/>
        </p:nvSpPr>
        <p:spPr>
          <a:xfrm>
            <a:off x="1583741" y="5543093"/>
            <a:ext cx="6035040" cy="713232"/>
          </a:xfrm>
          <a:prstGeom prst="round1Rect">
            <a:avLst>
              <a:gd name="adj" fmla="val 23087"/>
            </a:avLst>
          </a:prstGeom>
          <a:solidFill>
            <a:srgbClr val="FFFFFF"/>
          </a:solidFill>
          <a:ln/>
        </p:spPr>
        <p:txBody>
          <a:bodyPr/>
          <a:p/>
        </p:txBody>
      </p:sp>
      <p:sp>
        <p:nvSpPr>
          <p:cNvPr id="52" name="R5 chip"/>
          <p:cNvSpPr/>
          <p:nvPr/>
        </p:nvSpPr>
        <p:spPr>
          <a:xfrm>
            <a:off x="544982" y="5543093"/>
            <a:ext cx="1039673" cy="713232"/>
          </a:xfrm>
          <a:prstGeom prst="rect">
            <a:avLst/>
          </a:prstGeom>
          <a:solidFill>
            <a:srgbClr val="B9D2F7"/>
          </a:solidFill>
          <a:ln/>
        </p:spPr>
        <p:txBody>
          <a:bodyPr/>
          <a:p/>
        </p:txBody>
      </p:sp>
      <p:sp>
        <p:nvSpPr>
          <p:cNvPr id="53" name="R5 num"/>
          <p:cNvSpPr/>
          <p:nvPr/>
        </p:nvSpPr>
        <p:spPr>
          <a:xfrm>
            <a:off x="686714" y="5607101"/>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543093"/>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What has just arrived?</a:t>
            </a:r>
            <a:endParaRPr lang="en-US" sz="1600" dirty="0"/>
          </a:p>
        </p:txBody>
      </p:sp>
      <p:sp>
        <p:nvSpPr>
          <p:cNvPr id="55" name="R5 ans"/>
          <p:cNvSpPr/>
          <p:nvPr/>
        </p:nvSpPr>
        <p:spPr>
          <a:xfrm>
            <a:off x="4279392" y="5671109"/>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The new schedule.</a:t>
            </a:r>
            <a:endParaRPr lang="en-US" sz="15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name="L4:go">
    <p:bg>
      <p:bgPr>
        <a:solidFill>
          <a:srgbClr val="F1F5FB"/>
        </a:solidFill>
      </p:bgPr>
    </p:bg>
    <p:spTree>
      <p:nvGrpSpPr>
        <p:cNvPr id="1" name=""/>
        <p:cNvGrpSpPr/>
        <p:nvPr/>
      </p:nvGrpSpPr>
      <p:grpSpPr/>
      <p:sp>
        <p:nvSpPr>
          <p:cNvPr id="2" name="Shape 0"/>
          <p:cNvSpPr/>
          <p:nvPr/>
        </p:nvSpPr>
        <p:spPr>
          <a:xfrm>
            <a:off x="544982" y="786384"/>
            <a:ext cx="5486400" cy="5731459"/>
          </a:xfrm>
          <a:prstGeom prst="rect">
            <a:avLst/>
          </a:prstGeom>
          <a:solidFill>
            <a:srgbClr val="B9D2F7"/>
          </a:solidFill>
          <a:ln/>
        </p:spPr>
        <p:txBody>
          <a:bodyPr/>
          <a:p/>
        </p:txBody>
      </p:sp>
      <p:sp>
        <p:nvSpPr>
          <p:cNvPr id="4" name="Shape 2"/>
          <p:cNvSpPr/>
          <p:nvPr/>
        </p:nvSpPr>
        <p:spPr>
          <a:xfrm>
            <a:off x="4147718" y="2196389"/>
            <a:ext cx="7699248" cy="4160520"/>
          </a:xfrm>
          <a:prstGeom prst="round1Rect">
            <a:avLst>
              <a:gd name="adj" fmla="val 23087"/>
            </a:avLst>
          </a:prstGeom>
          <a:solidFill>
            <a:srgbClr val="8FAFE3"/>
          </a:solidFill>
          <a:ln/>
        </p:spPr>
        <p:txBody>
          <a:bodyPr/>
          <a:p/>
        </p:txBody>
      </p:sp>
      <p:sp>
        <p:nvSpPr>
          <p:cNvPr id="5" name="Shape 3"/>
          <p:cNvSpPr/>
          <p:nvPr/>
        </p:nvSpPr>
        <p:spPr>
          <a:xfrm>
            <a:off x="3992270" y="1937614"/>
            <a:ext cx="7699248" cy="4160520"/>
          </a:xfrm>
          <a:prstGeom prst="round1Rect">
            <a:avLst>
              <a:gd name="adj" fmla="val 23087"/>
            </a:avLst>
          </a:prstGeom>
          <a:solidFill>
            <a:srgbClr val="FFFFFF"/>
          </a:solidFill>
          <a:ln/>
        </p:spPr>
        <p:txBody>
          <a:bodyPr/>
          <a:p/>
        </p:txBody>
      </p:sp>
      <p:sp>
        <p:nvSpPr>
          <p:cNvPr id="6" name="title"/>
          <p:cNvSpPr/>
          <p:nvPr/>
        </p:nvSpPr>
        <p:spPr>
          <a:xfrm>
            <a:off x="4343400" y="2103120"/>
            <a:ext cx="7315200" cy="822960"/>
          </a:xfrm>
          <a:prstGeom prst="rect">
            <a:avLst/>
          </a:prstGeom>
          <a:noFill/>
          <a:ln/>
        </p:spPr>
        <p:txBody>
          <a:bodyPr wrap="square" rtlCol="0" anchor="ctr"/>
          <a:lstStyle/>
          <a:p>
            <a:pPr algn="l" indent="0" marL="0">
              <a:buNone/>
            </a:pPr>
            <a:r>
              <a:rPr lang="en-US" sz="3800" dirty="0" b="1">
                <a:solidFill>
                  <a:srgbClr val="1B2236"/>
                </a:solidFill>
                <a:latin typeface="Lexend Deca" pitchFamily="34" charset="0"/>
                <a:ea typeface="Lexend Deca" pitchFamily="34" charset="-122"/>
                <a:cs typeface="Lexend Deca" pitchFamily="34" charset="-120"/>
              </a:rPr>
              <a:t>Before You Go   </a:t>
            </a:r>
            <a:r>
              <a:rPr lang="en-US" sz="2200" dirty="0" b="1">
                <a:solidFill>
                  <a:srgbClr val="5B3FC4"/>
                </a:solidFill>
                <a:latin typeface="Lexend Deca" pitchFamily="34" charset="0"/>
                <a:ea typeface="Lexend Deca" pitchFamily="34" charset="-122"/>
                <a:cs typeface="Lexend Deca" pitchFamily="34" charset="-120"/>
              </a:rPr>
              <a:t>7:25–7:30</a:t>
            </a:r>
            <a:endParaRPr lang="en-US" sz="4000" dirty="0"/>
          </a:p>
        </p:txBody>
      </p:sp>
      <p:pic>
        <p:nvPicPr>
          <p:cNvPr id="16" name="pic" descr="To-do list: a note and a pencil [sign: TO DO]"/>
          <p:cNvPicPr>
            <a:picLocks noChangeAspect="1"/>
          </p:cNvPicPr>
          <p:nvPr/>
        </p:nvPicPr>
        <p:blipFill>
          <a:blip r:embed="rId3"/>
          <a:stretch>
            <a:fillRect/>
          </a:stretch>
        </p:blipFill>
        <p:spPr>
          <a:xfrm>
            <a:off x="777240" y="2651760"/>
            <a:ext cx="3017520" cy="2112264"/>
          </a:xfrm>
          <a:prstGeom prst="rect">
            <a:avLst/>
          </a:prstGeom>
        </p:spPr>
      </p:pic>
      <p:sp>
        <p:nvSpPr>
          <p:cNvPr id="17" name="Num 01"/>
          <p:cNvSpPr/>
          <p:nvPr/>
        </p:nvSpPr>
        <p:spPr>
          <a:xfrm>
            <a:off x="43434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01</a:t>
            </a:r>
            <a:endParaRPr lang="en-US" sz="3000" dirty="0"/>
          </a:p>
        </p:txBody>
      </p:sp>
      <p:sp>
        <p:nvSpPr>
          <p:cNvPr id="18" name="Label 01"/>
          <p:cNvSpPr/>
          <p:nvPr/>
        </p:nvSpPr>
        <p:spPr>
          <a:xfrm>
            <a:off x="51206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Exit ticket</a:t>
            </a:r>
            <a:endParaRPr lang="en-US" sz="2200" dirty="0" b="1"/>
          </a:p>
        </p:txBody>
      </p:sp>
      <p:sp>
        <p:nvSpPr>
          <p:cNvPr id="19" name="Body 01"/>
          <p:cNvSpPr/>
          <p:nvPr/>
        </p:nvSpPr>
        <p:spPr>
          <a:xfrm>
            <a:off x="4343400" y="3520440"/>
            <a:ext cx="352044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Answer in 3 sentences: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Something you've already done.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Something you haven't done yet.</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A reason, with because.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Give it to me at the door.</a:t>
            </a:r>
            <a:endParaRPr lang="en-US" sz="1600" dirty="0" b="0"/>
          </a:p>
        </p:txBody>
      </p:sp>
      <p:sp>
        <p:nvSpPr>
          <p:cNvPr id="20" name="Num 02"/>
          <p:cNvSpPr/>
          <p:nvPr/>
        </p:nvSpPr>
        <p:spPr>
          <a:xfrm>
            <a:off x="80010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02</a:t>
            </a:r>
            <a:endParaRPr lang="en-US" sz="3000" dirty="0"/>
          </a:p>
        </p:txBody>
      </p:sp>
      <p:sp>
        <p:nvSpPr>
          <p:cNvPr id="21" name="Label 02"/>
          <p:cNvSpPr/>
          <p:nvPr/>
        </p:nvSpPr>
        <p:spPr>
          <a:xfrm>
            <a:off x="87782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Homework</a:t>
            </a:r>
            <a:endParaRPr lang="en-US" sz="2200" dirty="0" b="1"/>
          </a:p>
        </p:txBody>
      </p:sp>
      <p:sp>
        <p:nvSpPr>
          <p:cNvPr id="22" name="Body 02"/>
          <p:cNvSpPr/>
          <p:nvPr/>
        </p:nvSpPr>
        <p:spPr>
          <a:xfrm>
            <a:off x="8001000" y="3520440"/>
            <a:ext cx="365760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About 15–20 minutes.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Write the sentence. Use the words.</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Finish your reply email (Read &amp; Write C).</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Make a to-do list for this week.</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4. Review: it or them.</a:t>
            </a:r>
            <a:endParaRPr lang="en-US" sz="1600" dirty="0" b="0"/>
          </a:p>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Bring it next week!</a:t>
            </a:r>
            <a:endParaRPr lang="en-US" sz="1600" dirty="0" b="1"/>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name="L4:goodby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Feedback: a thumbs-up and a speech bubble [sign: GOOD JOB!]">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3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Goodbye! See You Next Week!</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Now you can:</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Say what you've already done</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and answer Have you… yet?</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Answer a supervisor's check-in</a:t>
            </a:r>
            <a:endParaRPr lang="en-US" sz="2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name="L4:credits">
    <p:bg>
      <p:bgPr>
        <a:solidFill>
          <a:srgbClr val="C9B8F2"/>
        </a:solidFill>
      </p:bgPr>
    </p:bg>
    <p:spTree>
      <p:nvGrpSpPr>
        <p:cNvPr id="1" name=""/>
        <p:cNvGrpSpPr/>
        <p:nvPr/>
      </p:nvGrpSpPr>
      <p:grpSpPr/>
      <p:sp>
        <p:nvSpPr>
          <p:cNvPr id="2" name="Shape 0"/>
          <p:cNvSpPr/>
          <p:nvPr/>
        </p:nvSpPr>
        <p:spPr>
          <a:xfrm>
            <a:off x="0" y="0"/>
            <a:ext cx="12191695" cy="6858000"/>
          </a:xfrm>
          <a:prstGeom prst="rect">
            <a:avLst/>
          </a:prstGeom>
          <a:solidFill>
            <a:srgbClr val="DCE6F5"/>
          </a:solidFill>
          <a:ln/>
        </p:spPr>
        <p:txBody>
          <a:bodyPr/>
          <a:p/>
        </p:txBody>
      </p:sp>
      <p:sp>
        <p:nvSpPr>
          <p:cNvPr id="4" name="Shape 2"/>
          <p:cNvSpPr/>
          <p:nvPr/>
        </p:nvSpPr>
        <p:spPr>
          <a:xfrm>
            <a:off x="0" y="1371600"/>
            <a:ext cx="12191695" cy="5486400"/>
          </a:xfrm>
          <a:prstGeom prst="round1Rect">
            <a:avLst>
              <a:gd name="adj" fmla="val 23087"/>
            </a:avLst>
          </a:prstGeom>
          <a:solidFill>
            <a:srgbClr val="B9D2F7"/>
          </a:solidFill>
          <a:ln/>
        </p:spPr>
        <p:txBody>
          <a:bodyPr/>
          <a:p/>
        </p:txBody>
      </p:sp>
      <p:sp>
        <p:nvSpPr>
          <p:cNvPr id="5" name="Shape 3"/>
          <p:cNvSpPr/>
          <p:nvPr/>
        </p:nvSpPr>
        <p:spPr>
          <a:xfrm>
            <a:off x="518465" y="431597"/>
            <a:ext cx="5361127" cy="1595628"/>
          </a:xfrm>
          <a:prstGeom prst="roundRect">
            <a:avLst>
              <a:gd name="adj" fmla="val 16667"/>
            </a:avLst>
          </a:prstGeom>
          <a:solidFill>
            <a:srgbClr val="8FAFE3"/>
          </a:solidFill>
          <a:ln/>
        </p:spPr>
        <p:txBody>
          <a:bodyPr/>
          <a:p/>
        </p:txBody>
      </p:sp>
      <p:sp>
        <p:nvSpPr>
          <p:cNvPr id="6" name="Shape 4"/>
          <p:cNvSpPr/>
          <p:nvPr/>
        </p:nvSpPr>
        <p:spPr>
          <a:xfrm>
            <a:off x="550469" y="365760"/>
            <a:ext cx="5361127" cy="1595628"/>
          </a:xfrm>
          <a:prstGeom prst="roundRect">
            <a:avLst>
              <a:gd name="adj" fmla="val 16667"/>
            </a:avLst>
          </a:prstGeom>
          <a:solidFill>
            <a:srgbClr val="FFFFFF"/>
          </a:solidFill>
          <a:ln/>
        </p:spPr>
        <p:txBody>
          <a:bodyPr/>
          <a:p/>
        </p:txBody>
      </p:sp>
      <p:sp>
        <p:nvSpPr>
          <p:cNvPr id="7" name="title"/>
          <p:cNvSpPr/>
          <p:nvPr/>
        </p:nvSpPr>
        <p:spPr>
          <a:xfrm>
            <a:off x="674827" y="640080"/>
            <a:ext cx="5120640" cy="1024128"/>
          </a:xfrm>
          <a:prstGeom prst="rect">
            <a:avLst/>
          </a:prstGeom>
          <a:noFill/>
          <a:ln/>
        </p:spPr>
        <p:txBody>
          <a:bodyPr wrap="square" lIns="50800" tIns="50800" rIns="50800" bIns="50800" rtlCol="0" anchor="ctr"/>
          <a:lstStyle/>
          <a:p>
            <a:pPr algn="l" indent="0" marL="0">
              <a:buNone/>
            </a:pPr>
            <a:r>
              <a:rPr lang="en-US" sz="5400" dirty="0" b="1">
                <a:solidFill>
                  <a:srgbClr val="1B2236"/>
                </a:solidFill>
                <a:latin typeface="Lexend Deca" pitchFamily="34" charset="0"/>
                <a:ea typeface="Lexend Deca" pitchFamily="34" charset="-122"/>
                <a:cs typeface="Lexend Deca" pitchFamily="34" charset="-120"/>
              </a:rPr>
              <a:t>Credits</a:t>
            </a:r>
            <a:endParaRPr lang="en-US" sz="5400" dirty="0"/>
          </a:p>
        </p:txBody>
      </p:sp>
      <p:sp>
        <p:nvSpPr>
          <p:cNvPr id="15" name="pictures"/>
          <p:cNvSpPr/>
          <p:nvPr/>
        </p:nvSpPr>
        <p:spPr>
          <a:xfrm>
            <a:off x="411480" y="2240280"/>
            <a:ext cx="11365992" cy="22402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Pictures</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Vocabulary pictures use Twemoji graphics by Twitter, Inc. and other contributors (https://github.com/jdecked/twemoji), licensed under CC BY 4.0 (https://creativecommons.org/licenses/by/4.0/). The graphics were resized and combined, and signs and labels were added.</a:t>
            </a:r>
            <a:endParaRPr lang="en-US" sz="1600" dirty="0" b="0"/>
          </a:p>
        </p:txBody>
      </p:sp>
      <p:sp>
        <p:nvSpPr>
          <p:cNvPr id="16" name="names"/>
          <p:cNvSpPr/>
          <p:nvPr/>
        </p:nvSpPr>
        <p:spPr>
          <a:xfrm>
            <a:off x="411480" y="4709160"/>
            <a:ext cx="4206240"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Names and story</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Jamal, Kim, Ms. Rivera, Sandra Ortiz, and Leo are invented names. The listening story is invented.</a:t>
            </a:r>
            <a:endParaRPr lang="en-US" sz="1600" dirty="0" b="0"/>
          </a:p>
        </p:txBody>
      </p:sp>
      <p:sp>
        <p:nvSpPr>
          <p:cNvPr id="17" name="audio"/>
          <p:cNvSpPr/>
          <p:nvPr/>
        </p:nvSpPr>
        <p:spPr>
          <a:xfrm>
            <a:off x="4846320" y="4709160"/>
            <a:ext cx="6931152"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Audio and font</a:t>
            </a:r>
            <a:endParaRPr lang="en-US" sz="2000" dirty="0" b="1"/>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Audio (coming soon): synthetic voices made with Chatterbox TTS (MIT License), cloned from short synthetic reference clips made with Kokoro-82M (Apache License 2.0). No recordings of real people. Each file will carry an inaudible Perth watermark marking it as AI-generated. Font: Lexend Deca (OFL 1.1).</a:t>
            </a:r>
            <a:endParaRPr lang="en-US" sz="1350" dirty="0" b="0"/>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 2026 the authors. The authors license this deck under CC BY-NC-SA 4.0.</a:t>
            </a:r>
            <a:endParaRPr lang="en-US" sz="1350" dirty="0" b="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Level 4 Lesson 3: Have You Finished Yet?</dc:title>
  <dc:subject>PptxGenJS Presentation</dc:subject>
  <dc:creator>Level 1 ESL</dc:creator>
  <cp:lastModifiedBy>Level 1 ESL</cp:lastModifiedBy>
  <cp:revision>1</cp:revision>
  <dcterms:created xsi:type="dcterms:W3CDTF">2026-10-15T20:54:31Z</dcterms:created>
  <dcterms:modified xsi:type="dcterms:W3CDTF">2026-10-15T20:54:31Z</dcterms:modified>
</cp:coreProperties>
</file>