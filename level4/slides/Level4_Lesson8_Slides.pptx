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783" r:id="rId33"/>
    <p:sldId id="784" r:id="rId34"/>
    <p:sldId id="785" r:id="rId35"/>
    <p:sldId id="786" r:id="rId36"/>
    <p:sldId id="787" r:id="rId31"/>
    <p:sldId id="788" r:id="rId30"/>
    <p:sldId id="789" r:id="rId29"/>
    <p:sldId id="790" r:id="rId28"/>
    <p:sldId id="791" r:id="rId27"/>
    <p:sldId id="792" r:id="rId20"/>
    <p:sldId id="793" r:id="rId18"/>
    <p:sldId id="794" r:id="rId17"/>
    <p:sldId id="795" r:id="rId16"/>
    <p:sldId id="796" r:id="rId14"/>
    <p:sldId id="797" r:id="rId13"/>
    <p:sldId id="798" r:id="rId12"/>
    <p:sldId id="799" r:id="rId11"/>
    <p:sldId id="800" r:id="rId10"/>
    <p:sldId id="801" r:id="rId8"/>
    <p:sldId id="802" r:id="rId7"/>
    <p:sldId id="803" r:id="rId6"/>
    <p:sldId id="804" r:id="rId5"/>
    <p:sldId id="805" r:id="rId4"/>
    <p:sldId id="806" r:id="rId3"/>
    <p:sldId id="807" r:id="rId57"/>
    <p:sldId id="808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2.xml"/><Relationship Id="rId3" Type="http://schemas.openxmlformats.org/officeDocument/2006/relationships/slide" Target="slides/slide50.xml"/><Relationship Id="rId4" Type="http://schemas.openxmlformats.org/officeDocument/2006/relationships/slide" Target="slides/slide49.xml"/><Relationship Id="rId5" Type="http://schemas.openxmlformats.org/officeDocument/2006/relationships/slide" Target="slides/slide48.xml"/><Relationship Id="rId6" Type="http://schemas.openxmlformats.org/officeDocument/2006/relationships/slide" Target="slides/slide47.xml"/><Relationship Id="rId7" Type="http://schemas.openxmlformats.org/officeDocument/2006/relationships/slide" Target="slides/slide46.xml"/><Relationship Id="rId8" Type="http://schemas.openxmlformats.org/officeDocument/2006/relationships/slide" Target="slides/slide45.xml"/><Relationship Id="rId10" Type="http://schemas.openxmlformats.org/officeDocument/2006/relationships/slide" Target="slides/slide44.xml"/><Relationship Id="rId11" Type="http://schemas.openxmlformats.org/officeDocument/2006/relationships/slide" Target="slides/slide43.xml"/><Relationship Id="rId12" Type="http://schemas.openxmlformats.org/officeDocument/2006/relationships/slide" Target="slides/slide42.xml"/><Relationship Id="rId13" Type="http://schemas.openxmlformats.org/officeDocument/2006/relationships/slide" Target="slides/slide41.xml"/><Relationship Id="rId14" Type="http://schemas.openxmlformats.org/officeDocument/2006/relationships/slide" Target="slides/slide40.xml"/><Relationship Id="rId16" Type="http://schemas.openxmlformats.org/officeDocument/2006/relationships/slide" Target="slides/slide39.xml"/><Relationship Id="rId17" Type="http://schemas.openxmlformats.org/officeDocument/2006/relationships/slide" Target="slides/slide38.xml"/><Relationship Id="rId18" Type="http://schemas.openxmlformats.org/officeDocument/2006/relationships/slide" Target="slides/slide37.xml"/><Relationship Id="rId20" Type="http://schemas.openxmlformats.org/officeDocument/2006/relationships/slide" Target="slides/slide36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35.xml"/><Relationship Id="rId28" Type="http://schemas.openxmlformats.org/officeDocument/2006/relationships/slide" Target="slides/slide34.xml"/><Relationship Id="rId29" Type="http://schemas.openxmlformats.org/officeDocument/2006/relationships/slide" Target="slides/slide33.xml"/><Relationship Id="rId30" Type="http://schemas.openxmlformats.org/officeDocument/2006/relationships/slide" Target="slides/slide32.xml"/><Relationship Id="rId31" Type="http://schemas.openxmlformats.org/officeDocument/2006/relationships/slide" Target="slides/slide31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57" Type="http://schemas.openxmlformats.org/officeDocument/2006/relationships/slide" Target="slides/slide5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Credits. You don't need to read this slide in class.</a:t>
            </a:r>
          </a:p>
          <a:p>
            <a:r>
              <a:t>Pictures: Twemoji graphics by Twitter, Inc. and other contributors, CC BY 4.0; the file-by-file list is in images/CREDITS.md.</a:t>
            </a:r>
          </a:p>
          <a:p>
            <a:r>
              <a:t>Audio: synthetic voices, computer-generated (Chatterbox TTS cloned from Kokoro-82M reference clips). No recordings of real people. The names and the story are invented.</a:t>
            </a:r>
          </a:p>
          <a:p>
            <a:r>
              <a:t>Course materials: © 2026 the authors, licensed under CC BY-NC-SA 4.0 (https://creativecommons.org/licenses/by-nc-sa/4.0/).</a:t>
            </a:r>
          </a:p>
          <a:p>
            <a:r>
              <a:t>Lesson plan: Picture Credits. Picture list: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7 · 7:25–7:30 · Exit Ticket + Homework · 5 min · NEVER SKIP.</a:t>
            </a:r>
          </a:p>
          <a:p>
            <a:r>
              <a:t>Exit ticket (3 min): learners open the Exit Ticket page and answer in 3 sentences with a reason: What might change in your neighborhood or at your job next year? Example on the board: A new store might open near my house. My job may change my schedule. I think so because there's construction on my street and my company is very busy. With 5 or fewer, a learner can say it to you first and then write it.</a:t>
            </a:r>
          </a:p>
          <a:p>
            <a:r>
              <a:t>Collect the pages. After class, sort them into ✓ / almost / not yet. Start next week with 2 corrections on the board (no names).</a:t>
            </a:r>
          </a:p>
          <a:p>
            <a:r>
              <a:t>Homework (2 min): open the Homework page. Do item 1 together (item 1: the store / may / open / in June → The store may open in June.). Say: "About 15–20 minutes. Finish your Read &amp; Write writing at home."</a:t>
            </a:r>
          </a:p>
          <a:p>
            <a:r>
              <a:t>Homework items: 1. Write the sentence or question. Use the words. • 2. Finish your writing from Read &amp; Write C (your text or email). Read it one more time. Check ✓ the list in D. • 3. Write 3 things that might change in your neighborhood or city. Then write why you think so. • 4. Review (Lesson 7). Write one word.</a:t>
            </a:r>
          </a:p>
          <a:p>
            <a:r>
              <a:t>Lesson plan: Step 7; Exit Ticket page; Homework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6 · 7:15–7:25 · Read &amp; Write: A local news article · 10 min. Pairs read, then individual writing.</a:t>
            </a:r>
          </a:p>
          <a:p>
            <a:r>
              <a:t>Read (4 min): Learners read the news article on the Read &amp; Write page, find the main idea, and answer the questions. Say: "Read fast first. Then find the answers." Pairs answer questions 1–5 together.</a:t>
            </a:r>
          </a:p>
          <a:p>
            <a:r>
              <a:t>Check (1 min): click to show each answer (one click per question, 1 to 5): 1 A new bus route, Route 9, will start on May 6. • 2 Every 20 minutes. • 3 $1.50 (and free for the first week). • 4 Sunday service. • 5 On the city website or at the library.</a:t>
            </a:r>
          </a:p>
          <a:p>
            <a:r>
              <a:t>Write (5 min): Learners write a text or email to a friend about the news (5–8 sentences) with one might or may and one Do you know…?. Show the example. Learners start in class and finish at home (Homework item 2).</a:t>
            </a:r>
          </a:p>
          <a:p>
            <a:r>
              <a:t>If behind: questions 1–5 only; the writing becomes homework.</a:t>
            </a:r>
          </a:p>
          <a:p>
            <a:r>
              <a:t>Lesson plan: Step 6; Read &amp; Write page;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2 (6 min): What Might Happen? (groups). Groups choose a headline and write 4 predictions with might, may, and will probably. Then they read them to the class. Each click shows the next step.</a:t>
            </a:r>
          </a:p>
          <a:p>
            <a:r>
              <a:t>15 learners: pairs with one rotation for round 1; then groups of 4. 7–8 learners: pairs for round 1; then 2 groups. 5 or fewer: pairs for round 1 (you take a card if there is an odd number); then one group.</a:t>
            </a:r>
          </a:p>
          <a:p>
            <a:r>
              <a:t>Every answer needs a reason; every partner asks a follow-up. Walk around and listen. Note 2 good sentences to praise and 1 common error for next week.</a:t>
            </a:r>
          </a:p>
          <a:p>
            <a:r>
              <a:t>If behind: round 1 only.</a:t>
            </a:r>
          </a:p>
          <a:p>
            <a:r>
              <a:t>Lesson plan: Step 5; Talk Time: What Might Happen?.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5 · 7:00–7:15 · Talk Time: News Swap + What Might Happen? · 15 min.</a:t>
            </a:r>
          </a:p>
          <a:p>
            <a:r>
              <a:t>Model it first (1 min): hold news card A. Ask a learner, "Do you know when the library will open on Sundays?" Help them find it and answer, "Yes, starting March 3." Then ask, "Do you know why?" Say: "Ask with Do you know…? Answer with a fact, or say I'm not sure. It might…"</a:t>
            </a:r>
          </a:p>
          <a:p>
            <a:r>
              <a:t>Round 1 (7 min): News Swap (pairs). A and B have different news cards. Partners ask Do you know when / where / why…? and write the facts. Then they change partners and retell their partner's story. Each click shows the next step.</a:t>
            </a:r>
          </a:p>
          <a:p>
            <a:r>
              <a:t>15 learners: pairs with one rotation for round 1; then groups of 4. 7–8 learners: pairs for round 1; then 2 groups. 5 or fewer: pairs for round 1 (you take a card if there is an odd number); then one group.</a:t>
            </a:r>
          </a:p>
          <a:p>
            <a:r>
              <a:t>Lesson plan: Step 5; Talk Time: News Swap.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Pair check (last 3 min of Step 4). Pairs.</a:t>
            </a:r>
          </a:p>
          <a:p>
            <a:r>
              <a:t>A points to a picture and asks, "Do you know when the construction ends?" B answers with a fact or I'm not sure. It might… Switch. 15 learners: swap partners once. 5 or fewer: you join one pair.</a:t>
            </a:r>
          </a:p>
          <a:p>
            <a:r>
              <a:t>If behind: skip the pair check. Talk Time practices it.</a:t>
            </a:r>
          </a:p>
          <a:p>
            <a:r>
              <a:t>Break · 6:45–7:00 · 15 min. Write on the board: It might / may / could + base verb (maybe) • It will… (sure) • Do you know where the meeting is? (statement order)</a:t>
            </a:r>
          </a:p>
          <a:p>
            <a:r>
              <a:t>Lesson plan: Step 4: Pair check; Break.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Common mistakes. Read the table together: "Don't say… Say…". Read a line from Don't say. Ask: "What's the right way?" Learners try first. Then click to show the right form. Each click shows one line, in order 1 to 5.</a:t>
            </a:r>
          </a:p>
          <a:p>
            <a:r>
              <a:t>Learners can read the contrast tip on their Grammar page on their own; it is optional. You never need to read, translate, or explain it.</a:t>
            </a:r>
          </a:p>
          <a:p>
            <a:r>
              <a:t>Lesson plan: Grammar: Common mistakes; Teacher notes.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B. Learners circle the correct words. Pairs check.</a:t>
            </a:r>
          </a:p>
          <a:p>
            <a:r>
              <a:t>Click to circle each answer (one click per item, 1 to 6): 1 take, 2 where the meeting is, 3 might not, 4 opens, 5 will, 6 may.</a:t>
            </a:r>
          </a:p>
          <a:p>
            <a:r>
              <a:t>Lesson plan: Step 4; Grammar Practice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Practice A and B (3 min): learners write, then pairs check. Go over the answers.</a:t>
            </a:r>
          </a:p>
          <a:p>
            <a:r>
              <a:t>Click to show each answer (one click per item, 1 to 6): 1 might, 2 will, 3 open, 4 is, 5 leaves, 6 be.</a:t>
            </a:r>
          </a:p>
          <a:p>
            <a:r>
              <a:t>Lesson plan: Step 4; Grammar Practice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4: from a question to Do you know…? Each click shows the answer side of one row.</a:t>
            </a:r>
          </a:p>
          <a:p>
            <a:r>
              <a:t>Questions and answers (2 min): Q: It might rains or It might rain? A: might + base verb: It might rain. Never -s, never to. • Q: Can I say Do you know where is the meeting? A: Use statement order: Do you know where the meeting is? • Q: will or might? A: will = I'm sure. might = maybe. The road will close on Monday. It might open early.</a:t>
            </a:r>
          </a:p>
          <a:p>
            <a:r>
              <a:t>Check questions: "It might rains or It might rain?" (might rain) • "Do you know where is the bank or where the bank is?" (where the bank is) • "The sign says Closed Monday. will or might?" (will).</a:t>
            </a:r>
          </a:p>
          <a:p>
            <a:r>
              <a:t>Lesson plan: Step 4; Grammar Box 4; Questions and answers.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3: will (sure) vs. might (maybe). Each click shows the answer side of one row.</a:t>
            </a:r>
          </a:p>
          <a:p>
            <a:r>
              <a:t>Lesson plan: Step 4; Grammar Box 3.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Box 2: Do you know where / when / what time / why…? Each click shows the answer side of one row.</a:t>
            </a:r>
          </a:p>
          <a:p>
            <a:r>
              <a:t>Rule of thumb (read it aloud): might / may / could + base verb: never to, never -s (It might rain). After Do you know where / when / why, use statement order: where the meeting is (not where is the meeting).</a:t>
            </a:r>
          </a:p>
          <a:p>
            <a:r>
              <a:t>Lesson plan: Step 4; Grammar Box 2; Rule of thumb.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4 · 6:30–6:45 · Grammar Q&amp;A · 15 min (slides 13 to 20). Whole class, then pairs. Show the Grammar page. The left side is the question. The right side is the answer.</a:t>
            </a:r>
          </a:p>
          <a:p>
            <a:r>
              <a:t>Show it (2 min): draw a cloud. Say, "Will it rain tomorrow? I'm not sure. It might rain. It may rain." Draw a sign ROAD CLOSED MONDAY: "The road will close on Monday. I'm sure." Then ask a learner, "Do you know where the library is?" Write it and underline the library is: "Statement order."</a:t>
            </a:r>
          </a:p>
          <a:p>
            <a:r>
              <a:t>Box 1: read across: Will the road be closed tomorrow? → It might be. / It may be closed until Friday. Each click shows the answer side of one row.</a:t>
            </a:r>
          </a:p>
          <a:p>
            <a:r>
              <a:t>Lesson plan: Step 4; Grammar Box 1.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"Hear it, say it" (3 min): Point to the script lines. gonna = going to: "The bus is going to take a detour." Then practice might (the last t is very short: It migh' be late) and Do you know…? with the voice going up at the end. Listen to the reporter's pauses. The class repeats the two lines twice.</a:t>
            </a:r>
          </a:p>
          <a:p>
            <a:r>
              <a:t>Reductions: the listening says going to. People often say gonna. Learners only need to recognize it.</a:t>
            </a:r>
          </a:p>
          <a:p>
            <a:r>
              <a:t>Lesson plan: Step 3: "Hear it, say it"; Listening page: Hear it, say it; Teacher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Task C (play 2). Click to show each answer (one click per item, 1 to 6): 1 might, 2 will, 3 when, 4 how, 5 might, 6 where.</a:t>
            </a:r>
          </a:p>
          <a:p>
            <a:r>
              <a:t>If behind: do Task C together on the board, reading the lines yourself.</a:t>
            </a:r>
          </a:p>
          <a:p>
            <a:r>
              <a:t>Lesson plan: Step 3; Listening Task C;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2 → Tasks B and C. Pairs compare. Then show the answers.</a:t>
            </a:r>
          </a:p>
          <a:p>
            <a:r>
              <a:t>Click to circle each answer (one click per item, 1 to 6): 1 Fifth • 2 Monday • 3 water pipe • 4 two weeks • 5 Pine Street • 6 fifteen.</a:t>
            </a:r>
          </a:p>
          <a:p>
            <a:r>
              <a:t>Lesson plan: Step 3; Listening Task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1 → Task A (the main idea). Pairs compare. Check together.</a:t>
            </a:r>
          </a:p>
          <a:p>
            <a:r>
              <a:t>Click to circle the answer: a (Oak Street will close for a water pipe repair.).</a:t>
            </a:r>
          </a:p>
          <a:p>
            <a:r>
              <a:t>Then read Tasks B and C together (1 min) so learners know what to listen for.</a:t>
            </a:r>
          </a:p>
          <a:p>
            <a:r>
              <a:t>Lesson plan: Step 3; Listening Task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· 6:15–6:30 · Listening + "Hear it, say it" · 15 min (slides 8 to 12). Individuals, then pairs check.</a:t>
            </a:r>
          </a:p>
          <a:p>
            <a:r>
              <a:t>Before you listen (2 min). Say: "First, you'll hear a short local news report on the radio. Then two coworkers, Marco and Joy, talk about the news. Listen: what is the news?"</a:t>
            </a:r>
          </a:p>
          <a:p>
            <a:r>
              <a:t>There are 3 people: Diane Lee, Marco and Joy. A narrator starts and ends the listening. Each click highlights the next person.</a:t>
            </a:r>
          </a:p>
          <a:p>
            <a:r>
              <a:t>The audio (L4_L8_listening.mp3, about 1:50) plays the conversation once. Press play again for play 2. A third play is fine if the class needs it.</a:t>
            </a:r>
          </a:p>
          <a:p>
            <a:r>
              <a:t>No speaker? Read the script with a volunteer at a natural, friendly speed, two times. The script says going to and want to. People often say gonna and wanna; learners only need to recognize those words.</a:t>
            </a:r>
          </a:p>
          <a:p>
            <a:r>
              <a:t>Audio: synthetic voices, computer-generated (Chatterbox TTS cloned from Kokoro-82M reference clips). No recordings of real people. The names and the story are invented.</a:t>
            </a:r>
          </a:p>
          <a:p>
            <a:r>
              <a:t>Lesson plan: Step 3; Listening script; Listening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Check meaning · 1 min. Whole class.</a:t>
            </a:r>
          </a:p>
          <a:p>
            <a:r>
              <a:t>The answers are hidden. Ask each question and wait for the class to answer. Then click to show the answer. Each click shows one answer, in order: 1, 2, 3.</a:t>
            </a:r>
          </a:p>
          <a:p>
            <a:r>
              <a:t>1. "If the road is closed, does the bus take a detour?" (yes) • 2. "Is a headline long or short?" (short) • 3. "If there is a delay, is the bus early or late?" (late)</a:t>
            </a:r>
          </a:p>
          <a:p>
            <a:r>
              <a:t>Lesson plan: Step 2: Check meaning.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2, continued. Point to each picture and say the word. Learners repeat once.</a:t>
            </a:r>
          </a:p>
          <a:p>
            <a:r>
              <a:t>Partner game (2 min): A points to a picture and asks, "Do you know when the construction ends?" B answers with a fact or "I'm not sure. It might end in May." Switch. 15 learners: finish with a quick team round (3 teams; you say a clue, the first team with the word gets a point). 7–8: 2 teams. 5 or fewer: one team against the clock.</a:t>
            </a:r>
          </a:p>
          <a:p>
            <a:r>
              <a:t>My Words: "Write any word you want in your language on the My Words page. It's your personal list. It's optional." Learners do it at home.</a:t>
            </a:r>
          </a:p>
          <a:p>
            <a:r>
              <a:t>If behind: teach the ★ words only.</a:t>
            </a:r>
          </a:p>
          <a:p>
            <a:r>
              <a:t>Lesson plan: Step 2; New Words page; Partner game; My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6:08–6:15 · New Words · 7 min (this slide and the next). Whole class, then pairs.</a:t>
            </a:r>
          </a:p>
          <a:p>
            <a:r>
              <a:t>Point to each picture and say the word. Learners repeat once. ★ = the most important words. Each click shows the next word.</a:t>
            </a:r>
          </a:p>
          <a:p>
            <a:r>
              <a:t>Show the hard words: news, local (in our city); reporter (the person who tells the news); headline (the big words at the top); road closure and detour (draw a street with an X and an arrow around it); construction; water pipe; bus route; delay (the bus is late); announce (say it to everyone); update (new information).</a:t>
            </a:r>
          </a:p>
          <a:p>
            <a:r>
              <a:t>If behind: teach the ★ words only.</a:t>
            </a:r>
          </a:p>
          <a:p>
            <a:r>
              <a:t>Lesson plan: Step 2; Key vocabulary; New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 as they arrive.</a:t>
            </a:r>
          </a:p>
          <a:p>
            <a:r>
              <a:t>Point to the title and read it: "In the News" Say: "Understanding short local news reports and city notices: a road closure, a bus detour, a water pipe repair, a new bus route, a new store. Learners say what might or may happen and ask Do you know where / when / why…?. All stories, streets, and cities are invented and neutral."</a:t>
            </a:r>
          </a:p>
          <a:p>
            <a:r>
              <a:t>Read the three lines under "Today you will".</a:t>
            </a:r>
          </a:p>
          <a:p>
            <a:r>
              <a:t>Class stories only: all news is invented and neutral (roads, buses, a library, a store). No politics, crime, injuries, or real current events. If a learner brings up real news, say, "Let's keep to our class stories."</a:t>
            </a:r>
          </a:p>
          <a:p>
            <a:r>
              <a:t>Lesson plan: Topic; At a glance: Objectives; Teacher notes.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goal slowly. Learners repeat.</a:t>
            </a:r>
          </a:p>
          <a:p>
            <a:r>
              <a:t>Lesson plan: At a glance: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· 6:00–6:08 · Opening Talk + Homework Check · 8 min. Pairs (7 pairs + 1 trio with 15 learners; 3–4 pairs with 7–8).</a:t>
            </a:r>
          </a:p>
          <a:p>
            <a:r>
              <a:t>Before class, write on the board: too / enough; must / mustn't / don't have to</a:t>
            </a:r>
          </a:p>
          <a:p>
            <a:r>
              <a:t>Model with one learner: you say, "Is 6:55 early enough for a 7:00 shift?" The learner answers with too or enough and a reason. Then you ask, "What must you wear at your job or school?" Help them say 3 sentences. (Click to show the follow-up.)</a:t>
            </a:r>
          </a:p>
          <a:p>
            <a:r>
              <a:t>Opening Talk (5 min): learners open the Opening Talk page. A asks a card question; B answers in 3 sentences (the answer, a reason, a detail); A asks one follow-up. Switch after each card. The cards are on the next slide.</a:t>
            </a:r>
          </a:p>
          <a:p>
            <a:r>
              <a:t>If behind: one card only.</a:t>
            </a:r>
          </a:p>
          <a:p>
            <a:r>
              <a:t>Lesson plan: Step 1; Opening Talk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1, continued. The four cards from the Opening Talk page. Each click shows the next card.</a:t>
            </a:r>
          </a:p>
          <a:p>
            <a:r>
              <a:t>A asks a card question. B answers in 3 sentences. A asks one follow-up question (follow-ups on the right). Then switch.</a:t>
            </a:r>
          </a:p>
          <a:p>
            <a:r>
              <a:t>Homework Check (3 min, last click): Pairs compare Homework item 1 (too / enough / mustn't) and read their 3 rules (item 3) to each other. Then they fill in the box on the Opening Talk page. Also return the midterm and go over 2 common mistakes. Walk around. Write 2 common errors on the board (often It's enough big (→ It's big enough) and You don't have to smoke here for a rule (→ You mustn't smoke here)) and correct them together. Also put up 2 corrections from last week's exit tickets.</a:t>
            </a:r>
          </a:p>
          <a:p>
            <a:r>
              <a:t>After the midterm: this is Week 9. Return the midterm in the Opening Talk and put 2 common mistakes on the board.</a:t>
            </a:r>
          </a:p>
          <a:p>
            <a:r>
              <a:t>Lesson plan: Step 1; Opening Talk page: cards, follow-ups; Homework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title: "Goodbye! See you next week!" Learners repeat.</a:t>
            </a:r>
          </a:p>
          <a:p>
            <a:r>
              <a:t>Read the three "Now you can" lines.</a:t>
            </a:r>
          </a:p>
          <a:p>
            <a:r>
              <a:t>Lesson plan: At a glance: Objectives; Step 7.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8.png"/><Relationship Id="rId14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Relationship Id="rId12" Type="http://schemas.openxmlformats.org/officeDocument/2006/relationships/image" Target="../media/image23.png"/><Relationship Id="rId13" Type="http://schemas.openxmlformats.org/officeDocument/2006/relationships/image" Target="../media/image24.png"/><Relationship Id="rId14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6" Type="http://schemas.openxmlformats.org/officeDocument/2006/relationships/image" Target="../media/image15.png"/><Relationship Id="rId7" Type="http://schemas.openxmlformats.org/officeDocument/2006/relationships/image" Target="../media/image21.png"/><Relationship Id="rId8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1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1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it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News: a newspaper and a radi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8  ·  Level 4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the News</a:t>
            </a:r>
            <a:endParaRPr lang="en-US" sz="4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Understand a short local news report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what might or may happen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 Do you know where / when / why…?</a:t>
            </a:r>
            <a:endParaRPr lang="en-US" sz="2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al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five things.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Every goal is a good goal.</a:t>
            </a:r>
            <a:endParaRPr lang="en-US" sz="20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093062"/>
            <a:ext cx="6227064" cy="678668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035454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035454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051548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035454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understand the main points of a short local news report.</a:t>
            </a:r>
            <a:endParaRPr lang="en-US" sz="15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168957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2822936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2822936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2839029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2822936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what might or may happen, and what will happen.</a:t>
            </a:r>
            <a:endParaRPr lang="en-US" sz="15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295643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610417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610417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626510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610417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ask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where / when / why…?</a:t>
            </a: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with statement order.</a:t>
            </a:r>
            <a:endParaRPr lang="en-US" sz="15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743919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397898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397898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413992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397898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tell a classmate about a local news story.</a:t>
            </a:r>
            <a:endParaRPr lang="en-US" sz="15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53140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185380"/>
            <a:ext cx="5130698" cy="678668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185380"/>
            <a:ext cx="1039673" cy="678668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01473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185380"/>
            <a:ext cx="4434840" cy="6786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write a text or email (5–8 sentences) telling a friend the news.</a:t>
            </a:r>
            <a:endParaRPr lang="en-US" sz="15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1888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armup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87604" y="1352535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pic" descr="Reporter: a person and a microphone [sign: NEWS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393" y="2104034"/>
            <a:ext cx="4754880" cy="3328416"/>
          </a:xfrm>
          <a:prstGeom prst="rect">
            <a:avLst/>
          </a:prstGeom>
        </p:spPr>
      </p:pic>
      <p:sp>
        <p:nvSpPr>
          <p:cNvPr id="7" name="title"/>
          <p:cNvSpPr/>
          <p:nvPr/>
        </p:nvSpPr>
        <p:spPr>
          <a:xfrm>
            <a:off x="548640" y="1764792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</p:txBody>
      </p:sp>
      <p:sp>
        <p:nvSpPr>
          <p:cNvPr id="8" name="kicker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 b="1"/>
          </a:p>
        </p:txBody>
      </p:sp>
      <p:sp>
        <p:nvSpPr>
          <p:cNvPr id="9" name="box1"/>
          <p:cNvSpPr/>
          <p:nvPr/>
        </p:nvSpPr>
        <p:spPr>
          <a:xfrm>
            <a:off x="599846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a card question.</a:t>
            </a:r>
            <a:endParaRPr lang="en-US" sz="2000" dirty="0" b="1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6:55 early enough for a 7:00 shift?</a:t>
            </a:r>
            <a:endParaRPr lang="en-US" sz="2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in 3 sentences.</a:t>
            </a:r>
            <a:endParaRPr lang="en-US" sz="2000" dirty="0" b="1"/>
          </a:p>
        </p:txBody>
      </p:sp>
      <p:sp>
        <p:nvSpPr>
          <p:cNvPr id="14" name="box2"/>
          <p:cNvSpPr/>
          <p:nvPr/>
        </p:nvSpPr>
        <p:spPr>
          <a:xfrm>
            <a:off x="599846" y="475488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 one follow-up.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Why?</a:t>
            </a:r>
            <a:endParaRPr lang="en-US" sz="2000" dirty="0" b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numlist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Cards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 in 3 sentences: the answer, a reason, and a detail.</a:t>
            </a:r>
            <a:endParaRPr lang="en-US" sz="18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Follow-ups:</a:t>
            </a:r>
            <a:endParaRPr lang="en-US" sz="1800" dirty="0" b="1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Why? Is it the same in your hometown? What don't you have to do?</a:t>
            </a:r>
            <a:endParaRPr lang="en-US" sz="18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471623"/>
            <a:ext cx="6227064" cy="60259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41401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41401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41401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41401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6:55 early enough for a 7:00 shift?</a:t>
            </a:r>
            <a:endParaRPr lang="en-US" sz="18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54751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312541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312541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312541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312541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must you wear at your job or school?</a:t>
            </a:r>
            <a:endParaRPr lang="en-US" sz="18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32589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836822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836822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836822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836822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Are jeans OK for a job interview?</a:t>
            </a:r>
            <a:endParaRPr lang="en-US" sz="18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970325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4822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4822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4822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4822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too expensive in this city?</a:t>
            </a:r>
            <a:endParaRPr lang="en-US" sz="18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8172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2" name="R5 card"/>
          <p:cNvSpPr/>
          <p:nvPr/>
        </p:nvSpPr>
        <p:spPr>
          <a:xfrm>
            <a:off x="1583741" y="525962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3" name="R5 chip"/>
          <p:cNvSpPr/>
          <p:nvPr/>
        </p:nvSpPr>
        <p:spPr>
          <a:xfrm>
            <a:off x="544982" y="525962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4" name="R5 num"/>
          <p:cNvSpPr/>
          <p:nvPr/>
        </p:nvSpPr>
        <p:spPr>
          <a:xfrm>
            <a:off x="686714" y="525962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05</a:t>
            </a:r>
            <a:endParaRPr lang="en-US" sz="3200" b="1" dirty="0"/>
          </a:p>
        </p:txBody>
      </p:sp>
      <p:sp>
        <p:nvSpPr>
          <p:cNvPr id="55" name="R5 text"/>
          <p:cNvSpPr/>
          <p:nvPr/>
        </p:nvSpPr>
        <p:spPr>
          <a:xfrm>
            <a:off x="1810512" y="525962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check: Lesson 7, items 1 and 3.</a:t>
            </a:r>
            <a:endParaRPr lang="en-US" sz="1800" dirty="0"/>
          </a:p>
        </p:txBody>
      </p:sp>
      <p:sp>
        <p:nvSpPr>
          <p:cNvPr id="56" name="R5 dot"/>
          <p:cNvSpPr/>
          <p:nvPr/>
        </p:nvSpPr>
        <p:spPr>
          <a:xfrm rot="10800000">
            <a:off x="6361481" y="5393131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 b="1"/>
          </a:p>
        </p:txBody>
      </p:sp>
      <p:pic>
        <p:nvPicPr>
          <p:cNvPr id="17" name="Word picture 1" descr="News: a newspaper and a radio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news</a:t>
            </a:r>
            <a:endParaRPr lang="en-US" sz="2000" dirty="0" b="1"/>
          </a:p>
        </p:txBody>
      </p:sp>
      <p:pic>
        <p:nvPicPr>
          <p:cNvPr id="19" name="Word picture 2" descr="Reporter: a person and a microphone [sign: NEWS]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reporter</a:t>
            </a:r>
            <a:endParaRPr lang="en-US" sz="2000" dirty="0" b="1"/>
          </a:p>
        </p:txBody>
      </p:sp>
      <p:pic>
        <p:nvPicPr>
          <p:cNvPr id="21" name="Word picture 3" descr="Headline: a newspaper [sign: NEW STORE OPENS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headline</a:t>
            </a:r>
            <a:endParaRPr lang="en-US" sz="2000" dirty="0" b="1"/>
          </a:p>
        </p:txBody>
      </p:sp>
      <p:pic>
        <p:nvPicPr>
          <p:cNvPr id="23" name="Word picture 4" descr="Road closure: a construction barrier and a road [sign: ROAD CLOSED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road closure</a:t>
            </a:r>
            <a:endParaRPr lang="en-US" sz="2000" dirty="0" b="1"/>
          </a:p>
        </p:txBody>
      </p:sp>
      <p:pic>
        <p:nvPicPr>
          <p:cNvPr id="25" name="Word picture 5" descr="Detour: a bus and a turning arrow [sign: DETOUR]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detour</a:t>
            </a:r>
            <a:endParaRPr lang="en-US" sz="2000" dirty="0" b="1"/>
          </a:p>
        </p:txBody>
      </p:sp>
      <p:pic>
        <p:nvPicPr>
          <p:cNvPr id="27" name="Word picture 6" descr="Construction: a construction worker and a crane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construction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29184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 game: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know…?</a:t>
            </a:r>
            <a:endParaRPr lang="en-US" sz="2200" dirty="0" b="1"/>
          </a:p>
        </p:txBody>
      </p:sp>
      <p:pic>
        <p:nvPicPr>
          <p:cNvPr id="17" name="Word picture 1" descr="Water pipe: a water tap and a wrench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water pipe</a:t>
            </a:r>
            <a:endParaRPr lang="en-US" sz="2000" dirty="0" b="1"/>
          </a:p>
        </p:txBody>
      </p:sp>
      <p:pic>
        <p:nvPicPr>
          <p:cNvPr id="19" name="Word picture 2" descr="Bus route: a bus and a map [sign: ROUTE 12]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bus route</a:t>
            </a:r>
            <a:endParaRPr lang="en-US" sz="2000" dirty="0" b="1"/>
          </a:p>
        </p:txBody>
      </p:sp>
      <p:pic>
        <p:nvPicPr>
          <p:cNvPr id="21" name="Word picture 3" descr="Delay: a bus stop and an hourglass [sign: +15 MIN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delay</a:t>
            </a:r>
            <a:endParaRPr lang="en-US" sz="2000" dirty="0" b="1"/>
          </a:p>
        </p:txBody>
      </p:sp>
      <p:pic>
        <p:nvPicPr>
          <p:cNvPr id="23" name="Word picture 4" descr="Announce: a person and a loudspeaker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announce</a:t>
            </a:r>
            <a:endParaRPr lang="en-US" sz="2000" dirty="0" b="1"/>
          </a:p>
        </p:txBody>
      </p:sp>
      <p:pic>
        <p:nvPicPr>
          <p:cNvPr id="25" name="Word picture 5" descr="Update: a phone and refresh arrows [sign: UPDATE]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update</a:t>
            </a:r>
            <a:endParaRPr lang="en-US" sz="2000" dirty="0" b="1"/>
          </a:p>
        </p:txBody>
      </p:sp>
      <p:pic>
        <p:nvPicPr>
          <p:cNvPr id="27" name="Word picture 6" descr="Local: houses and a map pin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local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ec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Meaning</a:t>
            </a:r>
            <a:endParaRPr lang="en-US" sz="4300" dirty="0" b="1"/>
          </a:p>
        </p:txBody>
      </p:sp>
      <p:sp>
        <p:nvSpPr>
          <p:cNvPr id="3" name="sub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picture. Answer the question.</a:t>
            </a:r>
            <a:endParaRPr lang="en-US" sz="2400" dirty="0"/>
          </a:p>
        </p:txBody>
      </p:sp>
      <p:sp>
        <p:nvSpPr>
          <p:cNvPr id="4" name="R1 shadow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R1 card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R1 circle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R1 num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R1 q"/>
          <p:cNvSpPr/>
          <p:nvPr/>
        </p:nvSpPr>
        <p:spPr>
          <a:xfrm>
            <a:off x="9601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the road is closed, does the bus take a detour?</a:t>
            </a:r>
            <a:endParaRPr lang="en-US" sz="1600" dirty="0" b="1"/>
          </a:p>
        </p:txBody>
      </p:sp>
      <p:pic>
        <p:nvPicPr>
          <p:cNvPr id="101" name="R1 pic" descr="Detour: a bus and a turning arrow [sign: DETOUR]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R2 shadow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R2 card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R2 circle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R2 num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R2 q"/>
          <p:cNvSpPr/>
          <p:nvPr/>
        </p:nvSpPr>
        <p:spPr>
          <a:xfrm>
            <a:off x="46177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 headline long or short?</a:t>
            </a:r>
            <a:endParaRPr lang="en-US" sz="1600" dirty="0" b="1"/>
          </a:p>
        </p:txBody>
      </p:sp>
      <p:pic>
        <p:nvPicPr>
          <p:cNvPr id="102" name="R2 pic" descr="Headline: a newspaper [sign: NEW STORE OPENS]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R3 shadow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R3 card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R3 circle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R3 num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R3 q"/>
          <p:cNvSpPr/>
          <p:nvPr/>
        </p:nvSpPr>
        <p:spPr>
          <a:xfrm>
            <a:off x="82753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If there is a delay, is the bus early or late?</a:t>
            </a:r>
            <a:endParaRPr lang="en-US" sz="1600" dirty="0" b="1"/>
          </a:p>
        </p:txBody>
      </p:sp>
      <p:pic>
        <p:nvPicPr>
          <p:cNvPr id="103" name="R3 pic" descr="Delay: a bus stop and an hourglass [sign: +15 MIN]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5" name="R1 ans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</a:t>
            </a:r>
            <a:endParaRPr lang="en-US" sz="2800" dirty="0" b="1"/>
          </a:p>
        </p:txBody>
      </p:sp>
      <p:sp>
        <p:nvSpPr>
          <p:cNvPr id="26" name="R2 ans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short</a:t>
            </a:r>
            <a:endParaRPr lang="en-US" sz="2800" dirty="0" b="1"/>
          </a:p>
        </p:txBody>
      </p:sp>
      <p:sp>
        <p:nvSpPr>
          <p:cNvPr id="27" name="R3 an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late</a:t>
            </a:r>
            <a:endParaRPr lang="en-US" sz="28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befor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1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</a:t>
            </a:r>
            <a:endParaRPr lang="en-US" sz="4400" dirty="0" b="1"/>
          </a:p>
        </p:txBody>
      </p:sp>
      <p:sp>
        <p:nvSpPr>
          <p:cNvPr id="9" name="title2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</a:t>
            </a:r>
            <a:endParaRPr lang="en-US" sz="4400" dirty="0" b="1"/>
          </a:p>
        </p:txBody>
      </p:sp>
      <p:sp>
        <p:nvSpPr>
          <p:cNvPr id="10" name="context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First, you'll hear a short local news report on the radio. Then two coworkers, Marco and Joy, talk about the news.</a:t>
            </a:r>
            <a:endParaRPr lang="en-US" sz="1600" dirty="0"/>
          </a:p>
        </p:txBody>
      </p:sp>
      <p:sp>
        <p:nvSpPr>
          <p:cNvPr id="11" name="R1 num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R2 num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R3 num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line 1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line 2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" descr="Construction: a construction worker and a cra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R1 hl"/>
          <p:cNvSpPr/>
          <p:nvPr/>
        </p:nvSpPr>
        <p:spPr>
          <a:xfrm>
            <a:off x="4389120" y="4251960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R1 voice"/>
          <p:cNvSpPr/>
          <p:nvPr/>
        </p:nvSpPr>
        <p:spPr>
          <a:xfrm>
            <a:off x="4389120" y="4251960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Diane Lee</a:t>
            </a:r>
            <a:endParaRPr lang="en-US" sz="2200" dirty="0" b="1"/>
          </a:p>
        </p:txBody>
      </p:sp>
      <p:sp>
        <p:nvSpPr>
          <p:cNvPr id="29" name="R2 hl"/>
          <p:cNvSpPr/>
          <p:nvPr/>
        </p:nvSpPr>
        <p:spPr>
          <a:xfrm>
            <a:off x="4389120" y="5056632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R2 voice"/>
          <p:cNvSpPr/>
          <p:nvPr/>
        </p:nvSpPr>
        <p:spPr>
          <a:xfrm>
            <a:off x="4389120" y="5056632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Marco</a:t>
            </a:r>
            <a:endParaRPr lang="en-US" sz="2200" dirty="0" b="1"/>
          </a:p>
        </p:txBody>
      </p:sp>
      <p:sp>
        <p:nvSpPr>
          <p:cNvPr id="33" name="R3 hl"/>
          <p:cNvSpPr/>
          <p:nvPr/>
        </p:nvSpPr>
        <p:spPr>
          <a:xfrm>
            <a:off x="4389120" y="5861304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R3 voice"/>
          <p:cNvSpPr/>
          <p:nvPr/>
        </p:nvSpPr>
        <p:spPr>
          <a:xfrm>
            <a:off x="4389120" y="5861304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Joy</a:t>
            </a:r>
            <a:endParaRPr lang="en-US" sz="2200" dirty="0" b="1"/>
          </a:p>
        </p:txBody>
      </p:sp>
      <p:sp>
        <p:nvSpPr>
          <p:cNvPr id="37" name="listen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for:</a:t>
            </a:r>
            <a:endParaRPr lang="en-US" sz="2400" dirty="0" b="1"/>
          </a:p>
        </p:txBody>
      </p:sp>
      <p:sp>
        <p:nvSpPr>
          <p:cNvPr id="39" name="listen 1"/>
          <p:cNvSpPr/>
          <p:nvPr/>
        </p:nvSpPr>
        <p:spPr>
          <a:xfrm>
            <a:off x="8549640" y="196596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the news?</a:t>
            </a:r>
            <a:endParaRPr lang="en-US" sz="2200" dirty="0"/>
          </a:p>
        </p:txBody>
      </p:sp>
      <p:sp>
        <p:nvSpPr>
          <p:cNvPr id="41" name="listen 2"/>
          <p:cNvSpPr/>
          <p:nvPr/>
        </p:nvSpPr>
        <p:spPr>
          <a:xfrm>
            <a:off x="8549640" y="301752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2: Tasks B and C.</a:t>
            </a:r>
            <a:endParaRPr lang="en-US" sz="2200" dirty="0"/>
          </a:p>
        </p:txBody>
      </p:sp>
      <p:sp>
        <p:nvSpPr>
          <p:cNvPr id="43" name="audio"/>
          <p:cNvSpPr/>
          <p:nvPr/>
        </p:nvSpPr>
        <p:spPr>
          <a:xfrm>
            <a:off x="8549640" y="406908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about 1:50. It plays once.</a:t>
            </a:r>
            <a:endParaRPr lang="en-US" sz="2200" dirty="0"/>
          </a:p>
        </p:txBody>
      </p:sp>
      <p:sp>
        <p:nvSpPr>
          <p:cNvPr id="46" name="play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1: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A</a:t>
            </a:r>
            <a:endParaRPr lang="en-US" sz="22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What is the news?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1783080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9" name="R1 opt1"/>
          <p:cNvSpPr/>
          <p:nvPr/>
        </p:nvSpPr>
        <p:spPr>
          <a:xfrm>
            <a:off x="246888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Oak Street will close for a water pipe repair.</a:t>
            </a:r>
            <a:endParaRPr lang="en-US" sz="1500" dirty="0" b="1"/>
          </a:p>
        </p:txBody>
      </p:sp>
      <p:sp>
        <p:nvSpPr>
          <p:cNvPr id="10" name="R1 opt2"/>
          <p:cNvSpPr/>
          <p:nvPr/>
        </p:nvSpPr>
        <p:spPr>
          <a:xfrm>
            <a:off x="534924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A new grocery store is opening.</a:t>
            </a:r>
            <a:endParaRPr lang="en-US" sz="1500" dirty="0" b="1"/>
          </a:p>
        </p:txBody>
      </p:sp>
      <p:sp>
        <p:nvSpPr>
          <p:cNvPr id="11" name="R1 opt3"/>
          <p:cNvSpPr/>
          <p:nvPr/>
        </p:nvSpPr>
        <p:spPr>
          <a:xfrm>
            <a:off x="8229600" y="3108960"/>
            <a:ext cx="274320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c. The bus will be free next week.</a:t>
            </a:r>
            <a:endParaRPr lang="en-US" sz="1500" dirty="0" b="1"/>
          </a:p>
        </p:txBody>
      </p:sp>
      <p:sp>
        <p:nvSpPr>
          <p:cNvPr id="12" name="R1 circle"/>
          <p:cNvSpPr/>
          <p:nvPr/>
        </p:nvSpPr>
        <p:spPr>
          <a:xfrm>
            <a:off x="2340864" y="3054096"/>
            <a:ext cx="299923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Complete the notes.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answer.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 Where: Oak Street, between First and ____ Avenue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6629400" y="31089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Fifth</a:t>
            </a:r>
            <a:endParaRPr lang="en-US" sz="1400" dirty="0" b="1"/>
          </a:p>
        </p:txBody>
      </p:sp>
      <p:sp>
        <p:nvSpPr>
          <p:cNvPr id="10" name="R1 opt2"/>
          <p:cNvSpPr/>
          <p:nvPr/>
        </p:nvSpPr>
        <p:spPr>
          <a:xfrm>
            <a:off x="8869680" y="31089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Ninth</a:t>
            </a:r>
            <a:endParaRPr lang="en-US" sz="1400" dirty="0" b="1"/>
          </a:p>
        </p:txBody>
      </p:sp>
      <p:sp>
        <p:nvSpPr>
          <p:cNvPr id="11" name="R1 circle"/>
          <p:cNvSpPr/>
          <p:nvPr/>
        </p:nvSpPr>
        <p:spPr>
          <a:xfrm>
            <a:off x="6501384" y="305409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2. When: starting</a:t>
            </a:r>
            <a:endParaRPr lang="en-US" sz="1600" dirty="0"/>
          </a:p>
        </p:txBody>
      </p:sp>
      <p:sp>
        <p:nvSpPr>
          <p:cNvPr id="13" name="R2 opt1"/>
          <p:cNvSpPr/>
          <p:nvPr/>
        </p:nvSpPr>
        <p:spPr>
          <a:xfrm>
            <a:off x="6629400" y="365760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Monday</a:t>
            </a:r>
            <a:endParaRPr lang="en-US" sz="1400" dirty="0" b="1"/>
          </a:p>
        </p:txBody>
      </p:sp>
      <p:sp>
        <p:nvSpPr>
          <p:cNvPr id="14" name="R2 opt2"/>
          <p:cNvSpPr/>
          <p:nvPr/>
        </p:nvSpPr>
        <p:spPr>
          <a:xfrm>
            <a:off x="8869680" y="365760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Friday</a:t>
            </a:r>
            <a:endParaRPr lang="en-US" sz="1400" dirty="0" b="1"/>
          </a:p>
        </p:txBody>
      </p:sp>
      <p:sp>
        <p:nvSpPr>
          <p:cNvPr id="15" name="R2 circle"/>
          <p:cNvSpPr/>
          <p:nvPr/>
        </p:nvSpPr>
        <p:spPr>
          <a:xfrm>
            <a:off x="6501384" y="360273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3. Why: workers will replace an old</a:t>
            </a:r>
            <a:endParaRPr lang="en-US" sz="1600" dirty="0"/>
          </a:p>
        </p:txBody>
      </p:sp>
      <p:sp>
        <p:nvSpPr>
          <p:cNvPr id="17" name="R3 opt1"/>
          <p:cNvSpPr/>
          <p:nvPr/>
        </p:nvSpPr>
        <p:spPr>
          <a:xfrm>
            <a:off x="6629400" y="420624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water pipe</a:t>
            </a:r>
            <a:endParaRPr lang="en-US" sz="1400" dirty="0" b="1"/>
          </a:p>
        </p:txBody>
      </p:sp>
      <p:sp>
        <p:nvSpPr>
          <p:cNvPr id="18" name="R3 opt2"/>
          <p:cNvSpPr/>
          <p:nvPr/>
        </p:nvSpPr>
        <p:spPr>
          <a:xfrm>
            <a:off x="8869680" y="420624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bus stop</a:t>
            </a:r>
            <a:endParaRPr lang="en-US" sz="1400" dirty="0" b="1"/>
          </a:p>
        </p:txBody>
      </p:sp>
      <p:sp>
        <p:nvSpPr>
          <p:cNvPr id="19" name="R3 circle"/>
          <p:cNvSpPr/>
          <p:nvPr/>
        </p:nvSpPr>
        <p:spPr>
          <a:xfrm>
            <a:off x="6501384" y="415137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4. How long: maybe</a:t>
            </a:r>
            <a:endParaRPr lang="en-US" sz="1600" dirty="0"/>
          </a:p>
        </p:txBody>
      </p:sp>
      <p:sp>
        <p:nvSpPr>
          <p:cNvPr id="21" name="R4 opt1"/>
          <p:cNvSpPr/>
          <p:nvPr/>
        </p:nvSpPr>
        <p:spPr>
          <a:xfrm>
            <a:off x="6629400" y="475488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weeks</a:t>
            </a:r>
            <a:endParaRPr lang="en-US" sz="1400" dirty="0" b="1"/>
          </a:p>
        </p:txBody>
      </p:sp>
      <p:sp>
        <p:nvSpPr>
          <p:cNvPr id="22" name="R4 opt2"/>
          <p:cNvSpPr/>
          <p:nvPr/>
        </p:nvSpPr>
        <p:spPr>
          <a:xfrm>
            <a:off x="8869680" y="475488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days</a:t>
            </a:r>
            <a:endParaRPr lang="en-US" sz="1400" dirty="0" b="1"/>
          </a:p>
        </p:txBody>
      </p:sp>
      <p:sp>
        <p:nvSpPr>
          <p:cNvPr id="23" name="R4 circle"/>
          <p:cNvSpPr/>
          <p:nvPr/>
        </p:nvSpPr>
        <p:spPr>
          <a:xfrm>
            <a:off x="6501384" y="470001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5. The bus detour: on</a:t>
            </a:r>
            <a:endParaRPr lang="en-US" sz="1600" dirty="0"/>
          </a:p>
        </p:txBody>
      </p:sp>
      <p:sp>
        <p:nvSpPr>
          <p:cNvPr id="25" name="R5 opt1"/>
          <p:cNvSpPr/>
          <p:nvPr/>
        </p:nvSpPr>
        <p:spPr>
          <a:xfrm>
            <a:off x="6629400" y="530352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Pine Street</a:t>
            </a:r>
            <a:endParaRPr lang="en-US" sz="1400" dirty="0" b="1"/>
          </a:p>
        </p:txBody>
      </p:sp>
      <p:sp>
        <p:nvSpPr>
          <p:cNvPr id="26" name="R5 opt2"/>
          <p:cNvSpPr/>
          <p:nvPr/>
        </p:nvSpPr>
        <p:spPr>
          <a:xfrm>
            <a:off x="8869680" y="530352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Main Street</a:t>
            </a:r>
            <a:endParaRPr lang="en-US" sz="1400" dirty="0" b="1"/>
          </a:p>
        </p:txBody>
      </p:sp>
      <p:sp>
        <p:nvSpPr>
          <p:cNvPr id="27" name="R5 circle"/>
          <p:cNvSpPr/>
          <p:nvPr/>
        </p:nvSpPr>
        <p:spPr>
          <a:xfrm>
            <a:off x="6501384" y="524865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594360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6. Delays: about ____ minutes</a:t>
            </a:r>
            <a:endParaRPr lang="en-US" sz="1600" dirty="0"/>
          </a:p>
        </p:txBody>
      </p:sp>
      <p:sp>
        <p:nvSpPr>
          <p:cNvPr id="29" name="R6 opt1"/>
          <p:cNvSpPr/>
          <p:nvPr/>
        </p:nvSpPr>
        <p:spPr>
          <a:xfrm>
            <a:off x="6629400" y="58521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fifteen</a:t>
            </a:r>
            <a:endParaRPr lang="en-US" sz="1400" dirty="0" b="1"/>
          </a:p>
        </p:txBody>
      </p:sp>
      <p:sp>
        <p:nvSpPr>
          <p:cNvPr id="30" name="R6 opt2"/>
          <p:cNvSpPr/>
          <p:nvPr/>
        </p:nvSpPr>
        <p:spPr>
          <a:xfrm>
            <a:off x="8869680" y="5852160"/>
            <a:ext cx="210312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fifty</a:t>
            </a:r>
            <a:endParaRPr lang="en-US" sz="1400" dirty="0" b="1"/>
          </a:p>
        </p:txBody>
      </p:sp>
      <p:sp>
        <p:nvSpPr>
          <p:cNvPr id="31" name="R6 circle"/>
          <p:cNvSpPr/>
          <p:nvPr/>
        </p:nvSpPr>
        <p:spPr>
          <a:xfrm>
            <a:off x="6501384" y="5797296"/>
            <a:ext cx="235915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might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or a question word.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might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or a question word.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compare your answers.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city says the construction ____ take two weeks.</a:t>
            </a:r>
            <a:endParaRPr lang="en-US" sz="1800" dirty="0"/>
          </a:p>
        </p:txBody>
      </p:sp>
      <p:sp>
        <p:nvSpPr>
          <p:cNvPr id="35" name="R1 ans"/>
          <p:cNvSpPr/>
          <p:nvPr/>
        </p:nvSpPr>
        <p:spPr>
          <a:xfrm>
            <a:off x="6199632" y="2222144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might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city ____ post updates on its website.</a:t>
            </a:r>
            <a:endParaRPr lang="en-US" sz="1800" dirty="0"/>
          </a:p>
        </p:txBody>
      </p:sp>
      <p:sp>
        <p:nvSpPr>
          <p:cNvPr id="40" name="R2 ans"/>
          <p:cNvSpPr/>
          <p:nvPr/>
        </p:nvSpPr>
        <p:spPr>
          <a:xfrm>
            <a:off x="6199632" y="2950312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____ the bus leaves Pine Street?</a:t>
            </a:r>
            <a:endParaRPr lang="en-US" sz="1800" dirty="0"/>
          </a:p>
        </p:txBody>
      </p:sp>
      <p:sp>
        <p:nvSpPr>
          <p:cNvPr id="45" name="R3 ans"/>
          <p:cNvSpPr/>
          <p:nvPr/>
        </p:nvSpPr>
        <p:spPr>
          <a:xfrm>
            <a:off x="6199632" y="3678479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____ long the closure is?</a:t>
            </a:r>
            <a:endParaRPr lang="en-US" sz="1800" dirty="0"/>
          </a:p>
        </p:txBody>
      </p:sp>
      <p:sp>
        <p:nvSpPr>
          <p:cNvPr id="50" name="R4 ans"/>
          <p:cNvSpPr/>
          <p:nvPr/>
        </p:nvSpPr>
        <p:spPr>
          <a:xfrm>
            <a:off x="6199632" y="4406646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But it ____ take longer if it rains.</a:t>
            </a:r>
            <a:endParaRPr lang="en-US" sz="1800" dirty="0"/>
          </a:p>
        </p:txBody>
      </p:sp>
      <p:sp>
        <p:nvSpPr>
          <p:cNvPr id="55" name="R5 ans"/>
          <p:cNvSpPr/>
          <p:nvPr/>
        </p:nvSpPr>
        <p:spPr>
          <a:xfrm>
            <a:off x="6199632" y="5134813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might</a:t>
            </a:r>
            <a:endParaRPr lang="en-US" sz="20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31596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____ the detour starts?</a:t>
            </a:r>
            <a:endParaRPr lang="en-US" sz="1800" dirty="0"/>
          </a:p>
        </p:txBody>
      </p:sp>
      <p:sp>
        <p:nvSpPr>
          <p:cNvPr id="60" name="R6 ans"/>
          <p:cNvSpPr/>
          <p:nvPr/>
        </p:nvSpPr>
        <p:spPr>
          <a:xfrm>
            <a:off x="6199632" y="5862980"/>
            <a:ext cx="137160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ecksay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68158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4982" y="1623974"/>
            <a:ext cx="6169457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691640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it: gonna = going to</a:t>
            </a:r>
            <a:endParaRPr lang="en-US" sz="1800" dirty="0" b="1"/>
          </a:p>
        </p:txBody>
      </p:sp>
      <p:sp>
        <p:nvSpPr>
          <p:cNvPr id="9" name="head2"/>
          <p:cNvSpPr/>
          <p:nvPr/>
        </p:nvSpPr>
        <p:spPr>
          <a:xfrm>
            <a:off x="868680" y="209397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might, and Do you know…?</a:t>
            </a:r>
            <a:endParaRPr lang="en-US" sz="1800" dirty="0"/>
          </a:p>
        </p:txBody>
      </p:sp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It,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is a short form. This listening says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might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the last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is very short.</a:t>
            </a:r>
            <a:endParaRPr lang="en-US" sz="2000" dirty="0" b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each line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times.</a:t>
            </a:r>
            <a:endParaRPr lang="en-US" sz="2000" dirty="0" b="0"/>
          </a:p>
        </p:txBody>
      </p:sp>
      <p:sp>
        <p:nvSpPr>
          <p:cNvPr id="31" name="S1 card"/>
          <p:cNvSpPr/>
          <p:nvPr/>
        </p:nvSpPr>
        <p:spPr>
          <a:xfrm>
            <a:off x="548640" y="271576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1 text"/>
          <p:cNvSpPr/>
          <p:nvPr/>
        </p:nvSpPr>
        <p:spPr>
          <a:xfrm>
            <a:off x="777240" y="271576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bus is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take a detour.</a:t>
            </a:r>
            <a:endParaRPr lang="en-US" sz="1800" dirty="0" b="1"/>
          </a:p>
        </p:txBody>
      </p:sp>
      <p:sp>
        <p:nvSpPr>
          <p:cNvPr id="33" name="S2 card"/>
          <p:cNvSpPr/>
          <p:nvPr/>
        </p:nvSpPr>
        <p:spPr>
          <a:xfrm>
            <a:off x="548640" y="3427171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" name="S2 text"/>
          <p:cNvSpPr/>
          <p:nvPr/>
        </p:nvSpPr>
        <p:spPr>
          <a:xfrm>
            <a:off x="777240" y="3427171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look at the map tonight.</a:t>
            </a:r>
            <a:endParaRPr lang="en-US" sz="1800" dirty="0" b="1"/>
          </a:p>
        </p:txBody>
      </p:sp>
      <p:sp>
        <p:nvSpPr>
          <p:cNvPr id="35" name="S3 card"/>
          <p:cNvSpPr/>
          <p:nvPr/>
        </p:nvSpPr>
        <p:spPr>
          <a:xfrm>
            <a:off x="548640" y="4138574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3 text"/>
          <p:cNvSpPr/>
          <p:nvPr/>
        </p:nvSpPr>
        <p:spPr>
          <a:xfrm>
            <a:off x="777240" y="4138574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migh'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be late.</a:t>
            </a:r>
            <a:endParaRPr lang="en-US" sz="1800" dirty="0" b="1"/>
          </a:p>
        </p:txBody>
      </p:sp>
      <p:sp>
        <p:nvSpPr>
          <p:cNvPr id="37" name="S4 card"/>
          <p:cNvSpPr/>
          <p:nvPr/>
        </p:nvSpPr>
        <p:spPr>
          <a:xfrm>
            <a:off x="548640" y="484997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S4 text"/>
          <p:cNvSpPr/>
          <p:nvPr/>
        </p:nvSpPr>
        <p:spPr>
          <a:xfrm>
            <a:off x="777240" y="484997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know…?</a:t>
            </a:r>
            <a:endParaRPr lang="en-US" sz="1800" dirty="0" b="1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Water pipe: a water tap and a wrenc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might / may / could (maybe)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road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closed tomorrow?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might be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 I'm not sure.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repair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take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two weeks?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may take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longer. It depends on the rain.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will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road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not sure. It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could open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next week.</a:t>
            </a:r>
            <a:endParaRPr lang="en-US" sz="1700" dirty="0" b="1"/>
          </a:p>
        </p:txBody>
      </p:sp>
      <p:sp>
        <p:nvSpPr>
          <p:cNvPr id="27" name="Question 4"/>
          <p:cNvSpPr/>
          <p:nvPr/>
        </p:nvSpPr>
        <p:spPr>
          <a:xfrm>
            <a:off x="5138928" y="544068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bus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on time?</a:t>
            </a:r>
            <a:endParaRPr lang="en-US" sz="1700" dirty="0" b="1"/>
          </a:p>
        </p:txBody>
      </p:sp>
      <p:sp>
        <p:nvSpPr>
          <p:cNvPr id="28" name="Answer bg 4"/>
          <p:cNvSpPr/>
          <p:nvPr/>
        </p:nvSpPr>
        <p:spPr>
          <a:xfrm>
            <a:off x="7863840" y="544068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Answer 4"/>
          <p:cNvSpPr/>
          <p:nvPr/>
        </p:nvSpPr>
        <p:spPr>
          <a:xfrm>
            <a:off x="7863840" y="544068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might not be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 It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might be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15 minutes late.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Bus route: a bus and a map [sign: ROUTE 12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where…? (a first look)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meeting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it's at the library.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new bus route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starts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think it starts in May.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time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store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opens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not sure. It might open at 8:00.</a:t>
            </a:r>
            <a:endParaRPr lang="en-US" sz="1700" dirty="0" b="1"/>
          </a:p>
        </p:txBody>
      </p:sp>
      <p:sp>
        <p:nvSpPr>
          <p:cNvPr id="27" name="Question 4"/>
          <p:cNvSpPr/>
          <p:nvPr/>
        </p:nvSpPr>
        <p:spPr>
          <a:xfrm>
            <a:off x="5138928" y="544068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the street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closed?</a:t>
            </a:r>
            <a:endParaRPr lang="en-US" sz="1700" dirty="0" b="1"/>
          </a:p>
        </p:txBody>
      </p:sp>
      <p:sp>
        <p:nvSpPr>
          <p:cNvPr id="28" name="Answer bg 4"/>
          <p:cNvSpPr/>
          <p:nvPr/>
        </p:nvSpPr>
        <p:spPr>
          <a:xfrm>
            <a:off x="7863840" y="544068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Answer 4"/>
          <p:cNvSpPr/>
          <p:nvPr/>
        </p:nvSpPr>
        <p:spPr>
          <a:xfrm>
            <a:off x="7863840" y="544068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Yes. Workers are fixing a water pipe.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Delay: a bus stop and an hourglass [sign: +15 MIN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 (sure) or might (maybe)?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SURE?  ·  EXAMPLE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sure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road will close at 8:00 on Monday.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 probably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almost sure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will probably take two weeks.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might / may / could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maybe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might open early.</a:t>
            </a:r>
            <a:endParaRPr lang="en-US" sz="1700" dirty="0" b="1"/>
          </a:p>
        </p:txBody>
      </p:sp>
      <p:sp>
        <p:nvSpPr>
          <p:cNvPr id="27" name="Question 4"/>
          <p:cNvSpPr/>
          <p:nvPr/>
        </p:nvSpPr>
        <p:spPr>
          <a:xfrm>
            <a:off x="5138928" y="544068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might not / may not</a:t>
            </a:r>
            <a:endParaRPr lang="en-US" sz="1700" dirty="0" b="1"/>
          </a:p>
        </p:txBody>
      </p:sp>
      <p:sp>
        <p:nvSpPr>
          <p:cNvPr id="28" name="Answer bg 4"/>
          <p:cNvSpPr/>
          <p:nvPr/>
        </p:nvSpPr>
        <p:spPr>
          <a:xfrm>
            <a:off x="7863840" y="544068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Answer 4"/>
          <p:cNvSpPr/>
          <p:nvPr/>
        </p:nvSpPr>
        <p:spPr>
          <a:xfrm>
            <a:off x="7863840" y="544068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maybe not</a:t>
            </a:r>
            <a:b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</a:b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bus might not be on time.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Announce: a person and a loudspeak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4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from a question to Do you know…?</a:t>
            </a:r>
            <a:endParaRPr lang="en-US" sz="24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7863840" y="1828800"/>
            <a:ext cx="4069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KNOW…?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is the meeting?</a:t>
            </a:r>
            <a:endParaRPr lang="en-US" sz="1700" dirty="0" b="1"/>
          </a:p>
        </p:txBody>
      </p:sp>
      <p:sp>
        <p:nvSpPr>
          <p:cNvPr id="19" name="Answer bg 1"/>
          <p:cNvSpPr/>
          <p:nvPr/>
        </p:nvSpPr>
        <p:spPr>
          <a:xfrm>
            <a:off x="7863840" y="228600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7863840" y="228600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where the meeting is?</a:t>
            </a:r>
            <a:endParaRPr lang="en-US" sz="17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33756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does the bus leave?</a:t>
            </a:r>
            <a:endParaRPr lang="en-US" sz="1700" dirty="0" b="1"/>
          </a:p>
        </p:txBody>
      </p:sp>
      <p:sp>
        <p:nvSpPr>
          <p:cNvPr id="22" name="Answer bg 2"/>
          <p:cNvSpPr/>
          <p:nvPr/>
        </p:nvSpPr>
        <p:spPr>
          <a:xfrm>
            <a:off x="7863840" y="333756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7863840" y="333756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when the bus leaves?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(no </a:t>
            </a: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; add </a:t>
            </a: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-s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)</a:t>
            </a:r>
            <a:endParaRPr lang="en-US" sz="17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389120"/>
            <a:ext cx="265176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Why is the street closed?</a:t>
            </a:r>
            <a:endParaRPr lang="en-US" sz="1700" dirty="0" b="1"/>
          </a:p>
        </p:txBody>
      </p:sp>
      <p:sp>
        <p:nvSpPr>
          <p:cNvPr id="25" name="Answer bg 3"/>
          <p:cNvSpPr/>
          <p:nvPr/>
        </p:nvSpPr>
        <p:spPr>
          <a:xfrm>
            <a:off x="7863840" y="4389120"/>
            <a:ext cx="4069080" cy="97840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7863840" y="4389120"/>
            <a:ext cx="4069080" cy="97840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why the street is closed?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correct word or form.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correct word or form.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your answers.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It's very cloudy. It ____ rain later. (might / will)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5925312" y="2222144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might</a:t>
            </a:r>
            <a:endParaRPr lang="en-US" sz="20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sign says the road ____ close at 8:00 on Monday. (might / will)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5925312" y="2950312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</a:t>
            </a:r>
            <a:endParaRPr lang="en-US" sz="20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store might ____ next month. (open)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5925312" y="3678479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</a:t>
            </a:r>
            <a:endParaRPr lang="en-US" sz="20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where the library ____? (be)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5925312" y="4406646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</a:t>
            </a:r>
            <a:endParaRPr lang="en-US" sz="20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when the bus ____? (leave)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5925312" y="5134813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leaves</a:t>
            </a:r>
            <a:endParaRPr lang="en-US" sz="20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04164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not sure. The bus may ____ late. (be)</a:t>
            </a:r>
            <a:endParaRPr lang="en-US" sz="1600" dirty="0"/>
          </a:p>
        </p:txBody>
      </p:sp>
      <p:sp>
        <p:nvSpPr>
          <p:cNvPr id="60" name="R6 ans"/>
          <p:cNvSpPr/>
          <p:nvPr/>
        </p:nvSpPr>
        <p:spPr>
          <a:xfrm>
            <a:off x="5925312" y="5862980"/>
            <a:ext cx="16459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correct words.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 The repair might ____ two weeks.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6766560" y="31089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take</a:t>
            </a:r>
            <a:endParaRPr lang="en-US" sz="1500" dirty="0" b="1"/>
          </a:p>
        </p:txBody>
      </p:sp>
      <p:sp>
        <p:nvSpPr>
          <p:cNvPr id="10" name="R1 opt2"/>
          <p:cNvSpPr/>
          <p:nvPr/>
        </p:nvSpPr>
        <p:spPr>
          <a:xfrm>
            <a:off x="8961120" y="31089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 take</a:t>
            </a:r>
            <a:endParaRPr lang="en-US" sz="1500" dirty="0" b="1"/>
          </a:p>
        </p:txBody>
      </p:sp>
      <p:sp>
        <p:nvSpPr>
          <p:cNvPr id="11" name="R1 circle"/>
          <p:cNvSpPr/>
          <p:nvPr/>
        </p:nvSpPr>
        <p:spPr>
          <a:xfrm>
            <a:off x="6638544" y="305409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2. Do you know ____?</a:t>
            </a:r>
            <a:endParaRPr lang="en-US" sz="1600" dirty="0"/>
          </a:p>
        </p:txBody>
      </p:sp>
      <p:sp>
        <p:nvSpPr>
          <p:cNvPr id="13" name="R2 opt1"/>
          <p:cNvSpPr/>
          <p:nvPr/>
        </p:nvSpPr>
        <p:spPr>
          <a:xfrm>
            <a:off x="6766560" y="365760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the meeting is</a:t>
            </a:r>
            <a:endParaRPr lang="en-US" sz="1500" dirty="0" b="1"/>
          </a:p>
        </p:txBody>
      </p:sp>
      <p:sp>
        <p:nvSpPr>
          <p:cNvPr id="14" name="R2 opt2"/>
          <p:cNvSpPr/>
          <p:nvPr/>
        </p:nvSpPr>
        <p:spPr>
          <a:xfrm>
            <a:off x="8961120" y="365760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is the meeting</a:t>
            </a:r>
            <a:endParaRPr lang="en-US" sz="1500" dirty="0" b="1"/>
          </a:p>
        </p:txBody>
      </p:sp>
      <p:sp>
        <p:nvSpPr>
          <p:cNvPr id="15" name="R2 circle"/>
          <p:cNvSpPr/>
          <p:nvPr/>
        </p:nvSpPr>
        <p:spPr>
          <a:xfrm>
            <a:off x="6638544" y="360273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3. It ____ rain tomorrow.</a:t>
            </a:r>
            <a:endParaRPr lang="en-US" sz="1600" dirty="0"/>
          </a:p>
        </p:txBody>
      </p:sp>
      <p:sp>
        <p:nvSpPr>
          <p:cNvPr id="17" name="R3 opt1"/>
          <p:cNvSpPr/>
          <p:nvPr/>
        </p:nvSpPr>
        <p:spPr>
          <a:xfrm>
            <a:off x="6766560" y="420624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might not</a:t>
            </a:r>
            <a:endParaRPr lang="en-US" sz="1500" dirty="0" b="1"/>
          </a:p>
        </p:txBody>
      </p:sp>
      <p:sp>
        <p:nvSpPr>
          <p:cNvPr id="18" name="R3 opt2"/>
          <p:cNvSpPr/>
          <p:nvPr/>
        </p:nvSpPr>
        <p:spPr>
          <a:xfrm>
            <a:off x="8961120" y="420624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doesn't might</a:t>
            </a:r>
            <a:endParaRPr lang="en-US" sz="1500" dirty="0" b="1"/>
          </a:p>
        </p:txBody>
      </p:sp>
      <p:sp>
        <p:nvSpPr>
          <p:cNvPr id="19" name="R3 circle"/>
          <p:cNvSpPr/>
          <p:nvPr/>
        </p:nvSpPr>
        <p:spPr>
          <a:xfrm>
            <a:off x="6638544" y="415137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4. Do you know what time the store ____?</a:t>
            </a:r>
            <a:endParaRPr lang="en-US" sz="1600" dirty="0"/>
          </a:p>
        </p:txBody>
      </p:sp>
      <p:sp>
        <p:nvSpPr>
          <p:cNvPr id="21" name="R4 opt1"/>
          <p:cNvSpPr/>
          <p:nvPr/>
        </p:nvSpPr>
        <p:spPr>
          <a:xfrm>
            <a:off x="6766560" y="475488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opens</a:t>
            </a:r>
            <a:endParaRPr lang="en-US" sz="1500" dirty="0" b="1"/>
          </a:p>
        </p:txBody>
      </p:sp>
      <p:sp>
        <p:nvSpPr>
          <p:cNvPr id="22" name="R4 opt2"/>
          <p:cNvSpPr/>
          <p:nvPr/>
        </p:nvSpPr>
        <p:spPr>
          <a:xfrm>
            <a:off x="8961120" y="475488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 open</a:t>
            </a:r>
            <a:endParaRPr lang="en-US" sz="1500" dirty="0" b="1"/>
          </a:p>
        </p:txBody>
      </p:sp>
      <p:sp>
        <p:nvSpPr>
          <p:cNvPr id="23" name="R4 circle"/>
          <p:cNvSpPr/>
          <p:nvPr/>
        </p:nvSpPr>
        <p:spPr>
          <a:xfrm>
            <a:off x="6638544" y="470001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5. The schedule says the bus ____ leave at 7:05. (sure)</a:t>
            </a:r>
            <a:endParaRPr lang="en-US" sz="1600" dirty="0"/>
          </a:p>
        </p:txBody>
      </p:sp>
      <p:sp>
        <p:nvSpPr>
          <p:cNvPr id="25" name="R5 opt1"/>
          <p:cNvSpPr/>
          <p:nvPr/>
        </p:nvSpPr>
        <p:spPr>
          <a:xfrm>
            <a:off x="6766560" y="530352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</a:t>
            </a:r>
            <a:endParaRPr lang="en-US" sz="1500" dirty="0" b="1"/>
          </a:p>
        </p:txBody>
      </p:sp>
      <p:sp>
        <p:nvSpPr>
          <p:cNvPr id="26" name="R5 opt2"/>
          <p:cNvSpPr/>
          <p:nvPr/>
        </p:nvSpPr>
        <p:spPr>
          <a:xfrm>
            <a:off x="8961120" y="530352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might</a:t>
            </a:r>
            <a:endParaRPr lang="en-US" sz="1500" dirty="0" b="1"/>
          </a:p>
        </p:txBody>
      </p:sp>
      <p:sp>
        <p:nvSpPr>
          <p:cNvPr id="27" name="R5 circle"/>
          <p:cNvSpPr/>
          <p:nvPr/>
        </p:nvSpPr>
        <p:spPr>
          <a:xfrm>
            <a:off x="6638544" y="524865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60807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6. I'm not sure. It ____ open in June. (maybe)</a:t>
            </a:r>
            <a:endParaRPr lang="en-US" sz="1600" dirty="0"/>
          </a:p>
        </p:txBody>
      </p:sp>
      <p:sp>
        <p:nvSpPr>
          <p:cNvPr id="29" name="R6 opt1"/>
          <p:cNvSpPr/>
          <p:nvPr/>
        </p:nvSpPr>
        <p:spPr>
          <a:xfrm>
            <a:off x="6766560" y="58521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may</a:t>
            </a:r>
            <a:endParaRPr lang="en-US" sz="1500" dirty="0" b="1"/>
          </a:p>
        </p:txBody>
      </p:sp>
      <p:sp>
        <p:nvSpPr>
          <p:cNvPr id="30" name="R6 opt2"/>
          <p:cNvSpPr/>
          <p:nvPr/>
        </p:nvSpPr>
        <p:spPr>
          <a:xfrm>
            <a:off x="8961120" y="5852160"/>
            <a:ext cx="20116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</a:t>
            </a:r>
            <a:endParaRPr lang="en-US" sz="1500" dirty="0" b="1"/>
          </a:p>
        </p:txBody>
      </p:sp>
      <p:sp>
        <p:nvSpPr>
          <p:cNvPr id="31" name="R6 circle"/>
          <p:cNvSpPr/>
          <p:nvPr/>
        </p:nvSpPr>
        <p:spPr>
          <a:xfrm>
            <a:off x="6638544" y="5797296"/>
            <a:ext cx="22677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mistake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42448" y="1188720"/>
            <a:ext cx="1691640" cy="13716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2020824"/>
            <a:ext cx="354330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2020824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457200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393192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1828800"/>
            <a:ext cx="3610966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1828800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45720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 b="1"/>
          </a:p>
        </p:txBody>
      </p:sp>
      <p:pic>
        <p:nvPicPr>
          <p:cNvPr id="21" name="pic" descr="Update: a phone and refresh arrows [sign: UPDATE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1325880"/>
            <a:ext cx="1554480" cy="1088136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1938528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1938528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2468880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might rains tomorrow.</a:t>
            </a:r>
            <a:endParaRPr lang="en-US" sz="1700" dirty="0"/>
          </a:p>
        </p:txBody>
      </p:sp>
      <p:sp>
        <p:nvSpPr>
          <p:cNvPr id="25" name="Good 1"/>
          <p:cNvSpPr/>
          <p:nvPr/>
        </p:nvSpPr>
        <p:spPr>
          <a:xfrm>
            <a:off x="4800600" y="2468880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might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rain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tomorrow.</a:t>
            </a:r>
            <a:endParaRPr lang="en-US" sz="1700" dirty="0" b="1"/>
          </a:p>
        </p:txBody>
      </p:sp>
      <p:sp>
        <p:nvSpPr>
          <p:cNvPr id="26" name="Bad 2"/>
          <p:cNvSpPr/>
          <p:nvPr/>
        </p:nvSpPr>
        <p:spPr>
          <a:xfrm>
            <a:off x="914400" y="3035808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road might to close.</a:t>
            </a:r>
            <a:endParaRPr lang="en-US" sz="1700" dirty="0"/>
          </a:p>
        </p:txBody>
      </p:sp>
      <p:sp>
        <p:nvSpPr>
          <p:cNvPr id="27" name="Good 2"/>
          <p:cNvSpPr/>
          <p:nvPr/>
        </p:nvSpPr>
        <p:spPr>
          <a:xfrm>
            <a:off x="4800600" y="3035808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road might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close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700" dirty="0" b="1"/>
          </a:p>
        </p:txBody>
      </p:sp>
      <p:sp>
        <p:nvSpPr>
          <p:cNvPr id="28" name="Bad 3"/>
          <p:cNvSpPr/>
          <p:nvPr/>
        </p:nvSpPr>
        <p:spPr>
          <a:xfrm>
            <a:off x="914400" y="3602736"/>
            <a:ext cx="32461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where is the bank?</a:t>
            </a:r>
            <a:endParaRPr lang="en-US" sz="1700" dirty="0"/>
          </a:p>
        </p:txBody>
      </p:sp>
      <p:sp>
        <p:nvSpPr>
          <p:cNvPr id="29" name="Good 3"/>
          <p:cNvSpPr/>
          <p:nvPr/>
        </p:nvSpPr>
        <p:spPr>
          <a:xfrm>
            <a:off x="4800600" y="3602736"/>
            <a:ext cx="5394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where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bank is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1700" dirty="0" b="1"/>
          </a:p>
        </p:txBody>
      </p:sp>
      <p:sp>
        <p:nvSpPr>
          <p:cNvPr id="30" name="Bad 4"/>
          <p:cNvSpPr/>
          <p:nvPr/>
        </p:nvSpPr>
        <p:spPr>
          <a:xfrm>
            <a:off x="914400" y="4169664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when does the bus leave?</a:t>
            </a:r>
            <a:endParaRPr lang="en-US" sz="1700" dirty="0"/>
          </a:p>
        </p:txBody>
      </p:sp>
      <p:sp>
        <p:nvSpPr>
          <p:cNvPr id="31" name="Good 4"/>
          <p:cNvSpPr/>
          <p:nvPr/>
        </p:nvSpPr>
        <p:spPr>
          <a:xfrm>
            <a:off x="4800600" y="4169664"/>
            <a:ext cx="539496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when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bus leaves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1700" dirty="0" b="1"/>
          </a:p>
        </p:txBody>
      </p:sp>
      <p:sp>
        <p:nvSpPr>
          <p:cNvPr id="32" name="Bad 5"/>
          <p:cNvSpPr/>
          <p:nvPr/>
        </p:nvSpPr>
        <p:spPr>
          <a:xfrm>
            <a:off x="914400" y="5010912"/>
            <a:ext cx="324612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sure. The road might close at 8:00.</a:t>
            </a:r>
            <a:endParaRPr lang="en-US" sz="1700" dirty="0"/>
          </a:p>
        </p:txBody>
      </p:sp>
      <p:sp>
        <p:nvSpPr>
          <p:cNvPr id="33" name="Good 5"/>
          <p:cNvSpPr/>
          <p:nvPr/>
        </p:nvSpPr>
        <p:spPr>
          <a:xfrm>
            <a:off x="4800600" y="5010912"/>
            <a:ext cx="5394960" cy="7772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sure. The road 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will</a:t>
            </a: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close at 8:00.</a:t>
            </a:r>
            <a:endParaRPr lang="en-US" sz="17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drill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pic>
        <p:nvPicPr>
          <p:cNvPr id="26" name="pic" descr="Local: houses and a map p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739" y="3680460"/>
            <a:ext cx="3449901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 Check</a:t>
            </a:r>
            <a:endParaRPr lang="en-US" sz="4000" dirty="0" b="1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s1 label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asks.</a:t>
            </a:r>
            <a:endParaRPr lang="en-US" sz="2200" dirty="0" b="1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s2 label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answers.</a:t>
            </a:r>
            <a:endParaRPr lang="en-US" sz="2200" dirty="0" b="1"/>
          </a:p>
        </p:txBody>
      </p:sp>
      <p:sp>
        <p:nvSpPr>
          <p:cNvPr id="60" name="s1 body"/>
          <p:cNvSpPr/>
          <p:nvPr/>
        </p:nvSpPr>
        <p:spPr>
          <a:xfrm>
            <a:off x="6995160" y="21031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Do you know when the construction ends?</a:t>
            </a:r>
            <a:endParaRPr lang="en-US" sz="1900" dirty="0" b="0"/>
          </a:p>
        </p:txBody>
      </p:sp>
      <p:sp>
        <p:nvSpPr>
          <p:cNvPr id="70" name="s2 body"/>
          <p:cNvSpPr/>
          <p:nvPr/>
        </p:nvSpPr>
        <p:spPr>
          <a:xfrm>
            <a:off x="6995160" y="44348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B:</a:t>
            </a: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 fact, or:</a:t>
            </a:r>
            <a:endParaRPr lang="en-US" sz="1900" dirty="0" b="0"/>
          </a:p>
          <a:p>
            <a:pPr algn="l" indent="0" marL="0">
              <a:buNone/>
            </a:pPr>
            <a:r>
              <a:rPr lang="en-US" sz="1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not sure. It might end in May.</a:t>
            </a:r>
            <a:endParaRPr lang="en-US" sz="1900" dirty="0" b="1"/>
          </a:p>
        </p:txBody>
      </p:sp>
      <p:sp>
        <p:nvSpPr>
          <p:cNvPr id="25" name="sub"/>
          <p:cNvSpPr/>
          <p:nvPr/>
        </p:nvSpPr>
        <p:spPr>
          <a:xfrm>
            <a:off x="771754" y="2148840"/>
            <a:ext cx="4572000" cy="68580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points to a picture and asks. Then switch.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News: a newspaper and a rad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3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News Swap</a:t>
            </a:r>
            <a:endParaRPr lang="en-US" sz="30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show your card.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7:00–7:15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reads card A, and B reads card B.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show your card.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Ask and write your partner's facts.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when / where / why…?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change partners and retell the story.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 you know why? Because…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Headline: a newspaper [sign: NEW STORE OPENS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Might Happen?</a:t>
            </a:r>
            <a:endParaRPr lang="en-US" sz="28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Groups.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Choose a headline.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7:00–7:15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Choose a headline.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4 predictions.</a:t>
            </a:r>
            <a:endParaRPr lang="en-US" sz="1700" dirty="0" b="0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Use might, may, and will probably.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There might be more traffic on Main Street.</a:t>
            </a:r>
            <a:endParaRPr lang="en-US" sz="1700" dirty="0" b="0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7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read them to the class.</a:t>
            </a:r>
            <a:endParaRPr lang="en-US" sz="1700" dirty="0" b="1"/>
          </a:p>
          <a:p>
            <a:pPr algn="l" indent="0" marL="0">
              <a:buNone/>
            </a:pPr>
            <a:r>
              <a:rPr lang="en-US" sz="1700" dirty="0" b="0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not sure, but… • Maybe, but…</a:t>
            </a:r>
            <a:endParaRPr lang="en-US" sz="17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fast first.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the questions.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&amp;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MAPLE FALLS NEWS · New Bus Route Will Connect Hospital and College (invented city)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46156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the main idea?</a:t>
            </a:r>
            <a:endParaRPr lang="en-US" sz="1500" dirty="0"/>
          </a:p>
        </p:txBody>
      </p:sp>
      <p:sp>
        <p:nvSpPr>
          <p:cNvPr id="35" name="R1 ans"/>
          <p:cNvSpPr/>
          <p:nvPr/>
        </p:nvSpPr>
        <p:spPr>
          <a:xfrm>
            <a:off x="4187952" y="2525573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new bus route, Route 9, will start on May 6.</a:t>
            </a:r>
            <a:endParaRPr lang="en-US" sz="14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183941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18394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24794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183941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often will the buses run?</a:t>
            </a:r>
            <a:endParaRPr lang="en-US" sz="1500" dirty="0"/>
          </a:p>
        </p:txBody>
      </p:sp>
      <p:sp>
        <p:nvSpPr>
          <p:cNvPr id="40" name="R2 ans"/>
          <p:cNvSpPr/>
          <p:nvPr/>
        </p:nvSpPr>
        <p:spPr>
          <a:xfrm>
            <a:off x="4187952" y="3311957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Every 20 minutes.</a:t>
            </a:r>
            <a:endParaRPr lang="en-US" sz="14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970325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970325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03433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970325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How much will a ride cost?</a:t>
            </a:r>
            <a:endParaRPr lang="en-US" sz="1500" dirty="0"/>
          </a:p>
        </p:txBody>
      </p:sp>
      <p:sp>
        <p:nvSpPr>
          <p:cNvPr id="45" name="R3 ans"/>
          <p:cNvSpPr/>
          <p:nvPr/>
        </p:nvSpPr>
        <p:spPr>
          <a:xfrm>
            <a:off x="4187952" y="4098341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$1.50 (and free for the first week).</a:t>
            </a:r>
            <a:endParaRPr lang="en-US" sz="14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756709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756709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82071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756709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might the city add in the fall?</a:t>
            </a:r>
            <a:endParaRPr lang="en-US" sz="1500" dirty="0"/>
          </a:p>
        </p:txBody>
      </p:sp>
      <p:sp>
        <p:nvSpPr>
          <p:cNvPr id="50" name="R4 ans"/>
          <p:cNvSpPr/>
          <p:nvPr/>
        </p:nvSpPr>
        <p:spPr>
          <a:xfrm>
            <a:off x="4187952" y="4884725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Sunday service.</a:t>
            </a:r>
            <a:endParaRPr lang="en-US" sz="14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543093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543093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60710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543093"/>
            <a:ext cx="230428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can riders see the map?</a:t>
            </a:r>
            <a:endParaRPr lang="en-US" sz="1500" dirty="0"/>
          </a:p>
        </p:txBody>
      </p:sp>
      <p:sp>
        <p:nvSpPr>
          <p:cNvPr id="55" name="R5 ans"/>
          <p:cNvSpPr/>
          <p:nvPr/>
        </p:nvSpPr>
        <p:spPr>
          <a:xfrm>
            <a:off x="4187952" y="5671109"/>
            <a:ext cx="33832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 the city website or at the library.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34340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 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7:25–7:30</a:t>
            </a:r>
            <a:endParaRPr lang="en-US" sz="4000" dirty="0"/>
          </a:p>
        </p:txBody>
      </p:sp>
      <p:pic>
        <p:nvPicPr>
          <p:cNvPr id="16" name="pic" descr="Road closure: a construction barrier and a road [sign: ROAD CLOSED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 b="1"/>
          </a:p>
        </p:txBody>
      </p:sp>
      <p:sp>
        <p:nvSpPr>
          <p:cNvPr id="19" name="Body 01"/>
          <p:cNvSpPr/>
          <p:nvPr/>
        </p:nvSpPr>
        <p:spPr>
          <a:xfrm>
            <a:off x="4343400" y="3520440"/>
            <a:ext cx="352044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might change in your neighborhood or at your job next year?</a:t>
            </a:r>
            <a:endParaRPr lang="en-US" sz="16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One change, with might or may.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Another change, with might or may.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A reason, with because.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it to me at the door.</a:t>
            </a:r>
            <a:endParaRPr lang="en-US" sz="1600" dirty="0" b="0"/>
          </a:p>
        </p:txBody>
      </p:sp>
      <p:sp>
        <p:nvSpPr>
          <p:cNvPr id="20" name="Num 02"/>
          <p:cNvSpPr/>
          <p:nvPr/>
        </p:nvSpPr>
        <p:spPr>
          <a:xfrm>
            <a:off x="80010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 b="1"/>
          </a:p>
        </p:txBody>
      </p:sp>
      <p:sp>
        <p:nvSpPr>
          <p:cNvPr id="22" name="Body 02"/>
          <p:cNvSpPr/>
          <p:nvPr/>
        </p:nvSpPr>
        <p:spPr>
          <a:xfrm>
            <a:off x="8001000" y="3520440"/>
            <a:ext cx="365760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15–20 minutes.</a:t>
            </a:r>
            <a:endParaRPr lang="en-US" sz="16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Write the sentence or question.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Finish your writing from Read &amp; Write C (your text or email).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Write 3 things that might change in your neighborhood or city.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Review (Lesson 7).</a:t>
            </a:r>
            <a:endParaRPr lang="en-US" sz="16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1600" dirty="0" b="1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goodby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Detour: a bus and a turning arrow [sign: DETOUR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8  ·  Level 4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44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Understand a short local news report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Say what might or may happen</a:t>
            </a:r>
            <a:endParaRPr lang="en-US" sz="2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Ask Do you know where / when / why…?</a:t>
            </a:r>
            <a:endParaRPr lang="en-US" sz="2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4:credits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itle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5" name="pictures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signs and labels were added.</a:t>
            </a:r>
            <a:endParaRPr lang="en-US" sz="1600" dirty="0" b="0"/>
          </a:p>
        </p:txBody>
      </p:sp>
      <p:sp>
        <p:nvSpPr>
          <p:cNvPr id="16" name="names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story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Diane Lee, Marco, Joy, Ana Ruiz, and Lina are invented names. The listening story is invented.</a:t>
            </a:r>
            <a:endParaRPr lang="en-US" sz="1600" dirty="0" b="0"/>
          </a:p>
        </p:txBody>
      </p:sp>
      <p:sp>
        <p:nvSpPr>
          <p:cNvPr id="17" name="audio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synthetic voices made with Chatterbox TTS (MIT License), cloned from short synthetic reference clips made with Kokoro-82M (Apache License 2.0). No recordings of real people were used. Each file carries an inaudible Perth watermark marking it as AI-generated. Font: Lexend Deca (OFL 1.1).</a:t>
            </a:r>
            <a:endParaRPr lang="en-US" sz="135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1350" dirty="0"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4 Lesson 8: In the News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